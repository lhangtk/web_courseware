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sldIdLst>
    <p:sldId id="8563" r:id="rId3"/>
    <p:sldId id="8641" r:id="rId5"/>
    <p:sldId id="9194" r:id="rId6"/>
    <p:sldId id="8577" r:id="rId7"/>
    <p:sldId id="8581" r:id="rId8"/>
    <p:sldId id="8583" r:id="rId9"/>
    <p:sldId id="8584" r:id="rId10"/>
    <p:sldId id="8585" r:id="rId11"/>
    <p:sldId id="8586" r:id="rId12"/>
    <p:sldId id="8587" r:id="rId13"/>
    <p:sldId id="9035" r:id="rId14"/>
    <p:sldId id="8588" r:id="rId15"/>
    <p:sldId id="8651" r:id="rId16"/>
    <p:sldId id="8589" r:id="rId17"/>
    <p:sldId id="8590" r:id="rId18"/>
    <p:sldId id="8652" r:id="rId19"/>
    <p:sldId id="9195" r:id="rId20"/>
    <p:sldId id="8579" r:id="rId21"/>
    <p:sldId id="8591" r:id="rId22"/>
    <p:sldId id="8594" r:id="rId23"/>
    <p:sldId id="8595" r:id="rId24"/>
    <p:sldId id="8596" r:id="rId25"/>
    <p:sldId id="8592" r:id="rId26"/>
    <p:sldId id="8593" r:id="rId27"/>
    <p:sldId id="8688" r:id="rId28"/>
    <p:sldId id="8580" r:id="rId29"/>
    <p:sldId id="8599" r:id="rId30"/>
    <p:sldId id="8598" r:id="rId31"/>
    <p:sldId id="9200" r:id="rId32"/>
    <p:sldId id="8902" r:id="rId33"/>
    <p:sldId id="9196" r:id="rId34"/>
    <p:sldId id="8696" r:id="rId35"/>
    <p:sldId id="8669" r:id="rId36"/>
    <p:sldId id="8856" r:id="rId37"/>
    <p:sldId id="8693" r:id="rId38"/>
    <p:sldId id="8678" r:id="rId39"/>
    <p:sldId id="8695" r:id="rId40"/>
    <p:sldId id="8857" r:id="rId41"/>
    <p:sldId id="9197" r:id="rId42"/>
    <p:sldId id="8660" r:id="rId43"/>
    <p:sldId id="9199" r:id="rId44"/>
    <p:sldId id="8663" r:id="rId45"/>
    <p:sldId id="8661" r:id="rId46"/>
    <p:sldId id="8665" r:id="rId47"/>
    <p:sldId id="8666" r:id="rId48"/>
    <p:sldId id="8667" r:id="rId49"/>
    <p:sldId id="8664" r:id="rId50"/>
    <p:sldId id="9198" r:id="rId51"/>
    <p:sldId id="8653" r:id="rId52"/>
    <p:sldId id="8654" r:id="rId53"/>
    <p:sldId id="8656" r:id="rId54"/>
    <p:sldId id="8658" r:id="rId55"/>
    <p:sldId id="8657" r:id="rId56"/>
    <p:sldId id="9304" r:id="rId57"/>
    <p:sldId id="9274" r:id="rId58"/>
    <p:sldId id="8643" r:id="rId59"/>
    <p:sldId id="8569" r:id="rId60"/>
    <p:sldId id="8572" r:id="rId61"/>
    <p:sldId id="8573" r:id="rId62"/>
    <p:sldId id="8612" r:id="rId63"/>
    <p:sldId id="8613" r:id="rId64"/>
    <p:sldId id="8614" r:id="rId65"/>
    <p:sldId id="9306" r:id="rId66"/>
    <p:sldId id="8618" r:id="rId67"/>
    <p:sldId id="8574" r:id="rId68"/>
    <p:sldId id="8631" r:id="rId69"/>
    <p:sldId id="8632" r:id="rId70"/>
    <p:sldId id="8709" r:id="rId71"/>
    <p:sldId id="8628" r:id="rId72"/>
    <p:sldId id="8644" r:id="rId73"/>
    <p:sldId id="8710" r:id="rId74"/>
    <p:sldId id="8629" r:id="rId75"/>
    <p:sldId id="8646" r:id="rId76"/>
    <p:sldId id="8647" r:id="rId77"/>
    <p:sldId id="8648" r:id="rId78"/>
    <p:sldId id="8649" r:id="rId79"/>
    <p:sldId id="8635" r:id="rId80"/>
    <p:sldId id="8636" r:id="rId81"/>
    <p:sldId id="9193" r:id="rId82"/>
    <p:sldId id="8650" r:id="rId83"/>
    <p:sldId id="8638" r:id="rId84"/>
    <p:sldId id="8564" r:id="rId85"/>
  </p:sldIdLst>
  <p:sldSz cx="12192000" cy="6858000"/>
  <p:notesSz cx="6858000" cy="9144000"/>
  <p:custDataLst>
    <p:tags r:id="rId8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06C75"/>
    <a:srgbClr val="C99766"/>
    <a:srgbClr val="98C379"/>
    <a:srgbClr val="56B6C2"/>
    <a:srgbClr val="C665A5"/>
    <a:srgbClr val="0283CA"/>
    <a:srgbClr val="1FBFE1"/>
    <a:srgbClr val="0A3D6A"/>
    <a:srgbClr val="E6E6E6"/>
    <a:srgbClr val="00366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219" autoAdjust="0"/>
    <p:restoredTop sz="82979" autoAdjust="0"/>
  </p:normalViewPr>
  <p:slideViewPr>
    <p:cSldViewPr snapToGrid="0">
      <p:cViewPr varScale="1">
        <p:scale>
          <a:sx n="110" d="100"/>
          <a:sy n="110" d="100"/>
        </p:scale>
        <p:origin x="330" y="96"/>
      </p:cViewPr>
      <p:guideLst/>
    </p:cSldViewPr>
  </p:slid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100" d="100"/>
          <a:sy n="100" d="100"/>
        </p:scale>
        <p:origin x="3552" y="96"/>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9" Type="http://schemas.openxmlformats.org/officeDocument/2006/relationships/tags" Target="tags/tag26.xml"/><Relationship Id="rId88" Type="http://schemas.openxmlformats.org/officeDocument/2006/relationships/tableStyles" Target="tableStyles.xml"/><Relationship Id="rId87" Type="http://schemas.openxmlformats.org/officeDocument/2006/relationships/viewProps" Target="viewProps.xml"/><Relationship Id="rId86" Type="http://schemas.openxmlformats.org/officeDocument/2006/relationships/presProps" Target="presProps.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DE4F11-D967-412D-B580-296127F16508}"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CCA80F-ADCD-4CF8-AC2B-C43D0C877E1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641F6EF-17A8-4D8D-8596-CC20AFAE4E5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solidFill>
                  <a:schemeClr val="bg1"/>
                </a:solidFill>
                <a:latin typeface="微软雅黑" panose="020B0503020204020204" pitchFamily="34" charset="-122"/>
                <a:ea typeface="微软雅黑" panose="020B0503020204020204" pitchFamily="34" charset="-122"/>
              </a:rPr>
              <a:t>Uncaught ReferenceError: bar is not defined</a:t>
            </a:r>
            <a:endParaRPr lang="zh-CN" altLang="en-US" dirty="0" smtClean="0">
              <a:solidFill>
                <a:schemeClr val="bg1"/>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闭包，命名空间</a:t>
            </a:r>
            <a:endParaRPr lang="zh-CN" altLang="en-US" dirty="0"/>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smtClean="0">
              <a:solidFill>
                <a:schemeClr val="bg1"/>
              </a:solidFill>
            </a:endParaRPr>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smtClean="0">
              <a:solidFill>
                <a:schemeClr val="bg1"/>
              </a:solidFill>
            </a:endParaRPr>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smtClean="0">
              <a:solidFill>
                <a:schemeClr val="bg1"/>
              </a:solidFill>
            </a:endParaRPr>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undefined</a:t>
            </a:r>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smtClean="0">
                <a:solidFill>
                  <a:schemeClr val="bg1"/>
                </a:solidFill>
              </a:rPr>
              <a:t>undefined, function</a:t>
            </a:r>
            <a:r>
              <a:rPr lang="en-US" altLang="zh-CN" baseline="0" dirty="0" smtClean="0">
                <a:solidFill>
                  <a:schemeClr val="bg1"/>
                </a:solidFill>
              </a:rPr>
              <a:t> a, 1, 21, 1</a:t>
            </a:r>
            <a:endParaRPr lang="en-US" altLang="zh-CN" baseline="0" dirty="0" smtClean="0">
              <a:solidFill>
                <a:schemeClr val="bg1"/>
              </a:solidFill>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baseline="0" dirty="0" smtClean="0">
                <a:solidFill>
                  <a:schemeClr val="bg1"/>
                </a:solidFill>
              </a:rPr>
              <a:t>现代浏览器，向后兼容</a:t>
            </a:r>
            <a:r>
              <a:rPr lang="en-US" altLang="zh-CN" baseline="0" dirty="0" smtClean="0">
                <a:solidFill>
                  <a:schemeClr val="bg1"/>
                </a:solidFill>
              </a:rPr>
              <a:t>ES3</a:t>
            </a:r>
            <a:r>
              <a:rPr lang="zh-CN" altLang="en-US" baseline="0" dirty="0" smtClean="0">
                <a:solidFill>
                  <a:schemeClr val="bg1"/>
                </a:solidFill>
              </a:rPr>
              <a:t>，向前兼容</a:t>
            </a:r>
            <a:r>
              <a:rPr lang="en-US" altLang="zh-CN" baseline="0" dirty="0" smtClean="0">
                <a:solidFill>
                  <a:schemeClr val="bg1"/>
                </a:solidFill>
              </a:rPr>
              <a:t>ES6</a:t>
            </a:r>
            <a:endParaRPr lang="en-US" altLang="zh-CN" baseline="0" dirty="0" smtClean="0">
              <a:solidFill>
                <a:schemeClr val="bg1"/>
              </a:solidFill>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smtClean="0">
              <a:solidFill>
                <a:schemeClr val="bg1"/>
              </a:solidFill>
            </a:endParaRPr>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它决定了代码的执行顺序和作用域链等</a:t>
            </a:r>
            <a:endParaRPr lang="zh-CN" altLang="en-US" sz="1200" b="0" i="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smtClean="0">
              <a:solidFill>
                <a:schemeClr val="bg1"/>
              </a:solidFill>
            </a:endParaRPr>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smtClean="0"/>
              <a:t>obj</a:t>
            </a:r>
            <a:r>
              <a:rPr lang="zh-CN" altLang="en-US" dirty="0" smtClean="0"/>
              <a:t>对象本身</a:t>
            </a:r>
            <a:endParaRPr lang="en-US" altLang="zh-CN" dirty="0" smtClean="0"/>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没用明确调用对象，指向</a:t>
            </a:r>
            <a:r>
              <a:rPr lang="en-US" altLang="zh-CN" dirty="0" smtClean="0"/>
              <a:t>window</a:t>
            </a:r>
            <a:endParaRPr lang="zh-CN" altLang="en-US" dirty="0"/>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sym typeface="+mn-ea"/>
              </a:rPr>
              <a:t>通常</a:t>
            </a:r>
            <a:r>
              <a:rPr lang="zh-CN" altLang="en-US" dirty="0">
                <a:sym typeface="+mn-ea"/>
              </a:rPr>
              <a:t>情况下，构造器里</a:t>
            </a:r>
            <a:r>
              <a:rPr lang="zh-CN" altLang="en-US" dirty="0" smtClean="0">
                <a:sym typeface="+mn-ea"/>
              </a:rPr>
              <a:t>的 </a:t>
            </a:r>
            <a:r>
              <a:rPr lang="en-US" altLang="zh-CN" dirty="0" smtClean="0">
                <a:sym typeface="+mn-ea"/>
              </a:rPr>
              <a:t>this </a:t>
            </a:r>
            <a:r>
              <a:rPr lang="zh-CN" altLang="en-US" dirty="0">
                <a:sym typeface="+mn-ea"/>
              </a:rPr>
              <a:t>就指向返回的这个对象</a:t>
            </a:r>
            <a:endParaRPr lang="zh-CN" altLang="en-US" dirty="0"/>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简单数据类型：</a:t>
            </a:r>
            <a:r>
              <a:rPr lang="en-US" altLang="zh-CN" dirty="0" err="1" smtClean="0"/>
              <a:t>MyClass</a:t>
            </a:r>
            <a:endParaRPr lang="en-US" altLang="zh-CN" dirty="0" smtClean="0"/>
          </a:p>
          <a:p>
            <a:r>
              <a:rPr lang="zh-CN" altLang="en-US" dirty="0" smtClean="0"/>
              <a:t>复杂数据类型：本身</a:t>
            </a:r>
            <a:endParaRPr lang="zh-CN" altLang="en-US" dirty="0"/>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this </a:t>
            </a:r>
            <a:r>
              <a:rPr lang="zh-CN" altLang="en-US" dirty="0" smtClean="0"/>
              <a:t>指向 </a:t>
            </a:r>
            <a:r>
              <a:rPr lang="en-US" altLang="zh-CN" dirty="0" smtClean="0"/>
              <a:t>window</a:t>
            </a:r>
            <a:endParaRPr lang="zh-CN" altLang="en-US" dirty="0"/>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函数销毁后 继续使用其内部变量</a:t>
            </a:r>
            <a:endParaRPr lang="zh-CN" altLang="en-US" dirty="0"/>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solidFill>
                  <a:schemeClr val="bg1"/>
                </a:solidFill>
                <a:latin typeface="微软雅黑" panose="020B0503020204020204" pitchFamily="34" charset="-122"/>
                <a:ea typeface="微软雅黑" panose="020B0503020204020204" pitchFamily="34" charset="-122"/>
              </a:rPr>
              <a:t>1,2,3</a:t>
            </a:r>
            <a:endParaRPr lang="zh-CN" altLang="en-US" dirty="0" smtClean="0">
              <a:solidFill>
                <a:schemeClr val="bg1"/>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u="none" strike="noStrike" kern="1200" baseline="0" dirty="0" smtClean="0">
                <a:solidFill>
                  <a:schemeClr val="tx1"/>
                </a:solidFill>
                <a:latin typeface="+mn-lt"/>
                <a:ea typeface="+mn-ea"/>
                <a:cs typeface="+mn-cs"/>
              </a:rPr>
              <a:t>事件是被异步触发的，当事件被触发的时候，</a:t>
            </a:r>
            <a:r>
              <a:rPr lang="en-US" altLang="zh-CN" sz="1200" b="0" i="0" u="none" strike="noStrike" kern="1200" baseline="0" dirty="0" smtClean="0">
                <a:solidFill>
                  <a:schemeClr val="tx1"/>
                </a:solidFill>
                <a:latin typeface="+mn-lt"/>
                <a:ea typeface="+mn-ea"/>
                <a:cs typeface="+mn-cs"/>
              </a:rPr>
              <a:t>for </a:t>
            </a:r>
            <a:r>
              <a:rPr lang="zh-CN" altLang="en-US" sz="1200" b="0" i="0" u="none" strike="noStrike" kern="1200" baseline="0" dirty="0" smtClean="0">
                <a:solidFill>
                  <a:schemeClr val="tx1"/>
                </a:solidFill>
                <a:latin typeface="+mn-lt"/>
                <a:ea typeface="+mn-ea"/>
                <a:cs typeface="+mn-cs"/>
              </a:rPr>
              <a:t>循环早已结束</a:t>
            </a:r>
            <a:endParaRPr lang="zh-CN" altLang="en-US" sz="1200" b="0" i="0" u="none" strike="noStrike" kern="1200" baseline="0" dirty="0" smtClean="0">
              <a:solidFill>
                <a:schemeClr val="tx1"/>
              </a:solidFill>
              <a:latin typeface="+mn-lt"/>
              <a:ea typeface="+mn-ea"/>
              <a:cs typeface="+mn-cs"/>
            </a:endParaRPr>
          </a:p>
          <a:p>
            <a:r>
              <a:rPr lang="zh-CN" altLang="en-US" sz="1200" b="0" i="0" u="none" strike="noStrike" kern="1200" baseline="0" dirty="0" smtClean="0">
                <a:solidFill>
                  <a:schemeClr val="tx1"/>
                </a:solidFill>
                <a:latin typeface="+mn-lt"/>
                <a:ea typeface="+mn-ea"/>
                <a:cs typeface="+mn-cs"/>
              </a:rPr>
              <a:t>闭包</a:t>
            </a:r>
            <a:r>
              <a:rPr lang="en-US" altLang="zh-CN" sz="1200" b="0" i="0" u="none" strike="noStrike" kern="1200" baseline="0" dirty="0" smtClean="0">
                <a:solidFill>
                  <a:schemeClr val="tx1"/>
                </a:solidFill>
                <a:latin typeface="+mn-lt"/>
                <a:ea typeface="+mn-ea"/>
                <a:cs typeface="+mn-cs"/>
              </a:rPr>
              <a:t> </a:t>
            </a:r>
            <a:r>
              <a:rPr lang="zh-CN" altLang="en-US" sz="1200" b="0" i="0" u="none" strike="noStrike" kern="1200" baseline="0" dirty="0" smtClean="0">
                <a:solidFill>
                  <a:schemeClr val="tx1"/>
                </a:solidFill>
                <a:latin typeface="+mn-lt"/>
                <a:ea typeface="+mn-ea"/>
                <a:cs typeface="+mn-cs"/>
              </a:rPr>
              <a:t>创建新的函数上下文</a:t>
            </a:r>
            <a:endParaRPr lang="zh-CN" altLang="en-US" sz="1200" b="0" i="0" u="none" strike="noStrike" kern="1200" baseline="0" dirty="0" smtClean="0">
              <a:solidFill>
                <a:schemeClr val="tx1"/>
              </a:solidFill>
              <a:latin typeface="+mn-lt"/>
              <a:ea typeface="+mn-ea"/>
              <a:cs typeface="+mn-cs"/>
            </a:endParaRPr>
          </a:p>
          <a:p>
            <a:r>
              <a:rPr lang="en-US" altLang="zh-CN" dirty="0"/>
              <a:t>let</a:t>
            </a:r>
            <a:endParaRPr lang="en-US" altLang="zh-CN" dirty="0"/>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函数销毁后 继续使用其内部变量</a:t>
            </a:r>
            <a:endParaRPr lang="zh-CN" altLang="en-US" dirty="0"/>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变量赋值为null只能解除该变量对内存空间的引用，不能直接释放该变量所占用的内存空间，垃圾回收器会周期性地扫描内存，检测不再使用的变量，将其从内存中释放</a:t>
            </a:r>
            <a:endParaRPr lang="zh-CN" altLang="en-US" dirty="0"/>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smtClean="0"/>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2"/>
            <a:r>
              <a:rPr lang="en-US" smtClean="0">
                <a:sym typeface="+mn-ea"/>
              </a:rPr>
              <a:t>1.</a:t>
            </a:r>
            <a:r>
              <a:rPr smtClean="0">
                <a:sym typeface="+mn-ea"/>
              </a:rPr>
              <a:t>Boolean 与其它类型进行比较,Boolean转换为Number</a:t>
            </a:r>
            <a:endParaRPr smtClean="0">
              <a:sym typeface="+mn-ea"/>
            </a:endParaRPr>
          </a:p>
          <a:p>
            <a:pPr marL="0" lvl="2"/>
            <a:r>
              <a:rPr lang="en-US" smtClean="0">
                <a:sym typeface="+mn-ea"/>
              </a:rPr>
              <a:t>2.</a:t>
            </a:r>
            <a:r>
              <a:rPr smtClean="0">
                <a:sym typeface="+mn-ea"/>
              </a:rPr>
              <a:t>String 与 Number进行比较,String 转化为Number</a:t>
            </a:r>
            <a:endParaRPr smtClean="0">
              <a:sym typeface="+mn-ea"/>
            </a:endParaRPr>
          </a:p>
          <a:p>
            <a:pPr marL="0" lvl="2"/>
            <a:r>
              <a:rPr lang="en-US" smtClean="0">
                <a:sym typeface="+mn-ea"/>
              </a:rPr>
              <a:t>3.</a:t>
            </a:r>
            <a:r>
              <a:rPr smtClean="0">
                <a:sym typeface="+mn-ea"/>
              </a:rPr>
              <a:t>null 与 undefinde进行比较结果为true</a:t>
            </a:r>
            <a:endParaRPr smtClean="0">
              <a:sym typeface="+mn-ea"/>
            </a:endParaRPr>
          </a:p>
          <a:p>
            <a:pPr marL="0" lvl="2"/>
            <a:r>
              <a:rPr lang="en-US" smtClean="0">
                <a:sym typeface="+mn-ea"/>
              </a:rPr>
              <a:t>4.</a:t>
            </a:r>
            <a:r>
              <a:rPr smtClean="0">
                <a:sym typeface="+mn-ea"/>
              </a:rPr>
              <a:t>null,undefined与其它任何类型进行比较结果都为false</a:t>
            </a:r>
            <a:endParaRPr smtClean="0">
              <a:sym typeface="+mn-ea"/>
            </a:endParaRPr>
          </a:p>
          <a:p>
            <a:pPr marL="0" lvl="2"/>
            <a:r>
              <a:rPr lang="en-US" smtClean="0">
                <a:sym typeface="+mn-ea"/>
              </a:rPr>
              <a:t>5.</a:t>
            </a:r>
            <a:r>
              <a:rPr smtClean="0">
                <a:sym typeface="+mn-ea"/>
              </a:rPr>
              <a:t>引用类型与值类型进行比较,引用类型先转换为值类型(调用[ToPrimitive])</a:t>
            </a:r>
            <a:endParaRPr smtClean="0">
              <a:sym typeface="+mn-ea"/>
            </a:endParaRPr>
          </a:p>
          <a:p>
            <a:pPr marL="0" lvl="2"/>
            <a:r>
              <a:rPr lang="en-US" smtClean="0">
                <a:sym typeface="+mn-ea"/>
              </a:rPr>
              <a:t>6.</a:t>
            </a:r>
            <a:r>
              <a:rPr smtClean="0">
                <a:sym typeface="+mn-ea"/>
              </a:rPr>
              <a:t>引用类型与引用类型，直接判断是否指向同一对象</a:t>
            </a:r>
            <a:endParaRPr lang="zh-CN" altLang="en-US" dirty="0"/>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2"/>
            <a:r>
              <a:rPr lang="zh-CN" altLang="en-US" dirty="0" smtClean="0">
                <a:sym typeface="+mn-ea"/>
              </a:rPr>
              <a:t>对象的</a:t>
            </a:r>
            <a:r>
              <a:rPr lang="en-US" altLang="zh-CN" dirty="0" err="1" smtClean="0">
                <a:sym typeface="+mn-ea"/>
              </a:rPr>
              <a:t>valueOf</a:t>
            </a:r>
            <a:r>
              <a:rPr lang="en-US" altLang="zh-CN" dirty="0" smtClean="0">
                <a:sym typeface="+mn-ea"/>
              </a:rPr>
              <a:t>()</a:t>
            </a:r>
            <a:r>
              <a:rPr lang="zh-CN" altLang="en-US" dirty="0" smtClean="0">
                <a:sym typeface="+mn-ea"/>
              </a:rPr>
              <a:t>返回对象本身，</a:t>
            </a:r>
            <a:r>
              <a:rPr lang="en-US" altLang="zh-CN" dirty="0" err="1" smtClean="0">
                <a:sym typeface="+mn-ea"/>
              </a:rPr>
              <a:t>toString</a:t>
            </a:r>
            <a:r>
              <a:rPr lang="en-US" altLang="zh-CN" dirty="0" smtClean="0">
                <a:sym typeface="+mn-ea"/>
              </a:rPr>
              <a:t>()</a:t>
            </a:r>
            <a:r>
              <a:rPr lang="zh-CN" altLang="en-US" dirty="0" smtClean="0">
                <a:sym typeface="+mn-ea"/>
              </a:rPr>
              <a:t>返回</a:t>
            </a:r>
            <a:r>
              <a:rPr lang="en-US" altLang="zh-CN" dirty="0" smtClean="0">
                <a:sym typeface="+mn-ea"/>
              </a:rPr>
              <a:t> [Object Object]</a:t>
            </a:r>
            <a:endParaRPr lang="en-US" altLang="zh-CN" dirty="0" smtClean="0">
              <a:sym typeface="+mn-ea"/>
            </a:endParaRPr>
          </a:p>
          <a:p>
            <a:pPr marL="0" lvl="2"/>
            <a:r>
              <a:rPr lang="zh-CN" altLang="en-US" dirty="0" smtClean="0">
                <a:sym typeface="+mn-ea"/>
              </a:rPr>
              <a:t>数组</a:t>
            </a:r>
            <a:r>
              <a:rPr lang="zh-CN" altLang="en-US" dirty="0">
                <a:sym typeface="+mn-ea"/>
              </a:rPr>
              <a:t>的</a:t>
            </a:r>
            <a:r>
              <a:rPr lang="en-US" altLang="zh-CN" dirty="0" err="1">
                <a:sym typeface="+mn-ea"/>
              </a:rPr>
              <a:t>valueOf</a:t>
            </a:r>
            <a:r>
              <a:rPr lang="en-US" altLang="zh-CN" dirty="0">
                <a:sym typeface="+mn-ea"/>
              </a:rPr>
              <a:t>()</a:t>
            </a:r>
            <a:r>
              <a:rPr lang="zh-CN" altLang="en-US" dirty="0">
                <a:sym typeface="+mn-ea"/>
              </a:rPr>
              <a:t>返回数组本身，</a:t>
            </a:r>
            <a:r>
              <a:rPr lang="en-US" altLang="zh-CN" dirty="0" err="1">
                <a:sym typeface="+mn-ea"/>
              </a:rPr>
              <a:t>toString</a:t>
            </a:r>
            <a:r>
              <a:rPr lang="en-US" altLang="zh-CN" dirty="0">
                <a:sym typeface="+mn-ea"/>
              </a:rPr>
              <a:t>()</a:t>
            </a:r>
            <a:r>
              <a:rPr lang="zh-CN" altLang="en-US" dirty="0" smtClean="0">
                <a:sym typeface="+mn-ea"/>
              </a:rPr>
              <a:t>返回以</a:t>
            </a:r>
            <a:r>
              <a:rPr lang="en-US" altLang="zh-CN" dirty="0" smtClean="0">
                <a:sym typeface="+mn-ea"/>
              </a:rPr>
              <a:t>“,”</a:t>
            </a:r>
            <a:r>
              <a:rPr lang="zh-CN" altLang="en-US" dirty="0" smtClean="0">
                <a:sym typeface="+mn-ea"/>
              </a:rPr>
              <a:t>连接的字符串</a:t>
            </a:r>
            <a:endParaRPr smtClean="0">
              <a:sym typeface="+mn-ea"/>
            </a:endParaRPr>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mn-lt"/>
                <a:ea typeface="+mn-ea"/>
                <a:cs typeface="+mn-cs"/>
              </a:rPr>
              <a:t>true false</a:t>
            </a:r>
            <a:endParaRPr lang="en-US" altLang="zh-CN" sz="1200" b="0" i="0" kern="1200" dirty="0" smtClean="0">
              <a:solidFill>
                <a:schemeClr val="tx1"/>
              </a:solidFill>
              <a:effectLst/>
              <a:latin typeface="+mn-lt"/>
              <a:ea typeface="+mn-ea"/>
              <a:cs typeface="+mn-cs"/>
            </a:endParaRPr>
          </a:p>
          <a:p>
            <a:pPr marL="0" lvl="2" indent="-228600">
              <a:buAutoNum type="arabicPeriod"/>
            </a:pPr>
            <a:r>
              <a:rPr lang="zh-CN" altLang="en-US" sz="1200" b="0" i="0" kern="1200" dirty="0" smtClean="0">
                <a:solidFill>
                  <a:schemeClr val="tx1"/>
                </a:solidFill>
                <a:effectLst/>
                <a:latin typeface="+mn-lt"/>
                <a:ea typeface="+mn-ea"/>
                <a:cs typeface="+mn-cs"/>
              </a:rPr>
              <a:t>都</a:t>
            </a:r>
            <a:r>
              <a:rPr lang="zh-CN" altLang="en-US" dirty="0" smtClean="0">
                <a:effectLst/>
              </a:rPr>
              <a:t>代表无效的值，规定值相等</a:t>
            </a:r>
            <a:endParaRPr lang="zh-CN" altLang="en-US" dirty="0" smtClean="0">
              <a:effectLst/>
            </a:endParaRPr>
          </a:p>
          <a:p>
            <a:pPr marL="0" lvl="2" indent="-228600">
              <a:buAutoNum type="arabicPeriod"/>
            </a:pPr>
            <a:r>
              <a:rPr lang="en-US" altLang="zh-CN" dirty="0" err="1" smtClean="0"/>
              <a:t>NaN</a:t>
            </a:r>
            <a:r>
              <a:rPr lang="zh-CN" altLang="en-US" dirty="0" smtClean="0"/>
              <a:t>：</a:t>
            </a:r>
            <a:r>
              <a:rPr lang="en-US" altLang="zh-CN" baseline="0" dirty="0" smtClean="0"/>
              <a:t>number</a:t>
            </a:r>
            <a:r>
              <a:rPr lang="zh-CN" altLang="en-US" baseline="0" dirty="0" smtClean="0"/>
              <a:t>类型的一种状态</a:t>
            </a:r>
            <a:r>
              <a:rPr lang="en-US" altLang="zh-CN" baseline="0" dirty="0" smtClean="0"/>
              <a:t>: </a:t>
            </a:r>
            <a:r>
              <a:rPr lang="zh-CN" altLang="en-US" baseline="0" dirty="0" smtClean="0"/>
              <a:t>是或否，不是一个确切的值</a:t>
            </a:r>
            <a:endParaRPr lang="zh-CN" altLang="en-US" b="0" dirty="0"/>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运算优先级：</a:t>
            </a:r>
            <a:r>
              <a:rPr lang="en-US" altLang="zh-CN" dirty="0" smtClean="0"/>
              <a:t>!</a:t>
            </a:r>
            <a:r>
              <a:rPr lang="en-US" altLang="zh-CN" baseline="0" dirty="0" smtClean="0"/>
              <a:t> &gt; =</a:t>
            </a:r>
            <a:endParaRPr lang="zh-CN" altLang="en-US" dirty="0"/>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原型是用于实现对象继承和属性共享的机制</a:t>
            </a:r>
            <a:endParaRPr lang="zh-CN" altLang="en-US"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原型链是一种通过原型对象连接起来的链式结构</a:t>
            </a:r>
            <a:endParaRPr lang="zh-CN" altLang="en-US" sz="1200" b="0" i="0" kern="1200" dirty="0" smtClean="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b="0" i="0" kern="1200" dirty="0" smtClean="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b="0" i="0" kern="1200" dirty="0" smtClean="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JS</a:t>
            </a:r>
            <a:r>
              <a:rPr lang="zh-CN" altLang="en-US" dirty="0"/>
              <a:t>引擎查找对象属性，先查找对象本身，如果不存在，则会在原型链上查找</a:t>
            </a:r>
            <a:endParaRPr lang="en-US" altLang="zh-CN" dirty="0"/>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mn-lt"/>
                <a:ea typeface="+mn-ea"/>
                <a:cs typeface="+mn-cs"/>
              </a:rPr>
              <a:t>Web Worker</a:t>
            </a:r>
            <a:r>
              <a:rPr lang="zh-CN" altLang="en-US" sz="1200" b="0" i="0" kern="1200" dirty="0" smtClean="0">
                <a:solidFill>
                  <a:schemeClr val="tx1"/>
                </a:solidFill>
                <a:effectLst/>
                <a:latin typeface="+mn-lt"/>
                <a:ea typeface="+mn-ea"/>
                <a:cs typeface="+mn-cs"/>
              </a:rPr>
              <a:t>，允许</a:t>
            </a:r>
            <a:r>
              <a:rPr lang="en-US" altLang="zh-CN" sz="1200" b="0" i="0" kern="1200" dirty="0" smtClean="0">
                <a:solidFill>
                  <a:schemeClr val="tx1"/>
                </a:solidFill>
                <a:effectLst/>
                <a:latin typeface="+mn-lt"/>
                <a:ea typeface="+mn-ea"/>
                <a:cs typeface="+mn-cs"/>
              </a:rPr>
              <a:t>JS</a:t>
            </a:r>
            <a:r>
              <a:rPr lang="zh-CN" altLang="en-US" sz="1200" b="0" i="0" kern="1200" dirty="0" smtClean="0">
                <a:solidFill>
                  <a:schemeClr val="tx1"/>
                </a:solidFill>
                <a:effectLst/>
                <a:latin typeface="+mn-lt"/>
                <a:ea typeface="+mn-ea"/>
                <a:cs typeface="+mn-cs"/>
              </a:rPr>
              <a:t>创建多个线程，但子线程受主线程控制，且不得操作</a:t>
            </a:r>
            <a:r>
              <a:rPr lang="en-US" altLang="zh-CN" sz="1200" b="0" i="0" kern="1200" dirty="0" smtClean="0">
                <a:solidFill>
                  <a:schemeClr val="tx1"/>
                </a:solidFill>
                <a:effectLst/>
                <a:latin typeface="+mn-lt"/>
                <a:ea typeface="+mn-ea"/>
                <a:cs typeface="+mn-cs"/>
              </a:rPr>
              <a:t>DOM</a:t>
            </a:r>
            <a:endParaRPr lang="zh-CN" altLang="en-US" dirty="0"/>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nSpc>
                <a:spcPct val="150000"/>
              </a:lnSpc>
              <a:buFont typeface="+mj-lt"/>
              <a:buNone/>
            </a:pPr>
            <a:r>
              <a:rPr lang="zh-CN" altLang="en-US" dirty="0" smtClean="0">
                <a:solidFill>
                  <a:schemeClr val="bg1"/>
                </a:solidFill>
                <a:latin typeface="微软雅黑" panose="020B0503020204020204" pitchFamily="34" charset="-122"/>
                <a:ea typeface="微软雅黑" panose="020B0503020204020204" pitchFamily="34" charset="-122"/>
              </a:rPr>
              <a:t>同步和异步任务分别进入不同的执行环境，同步的进入主线程，即主执行栈，异步的进入任务队列。主线程内的任务执行完毕为空，会去任务队列读取对应的任务，推入主线程执行。 上述过程的不断重复就是我们说的 Event Loop (事件循环)</a:t>
            </a:r>
            <a:endParaRPr lang="zh-CN" altLang="en-US" dirty="0" smtClean="0">
              <a:solidFill>
                <a:schemeClr val="bg1"/>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sym typeface="+mn-ea"/>
              </a:rPr>
              <a:t>宏任务：</a:t>
            </a:r>
            <a:r>
              <a:rPr lang="en-US" altLang="zh-CN" dirty="0" err="1" smtClean="0">
                <a:solidFill>
                  <a:schemeClr val="bg1"/>
                </a:solidFill>
                <a:latin typeface="微软雅黑" panose="020B0503020204020204" pitchFamily="34" charset="-122"/>
                <a:ea typeface="微软雅黑" panose="020B0503020204020204" pitchFamily="34" charset="-122"/>
                <a:sym typeface="+mn-ea"/>
              </a:rPr>
              <a:t>s</a:t>
            </a:r>
            <a:r>
              <a:rPr lang="en-US" altLang="zh-CN" smtClean="0">
                <a:sym typeface="+mn-ea"/>
              </a:rPr>
              <a:t>setTimeout、setInterval、setImmediate（Node）、requestAnimationFrame、事件监听回调函数等</a:t>
            </a:r>
            <a:endParaRPr lang="en-US" altLang="zh-CN" smtClean="0">
              <a:sym typeface="+mn-ea"/>
            </a:endParaRPr>
          </a:p>
          <a:p>
            <a:r>
              <a:rPr lang="zh-CN" altLang="en-US" dirty="0" smtClean="0">
                <a:sym typeface="+mn-ea"/>
              </a:rPr>
              <a:t>微任务：</a:t>
            </a:r>
            <a:r>
              <a:rPr lang="en-US" altLang="zh-CN" smtClean="0">
                <a:sym typeface="+mn-ea"/>
              </a:rPr>
              <a:t>Promise.then/catch/finally、async/await中的代码、Generator函数、MutationObserver、process.nextTick（Node）</a:t>
            </a:r>
            <a:endParaRPr lang="en-US" altLang="zh-CN" smtClean="0">
              <a:sym typeface="+mn-ea"/>
            </a:endParaRPr>
          </a:p>
          <a:p>
            <a:r>
              <a:rPr lang="en-US" altLang="zh-CN" smtClean="0">
                <a:sym typeface="+mn-ea"/>
              </a:rPr>
              <a:t>微任务</a:t>
            </a:r>
            <a:r>
              <a:rPr lang="zh-CN" altLang="en-US" smtClean="0">
                <a:sym typeface="+mn-ea"/>
              </a:rPr>
              <a:t>高优先级</a:t>
            </a:r>
            <a:r>
              <a:rPr lang="en-US" altLang="zh-CN" smtClean="0">
                <a:sym typeface="+mn-ea"/>
              </a:rPr>
              <a:t>宏任务</a:t>
            </a:r>
            <a:endParaRPr lang="en-US" altLang="zh-CN" smtClean="0">
              <a:sym typeface="+mn-ea"/>
            </a:endParaRPr>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sym typeface="+mn-ea"/>
              </a:rPr>
              <a:t>promise console then setTimeout</a:t>
            </a:r>
            <a:endParaRPr lang="zh-CN" altLang="en-US" dirty="0" smtClean="0">
              <a:sym typeface="+mn-ea"/>
            </a:endParaRPr>
          </a:p>
          <a:p>
            <a:r>
              <a:rPr lang="zh-CN" altLang="en-US" dirty="0" smtClean="0">
                <a:sym typeface="+mn-ea"/>
              </a:rPr>
              <a:t>宏任务：</a:t>
            </a:r>
            <a:r>
              <a:rPr lang="en-US" altLang="zh-CN" dirty="0" err="1" smtClean="0">
                <a:solidFill>
                  <a:schemeClr val="bg1"/>
                </a:solidFill>
                <a:latin typeface="微软雅黑" panose="020B0503020204020204" pitchFamily="34" charset="-122"/>
                <a:ea typeface="微软雅黑" panose="020B0503020204020204" pitchFamily="34" charset="-122"/>
                <a:sym typeface="+mn-ea"/>
              </a:rPr>
              <a:t>setTimeout</a:t>
            </a:r>
            <a:r>
              <a:rPr lang="en-US" altLang="zh-CN" dirty="0" smtClean="0">
                <a:solidFill>
                  <a:schemeClr val="bg1"/>
                </a:solidFill>
                <a:latin typeface="微软雅黑" panose="020B0503020204020204" pitchFamily="34" charset="-122"/>
                <a:ea typeface="微软雅黑" panose="020B0503020204020204" pitchFamily="34" charset="-122"/>
                <a:sym typeface="+mn-ea"/>
              </a:rPr>
              <a:t>/</a:t>
            </a:r>
            <a:r>
              <a:rPr lang="en-US" altLang="zh-CN" dirty="0" err="1" smtClean="0">
                <a:effectLst/>
                <a:sym typeface="+mn-ea"/>
              </a:rPr>
              <a:t>setInterval</a:t>
            </a:r>
            <a:r>
              <a:rPr lang="zh-CN" altLang="en-US" dirty="0" smtClean="0">
                <a:solidFill>
                  <a:schemeClr val="bg1"/>
                </a:solidFill>
                <a:latin typeface="微软雅黑" panose="020B0503020204020204" pitchFamily="34" charset="-122"/>
                <a:ea typeface="微软雅黑" panose="020B0503020204020204" pitchFamily="34" charset="-122"/>
                <a:sym typeface="+mn-ea"/>
              </a:rPr>
              <a:t>；</a:t>
            </a:r>
            <a:r>
              <a:rPr lang="zh-CN" altLang="en-US" dirty="0" smtClean="0">
                <a:sym typeface="+mn-ea"/>
              </a:rPr>
              <a:t>微任务：</a:t>
            </a:r>
            <a:r>
              <a:rPr lang="en-US" altLang="zh-CN" dirty="0" smtClean="0">
                <a:solidFill>
                  <a:schemeClr val="bg1"/>
                </a:solidFill>
                <a:latin typeface="微软雅黑" panose="020B0503020204020204" pitchFamily="34" charset="-122"/>
                <a:ea typeface="微软雅黑" panose="020B0503020204020204" pitchFamily="34" charset="-122"/>
                <a:sym typeface="+mn-ea"/>
              </a:rPr>
              <a:t>Promise.then/</a:t>
            </a:r>
            <a:r>
              <a:rPr lang="en-US" altLang="zh-CN" dirty="0" err="1" smtClean="0">
                <a:effectLst/>
                <a:sym typeface="+mn-ea"/>
              </a:rPr>
              <a:t>nextTick</a:t>
            </a:r>
            <a:endParaRPr lang="zh-CN" altLang="en-US" dirty="0"/>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1.</a:t>
            </a:r>
            <a:r>
              <a:rPr lang="zh-CN" altLang="en-US"/>
              <a:t>允许开发者将一些需要尽快执行但又不希望阻塞后续代码的轻量级异步操作放入微任务队列</a:t>
            </a:r>
            <a:r>
              <a:rPr lang="en-US" altLang="zh-CN"/>
              <a:t>,</a:t>
            </a:r>
            <a:endParaRPr lang="en-US" altLang="zh-CN"/>
          </a:p>
          <a:p>
            <a:r>
              <a:rPr lang="en-US" altLang="zh-CN"/>
              <a:t>2.</a:t>
            </a:r>
            <a:r>
              <a:rPr lang="zh-CN" altLang="en-US"/>
              <a:t>可以减少不必要的全局渲染和重绘，提高页面的响应性能</a:t>
            </a:r>
            <a:endParaRPr lang="zh-CN" altLang="en-US"/>
          </a:p>
          <a:p>
            <a:r>
              <a:rPr lang="en-US" altLang="zh-CN"/>
              <a:t>3.</a:t>
            </a:r>
            <a:r>
              <a:rPr lang="zh-CN" altLang="en-US"/>
              <a:t>对于性能要求较高的场景非常有用。例如，在处理高频率的用户交互时，使用微任务可以减少延迟，提升用户体验</a:t>
            </a:r>
            <a:endParaRPr lang="zh-CN" altLang="en-US"/>
          </a:p>
          <a:p>
            <a:r>
              <a:rPr lang="en-US" altLang="zh-CN"/>
              <a:t>4.</a:t>
            </a:r>
            <a:r>
              <a:rPr lang="zh-CN" altLang="en-US"/>
              <a:t>通过合理地安排微任务和宏任务，可以确保某些操作按照预期的顺序执行，避免因为任务调度不当导致的竞态条件或数据不一致问题。</a:t>
            </a:r>
            <a:endParaRPr lang="zh-CN" altLang="en-US"/>
          </a:p>
          <a:p>
            <a:r>
              <a:rPr lang="en-US" altLang="zh-CN"/>
              <a:t>5.</a:t>
            </a:r>
            <a:r>
              <a:rPr lang="zh-CN" altLang="en-US"/>
              <a:t>随着前端应用变得越来越复杂，对异步编程模型的要求也越来越高。微任务提供了一种机制，使得开发者可以在不阻塞UI线程的情况下，执行复杂的异步操作，如Promise、MutationObserver等</a:t>
            </a:r>
            <a:endParaRPr lang="zh-CN" altLang="en-US"/>
          </a:p>
          <a:p>
            <a:r>
              <a:rPr lang="en-US" altLang="zh-CN"/>
              <a:t>6.</a:t>
            </a:r>
            <a:r>
              <a:rPr lang="zh-CN" altLang="en-US"/>
              <a:t>在某些情况下，开发者可能需要在当前的宏任务执行完毕后立即执行一些操作，而不是等待下一个事件循环。微任务提供了这种“插队”的能力，</a:t>
            </a:r>
            <a:endParaRPr lang="zh-CN" altLang="en-US"/>
          </a:p>
          <a:p>
            <a:r>
              <a:rPr lang="en-US" altLang="zh-CN"/>
              <a:t>```</a:t>
            </a:r>
            <a:r>
              <a:rPr lang="zh-CN" altLang="en-US"/>
              <a:t>在JavaScript中，</a:t>
            </a:r>
            <a:r>
              <a:rPr lang="zh-CN" altLang="en-US">
                <a:sym typeface="+mn-ea"/>
              </a:rPr>
              <a:t>微任务</a:t>
            </a:r>
            <a:r>
              <a:rPr lang="zh-CN" altLang="en-US"/>
              <a:t>为了提供一个更加高效、灵活且可控的异步编程环境，帮助开发者更好地处理复杂的异步逻辑，提升应用的性能和用户体验</a:t>
            </a:r>
            <a:endParaRPr lang="zh-CN" altLang="en-US"/>
          </a:p>
          <a:p>
            <a:r>
              <a:rPr lang="en-US" altLang="zh-CN"/>
              <a:t>```</a:t>
            </a:r>
            <a:r>
              <a:rPr lang="zh-CN" altLang="en-US"/>
              <a:t>总之，宏任务和微任务的区分是为了更好地协调任务的执行优先级，提高 JavaScript 的运行效率和代码的可读性。</a:t>
            </a:r>
            <a:endParaRPr lang="zh-CN" altLang="en-US"/>
          </a:p>
          <a:p>
            <a:r>
              <a:rPr lang="en-US" altLang="zh-CN"/>
              <a:t>```</a:t>
            </a:r>
            <a:r>
              <a:rPr lang="zh-CN" altLang="en-US"/>
              <a:t>随着浏览器的复杂度急剧提升，W3C不再使用宏队列的说法，仅用微任务队列和其他任务队列进行说明，任务没有优先级，都是在消息队列中排队，有着类似先进先出的原则。但是消息队列是有优先级的，其中微任务队列优先级最高，其余如交互队列，延时队列等等都有不同的优先级</a:t>
            </a:r>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dirty="0" smtClean="0"/>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一对多，都可以订阅这个事件</a:t>
            </a:r>
            <a:endParaRPr lang="zh-CN" altLang="en-US" dirty="0"/>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可以独立通知，通知不同的消息</a:t>
            </a:r>
            <a:endParaRPr lang="zh-CN" altLang="en-US" dirty="0"/>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solidFill>
                  <a:srgbClr val="E5C07B"/>
                </a:solidFill>
                <a:latin typeface="Consolas" panose="020B0609020204030204" pitchFamily="49" charset="0"/>
                <a:sym typeface="+mn-ea"/>
              </a:rPr>
              <a:t>Hunter </a:t>
            </a:r>
            <a:r>
              <a:rPr lang="zh-CN" altLang="en-US" dirty="0" smtClean="0">
                <a:solidFill>
                  <a:srgbClr val="E5C07B"/>
                </a:solidFill>
                <a:latin typeface="Consolas" panose="020B0609020204030204" pitchFamily="49" charset="0"/>
                <a:sym typeface="+mn-ea"/>
              </a:rPr>
              <a:t>基类</a:t>
            </a:r>
            <a:endParaRPr lang="zh-CN" altLang="en-US" dirty="0" smtClean="0">
              <a:solidFill>
                <a:srgbClr val="E5C07B"/>
              </a:solidFill>
              <a:latin typeface="Consolas" panose="020B0609020204030204" pitchFamily="49" charset="0"/>
              <a:sym typeface="+mn-ea"/>
            </a:endParaRPr>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每个实例都有自己任务榜单</a:t>
            </a:r>
            <a:r>
              <a:rPr lang="en-US" altLang="zh-CN" dirty="0"/>
              <a:t>list</a:t>
            </a:r>
            <a:endParaRPr lang="en-US" altLang="zh-CN" dirty="0"/>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dirty="0">
                <a:sym typeface="+mn-ea"/>
              </a:rPr>
              <a:t>发布</a:t>
            </a:r>
            <a:r>
              <a:rPr lang="en-US" altLang="zh-CN" dirty="0">
                <a:sym typeface="+mn-ea"/>
              </a:rPr>
              <a:t>-</a:t>
            </a:r>
            <a:r>
              <a:rPr lang="zh-CN" altLang="en-US" dirty="0">
                <a:sym typeface="+mn-ea"/>
              </a:rPr>
              <a:t>订阅模式是面向调度中心编程的</a:t>
            </a:r>
            <a:r>
              <a:rPr lang="zh-CN" altLang="en-US" dirty="0" smtClean="0">
                <a:sym typeface="+mn-ea"/>
              </a:rPr>
              <a:t>，</a:t>
            </a:r>
            <a:r>
              <a:rPr lang="zh-CN" altLang="en-US" dirty="0">
                <a:sym typeface="+mn-ea"/>
              </a:rPr>
              <a:t>解耦发布者和订阅者</a:t>
            </a:r>
            <a:endParaRPr lang="en-US" altLang="zh-CN" dirty="0" smtClean="0"/>
          </a:p>
          <a:p>
            <a:r>
              <a:rPr lang="zh-CN" altLang="en-US" dirty="0" smtClean="0">
                <a:sym typeface="+mn-ea"/>
              </a:rPr>
              <a:t>观察</a:t>
            </a:r>
            <a:r>
              <a:rPr lang="zh-CN" altLang="en-US" dirty="0">
                <a:sym typeface="+mn-ea"/>
              </a:rPr>
              <a:t>者模式则是面向目标和观察者编程</a:t>
            </a:r>
            <a:r>
              <a:rPr lang="zh-CN" altLang="en-US" dirty="0" smtClean="0">
                <a:sym typeface="+mn-ea"/>
              </a:rPr>
              <a:t>的，耦合</a:t>
            </a:r>
            <a:r>
              <a:rPr lang="zh-CN" altLang="en-US" dirty="0">
                <a:sym typeface="+mn-ea"/>
              </a:rPr>
              <a:t>目标和观察者</a:t>
            </a:r>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BCCA80F-ADCD-4CF8-AC2B-C43D0C877E1D}" type="slidenum">
              <a:rPr lang="zh-CN" altLang="en-US" smtClean="0"/>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641F6EF-17A8-4D8D-8596-CC20AFAE4E5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normAutofit/>
          </a:bodyPr>
          <a:lstStyle>
            <a:lvl1pPr algn="ctr">
              <a:defRPr sz="4800">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6" name="灯片编号占位符 5"/>
          <p:cNvSpPr>
            <a:spLocks noGrp="1"/>
          </p:cNvSpPr>
          <p:nvPr>
            <p:ph type="sldNum" sz="quarter" idx="12"/>
          </p:nvPr>
        </p:nvSpPr>
        <p:spPr/>
        <p:txBody>
          <a:bodyPr/>
          <a:lstStyle>
            <a:lvl1pPr>
              <a:defRPr>
                <a:latin typeface="微软雅黑" panose="020B0503020204020204" pitchFamily="34" charset="-122"/>
                <a:ea typeface="微软雅黑" panose="020B0503020204020204" pitchFamily="34" charset="-122"/>
              </a:defRPr>
            </a:lvl1pPr>
          </a:lstStyle>
          <a:p>
            <a:fld id="{874A61D1-A590-4103-B92C-A13F4F84A41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557439" y="303211"/>
            <a:ext cx="8553450" cy="546328"/>
          </a:xfrm>
        </p:spPr>
        <p:txBody>
          <a:bodyPr>
            <a:noAutofit/>
          </a:bodyPr>
          <a:lstStyle>
            <a:lvl1pPr>
              <a:defRPr sz="2800">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
        <p:nvSpPr>
          <p:cNvPr id="3" name="内容占位符 2"/>
          <p:cNvSpPr>
            <a:spLocks noGrp="1"/>
          </p:cNvSpPr>
          <p:nvPr>
            <p:ph idx="1" hasCustomPrompt="1"/>
          </p:nvPr>
        </p:nvSpPr>
        <p:spPr>
          <a:xfrm>
            <a:off x="557439" y="1130299"/>
            <a:ext cx="11161486" cy="5165725"/>
          </a:xfrm>
        </p:spPr>
        <p:txBody>
          <a:bodyPr>
            <a:normAutofit/>
          </a:bodyPr>
          <a:lstStyle>
            <a:lvl1pPr>
              <a:lnSpc>
                <a:spcPct val="120000"/>
              </a:lnSpc>
              <a:defRPr sz="2400">
                <a:latin typeface="微软雅黑" panose="020B0503020204020204" pitchFamily="34" charset="-122"/>
                <a:ea typeface="微软雅黑" panose="020B0503020204020204" pitchFamily="34" charset="-122"/>
              </a:defRPr>
            </a:lvl1pPr>
            <a:lvl2pPr>
              <a:lnSpc>
                <a:spcPct val="120000"/>
              </a:lnSpc>
              <a:defRPr sz="2000">
                <a:latin typeface="微软雅黑" panose="020B0503020204020204" pitchFamily="34" charset="-122"/>
                <a:ea typeface="微软雅黑" panose="020B0503020204020204" pitchFamily="34" charset="-122"/>
              </a:defRPr>
            </a:lvl2pPr>
            <a:lvl3pPr>
              <a:lnSpc>
                <a:spcPct val="120000"/>
              </a:lnSpc>
              <a:defRPr sz="1800">
                <a:latin typeface="微软雅黑" panose="020B0503020204020204" pitchFamily="34" charset="-122"/>
                <a:ea typeface="微软雅黑" panose="020B0503020204020204" pitchFamily="34" charset="-122"/>
              </a:defRPr>
            </a:lvl3pPr>
            <a:lvl4pPr>
              <a:lnSpc>
                <a:spcPct val="120000"/>
              </a:lnSpc>
              <a:defRPr sz="1600">
                <a:latin typeface="微软雅黑" panose="020B0503020204020204" pitchFamily="34" charset="-122"/>
                <a:ea typeface="微软雅黑" panose="020B0503020204020204" pitchFamily="34" charset="-122"/>
              </a:defRPr>
            </a:lvl4pPr>
            <a:lvl5pPr>
              <a:lnSpc>
                <a:spcPct val="120000"/>
              </a:lnSpc>
              <a:defRPr sz="1600">
                <a:latin typeface="微软雅黑" panose="020B0503020204020204" pitchFamily="34" charset="-122"/>
                <a:ea typeface="微软雅黑" panose="020B0503020204020204" pitchFamily="34"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灯片编号占位符 5"/>
          <p:cNvSpPr>
            <a:spLocks noGrp="1"/>
          </p:cNvSpPr>
          <p:nvPr>
            <p:ph type="sldNum" sz="quarter" idx="12"/>
          </p:nvPr>
        </p:nvSpPr>
        <p:spPr/>
        <p:txBody>
          <a:bodyPr/>
          <a:lstStyle>
            <a:lvl1pPr>
              <a:defRPr>
                <a:solidFill>
                  <a:schemeClr val="bg1">
                    <a:lumMod val="75000"/>
                  </a:schemeClr>
                </a:solidFill>
              </a:defRPr>
            </a:lvl1pPr>
          </a:lstStyle>
          <a:p>
            <a:fld id="{AE15D405-B2DF-4EC3-AD91-92680604D88F}" type="slidenum">
              <a:rPr lang="zh-CN" altLang="en-US" smtClean="0"/>
            </a:fld>
            <a:endParaRPr lang="zh-CN" altLang="en-US" dirty="0"/>
          </a:p>
        </p:txBody>
      </p:sp>
      <p:cxnSp>
        <p:nvCxnSpPr>
          <p:cNvPr id="7" name="直接连接符 6"/>
          <p:cNvCxnSpPr/>
          <p:nvPr userDrawn="1"/>
        </p:nvCxnSpPr>
        <p:spPr>
          <a:xfrm>
            <a:off x="557439" y="868589"/>
            <a:ext cx="11161486" cy="0"/>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557439" y="243114"/>
            <a:ext cx="10515600" cy="615950"/>
          </a:xfrm>
        </p:spPr>
        <p:txBody>
          <a:bodyPr>
            <a:normAutofit/>
          </a:bodyPr>
          <a:lstStyle>
            <a:lvl1pPr>
              <a:defRPr sz="2800">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
        <p:nvSpPr>
          <p:cNvPr id="3" name="内容占位符 2"/>
          <p:cNvSpPr>
            <a:spLocks noGrp="1"/>
          </p:cNvSpPr>
          <p:nvPr>
            <p:ph sz="half" idx="1" hasCustomPrompt="1"/>
          </p:nvPr>
        </p:nvSpPr>
        <p:spPr>
          <a:xfrm>
            <a:off x="557438" y="1073150"/>
            <a:ext cx="5487761" cy="5273674"/>
          </a:xfrm>
        </p:spPr>
        <p:txBody>
          <a:bodyPr>
            <a:normAutofit/>
          </a:bodyPr>
          <a:lstStyle>
            <a:lvl1pPr>
              <a:defRPr sz="2400">
                <a:latin typeface="微软雅黑" panose="020B0503020204020204" pitchFamily="34" charset="-122"/>
                <a:ea typeface="微软雅黑" panose="020B0503020204020204" pitchFamily="34" charset="-122"/>
              </a:defRPr>
            </a:lvl1pPr>
            <a:lvl2pPr>
              <a:defRPr sz="2000">
                <a:latin typeface="微软雅黑" panose="020B0503020204020204" pitchFamily="34" charset="-122"/>
                <a:ea typeface="微软雅黑" panose="020B0503020204020204" pitchFamily="34" charset="-122"/>
              </a:defRPr>
            </a:lvl2pPr>
            <a:lvl3pPr>
              <a:defRPr sz="1800">
                <a:latin typeface="微软雅黑" panose="020B0503020204020204" pitchFamily="34" charset="-122"/>
                <a:ea typeface="微软雅黑" panose="020B0503020204020204" pitchFamily="34" charset="-122"/>
              </a:defRPr>
            </a:lvl3pPr>
            <a:lvl4pPr>
              <a:defRPr sz="16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hasCustomPrompt="1"/>
          </p:nvPr>
        </p:nvSpPr>
        <p:spPr>
          <a:xfrm>
            <a:off x="6189889" y="1073150"/>
            <a:ext cx="5487761" cy="5273674"/>
          </a:xfrm>
        </p:spPr>
        <p:txBody>
          <a:bodyPr>
            <a:normAutofit/>
          </a:bodyPr>
          <a:lstStyle>
            <a:lvl1pPr>
              <a:defRPr sz="2400">
                <a:latin typeface="微软雅黑" panose="020B0503020204020204" pitchFamily="34" charset="-122"/>
                <a:ea typeface="微软雅黑" panose="020B0503020204020204" pitchFamily="34" charset="-122"/>
              </a:defRPr>
            </a:lvl1pPr>
            <a:lvl2pPr>
              <a:defRPr sz="2000">
                <a:latin typeface="微软雅黑" panose="020B0503020204020204" pitchFamily="34" charset="-122"/>
                <a:ea typeface="微软雅黑" panose="020B0503020204020204" pitchFamily="34" charset="-122"/>
              </a:defRPr>
            </a:lvl2pPr>
            <a:lvl3pPr>
              <a:defRPr sz="1800">
                <a:latin typeface="微软雅黑" panose="020B0503020204020204" pitchFamily="34" charset="-122"/>
                <a:ea typeface="微软雅黑" panose="020B0503020204020204" pitchFamily="34" charset="-122"/>
              </a:defRPr>
            </a:lvl3pPr>
            <a:lvl4pPr>
              <a:defRPr sz="16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灯片编号占位符 6"/>
          <p:cNvSpPr>
            <a:spLocks noGrp="1"/>
          </p:cNvSpPr>
          <p:nvPr>
            <p:ph type="sldNum" sz="quarter" idx="12"/>
          </p:nvPr>
        </p:nvSpPr>
        <p:spPr/>
        <p:txBody>
          <a:bodyPr/>
          <a:lstStyle>
            <a:lvl1pPr>
              <a:defRPr>
                <a:latin typeface="微软雅黑" panose="020B0503020204020204" pitchFamily="34" charset="-122"/>
                <a:ea typeface="微软雅黑" panose="020B0503020204020204" pitchFamily="34" charset="-122"/>
              </a:defRPr>
            </a:lvl1pPr>
          </a:lstStyle>
          <a:p>
            <a:fld id="{874A61D1-A590-4103-B92C-A13F4F84A412}" type="slidenum">
              <a:rPr lang="zh-CN" altLang="en-US" smtClean="0"/>
            </a:fld>
            <a:endParaRPr lang="zh-CN" altLang="en-US"/>
          </a:p>
        </p:txBody>
      </p:sp>
      <p:cxnSp>
        <p:nvCxnSpPr>
          <p:cNvPr id="8" name="直接连接符 7"/>
          <p:cNvCxnSpPr/>
          <p:nvPr userDrawn="1"/>
        </p:nvCxnSpPr>
        <p:spPr>
          <a:xfrm>
            <a:off x="557439" y="868589"/>
            <a:ext cx="11161486" cy="0"/>
          </a:xfrm>
          <a:prstGeom prst="line">
            <a:avLst/>
          </a:prstGeom>
          <a:ln>
            <a:solidFill>
              <a:srgbClr val="0283CA"/>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ltLang="en-US"/>
          </a:p>
        </p:txBody>
      </p:sp>
      <p:sp>
        <p:nvSpPr>
          <p:cNvPr id="3" name="Footer Placeholder 2"/>
          <p:cNvSpPr>
            <a:spLocks noGrp="1"/>
          </p:cNvSpPr>
          <p:nvPr>
            <p:ph type="ftr" sz="quarter" idx="11"/>
          </p:nvPr>
        </p:nvSpPr>
        <p:spPr/>
        <p:txBody>
          <a:bodyPr/>
          <a:lstStyle/>
          <a:p>
            <a:endParaRPr lang="en-US" altLang="en-US"/>
          </a:p>
        </p:txBody>
      </p:sp>
      <p:sp>
        <p:nvSpPr>
          <p:cNvPr id="4" name="Slide Number Placeholder 3"/>
          <p:cNvSpPr>
            <a:spLocks noGrp="1"/>
          </p:cNvSpPr>
          <p:nvPr>
            <p:ph type="sldNum" sz="quarter" idx="12"/>
          </p:nvPr>
        </p:nvSpPr>
        <p:spPr/>
        <p:txBody>
          <a:bodyPr/>
          <a:lstStyle/>
          <a:p>
            <a:fld id="{E323C7C4-206D-4B97-BD8E-F05986C6CFC1}" type="slidenum">
              <a:rPr lang="en-US" altLang="en-US" smtClean="0"/>
            </a:fld>
            <a:endParaRPr lang="en-US"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57439" y="365125"/>
            <a:ext cx="10515600" cy="503464"/>
          </a:xfrm>
        </p:spPr>
        <p:txBody>
          <a:bodyPr>
            <a:normAutofit/>
          </a:bodyPr>
          <a:lstStyle>
            <a:lvl1pPr>
              <a:defRPr sz="2800">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fld>
            <a:endParaRPr lang="en-US" dirty="0"/>
          </a:p>
        </p:txBody>
      </p:sp>
      <p:cxnSp>
        <p:nvCxnSpPr>
          <p:cNvPr id="6" name="直接连接符 5"/>
          <p:cNvCxnSpPr/>
          <p:nvPr userDrawn="1"/>
        </p:nvCxnSpPr>
        <p:spPr>
          <a:xfrm>
            <a:off x="557439" y="868589"/>
            <a:ext cx="11161486" cy="0"/>
          </a:xfrm>
          <a:prstGeom prst="line">
            <a:avLst/>
          </a:prstGeom>
          <a:ln>
            <a:solidFill>
              <a:srgbClr val="0283CA"/>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FC5A2510-F7BF-4FED-8080-C856CEF7DD29}"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p:txBody>
          <a:bodyPr/>
          <a:lstStyle/>
          <a:p>
            <a:fld id="{C3F162A6-C80C-43DB-B00B-EFDA8A5FAFD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image" Target="../media/image2.jpeg"/><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7">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灯片编号占位符 5"/>
          <p:cNvSpPr>
            <a:spLocks noGrp="1"/>
          </p:cNvSpPr>
          <p:nvPr>
            <p:ph type="sldNum" sz="quarter" idx="4"/>
          </p:nvPr>
        </p:nvSpPr>
        <p:spPr>
          <a:xfrm>
            <a:off x="5381625" y="6400800"/>
            <a:ext cx="1200150" cy="238126"/>
          </a:xfrm>
          <a:prstGeom prst="rect">
            <a:avLst/>
          </a:prstGeom>
        </p:spPr>
        <p:txBody>
          <a:bodyPr vert="horz" lIns="91440" tIns="45720" rIns="91440" bIns="45720" rtlCol="0" anchor="ctr"/>
          <a:lstStyle>
            <a:lvl1pPr algn="ctr">
              <a:defRPr sz="1200">
                <a:solidFill>
                  <a:schemeClr val="tx1">
                    <a:tint val="75000"/>
                  </a:schemeClr>
                </a:solidFill>
              </a:defRPr>
            </a:lvl1pPr>
          </a:lstStyle>
          <a:p>
            <a:fld id="{BA214DDE-FB31-4056-AFB0-BA3DB094267E}" type="slidenum">
              <a:rPr lang="zh-CN" altLang="en-US" smtClean="0"/>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hf hdr="0" ftr="0" dt="0"/>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56.xml.rels><?xml version="1.0" encoding="UTF-8" standalone="yes"?>
<Relationships xmlns="http://schemas.openxmlformats.org/package/2006/relationships"><Relationship Id="rId8" Type="http://schemas.openxmlformats.org/officeDocument/2006/relationships/notesSlide" Target="../notesSlides/notesSlide49.xml"/><Relationship Id="rId7" Type="http://schemas.openxmlformats.org/officeDocument/2006/relationships/slideLayout" Target="../slideLayouts/slideLayout1.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9" Type="http://schemas.openxmlformats.org/officeDocument/2006/relationships/tags" Target="../tags/tag15.xml"/><Relationship Id="rId8" Type="http://schemas.openxmlformats.org/officeDocument/2006/relationships/tags" Target="../tags/tag14.xml"/><Relationship Id="rId7" Type="http://schemas.openxmlformats.org/officeDocument/2006/relationships/tags" Target="../tags/tag13.xml"/><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tags" Target="../tags/tag10.xml"/><Relationship Id="rId3" Type="http://schemas.openxmlformats.org/officeDocument/2006/relationships/tags" Target="../tags/tag9.xml"/><Relationship Id="rId2" Type="http://schemas.openxmlformats.org/officeDocument/2006/relationships/tags" Target="../tags/tag8.xml"/><Relationship Id="rId19" Type="http://schemas.openxmlformats.org/officeDocument/2006/relationships/notesSlide" Target="../notesSlides/notesSlide62.xml"/><Relationship Id="rId18" Type="http://schemas.openxmlformats.org/officeDocument/2006/relationships/slideLayout" Target="../slideLayouts/slideLayout2.xml"/><Relationship Id="rId17" Type="http://schemas.openxmlformats.org/officeDocument/2006/relationships/tags" Target="../tags/tag23.xml"/><Relationship Id="rId16" Type="http://schemas.openxmlformats.org/officeDocument/2006/relationships/tags" Target="../tags/tag22.xml"/><Relationship Id="rId15" Type="http://schemas.openxmlformats.org/officeDocument/2006/relationships/tags" Target="../tags/tag21.xml"/><Relationship Id="rId14" Type="http://schemas.openxmlformats.org/officeDocument/2006/relationships/tags" Target="../tags/tag20.xml"/><Relationship Id="rId13" Type="http://schemas.openxmlformats.org/officeDocument/2006/relationships/tags" Target="../tags/tag19.xml"/><Relationship Id="rId12" Type="http://schemas.openxmlformats.org/officeDocument/2006/relationships/tags" Target="../tags/tag18.xml"/><Relationship Id="rId11" Type="http://schemas.openxmlformats.org/officeDocument/2006/relationships/tags" Target="../tags/tag17.xml"/><Relationship Id="rId10" Type="http://schemas.openxmlformats.org/officeDocument/2006/relationships/tags" Target="../tags/tag16.xml"/><Relationship Id="rId1" Type="http://schemas.openxmlformats.org/officeDocument/2006/relationships/tags" Target="../tags/tag7.xml"/></Relationships>
</file>

<file path=ppt/slides/_rels/slide78.xml.rels><?xml version="1.0" encoding="UTF-8" standalone="yes"?>
<Relationships xmlns="http://schemas.openxmlformats.org/package/2006/relationships"><Relationship Id="rId4" Type="http://schemas.openxmlformats.org/officeDocument/2006/relationships/notesSlide" Target="../notesSlides/notesSlide63.xml"/><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tags" Target="../tags/tag24.xml"/></Relationships>
</file>

<file path=ppt/slides/_rels/slide79.xml.rels><?xml version="1.0" encoding="UTF-8" standalone="yes"?>
<Relationships xmlns="http://schemas.openxmlformats.org/package/2006/relationships"><Relationship Id="rId4" Type="http://schemas.openxmlformats.org/officeDocument/2006/relationships/notesSlide" Target="../notesSlides/notesSlide64.xml"/><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tags" Target="../tags/tag25.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1.xml"/><Relationship Id="rId1"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文本框 47"/>
          <p:cNvSpPr txBox="1"/>
          <p:nvPr/>
        </p:nvSpPr>
        <p:spPr>
          <a:xfrm>
            <a:off x="7149073" y="4412901"/>
            <a:ext cx="1723549" cy="461665"/>
          </a:xfrm>
          <a:prstGeom prst="rect">
            <a:avLst/>
          </a:prstGeom>
          <a:noFill/>
        </p:spPr>
        <p:txBody>
          <a:bodyPr wrap="none" rtlCol="0">
            <a:spAutoFit/>
          </a:bodyPr>
          <a:lstStyle/>
          <a:p>
            <a:r>
              <a:rPr lang="zh-CN" altLang="en-US" sz="2400" b="1" dirty="0" smtClean="0">
                <a:solidFill>
                  <a:schemeClr val="bg1"/>
                </a:solidFill>
                <a:latin typeface="微软雅黑" panose="020B0503020204020204" pitchFamily="34" charset="-122"/>
                <a:ea typeface="微软雅黑" panose="020B0503020204020204" pitchFamily="34" charset="-122"/>
              </a:rPr>
              <a:t>讲师：高鹏</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49" name="文本框 48"/>
          <p:cNvSpPr txBox="1"/>
          <p:nvPr/>
        </p:nvSpPr>
        <p:spPr>
          <a:xfrm>
            <a:off x="7499120" y="4874566"/>
            <a:ext cx="1344930" cy="368300"/>
          </a:xfrm>
          <a:prstGeom prst="rect">
            <a:avLst/>
          </a:prstGeom>
          <a:noFill/>
        </p:spPr>
        <p:txBody>
          <a:bodyPr wrap="none" rtlCol="0">
            <a:spAutoFit/>
          </a:bodyPr>
          <a:lstStyle/>
          <a:p>
            <a:r>
              <a:rPr lang="en-US" altLang="zh-CN" b="1" dirty="0" smtClean="0">
                <a:solidFill>
                  <a:schemeClr val="bg1"/>
                </a:solidFill>
                <a:latin typeface="微软雅黑" panose="020B0503020204020204" pitchFamily="34" charset="-122"/>
                <a:ea typeface="微软雅黑" panose="020B0503020204020204" pitchFamily="34" charset="-122"/>
              </a:rPr>
              <a:t>2025</a:t>
            </a:r>
            <a:r>
              <a:rPr lang="zh-CN" altLang="en-US" b="1" dirty="0" smtClean="0">
                <a:solidFill>
                  <a:schemeClr val="bg1"/>
                </a:solidFill>
                <a:latin typeface="微软雅黑" panose="020B0503020204020204" pitchFamily="34" charset="-122"/>
                <a:ea typeface="微软雅黑" panose="020B0503020204020204" pitchFamily="34" charset="-122"/>
              </a:rPr>
              <a:t>年</a:t>
            </a:r>
            <a:r>
              <a:rPr lang="en-US" altLang="zh-CN" b="1" dirty="0">
                <a:solidFill>
                  <a:schemeClr val="bg1"/>
                </a:solidFill>
                <a:latin typeface="微软雅黑" panose="020B0503020204020204" pitchFamily="34" charset="-122"/>
                <a:ea typeface="微软雅黑" panose="020B0503020204020204" pitchFamily="34" charset="-122"/>
              </a:rPr>
              <a:t>3</a:t>
            </a:r>
            <a:r>
              <a:rPr lang="zh-CN" altLang="en-US" b="1" smtClean="0">
                <a:solidFill>
                  <a:schemeClr val="bg1"/>
                </a:solidFill>
                <a:latin typeface="微软雅黑" panose="020B0503020204020204" pitchFamily="34" charset="-122"/>
                <a:ea typeface="微软雅黑" panose="020B0503020204020204" pitchFamily="34" charset="-122"/>
              </a:rPr>
              <a:t>月</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nvGrpSpPr>
          <p:cNvPr id="14" name="组合 13"/>
          <p:cNvGrpSpPr/>
          <p:nvPr/>
        </p:nvGrpSpPr>
        <p:grpSpPr>
          <a:xfrm>
            <a:off x="221960" y="139915"/>
            <a:ext cx="2412580" cy="502574"/>
            <a:chOff x="4876631" y="5573643"/>
            <a:chExt cx="2412580" cy="502574"/>
          </a:xfrm>
        </p:grpSpPr>
        <p:grpSp>
          <p:nvGrpSpPr>
            <p:cNvPr id="50" name="组合 49"/>
            <p:cNvGrpSpPr/>
            <p:nvPr/>
          </p:nvGrpSpPr>
          <p:grpSpPr>
            <a:xfrm>
              <a:off x="5892975" y="5669965"/>
              <a:ext cx="1396236" cy="307775"/>
              <a:chOff x="10625070" y="344258"/>
              <a:chExt cx="1534964" cy="338356"/>
            </a:xfrm>
          </p:grpSpPr>
          <p:cxnSp>
            <p:nvCxnSpPr>
              <p:cNvPr id="51" name="直接连接符 50"/>
              <p:cNvCxnSpPr/>
              <p:nvPr/>
            </p:nvCxnSpPr>
            <p:spPr>
              <a:xfrm>
                <a:off x="10625070" y="370783"/>
                <a:ext cx="0" cy="259784"/>
              </a:xfrm>
              <a:prstGeom prst="line">
                <a:avLst/>
              </a:prstGeom>
              <a:noFill/>
              <a:ln w="12700" cap="flat">
                <a:solidFill>
                  <a:schemeClr val="bg1"/>
                </a:solidFill>
                <a:prstDash val="solid"/>
                <a:miter lim="800000"/>
              </a:ln>
            </p:spPr>
            <p:style>
              <a:lnRef idx="0">
                <a:scrgbClr r="0" g="0" b="0"/>
              </a:lnRef>
              <a:fillRef idx="0">
                <a:scrgbClr r="0" g="0" b="0"/>
              </a:fillRef>
              <a:effectRef idx="0">
                <a:scrgbClr r="0" g="0" b="0"/>
              </a:effectRef>
              <a:fontRef idx="none"/>
            </p:style>
          </p:cxnSp>
          <p:sp>
            <p:nvSpPr>
              <p:cNvPr id="52" name="文本框 51"/>
              <p:cNvSpPr txBox="1"/>
              <p:nvPr/>
            </p:nvSpPr>
            <p:spPr>
              <a:xfrm>
                <a:off x="10691842" y="344258"/>
                <a:ext cx="1468192" cy="338356"/>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1400" b="1" dirty="0" smtClean="0">
                    <a:solidFill>
                      <a:schemeClr val="bg1"/>
                    </a:solidFill>
                    <a:latin typeface="微软雅黑" panose="020B0503020204020204" pitchFamily="34" charset="-122"/>
                    <a:ea typeface="微软雅黑" panose="020B0503020204020204" pitchFamily="34" charset="-122"/>
                  </a:rPr>
                  <a:t>技术委员会</a:t>
                </a:r>
                <a:endParaRPr kumimoji="0" lang="zh-CN" altLang="en-US" sz="1400" b="1" i="0" u="none" strike="noStrike" cap="none" spc="0" normalizeH="0" baseline="0" dirty="0">
                  <a:ln>
                    <a:noFill/>
                  </a:ln>
                  <a:solidFill>
                    <a:schemeClr val="bg1"/>
                  </a:solidFill>
                  <a:effectLst/>
                  <a:uFillTx/>
                  <a:latin typeface="微软雅黑" panose="020B0503020204020204" pitchFamily="34" charset="-122"/>
                  <a:ea typeface="微软雅黑" panose="020B0503020204020204" pitchFamily="34" charset="-122"/>
                  <a:sym typeface="Calibri" panose="020F0502020204030204"/>
                </a:endParaRPr>
              </a:p>
            </p:txBody>
          </p:sp>
        </p:grpSp>
        <p:pic>
          <p:nvPicPr>
            <p:cNvPr id="53" name="图片 5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876631" y="5573643"/>
              <a:ext cx="926403" cy="502574"/>
            </a:xfrm>
            <a:prstGeom prst="rect">
              <a:avLst/>
            </a:prstGeom>
          </p:spPr>
        </p:pic>
      </p:grpSp>
      <p:sp>
        <p:nvSpPr>
          <p:cNvPr id="11" name="文本框 10"/>
          <p:cNvSpPr txBox="1"/>
          <p:nvPr/>
        </p:nvSpPr>
        <p:spPr>
          <a:xfrm>
            <a:off x="8962468" y="132211"/>
            <a:ext cx="3411020" cy="458908"/>
          </a:xfrm>
          <a:prstGeom prst="rect">
            <a:avLst/>
          </a:prstGeom>
          <a:noFill/>
        </p:spPr>
        <p:txBody>
          <a:bodyPr wrap="square" rtlCol="0">
            <a:spAutoFit/>
          </a:bodyPr>
          <a:lstStyle/>
          <a:p>
            <a:pPr algn="ctr">
              <a:lnSpc>
                <a:spcPct val="150000"/>
              </a:lnSpc>
            </a:pPr>
            <a:r>
              <a:rPr lang="zh-CN" altLang="en-US" b="1" dirty="0">
                <a:solidFill>
                  <a:schemeClr val="bg1"/>
                </a:solidFill>
                <a:latin typeface="微软雅黑" panose="020B0503020204020204" pitchFamily="34" charset="-122"/>
                <a:ea typeface="微软雅黑" panose="020B0503020204020204" pitchFamily="34" charset="-122"/>
                <a:sym typeface="+mn-lt"/>
              </a:rPr>
              <a:t>前端中级训练营系列课程</a:t>
            </a:r>
            <a:endParaRPr lang="zh-CN" altLang="en-US" b="1" dirty="0">
              <a:solidFill>
                <a:schemeClr val="bg1"/>
              </a:solidFill>
              <a:latin typeface="微软雅黑" panose="020B0503020204020204" pitchFamily="34" charset="-122"/>
              <a:ea typeface="微软雅黑" panose="020B0503020204020204" pitchFamily="34" charset="-122"/>
              <a:sym typeface="+mn-lt"/>
            </a:endParaRPr>
          </a:p>
        </p:txBody>
      </p:sp>
      <p:sp>
        <p:nvSpPr>
          <p:cNvPr id="12" name="平行四边形 11"/>
          <p:cNvSpPr/>
          <p:nvPr/>
        </p:nvSpPr>
        <p:spPr>
          <a:xfrm>
            <a:off x="1494064" y="3089418"/>
            <a:ext cx="10036132" cy="814762"/>
          </a:xfrm>
          <a:prstGeom prst="parallelogram">
            <a:avLst>
              <a:gd name="adj" fmla="val 0"/>
            </a:avLst>
          </a:prstGeom>
          <a:gradFill>
            <a:gsLst>
              <a:gs pos="0">
                <a:srgbClr val="DD69B4"/>
              </a:gs>
              <a:gs pos="100000">
                <a:srgbClr val="0283CA"/>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000" b="1" dirty="0">
                <a:solidFill>
                  <a:schemeClr val="bg1"/>
                </a:solidFill>
                <a:sym typeface="Source Han Serif SC" panose="02020400000000000000" pitchFamily="18" charset="-122"/>
              </a:rPr>
              <a:t>前端技术核心概念和原理</a:t>
            </a:r>
            <a:r>
              <a:rPr lang="zh-CN" altLang="en-US" sz="4000" b="1" dirty="0" smtClean="0">
                <a:solidFill>
                  <a:schemeClr val="bg1"/>
                </a:solidFill>
                <a:sym typeface="Source Han Serif SC" panose="02020400000000000000" pitchFamily="18" charset="-122"/>
              </a:rPr>
              <a:t>解析 </a:t>
            </a:r>
            <a:r>
              <a:rPr lang="en-US" altLang="zh-CN" sz="4000" b="1" dirty="0" smtClean="0">
                <a:solidFill>
                  <a:schemeClr val="bg1"/>
                </a:solidFill>
                <a:sym typeface="Source Han Serif SC" panose="02020400000000000000" pitchFamily="18" charset="-122"/>
              </a:rPr>
              <a:t>– </a:t>
            </a:r>
            <a:r>
              <a:rPr lang="zh-CN" altLang="en-US" sz="4000" b="1" dirty="0" smtClean="0">
                <a:solidFill>
                  <a:schemeClr val="bg1"/>
                </a:solidFill>
                <a:sym typeface="Source Han Serif SC" panose="02020400000000000000" pitchFamily="18" charset="-122"/>
              </a:rPr>
              <a:t>下篇</a:t>
            </a:r>
            <a:endParaRPr lang="zh-CN" altLang="en-US" sz="4000" b="1" dirty="0">
              <a:solidFill>
                <a:schemeClr val="bg1"/>
              </a:solidFill>
              <a:sym typeface="Source Han Serif SC" panose="02020400000000000000" pitchFamily="18" charset="-122"/>
            </a:endParaRPr>
          </a:p>
        </p:txBody>
      </p:sp>
      <p:sp>
        <p:nvSpPr>
          <p:cNvPr id="13" name="文本框 12"/>
          <p:cNvSpPr txBox="1"/>
          <p:nvPr/>
        </p:nvSpPr>
        <p:spPr>
          <a:xfrm>
            <a:off x="9876520" y="6361383"/>
            <a:ext cx="2175067" cy="338554"/>
          </a:xfrm>
          <a:prstGeom prst="rect">
            <a:avLst/>
          </a:prstGeom>
          <a:noFill/>
        </p:spPr>
        <p:txBody>
          <a:bodyPr wrap="square" rtlCol="0">
            <a:spAutoFit/>
          </a:bodyPr>
          <a:lstStyle/>
          <a:p>
            <a:r>
              <a:rPr lang="zh-CN" altLang="en-US" sz="1600" dirty="0">
                <a:solidFill>
                  <a:schemeClr val="bg1"/>
                </a:solidFill>
              </a:rPr>
              <a:t>文档密级：公司内部</a:t>
            </a:r>
            <a:r>
              <a:rPr lang="en-US" altLang="zh-CN" sz="1600" dirty="0">
                <a:solidFill>
                  <a:schemeClr val="bg1"/>
                </a:solidFill>
              </a:rPr>
              <a:t>A</a:t>
            </a:r>
            <a:endParaRPr lang="zh-CN" altLang="en-US" sz="1600" dirty="0">
              <a:solidFill>
                <a:schemeClr val="bg1"/>
              </a:solidFill>
            </a:endParaRPr>
          </a:p>
        </p:txBody>
      </p:sp>
      <p:sp>
        <p:nvSpPr>
          <p:cNvPr id="3" name="Rectangle 2"/>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zh-CN" altLang="zh-CN" sz="1000" b="0" i="0" u="none" strike="noStrike" cap="none" normalizeH="0" baseline="0" smtClean="0">
                <a:ln>
                  <a:noFill/>
                </a:ln>
                <a:solidFill>
                  <a:srgbClr val="333333"/>
                </a:solidFill>
                <a:effectLst/>
                <a:latin typeface="Arial" panose="020B0604020202020204" pitchFamily="34" charset="0"/>
                <a:ea typeface="tickFont"/>
              </a:rPr>
            </a:b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文本框 27"/>
          <p:cNvSpPr txBox="1"/>
          <p:nvPr/>
        </p:nvSpPr>
        <p:spPr>
          <a:xfrm>
            <a:off x="-315135" y="2045900"/>
            <a:ext cx="4761223" cy="923330"/>
          </a:xfrm>
          <a:prstGeom prst="rect">
            <a:avLst/>
          </a:prstGeom>
          <a:noFill/>
        </p:spPr>
        <p:txBody>
          <a:bodyPr wrap="square" rtlCol="0">
            <a:spAutoFit/>
            <a:scene3d>
              <a:camera prst="orthographicFront"/>
              <a:lightRig rig="threePt" dir="t"/>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5400" b="1" i="1" noProof="0" dirty="0">
                <a:gradFill flip="none" rotWithShape="1">
                  <a:gsLst>
                    <a:gs pos="65000">
                      <a:srgbClr val="0283CA"/>
                    </a:gs>
                    <a:gs pos="33000">
                      <a:srgbClr val="1FBFE1"/>
                    </a:gs>
                  </a:gsLst>
                  <a:lin ang="5400000" scaled="1"/>
                  <a:tileRect/>
                </a:gradFill>
                <a:latin typeface="Source Han Serif SC" panose="02020400000000000000" pitchFamily="18" charset="-122"/>
                <a:ea typeface="Source Han Serif SC" panose="02020400000000000000" pitchFamily="18" charset="-122"/>
                <a:sym typeface="Source Han Serif SC" panose="02020400000000000000" pitchFamily="18" charset="-122"/>
              </a:rPr>
              <a:t>c</a:t>
            </a:r>
            <a:r>
              <a:rPr kumimoji="0" lang="en-US" altLang="zh-CN" sz="3600" b="1" i="1" u="none" strike="noStrike" kern="1200" cap="none" spc="0" normalizeH="0" baseline="0" noProof="0" dirty="0">
                <a:ln>
                  <a:noFill/>
                </a:ln>
                <a:gradFill flip="none" rotWithShape="1">
                  <a:gsLst>
                    <a:gs pos="65000">
                      <a:srgbClr val="0283CA"/>
                    </a:gs>
                    <a:gs pos="33000">
                      <a:srgbClr val="1FBFE1"/>
                    </a:gs>
                  </a:gsLst>
                  <a:lin ang="5400000" scaled="1"/>
                  <a:tileRect/>
                </a:gradFill>
                <a:effectLst/>
                <a:uLnTx/>
                <a:uFillTx/>
                <a:latin typeface="Source Han Serif SC" panose="02020400000000000000" pitchFamily="18" charset="-122"/>
                <a:ea typeface="Source Han Serif SC" panose="02020400000000000000" pitchFamily="18" charset="-122"/>
                <a:sym typeface="Source Han Serif SC" panose="02020400000000000000" pitchFamily="18" charset="-122"/>
              </a:rPr>
              <a:t>ONTENTS</a:t>
            </a:r>
            <a:endParaRPr kumimoji="0" lang="zh-CN" altLang="en-US" sz="3600" b="1" i="1" u="none" strike="noStrike" kern="1200" cap="none" spc="0" normalizeH="0" baseline="0" noProof="0" dirty="0">
              <a:ln>
                <a:noFill/>
              </a:ln>
              <a:gradFill flip="none" rotWithShape="1">
                <a:gsLst>
                  <a:gs pos="65000">
                    <a:srgbClr val="0283CA"/>
                  </a:gs>
                  <a:gs pos="33000">
                    <a:srgbClr val="1FBFE1"/>
                  </a:gs>
                </a:gsLst>
                <a:lin ang="5400000" scaled="1"/>
                <a:tileRect/>
              </a:gradFill>
              <a:effectLst/>
              <a:uLnTx/>
              <a:uFillTx/>
              <a:latin typeface="Source Han Serif SC" panose="02020400000000000000" pitchFamily="18" charset="-122"/>
              <a:ea typeface="Source Han Serif SC" panose="02020400000000000000" pitchFamily="18" charset="-122"/>
              <a:sym typeface="Source Han Serif SC" panose="02020400000000000000" pitchFamily="18" charset="-122"/>
            </a:endParaRPr>
          </a:p>
        </p:txBody>
      </p:sp>
      <p:sp>
        <p:nvSpPr>
          <p:cNvPr id="37" name="文本框 36"/>
          <p:cNvSpPr txBox="1"/>
          <p:nvPr/>
        </p:nvSpPr>
        <p:spPr>
          <a:xfrm>
            <a:off x="1908473" y="1454588"/>
            <a:ext cx="1664992" cy="923330"/>
          </a:xfrm>
          <a:prstGeom prst="rect">
            <a:avLst/>
          </a:prstGeom>
          <a:noFill/>
        </p:spPr>
        <p:txBody>
          <a:bodyPr wrap="square" rtlCol="0">
            <a:spAutoFit/>
            <a:scene3d>
              <a:camera prst="orthographicFront"/>
              <a:lightRig rig="threePt" dir="t"/>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5400" b="1" i="1" dirty="0">
                <a:gradFill flip="none" rotWithShape="1">
                  <a:gsLst>
                    <a:gs pos="58000">
                      <a:srgbClr val="0283CA"/>
                    </a:gs>
                    <a:gs pos="25000">
                      <a:srgbClr val="1FBFE1"/>
                    </a:gs>
                  </a:gsLst>
                  <a:lin ang="5400000" scaled="1"/>
                  <a:tileRect/>
                </a:gradFill>
                <a:latin typeface="Source Han Serif SC" panose="02020400000000000000" pitchFamily="18" charset="-122"/>
                <a:ea typeface="Source Han Serif SC" panose="02020400000000000000" pitchFamily="18" charset="-122"/>
                <a:sym typeface="Source Han Serif SC" panose="02020400000000000000" pitchFamily="18" charset="-122"/>
              </a:rPr>
              <a:t>目录</a:t>
            </a:r>
            <a:endParaRPr kumimoji="0" lang="zh-CN" altLang="en-US" sz="3600" b="1" i="1" u="none" strike="noStrike" kern="1200" cap="none" spc="0" normalizeH="0" baseline="0" noProof="0" dirty="0">
              <a:ln>
                <a:noFill/>
              </a:ln>
              <a:gradFill flip="none" rotWithShape="1">
                <a:gsLst>
                  <a:gs pos="58000">
                    <a:srgbClr val="0283CA"/>
                  </a:gs>
                  <a:gs pos="25000">
                    <a:srgbClr val="1FBFE1"/>
                  </a:gs>
                </a:gsLst>
                <a:lin ang="5400000" scaled="1"/>
                <a:tileRect/>
              </a:gradFill>
              <a:effectLst/>
              <a:uLnTx/>
              <a:uFillTx/>
              <a:latin typeface="Source Han Serif SC" panose="02020400000000000000" pitchFamily="18" charset="-122"/>
              <a:ea typeface="Source Han Serif SC" panose="02020400000000000000" pitchFamily="18" charset="-122"/>
              <a:sym typeface="Source Han Serif SC" panose="02020400000000000000" pitchFamily="18" charset="-122"/>
            </a:endParaRPr>
          </a:p>
        </p:txBody>
      </p:sp>
      <p:grpSp>
        <p:nvGrpSpPr>
          <p:cNvPr id="5" name="组合 4"/>
          <p:cNvGrpSpPr/>
          <p:nvPr/>
        </p:nvGrpSpPr>
        <p:grpSpPr>
          <a:xfrm>
            <a:off x="4324023" y="1414926"/>
            <a:ext cx="6577657" cy="606292"/>
            <a:chOff x="4324023" y="1414926"/>
            <a:chExt cx="6577657" cy="606292"/>
          </a:xfrm>
        </p:grpSpPr>
        <p:sp>
          <p:nvSpPr>
            <p:cNvPr id="16" name="平行四边形 15"/>
            <p:cNvSpPr/>
            <p:nvPr/>
          </p:nvSpPr>
          <p:spPr>
            <a:xfrm>
              <a:off x="5388878" y="1414926"/>
              <a:ext cx="5512802" cy="606291"/>
            </a:xfrm>
            <a:prstGeom prst="parallelogram">
              <a:avLst>
                <a:gd name="adj" fmla="val 0"/>
              </a:avLst>
            </a:prstGeom>
            <a:gradFill>
              <a:gsLst>
                <a:gs pos="22000">
                  <a:srgbClr val="DD69B4"/>
                </a:gs>
                <a:gs pos="100000">
                  <a:srgbClr val="0054FF"/>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JS</a:t>
              </a:r>
              <a:r>
                <a:rPr lang="zh-CN" altLang="en-US"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核心概念</a:t>
              </a:r>
              <a:endParaRPr lang="zh-CN" altLang="en-US"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endParaRPr>
            </a:p>
          </p:txBody>
        </p:sp>
        <p:sp>
          <p:nvSpPr>
            <p:cNvPr id="24" name="平行四边形 23"/>
            <p:cNvSpPr/>
            <p:nvPr/>
          </p:nvSpPr>
          <p:spPr>
            <a:xfrm>
              <a:off x="4324023" y="1414927"/>
              <a:ext cx="709708" cy="606291"/>
            </a:xfrm>
            <a:prstGeom prst="parallelogram">
              <a:avLst>
                <a:gd name="adj" fmla="val 0"/>
              </a:avLst>
            </a:prstGeom>
            <a:gradFill>
              <a:gsLst>
                <a:gs pos="22000">
                  <a:srgbClr val="DD69B4"/>
                </a:gs>
                <a:gs pos="100000">
                  <a:srgbClr val="0054FF"/>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smtClean="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1</a:t>
              </a:r>
              <a:endParaRPr lang="zh-CN" altLang="en-US"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endParaRPr>
            </a:p>
          </p:txBody>
        </p:sp>
      </p:grpSp>
      <p:grpSp>
        <p:nvGrpSpPr>
          <p:cNvPr id="4" name="组合 3"/>
          <p:cNvGrpSpPr/>
          <p:nvPr/>
        </p:nvGrpSpPr>
        <p:grpSpPr>
          <a:xfrm>
            <a:off x="4324023" y="2481726"/>
            <a:ext cx="6577657" cy="606292"/>
            <a:chOff x="4324023" y="2481726"/>
            <a:chExt cx="6577657" cy="606292"/>
          </a:xfrm>
        </p:grpSpPr>
        <p:sp>
          <p:nvSpPr>
            <p:cNvPr id="25" name="平行四边形 24"/>
            <p:cNvSpPr/>
            <p:nvPr/>
          </p:nvSpPr>
          <p:spPr>
            <a:xfrm>
              <a:off x="5388878" y="2481726"/>
              <a:ext cx="5512802" cy="606291"/>
            </a:xfrm>
            <a:prstGeom prst="parallelogram">
              <a:avLst>
                <a:gd name="adj" fmla="val 0"/>
              </a:avLst>
            </a:prstGeom>
            <a:gradFill>
              <a:gsLst>
                <a:gs pos="22000">
                  <a:srgbClr val="DD69B4">
                    <a:alpha val="15000"/>
                  </a:srgbClr>
                </a:gs>
                <a:gs pos="100000">
                  <a:srgbClr val="0054FF"/>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JS</a:t>
              </a:r>
              <a:r>
                <a:rPr lang="zh-CN" altLang="en-US"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设计模式</a:t>
              </a:r>
              <a:endParaRPr lang="zh-CN" altLang="en-US"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endParaRPr>
            </a:p>
          </p:txBody>
        </p:sp>
        <p:sp>
          <p:nvSpPr>
            <p:cNvPr id="26" name="平行四边形 25"/>
            <p:cNvSpPr/>
            <p:nvPr/>
          </p:nvSpPr>
          <p:spPr>
            <a:xfrm>
              <a:off x="4324023" y="2481727"/>
              <a:ext cx="709708" cy="606291"/>
            </a:xfrm>
            <a:prstGeom prst="parallelogram">
              <a:avLst>
                <a:gd name="adj" fmla="val 0"/>
              </a:avLst>
            </a:prstGeom>
            <a:gradFill>
              <a:gsLst>
                <a:gs pos="22000">
                  <a:srgbClr val="DD69B4">
                    <a:alpha val="15000"/>
                  </a:srgbClr>
                </a:gs>
                <a:gs pos="100000">
                  <a:srgbClr val="0054FF"/>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smtClean="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2</a:t>
              </a:r>
              <a:endParaRPr lang="zh-CN" altLang="en-US"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endParaRPr>
            </a:p>
          </p:txBody>
        </p:sp>
      </p:grpSp>
      <p:grpSp>
        <p:nvGrpSpPr>
          <p:cNvPr id="3" name="组合 2"/>
          <p:cNvGrpSpPr/>
          <p:nvPr/>
        </p:nvGrpSpPr>
        <p:grpSpPr>
          <a:xfrm>
            <a:off x="4344343" y="3528206"/>
            <a:ext cx="6577657" cy="606292"/>
            <a:chOff x="4344343" y="3528206"/>
            <a:chExt cx="6577657" cy="606292"/>
          </a:xfrm>
        </p:grpSpPr>
        <p:sp>
          <p:nvSpPr>
            <p:cNvPr id="31" name="平行四边形 30"/>
            <p:cNvSpPr/>
            <p:nvPr/>
          </p:nvSpPr>
          <p:spPr>
            <a:xfrm>
              <a:off x="5409198" y="3528206"/>
              <a:ext cx="5512802" cy="606291"/>
            </a:xfrm>
            <a:prstGeom prst="parallelogram">
              <a:avLst>
                <a:gd name="adj" fmla="val 0"/>
              </a:avLst>
            </a:prstGeom>
            <a:gradFill>
              <a:gsLst>
                <a:gs pos="22000">
                  <a:srgbClr val="DD69B4">
                    <a:alpha val="15000"/>
                  </a:srgbClr>
                </a:gs>
                <a:gs pos="100000">
                  <a:srgbClr val="0054FF"/>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课程回顾</a:t>
              </a:r>
              <a:endParaRPr lang="zh-CN" altLang="en-US"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endParaRPr>
            </a:p>
          </p:txBody>
        </p:sp>
        <p:sp>
          <p:nvSpPr>
            <p:cNvPr id="32" name="平行四边形 31"/>
            <p:cNvSpPr/>
            <p:nvPr/>
          </p:nvSpPr>
          <p:spPr>
            <a:xfrm>
              <a:off x="4344343" y="3528207"/>
              <a:ext cx="709708" cy="606291"/>
            </a:xfrm>
            <a:prstGeom prst="parallelogram">
              <a:avLst>
                <a:gd name="adj" fmla="val 0"/>
              </a:avLst>
            </a:prstGeom>
            <a:gradFill>
              <a:gsLst>
                <a:gs pos="22000">
                  <a:srgbClr val="DD69B4">
                    <a:alpha val="15000"/>
                  </a:srgbClr>
                </a:gs>
                <a:gs pos="100000">
                  <a:srgbClr val="0054FF"/>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smtClean="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3</a:t>
              </a:r>
              <a:endParaRPr lang="zh-CN" altLang="en-US"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3716020" y="2949575"/>
            <a:ext cx="4760595" cy="958850"/>
          </a:xfrm>
          <a:prstGeom prst="roundRect">
            <a:avLst>
              <a:gd name="adj" fmla="val 50000"/>
            </a:avLst>
          </a:prstGeom>
          <a:gradFill>
            <a:gsLst>
              <a:gs pos="22000">
                <a:srgbClr val="DD69B4"/>
              </a:gs>
              <a:gs pos="100000">
                <a:srgbClr val="0054FF"/>
              </a:gs>
            </a:gsLst>
            <a:lin ang="27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800">
                <a:latin typeface="微软雅黑" panose="020B0503020204020204" pitchFamily="34" charset="-122"/>
                <a:ea typeface="微软雅黑" panose="020B0503020204020204" pitchFamily="34" charset="-122"/>
              </a:rPr>
              <a:t>作用域</a:t>
            </a:r>
            <a:endParaRPr lang="zh-CN" altLang="en-US" sz="280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作用域</a:t>
            </a:r>
            <a:endParaRPr lang="zh-CN" altLang="en-US" dirty="0"/>
          </a:p>
        </p:txBody>
      </p:sp>
      <p:sp>
        <p:nvSpPr>
          <p:cNvPr id="6" name="内容占位符 5"/>
          <p:cNvSpPr>
            <a:spLocks noGrp="1"/>
          </p:cNvSpPr>
          <p:nvPr>
            <p:ph idx="1"/>
          </p:nvPr>
        </p:nvSpPr>
        <p:spPr/>
        <p:txBody>
          <a:bodyPr/>
          <a:lstStyle/>
          <a:p>
            <a:r>
              <a:rPr lang="zh-CN" altLang="en-US" dirty="0" smtClean="0"/>
              <a:t>概念</a:t>
            </a:r>
            <a:endParaRPr lang="en-US" altLang="zh-CN" dirty="0"/>
          </a:p>
          <a:p>
            <a:pPr lvl="1"/>
            <a:r>
              <a:rPr lang="zh-CN" altLang="en-US" dirty="0" smtClean="0"/>
              <a:t>可</a:t>
            </a:r>
            <a:r>
              <a:rPr lang="zh-CN" altLang="en-US" dirty="0"/>
              <a:t>访问</a:t>
            </a:r>
            <a:r>
              <a:rPr lang="zh-CN" altLang="en-US" dirty="0" smtClean="0"/>
              <a:t>变量的集合</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
        <p:nvSpPr>
          <p:cNvPr id="5" name="矩形 4"/>
          <p:cNvSpPr/>
          <p:nvPr/>
        </p:nvSpPr>
        <p:spPr>
          <a:xfrm>
            <a:off x="557439" y="2655673"/>
            <a:ext cx="6096000" cy="1938992"/>
          </a:xfrm>
          <a:prstGeom prst="rect">
            <a:avLst/>
          </a:prstGeom>
        </p:spPr>
        <p:txBody>
          <a:bodyPr>
            <a:spAutoFit/>
          </a:bodyPr>
          <a:lstStyle/>
          <a:p>
            <a:r>
              <a:rPr lang="en-US" altLang="zh-CN" sz="2000" dirty="0">
                <a:solidFill>
                  <a:srgbClr val="C678DD"/>
                </a:solidFill>
                <a:latin typeface="Consolas" panose="020B0609020204030204" pitchFamily="49" charset="0"/>
              </a:rPr>
              <a:t>function</a:t>
            </a:r>
            <a:r>
              <a:rPr lang="en-US" altLang="zh-CN" sz="2000" dirty="0">
                <a:solidFill>
                  <a:srgbClr val="ABB2BF"/>
                </a:solidFill>
                <a:latin typeface="Consolas" panose="020B0609020204030204" pitchFamily="49" charset="0"/>
              </a:rPr>
              <a:t> </a:t>
            </a:r>
            <a:r>
              <a:rPr lang="en-US" altLang="zh-CN" sz="2000" dirty="0">
                <a:solidFill>
                  <a:srgbClr val="61AFEF"/>
                </a:solidFill>
                <a:latin typeface="Consolas" panose="020B0609020204030204" pitchFamily="49" charset="0"/>
              </a:rPr>
              <a:t>foo</a:t>
            </a:r>
            <a:r>
              <a:rPr lang="en-US" altLang="zh-CN" sz="2000" dirty="0">
                <a:solidFill>
                  <a:srgbClr val="ABB2BF"/>
                </a:solidFill>
                <a:latin typeface="Consolas" panose="020B0609020204030204" pitchFamily="49" charset="0"/>
              </a:rPr>
              <a:t>() {</a:t>
            </a:r>
            <a:endParaRPr lang="en-US" altLang="zh-CN" sz="2000" dirty="0">
              <a:solidFill>
                <a:srgbClr val="ABB2BF"/>
              </a:solidFill>
              <a:latin typeface="Consolas" panose="020B0609020204030204" pitchFamily="49" charset="0"/>
            </a:endParaRPr>
          </a:p>
          <a:p>
            <a:r>
              <a:rPr lang="en-US" altLang="zh-CN" sz="2000" dirty="0">
                <a:solidFill>
                  <a:srgbClr val="ABB2BF"/>
                </a:solidFill>
                <a:latin typeface="Consolas" panose="020B0609020204030204" pitchFamily="49" charset="0"/>
              </a:rPr>
              <a:t>  </a:t>
            </a:r>
            <a:r>
              <a:rPr lang="en-US" altLang="zh-CN" sz="2000" dirty="0" err="1">
                <a:solidFill>
                  <a:srgbClr val="C678DD"/>
                </a:solidFill>
                <a:latin typeface="Consolas" panose="020B0609020204030204" pitchFamily="49" charset="0"/>
              </a:rPr>
              <a:t>var</a:t>
            </a:r>
            <a:r>
              <a:rPr lang="en-US" altLang="zh-CN" sz="2000" dirty="0">
                <a:solidFill>
                  <a:srgbClr val="ABB2BF"/>
                </a:solidFill>
                <a:latin typeface="Consolas" panose="020B0609020204030204" pitchFamily="49" charset="0"/>
              </a:rPr>
              <a:t> </a:t>
            </a:r>
            <a:r>
              <a:rPr lang="en-US" altLang="zh-CN" sz="2000" dirty="0" smtClean="0">
                <a:solidFill>
                  <a:srgbClr val="E06C75"/>
                </a:solidFill>
                <a:latin typeface="Consolas" panose="020B0609020204030204" pitchFamily="49" charset="0"/>
              </a:rPr>
              <a:t>bar</a:t>
            </a:r>
            <a:r>
              <a:rPr lang="en-US" altLang="zh-CN" sz="2000" dirty="0">
                <a:solidFill>
                  <a:srgbClr val="ABB2BF"/>
                </a:solidFill>
                <a:latin typeface="Consolas" panose="020B0609020204030204" pitchFamily="49" charset="0"/>
              </a:rPr>
              <a:t> </a:t>
            </a:r>
            <a:r>
              <a:rPr lang="en-US" altLang="zh-CN" sz="2000" dirty="0" smtClean="0">
                <a:solidFill>
                  <a:srgbClr val="56B6C2"/>
                </a:solidFill>
                <a:latin typeface="Consolas" panose="020B0609020204030204" pitchFamily="49" charset="0"/>
              </a:rPr>
              <a:t>=</a:t>
            </a:r>
            <a:r>
              <a:rPr lang="en-US" altLang="zh-CN" sz="2000" dirty="0" smtClean="0">
                <a:solidFill>
                  <a:srgbClr val="ABB2BF"/>
                </a:solidFill>
                <a:latin typeface="Consolas" panose="020B0609020204030204" pitchFamily="49" charset="0"/>
              </a:rPr>
              <a:t> </a:t>
            </a:r>
            <a:r>
              <a:rPr lang="en-US" altLang="zh-CN" sz="2000" dirty="0" smtClean="0">
                <a:solidFill>
                  <a:srgbClr val="98C379"/>
                </a:solidFill>
                <a:latin typeface="Consolas" panose="020B0609020204030204" pitchFamily="49" charset="0"/>
              </a:rPr>
              <a:t>'this </a:t>
            </a:r>
            <a:r>
              <a:rPr lang="en-US" altLang="zh-CN" sz="2000" dirty="0">
                <a:solidFill>
                  <a:srgbClr val="98C379"/>
                </a:solidFill>
                <a:latin typeface="Consolas" panose="020B0609020204030204" pitchFamily="49" charset="0"/>
              </a:rPr>
              <a:t>is </a:t>
            </a:r>
            <a:r>
              <a:rPr lang="en-US" altLang="zh-CN" sz="2000" dirty="0" smtClean="0">
                <a:solidFill>
                  <a:srgbClr val="98C379"/>
                </a:solidFill>
                <a:latin typeface="Consolas" panose="020B0609020204030204" pitchFamily="49" charset="0"/>
              </a:rPr>
              <a:t>var1'</a:t>
            </a:r>
            <a:r>
              <a:rPr lang="en-US" altLang="zh-CN" sz="2000" dirty="0" smtClean="0">
                <a:solidFill>
                  <a:srgbClr val="ABB2BF"/>
                </a:solidFill>
                <a:latin typeface="Consolas" panose="020B0609020204030204" pitchFamily="49" charset="0"/>
              </a:rPr>
              <a:t>;</a:t>
            </a:r>
            <a:endParaRPr lang="en-US" altLang="zh-CN" sz="2000" dirty="0">
              <a:solidFill>
                <a:srgbClr val="ABB2BF"/>
              </a:solidFill>
              <a:latin typeface="Consolas" panose="020B0609020204030204" pitchFamily="49" charset="0"/>
            </a:endParaRPr>
          </a:p>
          <a:p>
            <a:r>
              <a:rPr lang="en-US" altLang="zh-CN" sz="2000" dirty="0" smtClean="0">
                <a:solidFill>
                  <a:srgbClr val="ABB2BF"/>
                </a:solidFill>
                <a:latin typeface="Consolas" panose="020B0609020204030204" pitchFamily="49" charset="0"/>
              </a:rPr>
              <a:t>}</a:t>
            </a:r>
            <a:endParaRPr lang="en-US" altLang="zh-CN" sz="2000" dirty="0" smtClean="0">
              <a:solidFill>
                <a:srgbClr val="ABB2BF"/>
              </a:solidFill>
              <a:latin typeface="Consolas" panose="020B0609020204030204" pitchFamily="49" charset="0"/>
            </a:endParaRPr>
          </a:p>
          <a:p>
            <a:br>
              <a:rPr lang="en-US" altLang="zh-CN" sz="2000" dirty="0">
                <a:solidFill>
                  <a:srgbClr val="ABB2BF"/>
                </a:solidFill>
                <a:latin typeface="Consolas" panose="020B0609020204030204" pitchFamily="49" charset="0"/>
              </a:rPr>
            </a:br>
            <a:r>
              <a:rPr lang="en-US" altLang="zh-CN" sz="2000" dirty="0">
                <a:solidFill>
                  <a:srgbClr val="61AFEF"/>
                </a:solidFill>
                <a:latin typeface="Consolas" panose="020B0609020204030204" pitchFamily="49" charset="0"/>
              </a:rPr>
              <a:t>foo</a:t>
            </a:r>
            <a:r>
              <a:rPr lang="en-US" altLang="zh-CN" sz="2000" dirty="0" smtClean="0">
                <a:solidFill>
                  <a:srgbClr val="ABB2BF"/>
                </a:solidFill>
                <a:latin typeface="Consolas" panose="020B0609020204030204" pitchFamily="49" charset="0"/>
              </a:rPr>
              <a:t>();</a:t>
            </a:r>
            <a:br>
              <a:rPr lang="en-US" altLang="zh-CN" sz="2000" dirty="0">
                <a:solidFill>
                  <a:srgbClr val="ABB2BF"/>
                </a:solidFill>
                <a:latin typeface="Consolas" panose="020B0609020204030204" pitchFamily="49" charset="0"/>
              </a:rPr>
            </a:br>
            <a:r>
              <a:rPr lang="en-US" altLang="zh-CN" sz="2000" dirty="0" smtClean="0">
                <a:solidFill>
                  <a:srgbClr val="E5C07B"/>
                </a:solidFill>
                <a:latin typeface="Consolas" panose="020B0609020204030204" pitchFamily="49" charset="0"/>
              </a:rPr>
              <a:t>console</a:t>
            </a:r>
            <a:r>
              <a:rPr lang="en-US" altLang="zh-CN" sz="2000" dirty="0" smtClean="0">
                <a:solidFill>
                  <a:srgbClr val="ABB2BF"/>
                </a:solidFill>
                <a:latin typeface="Consolas" panose="020B0609020204030204" pitchFamily="49" charset="0"/>
              </a:rPr>
              <a:t>.</a:t>
            </a:r>
            <a:r>
              <a:rPr lang="en-US" altLang="zh-CN" sz="2000" dirty="0" smtClean="0">
                <a:solidFill>
                  <a:srgbClr val="61AFEF"/>
                </a:solidFill>
                <a:latin typeface="Consolas" panose="020B0609020204030204" pitchFamily="49" charset="0"/>
              </a:rPr>
              <a:t>log</a:t>
            </a:r>
            <a:r>
              <a:rPr lang="en-US" altLang="zh-CN" sz="2000" dirty="0" smtClean="0">
                <a:solidFill>
                  <a:srgbClr val="ABB2BF"/>
                </a:solidFill>
                <a:latin typeface="Consolas" panose="020B0609020204030204" pitchFamily="49" charset="0"/>
              </a:rPr>
              <a:t>(</a:t>
            </a:r>
            <a:r>
              <a:rPr lang="en-US" altLang="zh-CN" sz="2000" dirty="0" smtClean="0">
                <a:solidFill>
                  <a:srgbClr val="E06C75"/>
                </a:solidFill>
                <a:latin typeface="Consolas" panose="020B0609020204030204" pitchFamily="49" charset="0"/>
              </a:rPr>
              <a:t>bar</a:t>
            </a:r>
            <a:r>
              <a:rPr lang="en-US" altLang="zh-CN" sz="2000" dirty="0" smtClean="0">
                <a:solidFill>
                  <a:srgbClr val="ABB2BF"/>
                </a:solidFill>
                <a:latin typeface="Consolas" panose="020B0609020204030204" pitchFamily="49" charset="0"/>
              </a:rPr>
              <a:t>);</a:t>
            </a:r>
            <a:r>
              <a:rPr lang="en-US" altLang="zh-CN" sz="2000" dirty="0">
                <a:solidFill>
                  <a:srgbClr val="ABB2BF"/>
                </a:solidFill>
                <a:latin typeface="Consolas" panose="020B0609020204030204" pitchFamily="49" charset="0"/>
              </a:rPr>
              <a:t> </a:t>
            </a:r>
            <a:r>
              <a:rPr lang="en-US" altLang="zh-CN" sz="2000" i="1" dirty="0">
                <a:solidFill>
                  <a:srgbClr val="7F848E"/>
                </a:solidFill>
                <a:latin typeface="Consolas" panose="020B0609020204030204" pitchFamily="49" charset="0"/>
              </a:rPr>
              <a:t>// print what ?</a:t>
            </a:r>
            <a:endParaRPr lang="en-US" altLang="zh-CN" sz="2000" b="0" dirty="0">
              <a:solidFill>
                <a:srgbClr val="ABB2BF"/>
              </a:solidFill>
              <a:effectLst/>
              <a:latin typeface="Consolas" panose="020B0609020204030204" pitchFamily="49"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作用域</a:t>
            </a:r>
            <a:endParaRPr lang="zh-CN" altLang="en-US" dirty="0"/>
          </a:p>
        </p:txBody>
      </p:sp>
      <p:sp>
        <p:nvSpPr>
          <p:cNvPr id="3" name="内容占位符 2"/>
          <p:cNvSpPr>
            <a:spLocks noGrp="1"/>
          </p:cNvSpPr>
          <p:nvPr>
            <p:ph idx="1"/>
          </p:nvPr>
        </p:nvSpPr>
        <p:spPr/>
        <p:txBody>
          <a:bodyPr/>
          <a:lstStyle/>
          <a:p>
            <a:r>
              <a:rPr lang="zh-CN" altLang="en-US" dirty="0" smtClean="0"/>
              <a:t>类型</a:t>
            </a:r>
            <a:r>
              <a:rPr lang="en-US" altLang="zh-CN" dirty="0" smtClean="0"/>
              <a:t>-</a:t>
            </a:r>
            <a:r>
              <a:rPr lang="zh-CN" altLang="en-US" dirty="0" smtClean="0"/>
              <a:t>全局</a:t>
            </a:r>
            <a:r>
              <a:rPr lang="zh-CN" altLang="en-US" dirty="0"/>
              <a:t>作用域</a:t>
            </a:r>
            <a:endParaRPr lang="en-US" altLang="zh-CN" dirty="0"/>
          </a:p>
          <a:p>
            <a:pPr lvl="1"/>
            <a:r>
              <a:rPr lang="zh-CN" altLang="en-US" dirty="0"/>
              <a:t>最外层函数和最外层函数外面定义的变量</a:t>
            </a:r>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
        <p:nvSpPr>
          <p:cNvPr id="11" name="矩形 10"/>
          <p:cNvSpPr/>
          <p:nvPr/>
        </p:nvSpPr>
        <p:spPr>
          <a:xfrm>
            <a:off x="557439" y="2490406"/>
            <a:ext cx="6096000" cy="3139321"/>
          </a:xfrm>
          <a:prstGeom prst="rect">
            <a:avLst/>
          </a:prstGeom>
        </p:spPr>
        <p:txBody>
          <a:bodyPr>
            <a:spAutoFit/>
          </a:bodyPr>
          <a:lstStyle/>
          <a:p>
            <a:r>
              <a:rPr lang="en-US" altLang="zh-CN" dirty="0" err="1">
                <a:solidFill>
                  <a:srgbClr val="C678DD"/>
                </a:solidFill>
                <a:latin typeface="Consolas" panose="020B0609020204030204" pitchFamily="49" charset="0"/>
              </a:rPr>
              <a:t>var</a:t>
            </a:r>
            <a:r>
              <a:rPr lang="en-US" altLang="zh-CN" dirty="0">
                <a:solidFill>
                  <a:srgbClr val="ABB2BF"/>
                </a:solidFill>
                <a:latin typeface="Consolas" panose="020B0609020204030204" pitchFamily="49" charset="0"/>
              </a:rPr>
              <a:t> </a:t>
            </a:r>
            <a:r>
              <a:rPr lang="en-US" altLang="zh-CN" dirty="0" err="1">
                <a:solidFill>
                  <a:srgbClr val="E06C75"/>
                </a:solidFill>
                <a:latin typeface="Consolas" panose="020B0609020204030204" pitchFamily="49" charset="0"/>
              </a:rPr>
              <a:t>outVar</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98C379"/>
                </a:solidFill>
                <a:latin typeface="Consolas" panose="020B0609020204030204" pitchFamily="49" charset="0"/>
              </a:rPr>
              <a:t>'</a:t>
            </a:r>
            <a:r>
              <a:rPr lang="zh-CN" altLang="en-US" dirty="0">
                <a:solidFill>
                  <a:srgbClr val="98C379"/>
                </a:solidFill>
                <a:latin typeface="Consolas" panose="020B0609020204030204" pitchFamily="49" charset="0"/>
              </a:rPr>
              <a:t>我是最外层变量</a:t>
            </a:r>
            <a:r>
              <a:rPr lang="en-US" altLang="zh-CN" dirty="0">
                <a:solidFill>
                  <a:srgbClr val="98C379"/>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i="1" dirty="0">
                <a:solidFill>
                  <a:srgbClr val="7F848E"/>
                </a:solidFill>
                <a:latin typeface="Consolas" panose="020B0609020204030204" pitchFamily="49" charset="0"/>
              </a:rPr>
              <a:t>//</a:t>
            </a:r>
            <a:r>
              <a:rPr lang="zh-CN" altLang="en-US" i="1" dirty="0">
                <a:solidFill>
                  <a:srgbClr val="7F848E"/>
                </a:solidFill>
                <a:latin typeface="Consolas" panose="020B0609020204030204" pitchFamily="49" charset="0"/>
              </a:rPr>
              <a:t>最外层变量</a:t>
            </a:r>
            <a:endParaRPr lang="zh-CN" altLang="en-US" dirty="0">
              <a:solidFill>
                <a:srgbClr val="ABB2BF"/>
              </a:solidFill>
              <a:latin typeface="Consolas" panose="020B0609020204030204" pitchFamily="49" charset="0"/>
            </a:endParaRPr>
          </a:p>
          <a:p>
            <a:br>
              <a:rPr lang="zh-CN" altLang="en-US" dirty="0">
                <a:solidFill>
                  <a:srgbClr val="ABB2BF"/>
                </a:solidFill>
                <a:latin typeface="Consolas" panose="020B0609020204030204" pitchFamily="49" charset="0"/>
              </a:rPr>
            </a:br>
            <a:r>
              <a:rPr lang="en-US" altLang="zh-CN" i="1" dirty="0">
                <a:solidFill>
                  <a:srgbClr val="7F848E"/>
                </a:solidFill>
                <a:latin typeface="Consolas" panose="020B0609020204030204" pitchFamily="49" charset="0"/>
              </a:rPr>
              <a:t>//</a:t>
            </a:r>
            <a:r>
              <a:rPr lang="zh-CN" altLang="en-US" i="1" dirty="0">
                <a:solidFill>
                  <a:srgbClr val="7F848E"/>
                </a:solidFill>
                <a:latin typeface="Consolas" panose="020B0609020204030204" pitchFamily="49" charset="0"/>
              </a:rPr>
              <a:t>最外层函数</a:t>
            </a:r>
            <a:endParaRPr lang="zh-CN" altLang="en-US" dirty="0">
              <a:solidFill>
                <a:srgbClr val="ABB2BF"/>
              </a:solidFill>
              <a:latin typeface="Consolas" panose="020B0609020204030204" pitchFamily="49" charset="0"/>
            </a:endParaRPr>
          </a:p>
          <a:p>
            <a:r>
              <a:rPr lang="en-US" altLang="zh-CN" dirty="0">
                <a:solidFill>
                  <a:srgbClr val="C678DD"/>
                </a:solidFill>
                <a:latin typeface="Consolas" panose="020B0609020204030204" pitchFamily="49" charset="0"/>
              </a:rPr>
              <a:t>function</a:t>
            </a:r>
            <a:r>
              <a:rPr lang="en-US" altLang="zh-CN" dirty="0">
                <a:solidFill>
                  <a:srgbClr val="ABB2BF"/>
                </a:solidFill>
                <a:latin typeface="Consolas" panose="020B0609020204030204" pitchFamily="49" charset="0"/>
              </a:rPr>
              <a:t> </a:t>
            </a:r>
            <a:r>
              <a:rPr lang="en-US" altLang="zh-CN" dirty="0" err="1">
                <a:solidFill>
                  <a:srgbClr val="61AFEF"/>
                </a:solidFill>
                <a:latin typeface="Consolas" panose="020B0609020204030204" pitchFamily="49" charset="0"/>
              </a:rPr>
              <a:t>outFun</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err="1">
                <a:solidFill>
                  <a:srgbClr val="C678DD"/>
                </a:solidFill>
                <a:latin typeface="Consolas" panose="020B0609020204030204" pitchFamily="49" charset="0"/>
              </a:rPr>
              <a:t>var</a:t>
            </a:r>
            <a:r>
              <a:rPr lang="en-US" altLang="zh-CN" dirty="0">
                <a:solidFill>
                  <a:srgbClr val="ABB2BF"/>
                </a:solidFill>
                <a:latin typeface="Consolas" panose="020B0609020204030204" pitchFamily="49" charset="0"/>
              </a:rPr>
              <a:t> </a:t>
            </a:r>
            <a:r>
              <a:rPr lang="en-US" altLang="zh-CN" dirty="0" err="1">
                <a:solidFill>
                  <a:srgbClr val="E06C75"/>
                </a:solidFill>
                <a:latin typeface="Consolas" panose="020B0609020204030204" pitchFamily="49" charset="0"/>
              </a:rPr>
              <a:t>inVar</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98C379"/>
                </a:solidFill>
                <a:latin typeface="Consolas" panose="020B0609020204030204" pitchFamily="49" charset="0"/>
              </a:rPr>
              <a:t>'</a:t>
            </a:r>
            <a:r>
              <a:rPr lang="zh-CN" altLang="en-US" dirty="0">
                <a:solidFill>
                  <a:srgbClr val="98C379"/>
                </a:solidFill>
                <a:latin typeface="Consolas" panose="020B0609020204030204" pitchFamily="49" charset="0"/>
              </a:rPr>
              <a:t>内层变量</a:t>
            </a:r>
            <a:r>
              <a:rPr lang="en-US" altLang="zh-CN" dirty="0">
                <a:solidFill>
                  <a:srgbClr val="98C379"/>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i="1" dirty="0">
                <a:solidFill>
                  <a:srgbClr val="7F848E"/>
                </a:solidFill>
                <a:latin typeface="Consolas" panose="020B0609020204030204" pitchFamily="49" charset="0"/>
              </a:rPr>
              <a:t>// </a:t>
            </a:r>
            <a:r>
              <a:rPr lang="zh-CN" altLang="en-US" i="1" dirty="0">
                <a:solidFill>
                  <a:srgbClr val="7F848E"/>
                </a:solidFill>
                <a:latin typeface="Consolas" panose="020B0609020204030204" pitchFamily="49" charset="0"/>
              </a:rPr>
              <a:t>内层变量</a:t>
            </a:r>
            <a:endParaRPr lang="zh-CN" altLang="en-US" dirty="0">
              <a:solidFill>
                <a:srgbClr val="ABB2BF"/>
              </a:solidFill>
              <a:latin typeface="Consolas" panose="020B0609020204030204" pitchFamily="49" charset="0"/>
            </a:endParaRPr>
          </a:p>
          <a:p>
            <a:r>
              <a:rPr lang="zh-CN" altLang="en-US" dirty="0">
                <a:solidFill>
                  <a:srgbClr val="ABB2BF"/>
                </a:solidFill>
                <a:latin typeface="Consolas" panose="020B0609020204030204" pitchFamily="49" charset="0"/>
              </a:rPr>
              <a:t>  </a:t>
            </a:r>
            <a:r>
              <a:rPr lang="en-US" altLang="zh-CN" dirty="0">
                <a:solidFill>
                  <a:srgbClr val="E5C07B"/>
                </a:solidFill>
                <a:latin typeface="Consolas" panose="020B0609020204030204" pitchFamily="49" charset="0"/>
              </a:rPr>
              <a:t>console</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log</a:t>
            </a:r>
            <a:r>
              <a:rPr lang="en-US" altLang="zh-CN" dirty="0">
                <a:solidFill>
                  <a:srgbClr val="ABB2BF"/>
                </a:solidFill>
                <a:latin typeface="Consolas" panose="020B0609020204030204" pitchFamily="49" charset="0"/>
              </a:rPr>
              <a:t>(</a:t>
            </a:r>
            <a:r>
              <a:rPr lang="en-US" altLang="zh-CN" dirty="0" err="1">
                <a:solidFill>
                  <a:srgbClr val="E06C75"/>
                </a:solidFill>
                <a:latin typeface="Consolas" panose="020B0609020204030204" pitchFamily="49" charset="0"/>
              </a:rPr>
              <a:t>inVar</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br>
              <a:rPr lang="en-US" altLang="zh-CN" dirty="0">
                <a:solidFill>
                  <a:srgbClr val="ABB2BF"/>
                </a:solidFill>
                <a:latin typeface="Consolas" panose="020B0609020204030204" pitchFamily="49" charset="0"/>
              </a:rPr>
            </a:br>
            <a:r>
              <a:rPr lang="en-US" altLang="zh-CN" dirty="0">
                <a:solidFill>
                  <a:srgbClr val="E5C07B"/>
                </a:solidFill>
                <a:latin typeface="Consolas" panose="020B0609020204030204" pitchFamily="49" charset="0"/>
              </a:rPr>
              <a:t>console</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log</a:t>
            </a:r>
            <a:r>
              <a:rPr lang="en-US" altLang="zh-CN" dirty="0">
                <a:solidFill>
                  <a:srgbClr val="ABB2BF"/>
                </a:solidFill>
                <a:latin typeface="Consolas" panose="020B0609020204030204" pitchFamily="49" charset="0"/>
              </a:rPr>
              <a:t>(</a:t>
            </a:r>
            <a:r>
              <a:rPr lang="en-US" altLang="zh-CN" dirty="0" err="1">
                <a:solidFill>
                  <a:srgbClr val="E06C75"/>
                </a:solidFill>
                <a:latin typeface="Consolas" panose="020B0609020204030204" pitchFamily="49" charset="0"/>
              </a:rPr>
              <a:t>outVar</a:t>
            </a:r>
            <a:r>
              <a:rPr lang="en-US" altLang="zh-CN" dirty="0">
                <a:solidFill>
                  <a:srgbClr val="ABB2BF"/>
                </a:solidFill>
                <a:latin typeface="Consolas" panose="020B0609020204030204" pitchFamily="49" charset="0"/>
              </a:rPr>
              <a:t>); </a:t>
            </a:r>
            <a:r>
              <a:rPr lang="en-US" altLang="zh-CN" i="1" dirty="0">
                <a:solidFill>
                  <a:srgbClr val="7F848E"/>
                </a:solidFill>
                <a:latin typeface="Consolas" panose="020B0609020204030204" pitchFamily="49" charset="0"/>
              </a:rPr>
              <a:t>// </a:t>
            </a:r>
            <a:r>
              <a:rPr lang="zh-CN" altLang="en-US" i="1" dirty="0">
                <a:solidFill>
                  <a:srgbClr val="7F848E"/>
                </a:solidFill>
                <a:latin typeface="Consolas" panose="020B0609020204030204" pitchFamily="49" charset="0"/>
              </a:rPr>
              <a:t>我是最外层变量</a:t>
            </a:r>
            <a:endParaRPr lang="zh-CN" altLang="en-US" dirty="0">
              <a:solidFill>
                <a:srgbClr val="ABB2BF"/>
              </a:solidFill>
              <a:latin typeface="Consolas" panose="020B0609020204030204" pitchFamily="49" charset="0"/>
            </a:endParaRPr>
          </a:p>
          <a:p>
            <a:r>
              <a:rPr lang="en-US" altLang="zh-CN" dirty="0" err="1">
                <a:solidFill>
                  <a:srgbClr val="61AFEF"/>
                </a:solidFill>
                <a:latin typeface="Consolas" panose="020B0609020204030204" pitchFamily="49" charset="0"/>
              </a:rPr>
              <a:t>outFun</a:t>
            </a:r>
            <a:r>
              <a:rPr lang="en-US" altLang="zh-CN" dirty="0">
                <a:solidFill>
                  <a:srgbClr val="ABB2BF"/>
                </a:solidFill>
                <a:latin typeface="Consolas" panose="020B0609020204030204" pitchFamily="49" charset="0"/>
              </a:rPr>
              <a:t>(); </a:t>
            </a:r>
            <a:r>
              <a:rPr lang="en-US" altLang="zh-CN" i="1" dirty="0">
                <a:solidFill>
                  <a:srgbClr val="7F848E"/>
                </a:solidFill>
                <a:latin typeface="Consolas" panose="020B0609020204030204" pitchFamily="49" charset="0"/>
              </a:rPr>
              <a:t>// </a:t>
            </a:r>
            <a:r>
              <a:rPr lang="zh-CN" altLang="en-US" i="1" dirty="0">
                <a:solidFill>
                  <a:srgbClr val="7F848E"/>
                </a:solidFill>
                <a:latin typeface="Consolas" panose="020B0609020204030204" pitchFamily="49" charset="0"/>
              </a:rPr>
              <a:t>最外层函数 </a:t>
            </a:r>
            <a:r>
              <a:rPr lang="en-US" altLang="zh-CN" i="1" dirty="0">
                <a:solidFill>
                  <a:srgbClr val="7F848E"/>
                </a:solidFill>
                <a:latin typeface="Consolas" panose="020B0609020204030204" pitchFamily="49" charset="0"/>
              </a:rPr>
              <a:t>=&gt; </a:t>
            </a:r>
            <a:r>
              <a:rPr lang="zh-CN" altLang="en-US" i="1" dirty="0">
                <a:solidFill>
                  <a:srgbClr val="7F848E"/>
                </a:solidFill>
                <a:latin typeface="Consolas" panose="020B0609020204030204" pitchFamily="49" charset="0"/>
              </a:rPr>
              <a:t>内层变量</a:t>
            </a:r>
            <a:endParaRPr lang="zh-CN" altLang="en-US" dirty="0">
              <a:solidFill>
                <a:srgbClr val="ABB2BF"/>
              </a:solidFill>
              <a:latin typeface="Consolas" panose="020B0609020204030204" pitchFamily="49" charset="0"/>
            </a:endParaRPr>
          </a:p>
          <a:p>
            <a:r>
              <a:rPr lang="en-US" altLang="zh-CN" dirty="0">
                <a:solidFill>
                  <a:srgbClr val="E5C07B"/>
                </a:solidFill>
                <a:latin typeface="Consolas" panose="020B0609020204030204" pitchFamily="49" charset="0"/>
              </a:rPr>
              <a:t>console</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log</a:t>
            </a:r>
            <a:r>
              <a:rPr lang="en-US" altLang="zh-CN" dirty="0">
                <a:solidFill>
                  <a:srgbClr val="ABB2BF"/>
                </a:solidFill>
                <a:latin typeface="Consolas" panose="020B0609020204030204" pitchFamily="49" charset="0"/>
              </a:rPr>
              <a:t>(</a:t>
            </a:r>
            <a:r>
              <a:rPr lang="en-US" altLang="zh-CN" dirty="0" err="1">
                <a:solidFill>
                  <a:srgbClr val="E06C75"/>
                </a:solidFill>
                <a:latin typeface="Consolas" panose="020B0609020204030204" pitchFamily="49" charset="0"/>
              </a:rPr>
              <a:t>inVar</a:t>
            </a:r>
            <a:r>
              <a:rPr lang="en-US" altLang="zh-CN" dirty="0">
                <a:solidFill>
                  <a:srgbClr val="ABB2BF"/>
                </a:solidFill>
                <a:latin typeface="Consolas" panose="020B0609020204030204" pitchFamily="49" charset="0"/>
              </a:rPr>
              <a:t>); </a:t>
            </a:r>
            <a:r>
              <a:rPr lang="en-US" altLang="zh-CN" i="1" dirty="0">
                <a:solidFill>
                  <a:srgbClr val="7F848E"/>
                </a:solidFill>
                <a:latin typeface="Consolas" panose="020B0609020204030204" pitchFamily="49" charset="0"/>
              </a:rPr>
              <a:t>// </a:t>
            </a:r>
            <a:r>
              <a:rPr lang="en-US" altLang="zh-CN" i="1" dirty="0" err="1">
                <a:solidFill>
                  <a:srgbClr val="7F848E"/>
                </a:solidFill>
                <a:latin typeface="Consolas" panose="020B0609020204030204" pitchFamily="49" charset="0"/>
              </a:rPr>
              <a:t>inVar</a:t>
            </a:r>
            <a:r>
              <a:rPr lang="en-US" altLang="zh-CN" i="1" dirty="0">
                <a:solidFill>
                  <a:srgbClr val="7F848E"/>
                </a:solidFill>
                <a:latin typeface="Consolas" panose="020B0609020204030204" pitchFamily="49" charset="0"/>
              </a:rPr>
              <a:t> is not defined</a:t>
            </a:r>
            <a:endParaRPr lang="en-US" altLang="zh-CN" b="0" dirty="0">
              <a:solidFill>
                <a:srgbClr val="ABB2BF"/>
              </a:solidFill>
              <a:effectLst/>
              <a:latin typeface="Consolas" panose="020B0609020204030204" pitchFamily="49"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作用域</a:t>
            </a:r>
            <a:endParaRPr lang="zh-CN" altLang="en-US" dirty="0"/>
          </a:p>
        </p:txBody>
      </p:sp>
      <p:sp>
        <p:nvSpPr>
          <p:cNvPr id="5" name="内容占位符 4"/>
          <p:cNvSpPr>
            <a:spLocks noGrp="1"/>
          </p:cNvSpPr>
          <p:nvPr>
            <p:ph idx="1"/>
          </p:nvPr>
        </p:nvSpPr>
        <p:spPr/>
        <p:txBody>
          <a:bodyPr/>
          <a:lstStyle/>
          <a:p>
            <a:r>
              <a:rPr lang="zh-CN" altLang="en-US" dirty="0" smtClean="0"/>
              <a:t>类型</a:t>
            </a:r>
            <a:r>
              <a:rPr lang="en-US" altLang="zh-CN" dirty="0" smtClean="0"/>
              <a:t>-</a:t>
            </a:r>
            <a:r>
              <a:rPr lang="zh-CN" altLang="en-US" dirty="0"/>
              <a:t>全局作用域</a:t>
            </a:r>
            <a:endParaRPr lang="en-US" altLang="zh-CN" dirty="0"/>
          </a:p>
          <a:p>
            <a:pPr lvl="1"/>
            <a:r>
              <a:rPr lang="zh-CN" altLang="en-US" dirty="0"/>
              <a:t>末定义直接赋值的变量自动声明为拥有全局作用域</a:t>
            </a:r>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
        <p:nvSpPr>
          <p:cNvPr id="3" name="矩形 2"/>
          <p:cNvSpPr/>
          <p:nvPr/>
        </p:nvSpPr>
        <p:spPr>
          <a:xfrm>
            <a:off x="557439" y="2420499"/>
            <a:ext cx="6096000" cy="2584450"/>
          </a:xfrm>
          <a:prstGeom prst="rect">
            <a:avLst/>
          </a:prstGeom>
        </p:spPr>
        <p:txBody>
          <a:bodyPr>
            <a:spAutoFit/>
          </a:bodyPr>
          <a:lstStyle/>
          <a:p>
            <a:r>
              <a:rPr lang="en-US" altLang="zh-CN" dirty="0">
                <a:solidFill>
                  <a:srgbClr val="C678DD"/>
                </a:solidFill>
                <a:latin typeface="Consolas" panose="020B0609020204030204" pitchFamily="49" charset="0"/>
              </a:rPr>
              <a:t>function</a:t>
            </a:r>
            <a:r>
              <a:rPr lang="en-US" altLang="zh-CN" dirty="0">
                <a:solidFill>
                  <a:srgbClr val="ABB2BF"/>
                </a:solidFill>
                <a:latin typeface="Consolas" panose="020B0609020204030204" pitchFamily="49" charset="0"/>
              </a:rPr>
              <a:t> </a:t>
            </a:r>
            <a:r>
              <a:rPr lang="en-US" altLang="zh-CN" dirty="0">
                <a:solidFill>
                  <a:srgbClr val="61AFEF"/>
                </a:solidFill>
                <a:latin typeface="Consolas" panose="020B0609020204030204" pitchFamily="49" charset="0"/>
              </a:rPr>
              <a:t>outFun2</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inVar1</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98C379"/>
                </a:solidFill>
                <a:latin typeface="Consolas" panose="020B0609020204030204" pitchFamily="49" charset="0"/>
              </a:rPr>
              <a:t>"</a:t>
            </a:r>
            <a:r>
              <a:rPr lang="zh-CN" altLang="en-US" dirty="0">
                <a:solidFill>
                  <a:srgbClr val="98C379"/>
                </a:solidFill>
                <a:latin typeface="Consolas" panose="020B0609020204030204" pitchFamily="49" charset="0"/>
              </a:rPr>
              <a:t>内层变量</a:t>
            </a:r>
            <a:r>
              <a:rPr lang="en-US" altLang="zh-CN" dirty="0">
                <a:solidFill>
                  <a:srgbClr val="98C379"/>
                </a:solidFill>
                <a:latin typeface="Consolas" panose="020B0609020204030204" pitchFamily="49" charset="0"/>
              </a:rPr>
              <a:t>1-</a:t>
            </a:r>
            <a:r>
              <a:rPr lang="zh-CN" altLang="en-US" dirty="0">
                <a:solidFill>
                  <a:srgbClr val="98C379"/>
                </a:solidFill>
                <a:latin typeface="Consolas" panose="020B0609020204030204" pitchFamily="49" charset="0"/>
              </a:rPr>
              <a:t>未定义直接赋值</a:t>
            </a:r>
            <a:r>
              <a:rPr lang="en-US" altLang="zh-CN" dirty="0">
                <a:solidFill>
                  <a:srgbClr val="98C379"/>
                </a:solidFill>
                <a:latin typeface="Consolas" panose="020B0609020204030204" pitchFamily="49" charset="0"/>
              </a:rPr>
              <a:t>"</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err="1">
                <a:solidFill>
                  <a:srgbClr val="C678DD"/>
                </a:solidFill>
                <a:latin typeface="Consolas" panose="020B0609020204030204" pitchFamily="49" charset="0"/>
              </a:rPr>
              <a:t>var</a:t>
            </a:r>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inVar2</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98C379"/>
                </a:solidFill>
                <a:latin typeface="Consolas" panose="020B0609020204030204" pitchFamily="49" charset="0"/>
              </a:rPr>
              <a:t>"</a:t>
            </a:r>
            <a:r>
              <a:rPr lang="zh-CN" altLang="en-US" dirty="0">
                <a:solidFill>
                  <a:srgbClr val="98C379"/>
                </a:solidFill>
                <a:latin typeface="Consolas" panose="020B0609020204030204" pitchFamily="49" charset="0"/>
              </a:rPr>
              <a:t>内层变量</a:t>
            </a:r>
            <a:r>
              <a:rPr lang="en-US" altLang="zh-CN" dirty="0">
                <a:solidFill>
                  <a:srgbClr val="98C379"/>
                </a:solidFill>
                <a:latin typeface="Consolas" panose="020B0609020204030204" pitchFamily="49" charset="0"/>
              </a:rPr>
              <a:t>2"</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br>
              <a:rPr lang="en-US" altLang="zh-CN" dirty="0">
                <a:solidFill>
                  <a:srgbClr val="ABB2BF"/>
                </a:solidFill>
                <a:latin typeface="Consolas" panose="020B0609020204030204" pitchFamily="49" charset="0"/>
              </a:rPr>
            </a:br>
            <a:r>
              <a:rPr lang="en-US" altLang="zh-CN" dirty="0">
                <a:solidFill>
                  <a:srgbClr val="61AFEF"/>
                </a:solidFill>
                <a:latin typeface="Consolas" panose="020B0609020204030204" pitchFamily="49" charset="0"/>
              </a:rPr>
              <a:t>outFun2</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br>
              <a:rPr lang="en-US" altLang="zh-CN" dirty="0">
                <a:solidFill>
                  <a:srgbClr val="ABB2BF"/>
                </a:solidFill>
                <a:latin typeface="Consolas" panose="020B0609020204030204" pitchFamily="49" charset="0"/>
              </a:rPr>
            </a:br>
            <a:r>
              <a:rPr lang="en-US" altLang="zh-CN" dirty="0">
                <a:solidFill>
                  <a:srgbClr val="E5C07B"/>
                </a:solidFill>
                <a:latin typeface="Consolas" panose="020B0609020204030204" pitchFamily="49" charset="0"/>
              </a:rPr>
              <a:t>console</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log</a:t>
            </a:r>
            <a:r>
              <a:rPr lang="en-US" altLang="zh-CN" dirty="0">
                <a:solidFill>
                  <a:srgbClr val="ABB2BF"/>
                </a:solidFill>
                <a:latin typeface="Consolas" panose="020B0609020204030204" pitchFamily="49" charset="0"/>
              </a:rPr>
              <a:t>(</a:t>
            </a:r>
            <a:r>
              <a:rPr lang="en-US" altLang="zh-CN" dirty="0">
                <a:solidFill>
                  <a:srgbClr val="E06C75"/>
                </a:solidFill>
                <a:latin typeface="Consolas" panose="020B0609020204030204" pitchFamily="49" charset="0"/>
              </a:rPr>
              <a:t>inVar1</a:t>
            </a:r>
            <a:r>
              <a:rPr lang="en-US" altLang="zh-CN" dirty="0">
                <a:solidFill>
                  <a:srgbClr val="ABB2BF"/>
                </a:solidFill>
                <a:latin typeface="Consolas" panose="020B0609020204030204" pitchFamily="49" charset="0"/>
              </a:rPr>
              <a:t>); </a:t>
            </a:r>
            <a:r>
              <a:rPr lang="en-US" altLang="zh-CN" i="1" dirty="0">
                <a:solidFill>
                  <a:srgbClr val="7F848E"/>
                </a:solidFill>
                <a:latin typeface="Consolas" panose="020B0609020204030204" pitchFamily="49" charset="0"/>
              </a:rPr>
              <a:t>// </a:t>
            </a:r>
            <a:r>
              <a:rPr lang="zh-CN" altLang="en-US" i="1" dirty="0">
                <a:solidFill>
                  <a:srgbClr val="7F848E"/>
                </a:solidFill>
                <a:latin typeface="Consolas" panose="020B0609020204030204" pitchFamily="49" charset="0"/>
              </a:rPr>
              <a:t>内层变量</a:t>
            </a:r>
            <a:r>
              <a:rPr lang="en-US" altLang="zh-CN" i="1" dirty="0">
                <a:solidFill>
                  <a:srgbClr val="7F848E"/>
                </a:solidFill>
                <a:latin typeface="Consolas" panose="020B0609020204030204" pitchFamily="49" charset="0"/>
              </a:rPr>
              <a:t>1-</a:t>
            </a:r>
            <a:r>
              <a:rPr lang="zh-CN" altLang="en-US" i="1" dirty="0">
                <a:solidFill>
                  <a:srgbClr val="7F848E"/>
                </a:solidFill>
                <a:latin typeface="Consolas" panose="020B0609020204030204" pitchFamily="49" charset="0"/>
              </a:rPr>
              <a:t>未定义直接赋值</a:t>
            </a:r>
            <a:endParaRPr lang="zh-CN" altLang="en-US" dirty="0">
              <a:solidFill>
                <a:srgbClr val="ABB2BF"/>
              </a:solidFill>
              <a:latin typeface="Consolas" panose="020B0609020204030204" pitchFamily="49" charset="0"/>
            </a:endParaRPr>
          </a:p>
          <a:p>
            <a:r>
              <a:rPr lang="en-US" altLang="zh-CN" dirty="0">
                <a:solidFill>
                  <a:srgbClr val="E5C07B"/>
                </a:solidFill>
                <a:latin typeface="Consolas" panose="020B0609020204030204" pitchFamily="49" charset="0"/>
              </a:rPr>
              <a:t>console</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log</a:t>
            </a:r>
            <a:r>
              <a:rPr lang="en-US" altLang="zh-CN" dirty="0">
                <a:solidFill>
                  <a:srgbClr val="ABB2BF"/>
                </a:solidFill>
                <a:latin typeface="Consolas" panose="020B0609020204030204" pitchFamily="49" charset="0"/>
              </a:rPr>
              <a:t>(</a:t>
            </a:r>
            <a:r>
              <a:rPr lang="en-US" altLang="zh-CN" dirty="0">
                <a:solidFill>
                  <a:srgbClr val="E06C75"/>
                </a:solidFill>
                <a:latin typeface="Consolas" panose="020B0609020204030204" pitchFamily="49" charset="0"/>
              </a:rPr>
              <a:t>inVar2</a:t>
            </a:r>
            <a:r>
              <a:rPr lang="en-US" altLang="zh-CN" dirty="0">
                <a:solidFill>
                  <a:srgbClr val="ABB2BF"/>
                </a:solidFill>
                <a:latin typeface="Consolas" panose="020B0609020204030204" pitchFamily="49" charset="0"/>
              </a:rPr>
              <a:t>); </a:t>
            </a:r>
            <a:r>
              <a:rPr lang="en-US" altLang="zh-CN" i="1" dirty="0">
                <a:solidFill>
                  <a:srgbClr val="7F848E"/>
                </a:solidFill>
                <a:latin typeface="Consolas" panose="020B0609020204030204" pitchFamily="49" charset="0"/>
              </a:rPr>
              <a:t>// inVar2 is not defined</a:t>
            </a:r>
            <a:endParaRPr lang="en-US" altLang="zh-CN" b="0" dirty="0">
              <a:solidFill>
                <a:srgbClr val="ABB2BF"/>
              </a:solidFill>
              <a:effectLst/>
              <a:latin typeface="Consolas" panose="020B0609020204030204" pitchFamily="49"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作用域</a:t>
            </a:r>
            <a:endParaRPr lang="zh-CN" altLang="en-US" dirty="0"/>
          </a:p>
        </p:txBody>
      </p:sp>
      <p:sp>
        <p:nvSpPr>
          <p:cNvPr id="3" name="内容占位符 2"/>
          <p:cNvSpPr>
            <a:spLocks noGrp="1"/>
          </p:cNvSpPr>
          <p:nvPr>
            <p:ph idx="1"/>
          </p:nvPr>
        </p:nvSpPr>
        <p:spPr/>
        <p:txBody>
          <a:bodyPr/>
          <a:lstStyle/>
          <a:p>
            <a:r>
              <a:rPr lang="zh-CN" altLang="en-US" dirty="0" smtClean="0"/>
              <a:t>类型</a:t>
            </a:r>
            <a:r>
              <a:rPr lang="en-US" altLang="zh-CN" dirty="0" smtClean="0"/>
              <a:t>-</a:t>
            </a:r>
            <a:r>
              <a:rPr lang="zh-CN" altLang="en-US" dirty="0"/>
              <a:t>全局作用域</a:t>
            </a:r>
            <a:endParaRPr lang="en-US" altLang="zh-CN" dirty="0"/>
          </a:p>
          <a:p>
            <a:pPr lvl="1"/>
            <a:r>
              <a:rPr lang="en-US" altLang="zh-CN" dirty="0"/>
              <a:t>window</a:t>
            </a:r>
            <a:r>
              <a:rPr lang="zh-CN" altLang="en-US" dirty="0"/>
              <a:t>对象的属性拥有全局作用域</a:t>
            </a:r>
            <a:endParaRPr lang="en-US" altLang="zh-CN" dirty="0"/>
          </a:p>
          <a:p>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
        <p:nvSpPr>
          <p:cNvPr id="5" name="矩形 4"/>
          <p:cNvSpPr/>
          <p:nvPr/>
        </p:nvSpPr>
        <p:spPr>
          <a:xfrm>
            <a:off x="557439" y="2213680"/>
            <a:ext cx="6988420" cy="1754326"/>
          </a:xfrm>
          <a:prstGeom prst="rect">
            <a:avLst/>
          </a:prstGeom>
        </p:spPr>
        <p:txBody>
          <a:bodyPr wrap="square">
            <a:spAutoFit/>
          </a:bodyPr>
          <a:lstStyle/>
          <a:p>
            <a:r>
              <a:rPr lang="en-US" altLang="zh-CN" dirty="0">
                <a:solidFill>
                  <a:srgbClr val="C678DD"/>
                </a:solidFill>
                <a:latin typeface="Consolas" panose="020B0609020204030204" pitchFamily="49" charset="0"/>
              </a:rPr>
              <a:t>function</a:t>
            </a:r>
            <a:r>
              <a:rPr lang="en-US" altLang="zh-CN" dirty="0">
                <a:solidFill>
                  <a:srgbClr val="ABB2BF"/>
                </a:solidFill>
                <a:latin typeface="Consolas" panose="020B0609020204030204" pitchFamily="49" charset="0"/>
              </a:rPr>
              <a:t> </a:t>
            </a:r>
            <a:r>
              <a:rPr lang="en-US" altLang="zh-CN" dirty="0">
                <a:solidFill>
                  <a:srgbClr val="61AFEF"/>
                </a:solidFill>
                <a:latin typeface="Consolas" panose="020B0609020204030204" pitchFamily="49" charset="0"/>
              </a:rPr>
              <a:t>outFun3</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a:solidFill>
                  <a:srgbClr val="E5C07B"/>
                </a:solidFill>
                <a:latin typeface="Consolas" panose="020B0609020204030204" pitchFamily="49" charset="0"/>
              </a:rPr>
              <a:t>window</a:t>
            </a:r>
            <a:r>
              <a:rPr lang="en-US" altLang="zh-CN" dirty="0">
                <a:solidFill>
                  <a:srgbClr val="ABB2BF"/>
                </a:solidFill>
                <a:latin typeface="Consolas" panose="020B0609020204030204" pitchFamily="49" charset="0"/>
              </a:rPr>
              <a:t>.</a:t>
            </a:r>
            <a:r>
              <a:rPr lang="en-US" altLang="zh-CN" dirty="0">
                <a:solidFill>
                  <a:srgbClr val="E06C75"/>
                </a:solidFill>
                <a:latin typeface="Consolas" panose="020B0609020204030204" pitchFamily="49" charset="0"/>
              </a:rPr>
              <a:t>inVar1</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98C379"/>
                </a:solidFill>
                <a:latin typeface="Consolas" panose="020B0609020204030204" pitchFamily="49" charset="0"/>
              </a:rPr>
              <a:t>"</a:t>
            </a:r>
            <a:r>
              <a:rPr lang="zh-CN" altLang="en-US" dirty="0">
                <a:solidFill>
                  <a:srgbClr val="98C379"/>
                </a:solidFill>
                <a:latin typeface="Consolas" panose="020B0609020204030204" pitchFamily="49" charset="0"/>
              </a:rPr>
              <a:t>挂载</a:t>
            </a:r>
            <a:r>
              <a:rPr lang="en-US" altLang="zh-CN" dirty="0">
                <a:solidFill>
                  <a:srgbClr val="98C379"/>
                </a:solidFill>
                <a:latin typeface="Consolas" panose="020B0609020204030204" pitchFamily="49" charset="0"/>
              </a:rPr>
              <a:t>window</a:t>
            </a:r>
            <a:r>
              <a:rPr lang="zh-CN" altLang="en-US" dirty="0">
                <a:solidFill>
                  <a:srgbClr val="98C379"/>
                </a:solidFill>
                <a:latin typeface="Consolas" panose="020B0609020204030204" pitchFamily="49" charset="0"/>
              </a:rPr>
              <a:t>上的变量</a:t>
            </a:r>
            <a:r>
              <a:rPr lang="en-US" altLang="zh-CN" dirty="0">
                <a:solidFill>
                  <a:srgbClr val="98C379"/>
                </a:solidFill>
                <a:latin typeface="Consolas" panose="020B0609020204030204" pitchFamily="49" charset="0"/>
              </a:rPr>
              <a:t>"</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br>
              <a:rPr lang="en-US" altLang="zh-CN" dirty="0">
                <a:solidFill>
                  <a:srgbClr val="ABB2BF"/>
                </a:solidFill>
                <a:latin typeface="Consolas" panose="020B0609020204030204" pitchFamily="49" charset="0"/>
              </a:rPr>
            </a:br>
            <a:r>
              <a:rPr lang="en-US" altLang="zh-CN" dirty="0">
                <a:solidFill>
                  <a:srgbClr val="61AFEF"/>
                </a:solidFill>
                <a:latin typeface="Consolas" panose="020B0609020204030204" pitchFamily="49" charset="0"/>
              </a:rPr>
              <a:t>outFun3</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E5C07B"/>
                </a:solidFill>
                <a:latin typeface="Consolas" panose="020B0609020204030204" pitchFamily="49" charset="0"/>
              </a:rPr>
              <a:t>console</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log</a:t>
            </a:r>
            <a:r>
              <a:rPr lang="en-US" altLang="zh-CN" dirty="0">
                <a:solidFill>
                  <a:srgbClr val="ABB2BF"/>
                </a:solidFill>
                <a:latin typeface="Consolas" panose="020B0609020204030204" pitchFamily="49" charset="0"/>
              </a:rPr>
              <a:t>(</a:t>
            </a:r>
            <a:r>
              <a:rPr lang="en-US" altLang="zh-CN" dirty="0">
                <a:solidFill>
                  <a:srgbClr val="E5C07B"/>
                </a:solidFill>
                <a:latin typeface="Consolas" panose="020B0609020204030204" pitchFamily="49" charset="0"/>
              </a:rPr>
              <a:t>window</a:t>
            </a:r>
            <a:r>
              <a:rPr lang="en-US" altLang="zh-CN" dirty="0">
                <a:solidFill>
                  <a:srgbClr val="ABB2BF"/>
                </a:solidFill>
                <a:latin typeface="Consolas" panose="020B0609020204030204" pitchFamily="49" charset="0"/>
              </a:rPr>
              <a:t>.</a:t>
            </a:r>
            <a:r>
              <a:rPr lang="en-US" altLang="zh-CN" dirty="0">
                <a:solidFill>
                  <a:srgbClr val="E06C75"/>
                </a:solidFill>
                <a:latin typeface="Consolas" panose="020B0609020204030204" pitchFamily="49" charset="0"/>
              </a:rPr>
              <a:t>inVar1</a:t>
            </a:r>
            <a:r>
              <a:rPr lang="en-US" altLang="zh-CN" dirty="0">
                <a:solidFill>
                  <a:srgbClr val="ABB2BF"/>
                </a:solidFill>
                <a:latin typeface="Consolas" panose="020B0609020204030204" pitchFamily="49" charset="0"/>
              </a:rPr>
              <a:t>); </a:t>
            </a:r>
            <a:r>
              <a:rPr lang="en-US" altLang="zh-CN" i="1" dirty="0">
                <a:solidFill>
                  <a:srgbClr val="7F848E"/>
                </a:solidFill>
                <a:latin typeface="Consolas" panose="020B0609020204030204" pitchFamily="49" charset="0"/>
              </a:rPr>
              <a:t>// </a:t>
            </a:r>
            <a:r>
              <a:rPr lang="zh-CN" altLang="en-US" i="1" dirty="0">
                <a:solidFill>
                  <a:srgbClr val="7F848E"/>
                </a:solidFill>
                <a:latin typeface="Consolas" panose="020B0609020204030204" pitchFamily="49" charset="0"/>
              </a:rPr>
              <a:t>挂载</a:t>
            </a:r>
            <a:r>
              <a:rPr lang="en-US" altLang="zh-CN" i="1" dirty="0">
                <a:solidFill>
                  <a:srgbClr val="7F848E"/>
                </a:solidFill>
                <a:latin typeface="Consolas" panose="020B0609020204030204" pitchFamily="49" charset="0"/>
              </a:rPr>
              <a:t>window</a:t>
            </a:r>
            <a:r>
              <a:rPr lang="zh-CN" altLang="en-US" i="1" dirty="0">
                <a:solidFill>
                  <a:srgbClr val="7F848E"/>
                </a:solidFill>
                <a:latin typeface="Consolas" panose="020B0609020204030204" pitchFamily="49" charset="0"/>
              </a:rPr>
              <a:t>上的变量</a:t>
            </a:r>
            <a:endParaRPr lang="zh-CN" altLang="en-US" b="0" dirty="0">
              <a:solidFill>
                <a:srgbClr val="ABB2BF"/>
              </a:solidFill>
              <a:effectLst/>
              <a:latin typeface="Consolas" panose="020B0609020204030204" pitchFamily="49"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作用域</a:t>
            </a:r>
            <a:endParaRPr lang="zh-CN" altLang="en-US" dirty="0"/>
          </a:p>
        </p:txBody>
      </p:sp>
      <p:sp>
        <p:nvSpPr>
          <p:cNvPr id="5" name="内容占位符 4"/>
          <p:cNvSpPr>
            <a:spLocks noGrp="1"/>
          </p:cNvSpPr>
          <p:nvPr>
            <p:ph idx="1"/>
          </p:nvPr>
        </p:nvSpPr>
        <p:spPr/>
        <p:txBody>
          <a:bodyPr/>
          <a:lstStyle/>
          <a:p>
            <a:r>
              <a:rPr lang="zh-CN" altLang="en-US" dirty="0"/>
              <a:t>全局作用域缺点</a:t>
            </a:r>
            <a:endParaRPr lang="en-US" altLang="zh-CN" dirty="0"/>
          </a:p>
          <a:p>
            <a:pPr lvl="1"/>
            <a:r>
              <a:rPr lang="zh-CN" altLang="en-US" dirty="0"/>
              <a:t>污染全局命名空间</a:t>
            </a:r>
            <a:r>
              <a:rPr lang="en-US" altLang="zh-CN" dirty="0"/>
              <a:t>, </a:t>
            </a:r>
            <a:r>
              <a:rPr lang="zh-CN" altLang="en-US" dirty="0"/>
              <a:t>引起命名冲突，导致变量声明失效</a:t>
            </a:r>
            <a:endParaRPr lang="en-US" altLang="zh-CN" dirty="0"/>
          </a:p>
          <a:p>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
        <p:nvSpPr>
          <p:cNvPr id="3" name="矩形 2"/>
          <p:cNvSpPr/>
          <p:nvPr/>
        </p:nvSpPr>
        <p:spPr>
          <a:xfrm>
            <a:off x="557438" y="2291825"/>
            <a:ext cx="6096000" cy="2030095"/>
          </a:xfrm>
          <a:prstGeom prst="rect">
            <a:avLst/>
          </a:prstGeom>
        </p:spPr>
        <p:txBody>
          <a:bodyPr>
            <a:spAutoFit/>
          </a:bodyPr>
          <a:lstStyle/>
          <a:p>
            <a:r>
              <a:rPr lang="en-US" altLang="zh-CN" i="1" dirty="0">
                <a:solidFill>
                  <a:srgbClr val="7F848E"/>
                </a:solidFill>
                <a:latin typeface="Consolas" panose="020B0609020204030204" pitchFamily="49" charset="0"/>
              </a:rPr>
              <a:t>// author: A1</a:t>
            </a:r>
            <a:endParaRPr lang="en-US" altLang="zh-CN" dirty="0">
              <a:solidFill>
                <a:srgbClr val="ABB2BF"/>
              </a:solidFill>
              <a:latin typeface="Consolas" panose="020B0609020204030204" pitchFamily="49" charset="0"/>
            </a:endParaRPr>
          </a:p>
          <a:p>
            <a:r>
              <a:rPr lang="en-US" altLang="zh-CN" dirty="0" err="1">
                <a:solidFill>
                  <a:srgbClr val="E5C07B"/>
                </a:solidFill>
                <a:latin typeface="Consolas" panose="020B0609020204030204" pitchFamily="49" charset="0"/>
              </a:rPr>
              <a:t>window</a:t>
            </a:r>
            <a:r>
              <a:rPr lang="en-US" altLang="zh-CN" dirty="0" err="1">
                <a:solidFill>
                  <a:srgbClr val="ABB2BF"/>
                </a:solidFill>
                <a:latin typeface="Consolas" panose="020B0609020204030204" pitchFamily="49" charset="0"/>
              </a:rPr>
              <a:t>.</a:t>
            </a:r>
            <a:r>
              <a:rPr lang="en-US" altLang="zh-CN" dirty="0" err="1">
                <a:solidFill>
                  <a:srgbClr val="E06C75"/>
                </a:solidFill>
                <a:latin typeface="Consolas" panose="020B0609020204030204" pitchFamily="49" charset="0"/>
              </a:rPr>
              <a:t>userName</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98C379"/>
                </a:solidFill>
                <a:latin typeface="Consolas" panose="020B0609020204030204" pitchFamily="49" charset="0"/>
              </a:rPr>
              <a:t>"AAA"</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br>
              <a:rPr lang="en-US" altLang="zh-CN" dirty="0">
                <a:solidFill>
                  <a:srgbClr val="ABB2BF"/>
                </a:solidFill>
                <a:latin typeface="Consolas" panose="020B0609020204030204" pitchFamily="49" charset="0"/>
              </a:rPr>
            </a:br>
            <a:r>
              <a:rPr lang="en-US" altLang="zh-CN" i="1" dirty="0">
                <a:solidFill>
                  <a:srgbClr val="7F848E"/>
                </a:solidFill>
                <a:latin typeface="Consolas" panose="020B0609020204030204" pitchFamily="49" charset="0"/>
              </a:rPr>
              <a:t>// author: B1</a:t>
            </a:r>
            <a:endParaRPr lang="en-US" altLang="zh-CN" dirty="0">
              <a:solidFill>
                <a:srgbClr val="ABB2BF"/>
              </a:solidFill>
              <a:latin typeface="Consolas" panose="020B0609020204030204" pitchFamily="49" charset="0"/>
            </a:endParaRPr>
          </a:p>
          <a:p>
            <a:r>
              <a:rPr lang="en-US" altLang="zh-CN" dirty="0" err="1">
                <a:solidFill>
                  <a:srgbClr val="E5C07B"/>
                </a:solidFill>
                <a:latin typeface="Consolas" panose="020B0609020204030204" pitchFamily="49" charset="0"/>
              </a:rPr>
              <a:t>window</a:t>
            </a:r>
            <a:r>
              <a:rPr lang="en-US" altLang="zh-CN" dirty="0" err="1">
                <a:solidFill>
                  <a:srgbClr val="ABB2BF"/>
                </a:solidFill>
                <a:latin typeface="Consolas" panose="020B0609020204030204" pitchFamily="49" charset="0"/>
              </a:rPr>
              <a:t>.</a:t>
            </a:r>
            <a:r>
              <a:rPr lang="en-US" altLang="zh-CN" dirty="0" err="1">
                <a:solidFill>
                  <a:srgbClr val="E06C75"/>
                </a:solidFill>
                <a:latin typeface="Consolas" panose="020B0609020204030204" pitchFamily="49" charset="0"/>
              </a:rPr>
              <a:t>userName</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98C379"/>
                </a:solidFill>
                <a:latin typeface="Consolas" panose="020B0609020204030204" pitchFamily="49" charset="0"/>
              </a:rPr>
              <a:t>"BBB"</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br>
              <a:rPr lang="en-US" altLang="zh-CN" dirty="0">
                <a:solidFill>
                  <a:srgbClr val="ABB2BF"/>
                </a:solidFill>
                <a:latin typeface="Consolas" panose="020B0609020204030204" pitchFamily="49" charset="0"/>
              </a:rPr>
            </a:br>
            <a:r>
              <a:rPr lang="en-US" altLang="zh-CN" dirty="0">
                <a:solidFill>
                  <a:srgbClr val="E5C07B"/>
                </a:solidFill>
                <a:latin typeface="Consolas" panose="020B0609020204030204" pitchFamily="49" charset="0"/>
              </a:rPr>
              <a:t>console</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log</a:t>
            </a:r>
            <a:r>
              <a:rPr lang="en-US" altLang="zh-CN" dirty="0">
                <a:solidFill>
                  <a:srgbClr val="ABB2BF"/>
                </a:solidFill>
                <a:latin typeface="Consolas" panose="020B0609020204030204" pitchFamily="49" charset="0"/>
              </a:rPr>
              <a:t>(</a:t>
            </a:r>
            <a:r>
              <a:rPr lang="en-US" altLang="zh-CN" dirty="0" err="1">
                <a:solidFill>
                  <a:srgbClr val="E5C07B"/>
                </a:solidFill>
                <a:latin typeface="Consolas" panose="020B0609020204030204" pitchFamily="49" charset="0"/>
              </a:rPr>
              <a:t>window</a:t>
            </a:r>
            <a:r>
              <a:rPr lang="en-US" altLang="zh-CN" dirty="0" err="1">
                <a:solidFill>
                  <a:srgbClr val="ABB2BF"/>
                </a:solidFill>
                <a:latin typeface="Consolas" panose="020B0609020204030204" pitchFamily="49" charset="0"/>
              </a:rPr>
              <a:t>.</a:t>
            </a:r>
            <a:r>
              <a:rPr lang="en-US" altLang="zh-CN" dirty="0" err="1">
                <a:solidFill>
                  <a:srgbClr val="E06C75"/>
                </a:solidFill>
                <a:latin typeface="Consolas" panose="020B0609020204030204" pitchFamily="49" charset="0"/>
              </a:rPr>
              <a:t>userName</a:t>
            </a:r>
            <a:r>
              <a:rPr lang="en-US" altLang="zh-CN" dirty="0">
                <a:solidFill>
                  <a:srgbClr val="ABB2BF"/>
                </a:solidFill>
                <a:latin typeface="Consolas" panose="020B0609020204030204" pitchFamily="49" charset="0"/>
              </a:rPr>
              <a:t>); </a:t>
            </a:r>
            <a:r>
              <a:rPr lang="en-US" altLang="zh-CN" i="1" dirty="0">
                <a:solidFill>
                  <a:srgbClr val="7F848E"/>
                </a:solidFill>
                <a:latin typeface="Consolas" panose="020B0609020204030204" pitchFamily="49" charset="0"/>
              </a:rPr>
              <a:t>// BBB</a:t>
            </a:r>
            <a:endParaRPr lang="en-US" altLang="zh-CN" b="0" dirty="0">
              <a:solidFill>
                <a:srgbClr val="ABB2BF"/>
              </a:solidFill>
              <a:effectLst/>
              <a:latin typeface="Consolas" panose="020B0609020204030204" pitchFamily="49" charset="0"/>
            </a:endParaRPr>
          </a:p>
        </p:txBody>
      </p:sp>
      <p:sp>
        <p:nvSpPr>
          <p:cNvPr id="8" name="矩形 7"/>
          <p:cNvSpPr/>
          <p:nvPr/>
        </p:nvSpPr>
        <p:spPr>
          <a:xfrm>
            <a:off x="557438" y="4852387"/>
            <a:ext cx="3765884" cy="632289"/>
          </a:xfrm>
          <a:prstGeom prst="rect">
            <a:avLst/>
          </a:prstGeom>
          <a:solidFill>
            <a:srgbClr val="0283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latin typeface="微软雅黑" panose="020B0503020204020204" pitchFamily="34" charset="-122"/>
                <a:ea typeface="微软雅黑" panose="020B0503020204020204" pitchFamily="34" charset="-122"/>
              </a:rPr>
              <a:t>如何避免污染？</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250" fill="hold"/>
                                        <p:tgtEl>
                                          <p:spTgt spid="8"/>
                                        </p:tgtEl>
                                        <p:attrNameLst>
                                          <p:attrName>ppt_x</p:attrName>
                                        </p:attrNameLst>
                                      </p:cBhvr>
                                      <p:tavLst>
                                        <p:tav tm="0">
                                          <p:val>
                                            <p:strVal val="#ppt_x"/>
                                          </p:val>
                                        </p:tav>
                                        <p:tav tm="100000">
                                          <p:val>
                                            <p:strVal val="#ppt_x"/>
                                          </p:val>
                                        </p:tav>
                                      </p:tavLst>
                                    </p:anim>
                                    <p:anim calcmode="lin" valueType="num">
                                      <p:cBhvr additive="base">
                                        <p:cTn id="8" dur="25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作用域</a:t>
            </a:r>
            <a:endParaRPr lang="zh-CN" altLang="en-US" dirty="0"/>
          </a:p>
        </p:txBody>
      </p:sp>
      <p:sp>
        <p:nvSpPr>
          <p:cNvPr id="3" name="内容占位符 2"/>
          <p:cNvSpPr>
            <a:spLocks noGrp="1"/>
          </p:cNvSpPr>
          <p:nvPr>
            <p:ph idx="1"/>
          </p:nvPr>
        </p:nvSpPr>
        <p:spPr/>
        <p:txBody>
          <a:bodyPr/>
          <a:lstStyle/>
          <a:p>
            <a:r>
              <a:rPr lang="zh-CN" altLang="en-US" dirty="0" smtClean="0"/>
              <a:t>类型</a:t>
            </a:r>
            <a:r>
              <a:rPr lang="en-US" altLang="zh-CN" dirty="0" smtClean="0"/>
              <a:t>-</a:t>
            </a:r>
            <a:r>
              <a:rPr lang="zh-CN" altLang="en-US" dirty="0" smtClean="0"/>
              <a:t>局部作用</a:t>
            </a:r>
            <a:r>
              <a:rPr lang="zh-CN" altLang="en-US" dirty="0"/>
              <a:t>域</a:t>
            </a:r>
            <a:endParaRPr lang="en-US" altLang="zh-CN" dirty="0"/>
          </a:p>
          <a:p>
            <a:pPr lvl="1"/>
            <a:r>
              <a:rPr lang="zh-CN" altLang="en-US" dirty="0"/>
              <a:t>函数作用域，是指声明在函数内部的变量</a:t>
            </a:r>
            <a:endParaRPr lang="en-US" altLang="zh-CN" dirty="0"/>
          </a:p>
          <a:p>
            <a:endParaRPr lang="en-US" altLang="zh-CN" dirty="0"/>
          </a:p>
          <a:p>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
        <p:nvSpPr>
          <p:cNvPr id="5" name="矩形 4"/>
          <p:cNvSpPr/>
          <p:nvPr/>
        </p:nvSpPr>
        <p:spPr>
          <a:xfrm>
            <a:off x="557438" y="2316440"/>
            <a:ext cx="7696875" cy="2862322"/>
          </a:xfrm>
          <a:prstGeom prst="rect">
            <a:avLst/>
          </a:prstGeom>
        </p:spPr>
        <p:txBody>
          <a:bodyPr wrap="square">
            <a:spAutoFit/>
          </a:bodyPr>
          <a:lstStyle/>
          <a:p>
            <a:r>
              <a:rPr lang="en-US" altLang="zh-CN" dirty="0">
                <a:solidFill>
                  <a:srgbClr val="C678DD"/>
                </a:solidFill>
                <a:latin typeface="Consolas" panose="020B0609020204030204" pitchFamily="49" charset="0"/>
              </a:rPr>
              <a:t>function</a:t>
            </a:r>
            <a:r>
              <a:rPr lang="en-US" altLang="zh-CN" dirty="0">
                <a:solidFill>
                  <a:srgbClr val="ABB2BF"/>
                </a:solidFill>
                <a:latin typeface="Consolas" panose="020B0609020204030204" pitchFamily="49" charset="0"/>
              </a:rPr>
              <a:t> </a:t>
            </a:r>
            <a:r>
              <a:rPr lang="en-US" altLang="zh-CN" dirty="0" err="1">
                <a:solidFill>
                  <a:srgbClr val="61AFEF"/>
                </a:solidFill>
                <a:latin typeface="Consolas" panose="020B0609020204030204" pitchFamily="49" charset="0"/>
              </a:rPr>
              <a:t>dosth</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err="1">
                <a:solidFill>
                  <a:srgbClr val="C678DD"/>
                </a:solidFill>
                <a:latin typeface="Consolas" panose="020B0609020204030204" pitchFamily="49" charset="0"/>
              </a:rPr>
              <a:t>var</a:t>
            </a:r>
            <a:r>
              <a:rPr lang="en-US" altLang="zh-CN" dirty="0">
                <a:solidFill>
                  <a:srgbClr val="ABB2BF"/>
                </a:solidFill>
                <a:latin typeface="Consolas" panose="020B0609020204030204" pitchFamily="49" charset="0"/>
              </a:rPr>
              <a:t> </a:t>
            </a:r>
            <a:r>
              <a:rPr lang="en-US" altLang="zh-CN" dirty="0" err="1">
                <a:solidFill>
                  <a:srgbClr val="E06C75"/>
                </a:solidFill>
                <a:latin typeface="Consolas" panose="020B0609020204030204" pitchFamily="49" charset="0"/>
              </a:rPr>
              <a:t>courseName</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98C379"/>
                </a:solidFill>
                <a:latin typeface="Consolas" panose="020B0609020204030204" pitchFamily="49" charset="0"/>
              </a:rPr>
              <a:t>'</a:t>
            </a:r>
            <a:r>
              <a:rPr lang="zh-CN" altLang="en-US" dirty="0">
                <a:solidFill>
                  <a:srgbClr val="98C379"/>
                </a:solidFill>
                <a:latin typeface="Consolas" panose="020B0609020204030204" pitchFamily="49" charset="0"/>
              </a:rPr>
              <a:t>训练营</a:t>
            </a:r>
            <a:r>
              <a:rPr lang="en-US" altLang="zh-CN" dirty="0">
                <a:solidFill>
                  <a:srgbClr val="98C379"/>
                </a:solidFill>
                <a:latin typeface="Consolas" panose="020B0609020204030204" pitchFamily="49" charset="0"/>
              </a:rPr>
              <a:t>'</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a:solidFill>
                  <a:srgbClr val="C678DD"/>
                </a:solidFill>
                <a:latin typeface="Consolas" panose="020B0609020204030204" pitchFamily="49" charset="0"/>
              </a:rPr>
              <a:t>function</a:t>
            </a:r>
            <a:r>
              <a:rPr lang="en-US" altLang="zh-CN" dirty="0">
                <a:solidFill>
                  <a:srgbClr val="ABB2BF"/>
                </a:solidFill>
                <a:latin typeface="Consolas" panose="020B0609020204030204" pitchFamily="49" charset="0"/>
              </a:rPr>
              <a:t> </a:t>
            </a:r>
            <a:r>
              <a:rPr lang="en-US" altLang="zh-CN" dirty="0">
                <a:solidFill>
                  <a:srgbClr val="61AFEF"/>
                </a:solidFill>
                <a:latin typeface="Consolas" panose="020B0609020204030204" pitchFamily="49" charset="0"/>
              </a:rPr>
              <a:t>say</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a:solidFill>
                  <a:srgbClr val="E5C07B"/>
                </a:solidFill>
                <a:latin typeface="Consolas" panose="020B0609020204030204" pitchFamily="49" charset="0"/>
              </a:rPr>
              <a:t>console</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log</a:t>
            </a:r>
            <a:r>
              <a:rPr lang="en-US" altLang="zh-CN" dirty="0">
                <a:solidFill>
                  <a:srgbClr val="ABB2BF"/>
                </a:solidFill>
                <a:latin typeface="Consolas" panose="020B0609020204030204" pitchFamily="49" charset="0"/>
              </a:rPr>
              <a:t>(</a:t>
            </a:r>
            <a:r>
              <a:rPr lang="en-US" altLang="zh-CN" dirty="0" err="1">
                <a:solidFill>
                  <a:srgbClr val="E06C75"/>
                </a:solidFill>
                <a:latin typeface="Consolas" panose="020B0609020204030204" pitchFamily="49" charset="0"/>
              </a:rPr>
              <a:t>courseName</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a:solidFill>
                  <a:srgbClr val="61AFEF"/>
                </a:solidFill>
                <a:latin typeface="Consolas" panose="020B0609020204030204" pitchFamily="49" charset="0"/>
              </a:rPr>
              <a:t>say</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br>
              <a:rPr lang="en-US" altLang="zh-CN" dirty="0">
                <a:solidFill>
                  <a:srgbClr val="ABB2BF"/>
                </a:solidFill>
                <a:latin typeface="Consolas" panose="020B0609020204030204" pitchFamily="49" charset="0"/>
              </a:rPr>
            </a:br>
            <a:r>
              <a:rPr lang="en-US" altLang="zh-CN" dirty="0">
                <a:solidFill>
                  <a:srgbClr val="E5C07B"/>
                </a:solidFill>
                <a:latin typeface="Consolas" panose="020B0609020204030204" pitchFamily="49" charset="0"/>
              </a:rPr>
              <a:t>console</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log</a:t>
            </a:r>
            <a:r>
              <a:rPr lang="en-US" altLang="zh-CN" dirty="0">
                <a:solidFill>
                  <a:srgbClr val="ABB2BF"/>
                </a:solidFill>
                <a:latin typeface="Consolas" panose="020B0609020204030204" pitchFamily="49" charset="0"/>
              </a:rPr>
              <a:t>(</a:t>
            </a:r>
            <a:r>
              <a:rPr lang="en-US" altLang="zh-CN" dirty="0" err="1">
                <a:solidFill>
                  <a:srgbClr val="E06C75"/>
                </a:solidFill>
                <a:latin typeface="Consolas" panose="020B0609020204030204" pitchFamily="49" charset="0"/>
              </a:rPr>
              <a:t>courseName</a:t>
            </a:r>
            <a:r>
              <a:rPr lang="en-US" altLang="zh-CN" dirty="0">
                <a:solidFill>
                  <a:srgbClr val="ABB2BF"/>
                </a:solidFill>
                <a:latin typeface="Consolas" panose="020B0609020204030204" pitchFamily="49" charset="0"/>
              </a:rPr>
              <a:t>); </a:t>
            </a:r>
            <a:r>
              <a:rPr lang="en-US" altLang="zh-CN" i="1" dirty="0">
                <a:solidFill>
                  <a:srgbClr val="7F848E"/>
                </a:solidFill>
                <a:latin typeface="Consolas" panose="020B0609020204030204" pitchFamily="49" charset="0"/>
              </a:rPr>
              <a:t>// </a:t>
            </a:r>
            <a:r>
              <a:rPr lang="en-US" altLang="zh-CN" i="1" dirty="0" err="1">
                <a:solidFill>
                  <a:srgbClr val="7F848E"/>
                </a:solidFill>
                <a:latin typeface="Consolas" panose="020B0609020204030204" pitchFamily="49" charset="0"/>
              </a:rPr>
              <a:t>courseName</a:t>
            </a:r>
            <a:r>
              <a:rPr lang="en-US" altLang="zh-CN" i="1" dirty="0">
                <a:solidFill>
                  <a:srgbClr val="7F848E"/>
                </a:solidFill>
                <a:latin typeface="Consolas" panose="020B0609020204030204" pitchFamily="49" charset="0"/>
              </a:rPr>
              <a:t> is not defined</a:t>
            </a:r>
            <a:endParaRPr lang="en-US" altLang="zh-CN" dirty="0">
              <a:solidFill>
                <a:srgbClr val="ABB2BF"/>
              </a:solidFill>
              <a:latin typeface="Consolas" panose="020B0609020204030204" pitchFamily="49" charset="0"/>
            </a:endParaRPr>
          </a:p>
          <a:p>
            <a:r>
              <a:rPr lang="en-US" altLang="zh-CN" dirty="0">
                <a:solidFill>
                  <a:srgbClr val="61AFEF"/>
                </a:solidFill>
                <a:latin typeface="Consolas" panose="020B0609020204030204" pitchFamily="49" charset="0"/>
              </a:rPr>
              <a:t>say</a:t>
            </a:r>
            <a:r>
              <a:rPr lang="en-US" altLang="zh-CN" dirty="0">
                <a:solidFill>
                  <a:srgbClr val="ABB2BF"/>
                </a:solidFill>
                <a:latin typeface="Consolas" panose="020B0609020204030204" pitchFamily="49" charset="0"/>
              </a:rPr>
              <a:t>(); </a:t>
            </a:r>
            <a:r>
              <a:rPr lang="en-US" altLang="zh-CN" i="1" dirty="0">
                <a:solidFill>
                  <a:srgbClr val="7F848E"/>
                </a:solidFill>
                <a:latin typeface="Consolas" panose="020B0609020204030204" pitchFamily="49" charset="0"/>
              </a:rPr>
              <a:t>// say is not defined</a:t>
            </a:r>
            <a:endParaRPr lang="en-US" altLang="zh-CN" b="0" dirty="0">
              <a:solidFill>
                <a:srgbClr val="ABB2BF"/>
              </a:solidFill>
              <a:effectLst/>
              <a:latin typeface="Consolas" panose="020B0609020204030204" pitchFamily="49"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作用域</a:t>
            </a:r>
            <a:endParaRPr lang="zh-CN" altLang="en-US" dirty="0"/>
          </a:p>
        </p:txBody>
      </p:sp>
      <p:sp>
        <p:nvSpPr>
          <p:cNvPr id="5" name="内容占位符 4"/>
          <p:cNvSpPr>
            <a:spLocks noGrp="1"/>
          </p:cNvSpPr>
          <p:nvPr>
            <p:ph idx="1"/>
          </p:nvPr>
        </p:nvSpPr>
        <p:spPr/>
        <p:txBody>
          <a:bodyPr/>
          <a:lstStyle/>
          <a:p>
            <a:r>
              <a:rPr lang="zh-CN" altLang="en-US" dirty="0" smtClean="0"/>
              <a:t>类型</a:t>
            </a:r>
            <a:r>
              <a:rPr lang="en-US" altLang="zh-CN" dirty="0" smtClean="0"/>
              <a:t>-</a:t>
            </a:r>
            <a:r>
              <a:rPr lang="zh-CN" altLang="en-US" dirty="0"/>
              <a:t>局部作用域</a:t>
            </a:r>
            <a:endParaRPr lang="en-US" altLang="zh-CN" dirty="0"/>
          </a:p>
          <a:p>
            <a:pPr lvl="1"/>
            <a:r>
              <a:rPr lang="zh-CN" altLang="en-US" dirty="0"/>
              <a:t>块级作用域，在一个函数内部或者在一个代码块（一对花括号）内部</a:t>
            </a:r>
            <a:endParaRPr lang="zh-CN" altLang="en-US" sz="1800" i="1" dirty="0">
              <a:solidFill>
                <a:srgbClr val="7F848E"/>
              </a:solidFill>
              <a:latin typeface="Consolas" panose="020B0609020204030204" pitchFamily="49" charset="0"/>
              <a:ea typeface="+mn-ea"/>
            </a:endParaRPr>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
        <p:nvSpPr>
          <p:cNvPr id="12" name="矩形 11"/>
          <p:cNvSpPr/>
          <p:nvPr/>
        </p:nvSpPr>
        <p:spPr>
          <a:xfrm>
            <a:off x="557439" y="2612637"/>
            <a:ext cx="5596226" cy="922020"/>
          </a:xfrm>
          <a:prstGeom prst="rect">
            <a:avLst/>
          </a:prstGeom>
        </p:spPr>
        <p:txBody>
          <a:bodyPr wrap="square">
            <a:spAutoFit/>
          </a:bodyPr>
          <a:lstStyle/>
          <a:p>
            <a:r>
              <a:rPr lang="en-US" altLang="zh-CN" dirty="0">
                <a:solidFill>
                  <a:srgbClr val="C678DD"/>
                </a:solidFill>
                <a:latin typeface="Consolas" panose="020B0609020204030204" pitchFamily="49" charset="0"/>
              </a:rPr>
              <a:t>function</a:t>
            </a:r>
            <a:r>
              <a:rPr lang="en-US" altLang="zh-CN" dirty="0">
                <a:solidFill>
                  <a:srgbClr val="ABB2BF"/>
                </a:solidFill>
                <a:latin typeface="Consolas" panose="020B0609020204030204" pitchFamily="49" charset="0"/>
              </a:rPr>
              <a:t> </a:t>
            </a:r>
            <a:r>
              <a:rPr lang="en-US" altLang="zh-CN" dirty="0">
                <a:solidFill>
                  <a:srgbClr val="61AFEF"/>
                </a:solidFill>
                <a:latin typeface="Consolas" panose="020B0609020204030204" pitchFamily="49" charset="0"/>
              </a:rPr>
              <a:t>foo</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a:solidFill>
                  <a:srgbClr val="C678DD"/>
                </a:solidFill>
                <a:latin typeface="Consolas" panose="020B0609020204030204" pitchFamily="49" charset="0"/>
              </a:rPr>
              <a:t>let</a:t>
            </a:r>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var1</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98C379"/>
                </a:solidFill>
                <a:latin typeface="Consolas" panose="020B0609020204030204" pitchFamily="49" charset="0"/>
              </a:rPr>
              <a:t>'this is var1'</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a:t>
            </a:r>
            <a:endParaRPr lang="en-US" altLang="zh-CN" i="1" dirty="0">
              <a:solidFill>
                <a:srgbClr val="7F848E"/>
              </a:solidFill>
              <a:latin typeface="Consolas" panose="020B0609020204030204" pitchFamily="49"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作用域</a:t>
            </a:r>
            <a:endParaRPr lang="zh-CN" altLang="en-US" dirty="0"/>
          </a:p>
        </p:txBody>
      </p:sp>
      <p:sp>
        <p:nvSpPr>
          <p:cNvPr id="5" name="内容占位符 4"/>
          <p:cNvSpPr>
            <a:spLocks noGrp="1"/>
          </p:cNvSpPr>
          <p:nvPr>
            <p:ph idx="1"/>
          </p:nvPr>
        </p:nvSpPr>
        <p:spPr/>
        <p:txBody>
          <a:bodyPr/>
          <a:lstStyle/>
          <a:p>
            <a:r>
              <a:rPr lang="en-US" altLang="zh-CN" dirty="0"/>
              <a:t>var</a:t>
            </a:r>
            <a:r>
              <a:rPr lang="zh-CN" altLang="en-US" dirty="0"/>
              <a:t>、</a:t>
            </a:r>
            <a:r>
              <a:rPr lang="en-US" altLang="zh-CN" dirty="0"/>
              <a:t>let </a:t>
            </a:r>
            <a:r>
              <a:rPr lang="zh-CN" altLang="en-US" dirty="0"/>
              <a:t>区别</a:t>
            </a:r>
            <a:endParaRPr lang="zh-CN" altLang="en-US" dirty="0"/>
          </a:p>
          <a:p>
            <a:endParaRPr lang="zh-CN" altLang="en-US" sz="1800" i="1" dirty="0">
              <a:solidFill>
                <a:srgbClr val="7F848E"/>
              </a:solidFill>
              <a:latin typeface="Consolas" panose="020B0609020204030204" pitchFamily="49" charset="0"/>
              <a:ea typeface="+mn-ea"/>
            </a:endParaRPr>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
        <p:nvSpPr>
          <p:cNvPr id="12" name="矩形 11"/>
          <p:cNvSpPr/>
          <p:nvPr/>
        </p:nvSpPr>
        <p:spPr>
          <a:xfrm>
            <a:off x="557439" y="2996177"/>
            <a:ext cx="5596226" cy="2585323"/>
          </a:xfrm>
          <a:prstGeom prst="rect">
            <a:avLst/>
          </a:prstGeom>
        </p:spPr>
        <p:txBody>
          <a:bodyPr wrap="square">
            <a:spAutoFit/>
          </a:bodyPr>
          <a:lstStyle/>
          <a:p>
            <a:r>
              <a:rPr lang="en-US" altLang="zh-CN" dirty="0">
                <a:solidFill>
                  <a:srgbClr val="C678DD"/>
                </a:solidFill>
                <a:latin typeface="Consolas" panose="020B0609020204030204" pitchFamily="49" charset="0"/>
              </a:rPr>
              <a:t>function</a:t>
            </a:r>
            <a:r>
              <a:rPr lang="en-US" altLang="zh-CN" dirty="0">
                <a:solidFill>
                  <a:srgbClr val="ABB2BF"/>
                </a:solidFill>
                <a:latin typeface="Consolas" panose="020B0609020204030204" pitchFamily="49" charset="0"/>
              </a:rPr>
              <a:t> </a:t>
            </a:r>
            <a:r>
              <a:rPr lang="en-US" altLang="zh-CN" dirty="0">
                <a:solidFill>
                  <a:srgbClr val="61AFEF"/>
                </a:solidFill>
                <a:latin typeface="Consolas" panose="020B0609020204030204" pitchFamily="49" charset="0"/>
              </a:rPr>
              <a:t>foo</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a:solidFill>
                  <a:srgbClr val="E5C07B"/>
                </a:solidFill>
                <a:latin typeface="Consolas" panose="020B0609020204030204" pitchFamily="49" charset="0"/>
              </a:rPr>
              <a:t>console</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log</a:t>
            </a:r>
            <a:r>
              <a:rPr lang="en-US" altLang="zh-CN" dirty="0">
                <a:solidFill>
                  <a:srgbClr val="ABB2BF"/>
                </a:solidFill>
                <a:latin typeface="Consolas" panose="020B0609020204030204" pitchFamily="49" charset="0"/>
              </a:rPr>
              <a:t>(</a:t>
            </a:r>
            <a:r>
              <a:rPr lang="en-US" altLang="zh-CN" dirty="0">
                <a:solidFill>
                  <a:srgbClr val="E06C75"/>
                </a:solidFill>
                <a:latin typeface="Consolas" panose="020B0609020204030204" pitchFamily="49" charset="0"/>
              </a:rPr>
              <a:t>var1</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a:solidFill>
                  <a:srgbClr val="C678DD"/>
                </a:solidFill>
                <a:latin typeface="Consolas" panose="020B0609020204030204" pitchFamily="49" charset="0"/>
              </a:rPr>
              <a:t>let</a:t>
            </a:r>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var1</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98C379"/>
                </a:solidFill>
                <a:latin typeface="Consolas" panose="020B0609020204030204" pitchFamily="49" charset="0"/>
              </a:rPr>
              <a:t>'this is var1'</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br>
              <a:rPr lang="en-US" altLang="zh-CN" dirty="0">
                <a:solidFill>
                  <a:srgbClr val="ABB2BF"/>
                </a:solidFill>
                <a:latin typeface="Consolas" panose="020B0609020204030204" pitchFamily="49" charset="0"/>
              </a:rPr>
            </a:br>
            <a:r>
              <a:rPr lang="en-US" altLang="zh-CN" dirty="0">
                <a:solidFill>
                  <a:srgbClr val="61AFEF"/>
                </a:solidFill>
                <a:latin typeface="Consolas" panose="020B0609020204030204" pitchFamily="49" charset="0"/>
              </a:rPr>
              <a:t>foo</a:t>
            </a:r>
            <a:r>
              <a:rPr lang="en-US" altLang="zh-CN" dirty="0">
                <a:solidFill>
                  <a:srgbClr val="ABB2BF"/>
                </a:solidFill>
                <a:latin typeface="Consolas" panose="020B0609020204030204" pitchFamily="49" charset="0"/>
              </a:rPr>
              <a:t>(); </a:t>
            </a:r>
            <a:r>
              <a:rPr lang="en-US" altLang="zh-CN" i="1" dirty="0">
                <a:solidFill>
                  <a:srgbClr val="7F848E"/>
                </a:solidFill>
                <a:latin typeface="Consolas" panose="020B0609020204030204" pitchFamily="49" charset="0"/>
              </a:rPr>
              <a:t>// print what </a:t>
            </a:r>
            <a:r>
              <a:rPr lang="en-US" altLang="zh-CN" i="1" dirty="0" smtClean="0">
                <a:solidFill>
                  <a:srgbClr val="7F848E"/>
                </a:solidFill>
                <a:latin typeface="Consolas" panose="020B0609020204030204" pitchFamily="49" charset="0"/>
              </a:rPr>
              <a:t>?</a:t>
            </a:r>
            <a:endParaRPr lang="en-US" altLang="zh-CN" i="1" dirty="0" smtClean="0">
              <a:solidFill>
                <a:srgbClr val="7F848E"/>
              </a:solidFill>
              <a:latin typeface="Consolas" panose="020B0609020204030204" pitchFamily="49" charset="0"/>
            </a:endParaRPr>
          </a:p>
          <a:p>
            <a:br>
              <a:rPr lang="en-US" altLang="zh-CN" dirty="0" smtClean="0">
                <a:solidFill>
                  <a:srgbClr val="ABB2BF"/>
                </a:solidFill>
                <a:latin typeface="Consolas" panose="020B0609020204030204" pitchFamily="49" charset="0"/>
              </a:rPr>
            </a:br>
            <a:r>
              <a:rPr lang="en-US" altLang="zh-CN" i="1" dirty="0">
                <a:solidFill>
                  <a:srgbClr val="7F848E"/>
                </a:solidFill>
                <a:latin typeface="Consolas" panose="020B0609020204030204" pitchFamily="49" charset="0"/>
              </a:rPr>
              <a:t>// Uncaught </a:t>
            </a:r>
            <a:r>
              <a:rPr lang="en-US" altLang="zh-CN" i="1" dirty="0" err="1">
                <a:solidFill>
                  <a:srgbClr val="7F848E"/>
                </a:solidFill>
                <a:latin typeface="Consolas" panose="020B0609020204030204" pitchFamily="49" charset="0"/>
              </a:rPr>
              <a:t>ReferenceError</a:t>
            </a:r>
            <a:r>
              <a:rPr lang="en-US" altLang="zh-CN" i="1" dirty="0">
                <a:solidFill>
                  <a:srgbClr val="7F848E"/>
                </a:solidFill>
                <a:latin typeface="Consolas" panose="020B0609020204030204" pitchFamily="49" charset="0"/>
              </a:rPr>
              <a:t>: </a:t>
            </a:r>
            <a:endParaRPr lang="en-US" altLang="zh-CN" i="1" dirty="0">
              <a:solidFill>
                <a:srgbClr val="7F848E"/>
              </a:solidFill>
              <a:latin typeface="Consolas" panose="020B0609020204030204" pitchFamily="49" charset="0"/>
            </a:endParaRPr>
          </a:p>
          <a:p>
            <a:r>
              <a:rPr lang="en-US" altLang="zh-CN" i="1" dirty="0">
                <a:solidFill>
                  <a:srgbClr val="7F848E"/>
                </a:solidFill>
                <a:latin typeface="Consolas" panose="020B0609020204030204" pitchFamily="49" charset="0"/>
              </a:rPr>
              <a:t>Cannot access 'var1' before initialization</a:t>
            </a:r>
            <a:endParaRPr lang="en-US" altLang="zh-CN" i="1" dirty="0">
              <a:solidFill>
                <a:srgbClr val="7F848E"/>
              </a:solidFill>
              <a:latin typeface="Consolas" panose="020B0609020204030204" pitchFamily="49" charset="0"/>
            </a:endParaRPr>
          </a:p>
        </p:txBody>
      </p:sp>
      <p:sp>
        <p:nvSpPr>
          <p:cNvPr id="13" name="矩形 12"/>
          <p:cNvSpPr/>
          <p:nvPr/>
        </p:nvSpPr>
        <p:spPr>
          <a:xfrm>
            <a:off x="6581775" y="2996177"/>
            <a:ext cx="5405178" cy="1476375"/>
          </a:xfrm>
          <a:prstGeom prst="rect">
            <a:avLst/>
          </a:prstGeom>
        </p:spPr>
        <p:txBody>
          <a:bodyPr wrap="square">
            <a:spAutoFit/>
          </a:bodyPr>
          <a:lstStyle/>
          <a:p>
            <a:r>
              <a:rPr lang="en-US" altLang="zh-CN" dirty="0" err="1">
                <a:solidFill>
                  <a:srgbClr val="C678DD"/>
                </a:solidFill>
                <a:latin typeface="Consolas" panose="020B0609020204030204" pitchFamily="49" charset="0"/>
              </a:rPr>
              <a:t>var</a:t>
            </a:r>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a</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1</a:t>
            </a:r>
            <a:r>
              <a:rPr lang="en-US" altLang="zh-CN" dirty="0">
                <a:solidFill>
                  <a:srgbClr val="ABB2BF"/>
                </a:solidFill>
                <a:latin typeface="Consolas" panose="020B0609020204030204" pitchFamily="49" charset="0"/>
              </a:rPr>
              <a:t>; / </a:t>
            </a:r>
            <a:r>
              <a:rPr lang="en-US" altLang="zh-CN" dirty="0">
                <a:solidFill>
                  <a:srgbClr val="C678DD"/>
                </a:solidFill>
                <a:latin typeface="Consolas" panose="020B0609020204030204" pitchFamily="49" charset="0"/>
                <a:sym typeface="+mn-ea"/>
              </a:rPr>
              <a:t>let</a:t>
            </a:r>
            <a:r>
              <a:rPr lang="en-US" altLang="zh-CN" dirty="0">
                <a:solidFill>
                  <a:srgbClr val="ABB2BF"/>
                </a:solidFill>
                <a:latin typeface="Consolas" panose="020B0609020204030204" pitchFamily="49" charset="0"/>
                <a:sym typeface="+mn-ea"/>
              </a:rPr>
              <a:t> </a:t>
            </a:r>
            <a:r>
              <a:rPr lang="en-US" altLang="zh-CN" dirty="0">
                <a:solidFill>
                  <a:srgbClr val="E06C75"/>
                </a:solidFill>
                <a:latin typeface="Consolas" panose="020B0609020204030204" pitchFamily="49" charset="0"/>
                <a:sym typeface="+mn-ea"/>
              </a:rPr>
              <a:t>a</a:t>
            </a:r>
            <a:r>
              <a:rPr lang="en-US" altLang="zh-CN" dirty="0">
                <a:solidFill>
                  <a:srgbClr val="ABB2BF"/>
                </a:solidFill>
                <a:latin typeface="Consolas" panose="020B0609020204030204" pitchFamily="49" charset="0"/>
                <a:sym typeface="+mn-ea"/>
              </a:rPr>
              <a:t> </a:t>
            </a:r>
            <a:r>
              <a:rPr lang="en-US" altLang="zh-CN" dirty="0">
                <a:solidFill>
                  <a:srgbClr val="56B6C2"/>
                </a:solidFill>
                <a:latin typeface="Consolas" panose="020B0609020204030204" pitchFamily="49" charset="0"/>
                <a:sym typeface="+mn-ea"/>
              </a:rPr>
              <a:t>=</a:t>
            </a:r>
            <a:r>
              <a:rPr lang="en-US" altLang="zh-CN" dirty="0">
                <a:solidFill>
                  <a:srgbClr val="ABB2BF"/>
                </a:solidFill>
                <a:latin typeface="Consolas" panose="020B0609020204030204" pitchFamily="49" charset="0"/>
                <a:sym typeface="+mn-ea"/>
              </a:rPr>
              <a:t> </a:t>
            </a:r>
            <a:r>
              <a:rPr lang="en-US" altLang="zh-CN" dirty="0">
                <a:solidFill>
                  <a:srgbClr val="D19A66"/>
                </a:solidFill>
                <a:latin typeface="Consolas" panose="020B0609020204030204" pitchFamily="49" charset="0"/>
                <a:sym typeface="+mn-ea"/>
              </a:rPr>
              <a:t>2</a:t>
            </a:r>
            <a:r>
              <a:rPr lang="en-US" altLang="zh-CN" dirty="0">
                <a:solidFill>
                  <a:srgbClr val="ABB2BF"/>
                </a:solidFill>
                <a:latin typeface="Consolas" panose="020B0609020204030204" pitchFamily="49" charset="0"/>
                <a:sym typeface="+mn-ea"/>
              </a:rPr>
              <a:t>;</a:t>
            </a:r>
            <a:endParaRPr lang="en-US" altLang="zh-CN" dirty="0">
              <a:solidFill>
                <a:srgbClr val="ABB2BF"/>
              </a:solidFill>
              <a:latin typeface="Consolas" panose="020B0609020204030204" pitchFamily="49" charset="0"/>
            </a:endParaRPr>
          </a:p>
          <a:p>
            <a:r>
              <a:rPr lang="en-US" altLang="zh-CN" dirty="0">
                <a:solidFill>
                  <a:srgbClr val="C678DD"/>
                </a:solidFill>
                <a:latin typeface="Consolas" panose="020B0609020204030204" pitchFamily="49" charset="0"/>
              </a:rPr>
              <a:t>let</a:t>
            </a:r>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a</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2</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endParaRPr lang="en-US" altLang="zh-CN" dirty="0">
              <a:solidFill>
                <a:srgbClr val="ABB2BF"/>
              </a:solidFill>
              <a:latin typeface="Consolas" panose="020B0609020204030204" pitchFamily="49" charset="0"/>
            </a:endParaRPr>
          </a:p>
          <a:p>
            <a:r>
              <a:rPr lang="en-US" altLang="zh-CN" i="1" dirty="0">
                <a:solidFill>
                  <a:srgbClr val="7F848E"/>
                </a:solidFill>
                <a:latin typeface="Consolas" panose="020B0609020204030204" pitchFamily="49" charset="0"/>
              </a:rPr>
              <a:t>// Uncaught </a:t>
            </a:r>
            <a:r>
              <a:rPr lang="en-US" altLang="zh-CN" i="1" dirty="0" err="1">
                <a:solidFill>
                  <a:srgbClr val="7F848E"/>
                </a:solidFill>
                <a:latin typeface="Consolas" panose="020B0609020204030204" pitchFamily="49" charset="0"/>
              </a:rPr>
              <a:t>SyntaxError</a:t>
            </a:r>
            <a:r>
              <a:rPr lang="en-US" altLang="zh-CN" i="1" dirty="0">
                <a:solidFill>
                  <a:srgbClr val="7F848E"/>
                </a:solidFill>
                <a:latin typeface="Consolas" panose="020B0609020204030204" pitchFamily="49" charset="0"/>
              </a:rPr>
              <a:t>: </a:t>
            </a:r>
            <a:endParaRPr lang="en-US" altLang="zh-CN" i="1" dirty="0" smtClean="0">
              <a:solidFill>
                <a:srgbClr val="7F848E"/>
              </a:solidFill>
              <a:latin typeface="Consolas" panose="020B0609020204030204" pitchFamily="49" charset="0"/>
            </a:endParaRPr>
          </a:p>
          <a:p>
            <a:r>
              <a:rPr lang="en-US" altLang="zh-CN" i="1" dirty="0" smtClean="0">
                <a:solidFill>
                  <a:srgbClr val="7F848E"/>
                </a:solidFill>
                <a:latin typeface="Consolas" panose="020B0609020204030204" pitchFamily="49" charset="0"/>
              </a:rPr>
              <a:t>Identifier</a:t>
            </a:r>
            <a:r>
              <a:rPr lang="en-US" altLang="zh-CN" i="1" dirty="0">
                <a:solidFill>
                  <a:srgbClr val="7F848E"/>
                </a:solidFill>
                <a:latin typeface="Consolas" panose="020B0609020204030204" pitchFamily="49" charset="0"/>
              </a:rPr>
              <a:t> 'a' has already been declared</a:t>
            </a:r>
            <a:endParaRPr lang="en-US" altLang="zh-CN" b="0" dirty="0">
              <a:solidFill>
                <a:srgbClr val="ABB2BF"/>
              </a:solidFill>
              <a:effectLst/>
              <a:latin typeface="Consolas" panose="020B0609020204030204" pitchFamily="49" charset="0"/>
            </a:endParaRPr>
          </a:p>
        </p:txBody>
      </p:sp>
      <p:sp>
        <p:nvSpPr>
          <p:cNvPr id="9" name="矩形 8"/>
          <p:cNvSpPr/>
          <p:nvPr/>
        </p:nvSpPr>
        <p:spPr>
          <a:xfrm>
            <a:off x="557439" y="2350471"/>
            <a:ext cx="3681663" cy="505326"/>
          </a:xfrm>
          <a:prstGeom prst="rect">
            <a:avLst/>
          </a:prstGeom>
          <a:solidFill>
            <a:srgbClr val="0283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smtClean="0">
                <a:solidFill>
                  <a:schemeClr val="bg1"/>
                </a:solidFill>
                <a:latin typeface="微软雅黑" panose="020B0503020204020204" pitchFamily="34" charset="-122"/>
                <a:ea typeface="微软雅黑" panose="020B0503020204020204" pitchFamily="34" charset="-122"/>
              </a:rPr>
              <a:t> 声明</a:t>
            </a:r>
            <a:r>
              <a:rPr lang="zh-CN" altLang="en-US" dirty="0">
                <a:solidFill>
                  <a:schemeClr val="bg1"/>
                </a:solidFill>
                <a:latin typeface="微软雅黑" panose="020B0503020204020204" pitchFamily="34" charset="-122"/>
                <a:ea typeface="微软雅黑" panose="020B0503020204020204" pitchFamily="34" charset="-122"/>
              </a:rPr>
              <a:t>变量不会提升到代码块顶部</a:t>
            </a:r>
            <a:endParaRPr lang="zh-CN" altLang="en-US" dirty="0"/>
          </a:p>
        </p:txBody>
      </p:sp>
      <p:sp>
        <p:nvSpPr>
          <p:cNvPr id="14" name="矩形 13"/>
          <p:cNvSpPr/>
          <p:nvPr/>
        </p:nvSpPr>
        <p:spPr>
          <a:xfrm>
            <a:off x="6581775" y="2350471"/>
            <a:ext cx="3681663" cy="505326"/>
          </a:xfrm>
          <a:prstGeom prst="rect">
            <a:avLst/>
          </a:prstGeom>
          <a:solidFill>
            <a:srgbClr val="0283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smtClean="0">
                <a:solidFill>
                  <a:schemeClr val="bg1"/>
                </a:solidFill>
                <a:latin typeface="微软雅黑" panose="020B0503020204020204" pitchFamily="34" charset="-122"/>
                <a:ea typeface="微软雅黑" panose="020B0503020204020204" pitchFamily="34" charset="-122"/>
              </a:rPr>
              <a:t> 禁止</a:t>
            </a:r>
            <a:r>
              <a:rPr lang="zh-CN" altLang="en-US" dirty="0">
                <a:solidFill>
                  <a:schemeClr val="bg1"/>
                </a:solidFill>
                <a:latin typeface="微软雅黑" panose="020B0503020204020204" pitchFamily="34" charset="-122"/>
                <a:ea typeface="微软雅黑" panose="020B0503020204020204" pitchFamily="34" charset="-122"/>
              </a:rPr>
              <a:t>重复声明</a:t>
            </a:r>
            <a:endParaRPr lang="zh-CN" altLang="en-US"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作用域 </a:t>
            </a:r>
            <a:r>
              <a:rPr lang="en-US" altLang="zh-CN" dirty="0" smtClean="0"/>
              <a:t>– </a:t>
            </a:r>
            <a:r>
              <a:rPr lang="zh-CN" altLang="en-US" dirty="0" smtClean="0"/>
              <a:t>变量提升</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
        <p:nvSpPr>
          <p:cNvPr id="5" name="矩形 4"/>
          <p:cNvSpPr/>
          <p:nvPr/>
        </p:nvSpPr>
        <p:spPr>
          <a:xfrm>
            <a:off x="557439" y="1378400"/>
            <a:ext cx="6096000" cy="1938992"/>
          </a:xfrm>
          <a:prstGeom prst="rect">
            <a:avLst/>
          </a:prstGeom>
        </p:spPr>
        <p:txBody>
          <a:bodyPr>
            <a:spAutoFit/>
          </a:bodyPr>
          <a:lstStyle/>
          <a:p>
            <a:r>
              <a:rPr lang="en-US" altLang="zh-CN" sz="2000" dirty="0">
                <a:solidFill>
                  <a:srgbClr val="C678DD"/>
                </a:solidFill>
                <a:latin typeface="Consolas" panose="020B0609020204030204" pitchFamily="49" charset="0"/>
              </a:rPr>
              <a:t>function</a:t>
            </a:r>
            <a:r>
              <a:rPr lang="en-US" altLang="zh-CN" sz="2000" dirty="0">
                <a:solidFill>
                  <a:srgbClr val="ABB2BF"/>
                </a:solidFill>
                <a:latin typeface="Consolas" panose="020B0609020204030204" pitchFamily="49" charset="0"/>
              </a:rPr>
              <a:t> </a:t>
            </a:r>
            <a:r>
              <a:rPr lang="en-US" altLang="zh-CN" sz="2000" dirty="0">
                <a:solidFill>
                  <a:srgbClr val="61AFEF"/>
                </a:solidFill>
                <a:latin typeface="Consolas" panose="020B0609020204030204" pitchFamily="49" charset="0"/>
              </a:rPr>
              <a:t>foo</a:t>
            </a:r>
            <a:r>
              <a:rPr lang="en-US" altLang="zh-CN" sz="2000" dirty="0">
                <a:solidFill>
                  <a:srgbClr val="ABB2BF"/>
                </a:solidFill>
                <a:latin typeface="Consolas" panose="020B0609020204030204" pitchFamily="49" charset="0"/>
              </a:rPr>
              <a:t>() </a:t>
            </a:r>
            <a:r>
              <a:rPr lang="en-US" altLang="zh-CN" sz="2000" dirty="0" smtClean="0">
                <a:solidFill>
                  <a:srgbClr val="ABB2BF"/>
                </a:solidFill>
                <a:latin typeface="Consolas" panose="020B0609020204030204" pitchFamily="49" charset="0"/>
              </a:rPr>
              <a:t>{</a:t>
            </a:r>
            <a:endParaRPr lang="en-US" altLang="zh-CN" sz="2000" dirty="0" smtClean="0">
              <a:solidFill>
                <a:srgbClr val="ABB2BF"/>
              </a:solidFill>
              <a:latin typeface="Consolas" panose="020B0609020204030204" pitchFamily="49" charset="0"/>
            </a:endParaRPr>
          </a:p>
          <a:p>
            <a:r>
              <a:rPr lang="en-US" altLang="zh-CN" sz="2000" dirty="0">
                <a:solidFill>
                  <a:srgbClr val="ABB2BF"/>
                </a:solidFill>
                <a:latin typeface="Consolas" panose="020B0609020204030204" pitchFamily="49" charset="0"/>
              </a:rPr>
              <a:t> </a:t>
            </a:r>
            <a:r>
              <a:rPr lang="en-US" altLang="zh-CN" sz="2000" dirty="0" smtClean="0">
                <a:solidFill>
                  <a:srgbClr val="ABB2BF"/>
                </a:solidFill>
                <a:latin typeface="Consolas" panose="020B0609020204030204" pitchFamily="49" charset="0"/>
              </a:rPr>
              <a:t> </a:t>
            </a:r>
            <a:r>
              <a:rPr lang="en-US" altLang="zh-CN" sz="2000" dirty="0" smtClean="0">
                <a:solidFill>
                  <a:srgbClr val="E5C07B"/>
                </a:solidFill>
                <a:latin typeface="Consolas" panose="020B0609020204030204" pitchFamily="49" charset="0"/>
              </a:rPr>
              <a:t>console</a:t>
            </a:r>
            <a:r>
              <a:rPr lang="en-US" altLang="zh-CN" sz="2000" dirty="0" smtClean="0">
                <a:solidFill>
                  <a:srgbClr val="ABB2BF"/>
                </a:solidFill>
                <a:latin typeface="Consolas" panose="020B0609020204030204" pitchFamily="49" charset="0"/>
              </a:rPr>
              <a:t>.</a:t>
            </a:r>
            <a:r>
              <a:rPr lang="en-US" altLang="zh-CN" sz="2000" dirty="0" smtClean="0">
                <a:solidFill>
                  <a:srgbClr val="61AFEF"/>
                </a:solidFill>
                <a:latin typeface="Consolas" panose="020B0609020204030204" pitchFamily="49" charset="0"/>
              </a:rPr>
              <a:t>log</a:t>
            </a:r>
            <a:r>
              <a:rPr lang="en-US" altLang="zh-CN" sz="2000" dirty="0" smtClean="0">
                <a:solidFill>
                  <a:srgbClr val="ABB2BF"/>
                </a:solidFill>
                <a:latin typeface="Consolas" panose="020B0609020204030204" pitchFamily="49" charset="0"/>
              </a:rPr>
              <a:t>(</a:t>
            </a:r>
            <a:r>
              <a:rPr lang="en-US" altLang="zh-CN" sz="2000" dirty="0" smtClean="0">
                <a:solidFill>
                  <a:srgbClr val="E06C75"/>
                </a:solidFill>
                <a:latin typeface="Consolas" panose="020B0609020204030204" pitchFamily="49" charset="0"/>
              </a:rPr>
              <a:t>var1</a:t>
            </a:r>
            <a:r>
              <a:rPr lang="en-US" altLang="zh-CN" sz="2000" dirty="0" smtClean="0">
                <a:solidFill>
                  <a:srgbClr val="ABB2BF"/>
                </a:solidFill>
                <a:latin typeface="Consolas" panose="020B0609020204030204" pitchFamily="49" charset="0"/>
              </a:rPr>
              <a:t>);</a:t>
            </a:r>
            <a:endParaRPr lang="en-US" altLang="zh-CN" sz="2000" dirty="0" smtClean="0">
              <a:solidFill>
                <a:srgbClr val="ABB2BF"/>
              </a:solidFill>
              <a:latin typeface="Consolas" panose="020B0609020204030204" pitchFamily="49" charset="0"/>
            </a:endParaRPr>
          </a:p>
          <a:p>
            <a:r>
              <a:rPr lang="en-US" altLang="zh-CN" sz="2000" dirty="0">
                <a:solidFill>
                  <a:srgbClr val="ABB2BF"/>
                </a:solidFill>
                <a:latin typeface="Consolas" panose="020B0609020204030204" pitchFamily="49" charset="0"/>
              </a:rPr>
              <a:t> </a:t>
            </a:r>
            <a:r>
              <a:rPr lang="en-US" altLang="zh-CN" sz="2000" dirty="0" smtClean="0">
                <a:solidFill>
                  <a:srgbClr val="ABB2BF"/>
                </a:solidFill>
                <a:latin typeface="Consolas" panose="020B0609020204030204" pitchFamily="49" charset="0"/>
              </a:rPr>
              <a:t> </a:t>
            </a:r>
            <a:r>
              <a:rPr lang="en-US" altLang="zh-CN" sz="2000" dirty="0" err="1" smtClean="0">
                <a:solidFill>
                  <a:srgbClr val="C678DD"/>
                </a:solidFill>
                <a:latin typeface="Consolas" panose="020B0609020204030204" pitchFamily="49" charset="0"/>
              </a:rPr>
              <a:t>var</a:t>
            </a:r>
            <a:r>
              <a:rPr lang="en-US" altLang="zh-CN" sz="2000" dirty="0">
                <a:solidFill>
                  <a:srgbClr val="ABB2BF"/>
                </a:solidFill>
                <a:latin typeface="Consolas" panose="020B0609020204030204" pitchFamily="49" charset="0"/>
              </a:rPr>
              <a:t> </a:t>
            </a:r>
            <a:r>
              <a:rPr lang="en-US" altLang="zh-CN" sz="2000" dirty="0">
                <a:solidFill>
                  <a:srgbClr val="E06C75"/>
                </a:solidFill>
                <a:latin typeface="Consolas" panose="020B0609020204030204" pitchFamily="49" charset="0"/>
              </a:rPr>
              <a:t>var1</a:t>
            </a:r>
            <a:r>
              <a:rPr lang="en-US" altLang="zh-CN" sz="2000" dirty="0">
                <a:solidFill>
                  <a:srgbClr val="ABB2BF"/>
                </a:solidFill>
                <a:latin typeface="Consolas" panose="020B0609020204030204" pitchFamily="49" charset="0"/>
              </a:rPr>
              <a:t> </a:t>
            </a:r>
            <a:r>
              <a:rPr lang="en-US" altLang="zh-CN" sz="2000" dirty="0" smtClean="0">
                <a:solidFill>
                  <a:srgbClr val="56B6C2"/>
                </a:solidFill>
                <a:latin typeface="Consolas" panose="020B0609020204030204" pitchFamily="49" charset="0"/>
              </a:rPr>
              <a:t>=</a:t>
            </a:r>
            <a:r>
              <a:rPr lang="en-US" altLang="zh-CN" sz="2000" dirty="0" smtClean="0">
                <a:solidFill>
                  <a:srgbClr val="ABB2BF"/>
                </a:solidFill>
                <a:latin typeface="Consolas" panose="020B0609020204030204" pitchFamily="49" charset="0"/>
              </a:rPr>
              <a:t> </a:t>
            </a:r>
            <a:r>
              <a:rPr lang="en-US" altLang="zh-CN" sz="2000" dirty="0" smtClean="0">
                <a:solidFill>
                  <a:srgbClr val="98C379"/>
                </a:solidFill>
                <a:latin typeface="Consolas" panose="020B0609020204030204" pitchFamily="49" charset="0"/>
              </a:rPr>
              <a:t>'this </a:t>
            </a:r>
            <a:r>
              <a:rPr lang="en-US" altLang="zh-CN" sz="2000" dirty="0">
                <a:solidFill>
                  <a:srgbClr val="98C379"/>
                </a:solidFill>
                <a:latin typeface="Consolas" panose="020B0609020204030204" pitchFamily="49" charset="0"/>
              </a:rPr>
              <a:t>is </a:t>
            </a:r>
            <a:r>
              <a:rPr lang="en-US" altLang="zh-CN" sz="2000" dirty="0" smtClean="0">
                <a:solidFill>
                  <a:srgbClr val="98C379"/>
                </a:solidFill>
                <a:latin typeface="Consolas" panose="020B0609020204030204" pitchFamily="49" charset="0"/>
              </a:rPr>
              <a:t>var1'</a:t>
            </a:r>
            <a:r>
              <a:rPr lang="en-US" altLang="zh-CN" sz="2000" dirty="0" smtClean="0">
                <a:solidFill>
                  <a:srgbClr val="ABB2BF"/>
                </a:solidFill>
                <a:latin typeface="Consolas" panose="020B0609020204030204" pitchFamily="49" charset="0"/>
              </a:rPr>
              <a:t>;</a:t>
            </a:r>
            <a:endParaRPr lang="en-US" altLang="zh-CN" sz="2000" dirty="0">
              <a:solidFill>
                <a:srgbClr val="ABB2BF"/>
              </a:solidFill>
              <a:latin typeface="Consolas" panose="020B0609020204030204" pitchFamily="49" charset="0"/>
            </a:endParaRPr>
          </a:p>
          <a:p>
            <a:r>
              <a:rPr lang="en-US" altLang="zh-CN" sz="2000" dirty="0" smtClean="0">
                <a:solidFill>
                  <a:srgbClr val="ABB2BF"/>
                </a:solidFill>
                <a:latin typeface="Consolas" panose="020B0609020204030204" pitchFamily="49" charset="0"/>
              </a:rPr>
              <a:t>}</a:t>
            </a:r>
            <a:endParaRPr lang="en-US" altLang="zh-CN" sz="2000" dirty="0" smtClean="0">
              <a:solidFill>
                <a:srgbClr val="ABB2BF"/>
              </a:solidFill>
              <a:latin typeface="Consolas" panose="020B0609020204030204" pitchFamily="49" charset="0"/>
            </a:endParaRPr>
          </a:p>
          <a:p>
            <a:br>
              <a:rPr lang="en-US" altLang="zh-CN" sz="2000" dirty="0">
                <a:solidFill>
                  <a:srgbClr val="ABB2BF"/>
                </a:solidFill>
                <a:latin typeface="Consolas" panose="020B0609020204030204" pitchFamily="49" charset="0"/>
              </a:rPr>
            </a:br>
            <a:r>
              <a:rPr lang="en-US" altLang="zh-CN" sz="2000" dirty="0">
                <a:solidFill>
                  <a:srgbClr val="61AFEF"/>
                </a:solidFill>
                <a:latin typeface="Consolas" panose="020B0609020204030204" pitchFamily="49" charset="0"/>
              </a:rPr>
              <a:t>foo</a:t>
            </a:r>
            <a:r>
              <a:rPr lang="en-US" altLang="zh-CN" sz="2000" dirty="0" smtClean="0">
                <a:solidFill>
                  <a:srgbClr val="ABB2BF"/>
                </a:solidFill>
                <a:latin typeface="Consolas" panose="020B0609020204030204" pitchFamily="49" charset="0"/>
              </a:rPr>
              <a:t>(); </a:t>
            </a:r>
            <a:r>
              <a:rPr lang="en-US" altLang="zh-CN" sz="2000" i="1" dirty="0" smtClean="0">
                <a:solidFill>
                  <a:srgbClr val="7F848E"/>
                </a:solidFill>
                <a:latin typeface="Consolas" panose="020B0609020204030204" pitchFamily="49" charset="0"/>
              </a:rPr>
              <a:t>//</a:t>
            </a:r>
            <a:r>
              <a:rPr lang="en-US" altLang="zh-CN" sz="2000" i="1" dirty="0">
                <a:solidFill>
                  <a:srgbClr val="7F848E"/>
                </a:solidFill>
                <a:latin typeface="Consolas" panose="020B0609020204030204" pitchFamily="49" charset="0"/>
              </a:rPr>
              <a:t> print what ?</a:t>
            </a:r>
            <a:endParaRPr lang="en-US" altLang="zh-CN" sz="2000" b="0" dirty="0">
              <a:solidFill>
                <a:srgbClr val="ABB2BF"/>
              </a:solidFill>
              <a:effectLst/>
              <a:latin typeface="Consolas" panose="020B0609020204030204" pitchFamily="49" charset="0"/>
            </a:endParaRPr>
          </a:p>
        </p:txBody>
      </p:sp>
      <p:grpSp>
        <p:nvGrpSpPr>
          <p:cNvPr id="13" name="组合 12"/>
          <p:cNvGrpSpPr/>
          <p:nvPr/>
        </p:nvGrpSpPr>
        <p:grpSpPr>
          <a:xfrm>
            <a:off x="557439" y="4516023"/>
            <a:ext cx="7989079" cy="843781"/>
            <a:chOff x="957389" y="4704708"/>
            <a:chExt cx="7989079" cy="843781"/>
          </a:xfrm>
        </p:grpSpPr>
        <p:sp>
          <p:nvSpPr>
            <p:cNvPr id="3" name="矩形 2"/>
            <p:cNvSpPr/>
            <p:nvPr/>
          </p:nvSpPr>
          <p:spPr>
            <a:xfrm>
              <a:off x="957389" y="4704708"/>
              <a:ext cx="2366609" cy="843781"/>
            </a:xfrm>
            <a:prstGeom prst="rect">
              <a:avLst/>
            </a:prstGeom>
            <a:solidFill>
              <a:srgbClr val="0283CA"/>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err="1" smtClean="0">
                  <a:latin typeface="微软雅黑" panose="020B0503020204020204" pitchFamily="34" charset="-122"/>
                  <a:ea typeface="微软雅黑" panose="020B0503020204020204" pitchFamily="34" charset="-122"/>
                </a:rPr>
                <a:t>var</a:t>
              </a:r>
              <a:r>
                <a:rPr lang="en-US" altLang="zh-CN" sz="2800" dirty="0" smtClean="0">
                  <a:latin typeface="微软雅黑" panose="020B0503020204020204" pitchFamily="34" charset="-122"/>
                  <a:ea typeface="微软雅黑" panose="020B0503020204020204" pitchFamily="34" charset="-122"/>
                </a:rPr>
                <a:t> a = 1;</a:t>
              </a:r>
              <a:endParaRPr lang="zh-CN" altLang="en-US" sz="2800" dirty="0">
                <a:latin typeface="微软雅黑" panose="020B0503020204020204" pitchFamily="34" charset="-122"/>
                <a:ea typeface="微软雅黑" panose="020B0503020204020204" pitchFamily="34" charset="-122"/>
              </a:endParaRPr>
            </a:p>
          </p:txBody>
        </p:sp>
        <p:sp>
          <p:nvSpPr>
            <p:cNvPr id="6" name="矩形 5"/>
            <p:cNvSpPr/>
            <p:nvPr/>
          </p:nvSpPr>
          <p:spPr>
            <a:xfrm>
              <a:off x="4688934" y="4704708"/>
              <a:ext cx="1440090" cy="843781"/>
            </a:xfrm>
            <a:prstGeom prst="rect">
              <a:avLst/>
            </a:prstGeom>
            <a:solidFill>
              <a:srgbClr val="0283CA"/>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err="1" smtClean="0">
                  <a:latin typeface="微软雅黑" panose="020B0503020204020204" pitchFamily="34" charset="-122"/>
                  <a:ea typeface="微软雅黑" panose="020B0503020204020204" pitchFamily="34" charset="-122"/>
                </a:rPr>
                <a:t>var</a:t>
              </a:r>
              <a:r>
                <a:rPr lang="en-US" altLang="zh-CN" sz="2800" dirty="0" smtClean="0">
                  <a:latin typeface="微软雅黑" panose="020B0503020204020204" pitchFamily="34" charset="-122"/>
                  <a:ea typeface="微软雅黑" panose="020B0503020204020204" pitchFamily="34" charset="-122"/>
                </a:rPr>
                <a:t> a;</a:t>
              </a:r>
              <a:endParaRPr lang="zh-CN" altLang="en-US" sz="2800" dirty="0">
                <a:latin typeface="微软雅黑" panose="020B0503020204020204" pitchFamily="34" charset="-122"/>
                <a:ea typeface="微软雅黑" panose="020B0503020204020204" pitchFamily="34" charset="-122"/>
              </a:endParaRPr>
            </a:p>
          </p:txBody>
        </p:sp>
        <p:sp>
          <p:nvSpPr>
            <p:cNvPr id="9" name="矩形 8"/>
            <p:cNvSpPr/>
            <p:nvPr/>
          </p:nvSpPr>
          <p:spPr>
            <a:xfrm>
              <a:off x="7506378" y="4704708"/>
              <a:ext cx="1440090" cy="843781"/>
            </a:xfrm>
            <a:prstGeom prst="rect">
              <a:avLst/>
            </a:prstGeom>
            <a:solidFill>
              <a:srgbClr val="0283CA"/>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smtClean="0">
                  <a:latin typeface="微软雅黑" panose="020B0503020204020204" pitchFamily="34" charset="-122"/>
                  <a:ea typeface="微软雅黑" panose="020B0503020204020204" pitchFamily="34" charset="-122"/>
                </a:rPr>
                <a:t>a = 1;</a:t>
              </a:r>
              <a:endParaRPr lang="zh-CN" altLang="en-US" sz="2800" dirty="0">
                <a:latin typeface="微软雅黑" panose="020B0503020204020204" pitchFamily="34" charset="-122"/>
                <a:ea typeface="微软雅黑" panose="020B0503020204020204" pitchFamily="34" charset="-122"/>
              </a:endParaRPr>
            </a:p>
          </p:txBody>
        </p:sp>
        <p:sp>
          <p:nvSpPr>
            <p:cNvPr id="10" name="加号 9"/>
            <p:cNvSpPr/>
            <p:nvPr/>
          </p:nvSpPr>
          <p:spPr>
            <a:xfrm>
              <a:off x="6467798" y="4776695"/>
              <a:ext cx="699806" cy="699806"/>
            </a:xfrm>
            <a:prstGeom prst="mathPlus">
              <a:avLst>
                <a:gd name="adj1" fmla="val 154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等于号 11"/>
            <p:cNvSpPr/>
            <p:nvPr/>
          </p:nvSpPr>
          <p:spPr>
            <a:xfrm>
              <a:off x="3662772" y="4883045"/>
              <a:ext cx="687388" cy="487106"/>
            </a:xfrm>
            <a:prstGeom prst="mathEqual">
              <a:avLst>
                <a:gd name="adj1" fmla="val 23520"/>
                <a:gd name="adj2" fmla="val 2963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250" fill="hold"/>
                                        <p:tgtEl>
                                          <p:spTgt spid="13"/>
                                        </p:tgtEl>
                                        <p:attrNameLst>
                                          <p:attrName>ppt_x</p:attrName>
                                        </p:attrNameLst>
                                      </p:cBhvr>
                                      <p:tavLst>
                                        <p:tav tm="0">
                                          <p:val>
                                            <p:strVal val="#ppt_x"/>
                                          </p:val>
                                        </p:tav>
                                        <p:tav tm="100000">
                                          <p:val>
                                            <p:strVal val="#ppt_x"/>
                                          </p:val>
                                        </p:tav>
                                      </p:tavLst>
                                    </p:anim>
                                    <p:anim calcmode="lin" valueType="num">
                                      <p:cBhvr additive="base">
                                        <p:cTn id="8" dur="25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作用域 </a:t>
            </a:r>
            <a:r>
              <a:rPr lang="en-US" altLang="zh-CN" dirty="0" smtClean="0"/>
              <a:t>– </a:t>
            </a:r>
            <a:r>
              <a:rPr lang="zh-CN" altLang="en-US" dirty="0" smtClean="0"/>
              <a:t>变量提升</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
        <p:nvSpPr>
          <p:cNvPr id="3" name="矩形 2"/>
          <p:cNvSpPr/>
          <p:nvPr/>
        </p:nvSpPr>
        <p:spPr>
          <a:xfrm>
            <a:off x="557439" y="1378400"/>
            <a:ext cx="3760561" cy="1477328"/>
          </a:xfrm>
          <a:prstGeom prst="rect">
            <a:avLst/>
          </a:prstGeom>
        </p:spPr>
        <p:txBody>
          <a:bodyPr wrap="square">
            <a:spAutoFit/>
          </a:bodyPr>
          <a:lstStyle/>
          <a:p>
            <a:r>
              <a:rPr lang="en-US" altLang="zh-CN" dirty="0">
                <a:solidFill>
                  <a:srgbClr val="E06C75"/>
                </a:solidFill>
                <a:latin typeface="Consolas" panose="020B0609020204030204" pitchFamily="49" charset="0"/>
              </a:rPr>
              <a:t>console</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log</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foo</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br>
              <a:rPr lang="en-US" altLang="zh-CN" dirty="0">
                <a:solidFill>
                  <a:srgbClr val="ABB2BF"/>
                </a:solidFill>
                <a:latin typeface="Consolas" panose="020B0609020204030204" pitchFamily="49" charset="0"/>
              </a:rPr>
            </a:br>
            <a:r>
              <a:rPr lang="en-US" altLang="zh-CN" dirty="0">
                <a:solidFill>
                  <a:srgbClr val="C678DD"/>
                </a:solidFill>
                <a:latin typeface="Consolas" panose="020B0609020204030204" pitchFamily="49" charset="0"/>
              </a:rPr>
              <a:t>function</a:t>
            </a:r>
            <a:r>
              <a:rPr lang="en-US" altLang="zh-CN" dirty="0">
                <a:solidFill>
                  <a:srgbClr val="ABB2BF"/>
                </a:solidFill>
                <a:latin typeface="Consolas" panose="020B0609020204030204" pitchFamily="49" charset="0"/>
              </a:rPr>
              <a:t> </a:t>
            </a:r>
            <a:r>
              <a:rPr lang="en-US" altLang="zh-CN" dirty="0">
                <a:solidFill>
                  <a:srgbClr val="61AFEF"/>
                </a:solidFill>
                <a:latin typeface="Consolas" panose="020B0609020204030204" pitchFamily="49" charset="0"/>
              </a:rPr>
              <a:t>foo</a:t>
            </a:r>
            <a:r>
              <a:rPr lang="en-US" altLang="zh-CN" dirty="0">
                <a:solidFill>
                  <a:srgbClr val="ABB2BF"/>
                </a:solidFill>
                <a:latin typeface="Consolas" panose="020B0609020204030204" pitchFamily="49" charset="0"/>
              </a:rPr>
              <a:t>() </a:t>
            </a:r>
            <a:r>
              <a:rPr lang="en-US" altLang="zh-CN" dirty="0" smtClean="0">
                <a:solidFill>
                  <a:srgbClr val="ABB2BF"/>
                </a:solidFill>
                <a:latin typeface="Consolas" panose="020B0609020204030204" pitchFamily="49" charset="0"/>
              </a:rPr>
              <a:t>{}</a:t>
            </a:r>
            <a:endParaRPr lang="en-US" altLang="zh-CN" dirty="0" smtClean="0">
              <a:solidFill>
                <a:srgbClr val="ABB2BF"/>
              </a:solidFill>
              <a:latin typeface="Consolas" panose="020B0609020204030204" pitchFamily="49" charset="0"/>
            </a:endParaRPr>
          </a:p>
          <a:p>
            <a:endParaRPr lang="en-US" altLang="zh-CN" i="1" dirty="0">
              <a:solidFill>
                <a:srgbClr val="ABB2BF"/>
              </a:solidFill>
              <a:latin typeface="Consolas" panose="020B0609020204030204" pitchFamily="49" charset="0"/>
            </a:endParaRPr>
          </a:p>
          <a:p>
            <a:r>
              <a:rPr lang="en-US" altLang="zh-CN" i="1" dirty="0" smtClean="0">
                <a:solidFill>
                  <a:srgbClr val="7F848E"/>
                </a:solidFill>
                <a:latin typeface="Consolas" panose="020B0609020204030204" pitchFamily="49" charset="0"/>
              </a:rPr>
              <a:t>//</a:t>
            </a:r>
            <a:r>
              <a:rPr lang="en-US" altLang="zh-CN" i="1" dirty="0">
                <a:solidFill>
                  <a:srgbClr val="7F848E"/>
                </a:solidFill>
                <a:latin typeface="Consolas" panose="020B0609020204030204" pitchFamily="49" charset="0"/>
              </a:rPr>
              <a:t> print what</a:t>
            </a:r>
            <a:endParaRPr lang="en-US" altLang="zh-CN" b="0" dirty="0">
              <a:solidFill>
                <a:srgbClr val="ABB2BF"/>
              </a:solidFill>
              <a:effectLst/>
              <a:latin typeface="Consolas" panose="020B0609020204030204" pitchFamily="49" charset="0"/>
            </a:endParaRPr>
          </a:p>
        </p:txBody>
      </p:sp>
      <p:sp>
        <p:nvSpPr>
          <p:cNvPr id="6" name="文本框 5"/>
          <p:cNvSpPr txBox="1"/>
          <p:nvPr/>
        </p:nvSpPr>
        <p:spPr>
          <a:xfrm>
            <a:off x="557439" y="3489999"/>
            <a:ext cx="5366385" cy="1891665"/>
          </a:xfrm>
          <a:prstGeom prst="rect">
            <a:avLst/>
          </a:prstGeom>
          <a:noFill/>
        </p:spPr>
        <p:txBody>
          <a:bodyPr wrap="square" rtlCol="0">
            <a:spAutoFit/>
          </a:bodyPr>
          <a:lstStyle/>
          <a:p>
            <a:pPr>
              <a:lnSpc>
                <a:spcPct val="150000"/>
              </a:lnSpc>
            </a:pPr>
            <a:endParaRPr lang="en-US" altLang="zh-CN" sz="2400" b="1" dirty="0" smtClean="0">
              <a:solidFill>
                <a:schemeClr val="bg1"/>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charset="0"/>
              <a:buChar char="l"/>
            </a:pPr>
            <a:r>
              <a:rPr lang="zh-CN" altLang="en-US" dirty="0" smtClean="0">
                <a:solidFill>
                  <a:schemeClr val="bg1"/>
                </a:solidFill>
                <a:latin typeface="微软雅黑" panose="020B0503020204020204" pitchFamily="34" charset="-122"/>
                <a:ea typeface="微软雅黑" panose="020B0503020204020204" pitchFamily="34" charset="-122"/>
              </a:rPr>
              <a:t>作用域</a:t>
            </a:r>
            <a:r>
              <a:rPr lang="zh-CN" altLang="en-US" dirty="0" smtClean="0">
                <a:solidFill>
                  <a:schemeClr val="bg1"/>
                </a:solidFill>
                <a:latin typeface="微软雅黑" panose="020B0503020204020204" pitchFamily="34" charset="-122"/>
                <a:ea typeface="微软雅黑" panose="020B0503020204020204" pitchFamily="34" charset="-122"/>
              </a:rPr>
              <a:t>内，变量会进行提前声明</a:t>
            </a:r>
            <a:endParaRPr lang="zh-CN" altLang="en-US" dirty="0" smtClean="0">
              <a:solidFill>
                <a:schemeClr val="bg1"/>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charset="0"/>
              <a:buChar char="l"/>
            </a:pPr>
            <a:r>
              <a:rPr lang="zh-CN" altLang="en-US" dirty="0" smtClean="0">
                <a:solidFill>
                  <a:schemeClr val="bg1"/>
                </a:solidFill>
                <a:latin typeface="微软雅黑" panose="020B0503020204020204" pitchFamily="34" charset="-122"/>
                <a:ea typeface="微软雅黑" panose="020B0503020204020204" pitchFamily="34" charset="-122"/>
                <a:sym typeface="+mn-ea"/>
              </a:rPr>
              <a:t>函数式声明，会进行提前声明和定义</a:t>
            </a:r>
            <a:endParaRPr lang="en-US" altLang="zh-CN" dirty="0" smtClean="0">
              <a:solidFill>
                <a:schemeClr val="bg1"/>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charset="0"/>
              <a:buChar char="l"/>
            </a:pPr>
            <a:r>
              <a:rPr lang="zh-CN" altLang="en-US" dirty="0">
                <a:solidFill>
                  <a:schemeClr val="bg1"/>
                </a:solidFill>
                <a:latin typeface="微软雅黑" panose="020B0503020204020204" pitchFamily="34" charset="-122"/>
                <a:ea typeface="微软雅黑" panose="020B0503020204020204" pitchFamily="34" charset="-122"/>
              </a:rPr>
              <a:t>函数声明的优先级高于变量声明的优先级</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a:xfrm>
            <a:off x="6033044" y="1378400"/>
            <a:ext cx="3760561" cy="2030095"/>
          </a:xfrm>
          <a:prstGeom prst="rect">
            <a:avLst/>
          </a:prstGeom>
        </p:spPr>
        <p:txBody>
          <a:bodyPr wrap="square">
            <a:spAutoFit/>
          </a:bodyPr>
          <a:p>
            <a:r>
              <a:rPr lang="en-US" altLang="zh-CN" dirty="0">
                <a:solidFill>
                  <a:srgbClr val="E06C75"/>
                </a:solidFill>
                <a:latin typeface="Consolas" panose="020B0609020204030204" pitchFamily="49" charset="0"/>
              </a:rPr>
              <a:t>console</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log</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foo</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endParaRPr lang="en-US" altLang="zh-CN" dirty="0">
              <a:solidFill>
                <a:srgbClr val="ABB2BF"/>
              </a:solidFill>
              <a:latin typeface="Consolas" panose="020B0609020204030204" pitchFamily="49" charset="0"/>
            </a:endParaRPr>
          </a:p>
          <a:p>
            <a:r>
              <a:rPr lang="en-US" altLang="zh-CN" dirty="0" err="1" smtClean="0">
                <a:solidFill>
                  <a:srgbClr val="C678DD"/>
                </a:solidFill>
                <a:latin typeface="Consolas" panose="020B0609020204030204" pitchFamily="49" charset="0"/>
                <a:sym typeface="+mn-ea"/>
              </a:rPr>
              <a:t>var</a:t>
            </a:r>
            <a:r>
              <a:rPr lang="en-US" altLang="zh-CN" dirty="0">
                <a:solidFill>
                  <a:srgbClr val="ABB2BF"/>
                </a:solidFill>
                <a:latin typeface="Consolas" panose="020B0609020204030204" pitchFamily="49" charset="0"/>
                <a:sym typeface="+mn-ea"/>
              </a:rPr>
              <a:t> </a:t>
            </a:r>
            <a:r>
              <a:rPr lang="en-US" altLang="zh-CN" dirty="0">
                <a:solidFill>
                  <a:srgbClr val="61AFEF"/>
                </a:solidFill>
                <a:latin typeface="Consolas" panose="020B0609020204030204" pitchFamily="49" charset="0"/>
                <a:sym typeface="+mn-ea"/>
              </a:rPr>
              <a:t>foo</a:t>
            </a:r>
            <a:r>
              <a:rPr lang="en-US" altLang="zh-CN" dirty="0" smtClean="0">
                <a:solidFill>
                  <a:srgbClr val="56B6C2"/>
                </a:solidFill>
                <a:latin typeface="Consolas" panose="020B0609020204030204" pitchFamily="49" charset="0"/>
                <a:sym typeface="+mn-ea"/>
              </a:rPr>
              <a:t>=</a:t>
            </a:r>
            <a:r>
              <a:rPr lang="en-US" altLang="zh-CN" dirty="0" smtClean="0">
                <a:solidFill>
                  <a:srgbClr val="ABB2BF"/>
                </a:solidFill>
                <a:latin typeface="Consolas" panose="020B0609020204030204" pitchFamily="49" charset="0"/>
                <a:sym typeface="+mn-ea"/>
              </a:rPr>
              <a:t> </a:t>
            </a:r>
            <a:r>
              <a:rPr lang="en-US" altLang="zh-CN" dirty="0" smtClean="0">
                <a:solidFill>
                  <a:srgbClr val="98C379"/>
                </a:solidFill>
                <a:latin typeface="Consolas" panose="020B0609020204030204" pitchFamily="49" charset="0"/>
                <a:sym typeface="+mn-ea"/>
              </a:rPr>
              <a:t>'this </a:t>
            </a:r>
            <a:r>
              <a:rPr lang="en-US" altLang="zh-CN" dirty="0">
                <a:solidFill>
                  <a:srgbClr val="98C379"/>
                </a:solidFill>
                <a:latin typeface="Consolas" panose="020B0609020204030204" pitchFamily="49" charset="0"/>
                <a:sym typeface="+mn-ea"/>
              </a:rPr>
              <a:t>is </a:t>
            </a:r>
            <a:r>
              <a:rPr lang="en-US" altLang="zh-CN" dirty="0">
                <a:solidFill>
                  <a:srgbClr val="61AFEF"/>
                </a:solidFill>
                <a:latin typeface="Consolas" panose="020B0609020204030204" pitchFamily="49" charset="0"/>
                <a:sym typeface="+mn-ea"/>
              </a:rPr>
              <a:t>foo</a:t>
            </a:r>
            <a:r>
              <a:rPr lang="en-US" altLang="zh-CN" dirty="0" smtClean="0">
                <a:solidFill>
                  <a:srgbClr val="98C379"/>
                </a:solidFill>
                <a:latin typeface="Consolas" panose="020B0609020204030204" pitchFamily="49" charset="0"/>
                <a:sym typeface="+mn-ea"/>
              </a:rPr>
              <a:t>'</a:t>
            </a:r>
            <a:r>
              <a:rPr lang="en-US" altLang="zh-CN" dirty="0" smtClean="0">
                <a:solidFill>
                  <a:srgbClr val="ABB2BF"/>
                </a:solidFill>
                <a:latin typeface="Consolas" panose="020B0609020204030204" pitchFamily="49" charset="0"/>
                <a:sym typeface="+mn-ea"/>
              </a:rPr>
              <a:t>;</a:t>
            </a:r>
            <a:endParaRPr lang="en-US" altLang="zh-CN" dirty="0">
              <a:solidFill>
                <a:srgbClr val="ABB2BF"/>
              </a:solidFill>
              <a:latin typeface="Consolas" panose="020B0609020204030204" pitchFamily="49" charset="0"/>
            </a:endParaRPr>
          </a:p>
          <a:p>
            <a:br>
              <a:rPr lang="en-US" altLang="zh-CN" dirty="0">
                <a:solidFill>
                  <a:srgbClr val="ABB2BF"/>
                </a:solidFill>
                <a:latin typeface="Consolas" panose="020B0609020204030204" pitchFamily="49" charset="0"/>
              </a:rPr>
            </a:br>
            <a:r>
              <a:rPr lang="en-US" altLang="zh-CN" dirty="0">
                <a:solidFill>
                  <a:srgbClr val="C678DD"/>
                </a:solidFill>
                <a:latin typeface="Consolas" panose="020B0609020204030204" pitchFamily="49" charset="0"/>
              </a:rPr>
              <a:t>function</a:t>
            </a:r>
            <a:r>
              <a:rPr lang="en-US" altLang="zh-CN" dirty="0">
                <a:solidFill>
                  <a:srgbClr val="ABB2BF"/>
                </a:solidFill>
                <a:latin typeface="Consolas" panose="020B0609020204030204" pitchFamily="49" charset="0"/>
              </a:rPr>
              <a:t> </a:t>
            </a:r>
            <a:r>
              <a:rPr lang="en-US" altLang="zh-CN" dirty="0">
                <a:solidFill>
                  <a:srgbClr val="61AFEF"/>
                </a:solidFill>
                <a:latin typeface="Consolas" panose="020B0609020204030204" pitchFamily="49" charset="0"/>
              </a:rPr>
              <a:t>foo</a:t>
            </a:r>
            <a:r>
              <a:rPr lang="en-US" altLang="zh-CN" dirty="0">
                <a:solidFill>
                  <a:srgbClr val="ABB2BF"/>
                </a:solidFill>
                <a:latin typeface="Consolas" panose="020B0609020204030204" pitchFamily="49" charset="0"/>
              </a:rPr>
              <a:t>() </a:t>
            </a:r>
            <a:r>
              <a:rPr lang="en-US" altLang="zh-CN" dirty="0" smtClean="0">
                <a:solidFill>
                  <a:srgbClr val="ABB2BF"/>
                </a:solidFill>
                <a:latin typeface="Consolas" panose="020B0609020204030204" pitchFamily="49" charset="0"/>
              </a:rPr>
              <a:t>{}</a:t>
            </a:r>
            <a:endParaRPr lang="en-US" altLang="zh-CN" dirty="0" smtClean="0">
              <a:solidFill>
                <a:srgbClr val="ABB2BF"/>
              </a:solidFill>
              <a:latin typeface="Consolas" panose="020B0609020204030204" pitchFamily="49" charset="0"/>
            </a:endParaRPr>
          </a:p>
          <a:p>
            <a:endParaRPr lang="en-US" altLang="zh-CN" i="1" dirty="0">
              <a:solidFill>
                <a:srgbClr val="ABB2BF"/>
              </a:solidFill>
              <a:latin typeface="Consolas" panose="020B0609020204030204" pitchFamily="49" charset="0"/>
            </a:endParaRPr>
          </a:p>
          <a:p>
            <a:r>
              <a:rPr lang="en-US" altLang="zh-CN" i="1" dirty="0" smtClean="0">
                <a:solidFill>
                  <a:srgbClr val="7F848E"/>
                </a:solidFill>
                <a:latin typeface="Consolas" panose="020B0609020204030204" pitchFamily="49" charset="0"/>
              </a:rPr>
              <a:t>//</a:t>
            </a:r>
            <a:r>
              <a:rPr lang="en-US" altLang="zh-CN" i="1" dirty="0">
                <a:solidFill>
                  <a:srgbClr val="7F848E"/>
                </a:solidFill>
                <a:latin typeface="Consolas" panose="020B0609020204030204" pitchFamily="49" charset="0"/>
              </a:rPr>
              <a:t> print what</a:t>
            </a:r>
            <a:endParaRPr lang="en-US" altLang="zh-CN" b="0" dirty="0">
              <a:solidFill>
                <a:srgbClr val="ABB2BF"/>
              </a:solidFill>
              <a:effectLst/>
              <a:latin typeface="Consolas" panose="020B0609020204030204" pitchFamily="49"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250" fill="hold"/>
                                        <p:tgtEl>
                                          <p:spTgt spid="6"/>
                                        </p:tgtEl>
                                        <p:attrNameLst>
                                          <p:attrName>ppt_x</p:attrName>
                                        </p:attrNameLst>
                                      </p:cBhvr>
                                      <p:tavLst>
                                        <p:tav tm="0">
                                          <p:val>
                                            <p:strVal val="#ppt_x"/>
                                          </p:val>
                                        </p:tav>
                                        <p:tav tm="100000">
                                          <p:val>
                                            <p:strVal val="#ppt_x"/>
                                          </p:val>
                                        </p:tav>
                                      </p:tavLst>
                                    </p:anim>
                                    <p:anim calcmode="lin" valueType="num">
                                      <p:cBhvr additive="base">
                                        <p:cTn id="8" dur="25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作用域 </a:t>
            </a:r>
            <a:r>
              <a:rPr lang="en-US" altLang="zh-CN" dirty="0" smtClean="0"/>
              <a:t>– </a:t>
            </a:r>
            <a:r>
              <a:rPr lang="zh-CN" altLang="en-US" dirty="0" smtClean="0"/>
              <a:t>变量提升</a:t>
            </a:r>
            <a:endParaRPr lang="zh-CN" altLang="en-US" dirty="0"/>
          </a:p>
        </p:txBody>
      </p:sp>
      <p:sp>
        <p:nvSpPr>
          <p:cNvPr id="4" name="灯片编号占位符 3"/>
          <p:cNvSpPr>
            <a:spLocks noGrp="1"/>
          </p:cNvSpPr>
          <p:nvPr>
            <p:ph type="sldNum" sz="quarter" idx="12"/>
          </p:nvPr>
        </p:nvSpPr>
        <p:spPr>
          <a:xfrm>
            <a:off x="5381625" y="6359611"/>
            <a:ext cx="1200150" cy="238126"/>
          </a:xfrm>
        </p:spPr>
        <p:txBody>
          <a:bodyPr/>
          <a:lstStyle/>
          <a:p>
            <a:fld id="{AE15D405-B2DF-4EC3-AD91-92680604D88F}" type="slidenum">
              <a:rPr lang="zh-CN" altLang="en-US" smtClean="0"/>
            </a:fld>
            <a:endParaRPr lang="zh-CN" altLang="en-US" dirty="0"/>
          </a:p>
        </p:txBody>
      </p:sp>
      <p:sp>
        <p:nvSpPr>
          <p:cNvPr id="8" name="内容占位符 2"/>
          <p:cNvSpPr>
            <a:spLocks noGrp="1"/>
          </p:cNvSpPr>
          <p:nvPr>
            <p:ph idx="1"/>
          </p:nvPr>
        </p:nvSpPr>
        <p:spPr>
          <a:xfrm>
            <a:off x="557439" y="1130299"/>
            <a:ext cx="11161486" cy="5165725"/>
          </a:xfrm>
        </p:spPr>
        <p:txBody>
          <a:bodyPr/>
          <a:lstStyle/>
          <a:p>
            <a:r>
              <a:rPr lang="zh-CN" altLang="en-US" dirty="0" smtClean="0"/>
              <a:t>打印结果依次是？</a:t>
            </a:r>
            <a:endParaRPr lang="en-US" altLang="zh-CN" dirty="0" smtClean="0"/>
          </a:p>
        </p:txBody>
      </p:sp>
      <p:sp>
        <p:nvSpPr>
          <p:cNvPr id="3" name="矩形 2"/>
          <p:cNvSpPr/>
          <p:nvPr/>
        </p:nvSpPr>
        <p:spPr>
          <a:xfrm>
            <a:off x="557439" y="1848318"/>
            <a:ext cx="3485172" cy="3969385"/>
          </a:xfrm>
          <a:prstGeom prst="rect">
            <a:avLst/>
          </a:prstGeom>
        </p:spPr>
        <p:txBody>
          <a:bodyPr wrap="square">
            <a:spAutoFit/>
          </a:bodyPr>
          <a:lstStyle/>
          <a:p>
            <a:r>
              <a:rPr lang="en-US" altLang="zh-CN" dirty="0">
                <a:solidFill>
                  <a:srgbClr val="E06C75"/>
                </a:solidFill>
                <a:latin typeface="Consolas" panose="020B0609020204030204" pitchFamily="49" charset="0"/>
              </a:rPr>
              <a:t>console</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log</a:t>
            </a:r>
            <a:r>
              <a:rPr lang="en-US" altLang="zh-CN" dirty="0">
                <a:solidFill>
                  <a:srgbClr val="ABB2BF"/>
                </a:solidFill>
                <a:latin typeface="Consolas" panose="020B0609020204030204" pitchFamily="49" charset="0"/>
              </a:rPr>
              <a:t>(</a:t>
            </a:r>
            <a:r>
              <a:rPr lang="en-US" altLang="zh-CN" dirty="0">
                <a:solidFill>
                  <a:srgbClr val="E06C75"/>
                </a:solidFill>
                <a:latin typeface="Consolas" panose="020B0609020204030204" pitchFamily="49" charset="0"/>
              </a:rPr>
              <a:t>a</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br>
              <a:rPr lang="en-US" altLang="zh-CN" dirty="0">
                <a:solidFill>
                  <a:srgbClr val="ABB2BF"/>
                </a:solidFill>
                <a:latin typeface="Consolas" panose="020B0609020204030204" pitchFamily="49" charset="0"/>
              </a:rPr>
            </a:br>
            <a:r>
              <a:rPr lang="en-US" altLang="zh-CN" dirty="0" err="1">
                <a:solidFill>
                  <a:srgbClr val="C678DD"/>
                </a:solidFill>
                <a:latin typeface="Consolas" panose="020B0609020204030204" pitchFamily="49" charset="0"/>
              </a:rPr>
              <a:t>var</a:t>
            </a:r>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a</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0</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br>
              <a:rPr lang="en-US" altLang="zh-CN" dirty="0">
                <a:solidFill>
                  <a:srgbClr val="ABB2BF"/>
                </a:solidFill>
                <a:latin typeface="Consolas" panose="020B0609020204030204" pitchFamily="49" charset="0"/>
              </a:rPr>
            </a:br>
            <a:r>
              <a:rPr lang="en-US" altLang="zh-CN" dirty="0">
                <a:solidFill>
                  <a:srgbClr val="C678DD"/>
                </a:solidFill>
                <a:latin typeface="Consolas" panose="020B0609020204030204" pitchFamily="49" charset="0"/>
              </a:rPr>
              <a:t>if</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true</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console</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log</a:t>
            </a:r>
            <a:r>
              <a:rPr lang="en-US" altLang="zh-CN" dirty="0">
                <a:solidFill>
                  <a:srgbClr val="ABB2BF"/>
                </a:solidFill>
                <a:latin typeface="Consolas" panose="020B0609020204030204" pitchFamily="49" charset="0"/>
              </a:rPr>
              <a:t>(</a:t>
            </a:r>
            <a:r>
              <a:rPr lang="en-US" altLang="zh-CN" dirty="0">
                <a:solidFill>
                  <a:srgbClr val="E06C75"/>
                </a:solidFill>
                <a:latin typeface="Consolas" panose="020B0609020204030204" pitchFamily="49" charset="0"/>
              </a:rPr>
              <a:t>a</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a</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1</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console</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log</a:t>
            </a:r>
            <a:r>
              <a:rPr lang="en-US" altLang="zh-CN" dirty="0">
                <a:solidFill>
                  <a:srgbClr val="ABB2BF"/>
                </a:solidFill>
                <a:latin typeface="Consolas" panose="020B0609020204030204" pitchFamily="49" charset="0"/>
              </a:rPr>
              <a:t>(</a:t>
            </a:r>
            <a:r>
              <a:rPr lang="en-US" altLang="zh-CN" dirty="0">
                <a:solidFill>
                  <a:srgbClr val="E06C75"/>
                </a:solidFill>
                <a:latin typeface="Consolas" panose="020B0609020204030204" pitchFamily="49" charset="0"/>
              </a:rPr>
              <a:t>a</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a:solidFill>
                  <a:srgbClr val="C678DD"/>
                </a:solidFill>
                <a:latin typeface="Consolas" panose="020B0609020204030204" pitchFamily="49" charset="0"/>
              </a:rPr>
              <a:t>function</a:t>
            </a:r>
            <a:r>
              <a:rPr lang="en-US" altLang="zh-CN" dirty="0">
                <a:solidFill>
                  <a:srgbClr val="ABB2BF"/>
                </a:solidFill>
                <a:latin typeface="Consolas" panose="020B0609020204030204" pitchFamily="49" charset="0"/>
              </a:rPr>
              <a:t> </a:t>
            </a:r>
            <a:r>
              <a:rPr lang="en-US" altLang="zh-CN" dirty="0">
                <a:solidFill>
                  <a:srgbClr val="61AFEF"/>
                </a:solidFill>
                <a:latin typeface="Consolas" panose="020B0609020204030204" pitchFamily="49" charset="0"/>
              </a:rPr>
              <a:t>a</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a</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21</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console</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log</a:t>
            </a:r>
            <a:r>
              <a:rPr lang="en-US" altLang="zh-CN" dirty="0">
                <a:solidFill>
                  <a:srgbClr val="ABB2BF"/>
                </a:solidFill>
                <a:latin typeface="Consolas" panose="020B0609020204030204" pitchFamily="49" charset="0"/>
              </a:rPr>
              <a:t>(</a:t>
            </a:r>
            <a:r>
              <a:rPr lang="en-US" altLang="zh-CN" dirty="0">
                <a:solidFill>
                  <a:srgbClr val="E06C75"/>
                </a:solidFill>
                <a:latin typeface="Consolas" panose="020B0609020204030204" pitchFamily="49" charset="0"/>
              </a:rPr>
              <a:t>a</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br>
              <a:rPr lang="en-US" altLang="zh-CN" dirty="0">
                <a:solidFill>
                  <a:srgbClr val="ABB2BF"/>
                </a:solidFill>
                <a:latin typeface="Consolas" panose="020B0609020204030204" pitchFamily="49" charset="0"/>
              </a:rPr>
            </a:br>
            <a:r>
              <a:rPr lang="en-US" altLang="zh-CN" dirty="0">
                <a:solidFill>
                  <a:srgbClr val="E06C75"/>
                </a:solidFill>
                <a:latin typeface="Consolas" panose="020B0609020204030204" pitchFamily="49" charset="0"/>
              </a:rPr>
              <a:t>console</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log</a:t>
            </a:r>
            <a:r>
              <a:rPr lang="en-US" altLang="zh-CN" dirty="0">
                <a:solidFill>
                  <a:srgbClr val="ABB2BF"/>
                </a:solidFill>
                <a:latin typeface="Consolas" panose="020B0609020204030204" pitchFamily="49" charset="0"/>
              </a:rPr>
              <a:t>(</a:t>
            </a:r>
            <a:r>
              <a:rPr lang="en-US" altLang="zh-CN" dirty="0">
                <a:solidFill>
                  <a:srgbClr val="E06C75"/>
                </a:solidFill>
                <a:latin typeface="Consolas" panose="020B0609020204030204" pitchFamily="49" charset="0"/>
              </a:rPr>
              <a:t>a</a:t>
            </a:r>
            <a:r>
              <a:rPr lang="en-US" altLang="zh-CN" dirty="0">
                <a:solidFill>
                  <a:srgbClr val="ABB2BF"/>
                </a:solidFill>
                <a:latin typeface="Consolas" panose="020B0609020204030204" pitchFamily="49" charset="0"/>
              </a:rPr>
              <a:t>);</a:t>
            </a:r>
            <a:endParaRPr lang="en-US" altLang="zh-CN" b="0" dirty="0">
              <a:solidFill>
                <a:srgbClr val="ABB2BF"/>
              </a:solidFill>
              <a:effectLst/>
              <a:latin typeface="Consolas" panose="020B0609020204030204" pitchFamily="49" charset="0"/>
            </a:endParaRPr>
          </a:p>
        </p:txBody>
      </p:sp>
      <p:sp>
        <p:nvSpPr>
          <p:cNvPr id="6" name="矩形 5"/>
          <p:cNvSpPr/>
          <p:nvPr/>
        </p:nvSpPr>
        <p:spPr>
          <a:xfrm>
            <a:off x="4077335" y="2809240"/>
            <a:ext cx="5493385" cy="599440"/>
          </a:xfrm>
          <a:prstGeom prst="rect">
            <a:avLst/>
          </a:prstGeom>
          <a:solidFill>
            <a:srgbClr val="0283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dirty="0" smtClean="0">
                <a:latin typeface="微软雅黑" panose="020B0503020204020204" pitchFamily="34" charset="-122"/>
                <a:ea typeface="微软雅黑" panose="020B0503020204020204" pitchFamily="34" charset="-122"/>
                <a:cs typeface="微软雅黑" panose="020B0503020204020204" pitchFamily="34" charset="-122"/>
              </a:rPr>
              <a:t>结果依次：</a:t>
            </a:r>
            <a:r>
              <a:rPr lang="en-US" altLang="zh-CN" dirty="0" smtClean="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undefined, function a(){}, 1, 21, 1</a:t>
            </a:r>
            <a:endParaRPr lang="en-US" altLang="zh-CN"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0" name="组合 9"/>
          <p:cNvGrpSpPr/>
          <p:nvPr/>
        </p:nvGrpSpPr>
        <p:grpSpPr>
          <a:xfrm>
            <a:off x="2821940" y="3930015"/>
            <a:ext cx="6748780" cy="599440"/>
            <a:chOff x="4444" y="6174"/>
            <a:chExt cx="10628" cy="944"/>
          </a:xfrm>
        </p:grpSpPr>
        <p:sp>
          <p:nvSpPr>
            <p:cNvPr id="5" name="矩形 4"/>
            <p:cNvSpPr/>
            <p:nvPr/>
          </p:nvSpPr>
          <p:spPr>
            <a:xfrm>
              <a:off x="4810" y="6174"/>
              <a:ext cx="10262" cy="944"/>
            </a:xfrm>
            <a:prstGeom prst="rect">
              <a:avLst/>
            </a:prstGeom>
            <a:solidFill>
              <a:srgbClr val="0283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latin typeface="微软雅黑" panose="020B0503020204020204" pitchFamily="34" charset="-122"/>
                  <a:ea typeface="微软雅黑" panose="020B0503020204020204" pitchFamily="34" charset="-122"/>
                </a:rPr>
                <a:t>为了兼容</a:t>
              </a:r>
              <a:r>
                <a:rPr lang="en-US" altLang="zh-CN" dirty="0">
                  <a:latin typeface="微软雅黑" panose="020B0503020204020204" pitchFamily="34" charset="-122"/>
                  <a:ea typeface="微软雅黑" panose="020B0503020204020204" pitchFamily="34" charset="-122"/>
                </a:rPr>
                <a:t>ES3</a:t>
              </a:r>
              <a:r>
                <a:rPr lang="zh-CN" altLang="en-US" dirty="0">
                  <a:latin typeface="微软雅黑" panose="020B0503020204020204" pitchFamily="34" charset="-122"/>
                  <a:ea typeface="微软雅黑" panose="020B0503020204020204" pitchFamily="34" charset="-122"/>
                </a:rPr>
                <a:t>，把该行之前所有对</a:t>
              </a:r>
              <a:r>
                <a:rPr lang="en-US" altLang="zh-CN" dirty="0">
                  <a:latin typeface="微软雅黑" panose="020B0503020204020204" pitchFamily="34" charset="-122"/>
                  <a:ea typeface="微软雅黑" panose="020B0503020204020204" pitchFamily="34" charset="-122"/>
                </a:rPr>
                <a:t>a</a:t>
              </a:r>
              <a:r>
                <a:rPr lang="zh-CN" altLang="en-US" dirty="0">
                  <a:latin typeface="微软雅黑" panose="020B0503020204020204" pitchFamily="34" charset="-122"/>
                  <a:ea typeface="微软雅黑" panose="020B0503020204020204" pitchFamily="34" charset="-122"/>
                </a:rPr>
                <a:t>的修改，映射到全局变量上</a:t>
              </a:r>
              <a:endParaRPr lang="zh-CN" altLang="en-US" dirty="0">
                <a:latin typeface="微软雅黑" panose="020B0503020204020204" pitchFamily="34" charset="-122"/>
                <a:ea typeface="微软雅黑" panose="020B0503020204020204" pitchFamily="34" charset="-122"/>
              </a:endParaRPr>
            </a:p>
          </p:txBody>
        </p:sp>
        <p:sp>
          <p:nvSpPr>
            <p:cNvPr id="9" name="等腰三角形 8"/>
            <p:cNvSpPr/>
            <p:nvPr/>
          </p:nvSpPr>
          <p:spPr>
            <a:xfrm rot="16200000">
              <a:off x="4423" y="6457"/>
              <a:ext cx="421" cy="379"/>
            </a:xfrm>
            <a:prstGeom prst="triangle">
              <a:avLst/>
            </a:prstGeom>
            <a:solidFill>
              <a:srgbClr val="0283CA"/>
            </a:solid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250" fill="hold"/>
                                        <p:tgtEl>
                                          <p:spTgt spid="6"/>
                                        </p:tgtEl>
                                        <p:attrNameLst>
                                          <p:attrName>ppt_x</p:attrName>
                                        </p:attrNameLst>
                                      </p:cBhvr>
                                      <p:tavLst>
                                        <p:tav tm="0">
                                          <p:val>
                                            <p:strVal val="1+#ppt_w/2"/>
                                          </p:val>
                                        </p:tav>
                                        <p:tav tm="100000">
                                          <p:val>
                                            <p:strVal val="#ppt_x"/>
                                          </p:val>
                                        </p:tav>
                                      </p:tavLst>
                                    </p:anim>
                                    <p:anim calcmode="lin" valueType="num">
                                      <p:cBhvr additive="base">
                                        <p:cTn id="8" dur="25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250" fill="hold">
                                          <p:stCondLst>
                                            <p:cond delay="0"/>
                                          </p:stCondLst>
                                        </p:cTn>
                                        <p:tgtEl>
                                          <p:spTgt spid="10"/>
                                        </p:tgtEl>
                                        <p:attrNameLst>
                                          <p:attrName>style.visibility</p:attrName>
                                        </p:attrNameLst>
                                      </p:cBhvr>
                                      <p:to>
                                        <p:strVal val="visible"/>
                                      </p:to>
                                    </p:set>
                                    <p:anim calcmode="lin" valueType="num">
                                      <p:cBhvr additive="base">
                                        <p:cTn id="13" dur="250" fill="hold"/>
                                        <p:tgtEl>
                                          <p:spTgt spid="10"/>
                                        </p:tgtEl>
                                        <p:attrNameLst>
                                          <p:attrName>ppt_x</p:attrName>
                                        </p:attrNameLst>
                                      </p:cBhvr>
                                      <p:tavLst>
                                        <p:tav tm="0">
                                          <p:val>
                                            <p:strVal val="1+#ppt_w/2"/>
                                          </p:val>
                                        </p:tav>
                                        <p:tav tm="100000">
                                          <p:val>
                                            <p:strVal val="#ppt_x"/>
                                          </p:val>
                                        </p:tav>
                                      </p:tavLst>
                                    </p:anim>
                                    <p:anim calcmode="lin" valueType="num">
                                      <p:cBhvr additive="base">
                                        <p:cTn id="14" dur="25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作用域 </a:t>
            </a:r>
            <a:r>
              <a:rPr lang="en-US" altLang="zh-CN" dirty="0" smtClean="0"/>
              <a:t>– </a:t>
            </a:r>
            <a:r>
              <a:rPr lang="zh-CN" altLang="en-US" dirty="0" smtClean="0"/>
              <a:t>执行上下文</a:t>
            </a:r>
            <a:endParaRPr lang="zh-CN" altLang="en-US" dirty="0"/>
          </a:p>
        </p:txBody>
      </p:sp>
      <p:sp>
        <p:nvSpPr>
          <p:cNvPr id="3" name="内容占位符 2"/>
          <p:cNvSpPr>
            <a:spLocks noGrp="1"/>
          </p:cNvSpPr>
          <p:nvPr>
            <p:ph idx="1"/>
          </p:nvPr>
        </p:nvSpPr>
        <p:spPr/>
        <p:txBody>
          <a:bodyPr/>
          <a:lstStyle/>
          <a:p>
            <a:r>
              <a:rPr lang="zh-CN" altLang="en-US" dirty="0" smtClean="0"/>
              <a:t>当前代码的运行环境</a:t>
            </a:r>
            <a:endParaRPr lang="zh-CN" altLang="en-US" dirty="0" smtClean="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
        <p:nvSpPr>
          <p:cNvPr id="5" name="文本框 4"/>
          <p:cNvSpPr txBox="1"/>
          <p:nvPr/>
        </p:nvSpPr>
        <p:spPr>
          <a:xfrm>
            <a:off x="867410" y="2036445"/>
            <a:ext cx="2767965" cy="3822065"/>
          </a:xfrm>
          <a:prstGeom prst="rect">
            <a:avLst/>
          </a:prstGeom>
          <a:noFill/>
        </p:spPr>
        <p:txBody>
          <a:bodyPr wrap="none" rtlCol="0">
            <a:noAutofit/>
          </a:bodyPr>
          <a:lstStyle/>
          <a:p>
            <a:pPr>
              <a:lnSpc>
                <a:spcPts val="3000"/>
              </a:lnSpc>
            </a:pPr>
            <a:r>
              <a:rPr lang="zh-CN" altLang="en-US" sz="2400" dirty="0" smtClean="0">
                <a:solidFill>
                  <a:schemeClr val="bg1"/>
                </a:solidFill>
                <a:latin typeface="微软雅黑" panose="020B0503020204020204" pitchFamily="34" charset="-122"/>
                <a:ea typeface="微软雅黑" panose="020B0503020204020204" pitchFamily="34" charset="-122"/>
              </a:rPr>
              <a:t>分类</a:t>
            </a:r>
            <a:endParaRPr lang="en-US" altLang="zh-CN" sz="2800" b="1" dirty="0" smtClean="0">
              <a:solidFill>
                <a:schemeClr val="bg1"/>
              </a:solidFill>
              <a:latin typeface="微软雅黑" panose="020B0503020204020204" pitchFamily="34" charset="-122"/>
              <a:ea typeface="微软雅黑" panose="020B0503020204020204" pitchFamily="34" charset="-122"/>
            </a:endParaRPr>
          </a:p>
          <a:p>
            <a:pPr marL="285750" indent="-285750">
              <a:lnSpc>
                <a:spcPts val="3000"/>
              </a:lnSpc>
              <a:buFont typeface="Wingdings" panose="05000000000000000000" charset="0"/>
              <a:buChar char="l"/>
            </a:pPr>
            <a:r>
              <a:rPr lang="zh-CN" altLang="en-US" dirty="0" smtClean="0">
                <a:solidFill>
                  <a:schemeClr val="bg1"/>
                </a:solidFill>
                <a:latin typeface="微软雅黑" panose="020B0503020204020204" pitchFamily="34" charset="-122"/>
                <a:ea typeface="微软雅黑" panose="020B0503020204020204" pitchFamily="34" charset="-122"/>
              </a:rPr>
              <a:t>全局执行上下文</a:t>
            </a:r>
            <a:endParaRPr lang="en-US" altLang="zh-CN" dirty="0" smtClean="0">
              <a:solidFill>
                <a:schemeClr val="bg1"/>
              </a:solidFill>
              <a:latin typeface="微软雅黑" panose="020B0503020204020204" pitchFamily="34" charset="-122"/>
              <a:ea typeface="微软雅黑" panose="020B0503020204020204" pitchFamily="34" charset="-122"/>
            </a:endParaRPr>
          </a:p>
          <a:p>
            <a:pPr marL="285750" indent="-285750">
              <a:lnSpc>
                <a:spcPts val="3000"/>
              </a:lnSpc>
              <a:buFont typeface="Wingdings" panose="05000000000000000000" charset="0"/>
              <a:buChar char="l"/>
            </a:pPr>
            <a:r>
              <a:rPr lang="zh-CN" altLang="en-US" dirty="0" smtClean="0">
                <a:solidFill>
                  <a:schemeClr val="bg1"/>
                </a:solidFill>
                <a:latin typeface="微软雅黑" panose="020B0503020204020204" pitchFamily="34" charset="-122"/>
                <a:ea typeface="微软雅黑" panose="020B0503020204020204" pitchFamily="34" charset="-122"/>
              </a:rPr>
              <a:t>函数</a:t>
            </a:r>
            <a:r>
              <a:rPr lang="zh-CN" altLang="en-US" dirty="0">
                <a:solidFill>
                  <a:schemeClr val="bg1"/>
                </a:solidFill>
                <a:latin typeface="微软雅黑" panose="020B0503020204020204" pitchFamily="34" charset="-122"/>
                <a:ea typeface="微软雅黑" panose="020B0503020204020204" pitchFamily="34" charset="-122"/>
              </a:rPr>
              <a:t>执行</a:t>
            </a:r>
            <a:r>
              <a:rPr lang="zh-CN" altLang="en-US" dirty="0" smtClean="0">
                <a:solidFill>
                  <a:schemeClr val="bg1"/>
                </a:solidFill>
                <a:latin typeface="微软雅黑" panose="020B0503020204020204" pitchFamily="34" charset="-122"/>
                <a:ea typeface="微软雅黑" panose="020B0503020204020204" pitchFamily="34" charset="-122"/>
              </a:rPr>
              <a:t>上下文</a:t>
            </a:r>
            <a:endParaRPr lang="en-US" altLang="zh-CN" dirty="0" smtClean="0">
              <a:solidFill>
                <a:schemeClr val="bg1"/>
              </a:solidFill>
              <a:latin typeface="微软雅黑" panose="020B0503020204020204" pitchFamily="34" charset="-122"/>
              <a:ea typeface="微软雅黑" panose="020B0503020204020204" pitchFamily="34" charset="-122"/>
            </a:endParaRPr>
          </a:p>
          <a:p>
            <a:pPr marL="285750" indent="-285750">
              <a:lnSpc>
                <a:spcPts val="3000"/>
              </a:lnSpc>
              <a:buFont typeface="Wingdings" panose="05000000000000000000" charset="0"/>
              <a:buChar char="l"/>
            </a:pPr>
            <a:r>
              <a:rPr lang="en-US" altLang="zh-CN" dirty="0" err="1" smtClean="0">
                <a:solidFill>
                  <a:schemeClr val="bg1"/>
                </a:solidFill>
                <a:latin typeface="微软雅黑" panose="020B0503020204020204" pitchFamily="34" charset="-122"/>
                <a:ea typeface="微软雅黑" panose="020B0503020204020204" pitchFamily="34" charset="-122"/>
              </a:rPr>
              <a:t>eval</a:t>
            </a:r>
            <a:r>
              <a:rPr lang="zh-CN" altLang="en-US" dirty="0">
                <a:solidFill>
                  <a:schemeClr val="bg1"/>
                </a:solidFill>
                <a:latin typeface="微软雅黑" panose="020B0503020204020204" pitchFamily="34" charset="-122"/>
                <a:ea typeface="微软雅黑" panose="020B0503020204020204" pitchFamily="34" charset="-122"/>
              </a:rPr>
              <a:t>执行上下文</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23" name="文本框 22"/>
          <p:cNvSpPr txBox="1"/>
          <p:nvPr/>
        </p:nvSpPr>
        <p:spPr>
          <a:xfrm>
            <a:off x="6092825" y="2036445"/>
            <a:ext cx="4583430" cy="3822065"/>
          </a:xfrm>
          <a:prstGeom prst="rect">
            <a:avLst/>
          </a:prstGeom>
          <a:noFill/>
        </p:spPr>
        <p:txBody>
          <a:bodyPr wrap="none" rtlCol="0">
            <a:noAutofit/>
          </a:bodyPr>
          <a:lstStyle/>
          <a:p>
            <a:pPr>
              <a:lnSpc>
                <a:spcPts val="3000"/>
              </a:lnSpc>
            </a:pPr>
            <a:r>
              <a:rPr lang="zh-CN" altLang="en-US" sz="2400" dirty="0" smtClean="0">
                <a:solidFill>
                  <a:schemeClr val="bg1"/>
                </a:solidFill>
                <a:latin typeface="微软雅黑" panose="020B0503020204020204" pitchFamily="34" charset="-122"/>
                <a:ea typeface="微软雅黑" panose="020B0503020204020204" pitchFamily="34" charset="-122"/>
              </a:rPr>
              <a:t>特点</a:t>
            </a:r>
            <a:endParaRPr lang="en-US" altLang="zh-CN" sz="2800" b="1" dirty="0" smtClean="0">
              <a:solidFill>
                <a:schemeClr val="bg1"/>
              </a:solidFill>
              <a:latin typeface="微软雅黑" panose="020B0503020204020204" pitchFamily="34" charset="-122"/>
              <a:ea typeface="微软雅黑" panose="020B0503020204020204" pitchFamily="34" charset="-122"/>
            </a:endParaRPr>
          </a:p>
          <a:p>
            <a:pPr marL="285750" indent="-285750">
              <a:lnSpc>
                <a:spcPts val="3000"/>
              </a:lnSpc>
              <a:buFont typeface="Wingdings" panose="05000000000000000000" charset="0"/>
              <a:buChar char="n"/>
            </a:pPr>
            <a:r>
              <a:rPr lang="zh-CN" altLang="en-US" dirty="0">
                <a:solidFill>
                  <a:schemeClr val="bg1"/>
                </a:solidFill>
                <a:latin typeface="微软雅黑" panose="020B0503020204020204" pitchFamily="34" charset="-122"/>
                <a:ea typeface="微软雅黑" panose="020B0503020204020204" pitchFamily="34" charset="-122"/>
              </a:rPr>
              <a:t>单线程，在主线程上</a:t>
            </a:r>
            <a:r>
              <a:rPr lang="zh-CN" altLang="en-US" dirty="0" smtClean="0">
                <a:solidFill>
                  <a:schemeClr val="bg1"/>
                </a:solidFill>
                <a:latin typeface="微软雅黑" panose="020B0503020204020204" pitchFamily="34" charset="-122"/>
                <a:ea typeface="微软雅黑" panose="020B0503020204020204" pitchFamily="34" charset="-122"/>
              </a:rPr>
              <a:t>运行</a:t>
            </a:r>
            <a:endParaRPr lang="en-US" altLang="zh-CN" dirty="0" smtClean="0">
              <a:solidFill>
                <a:schemeClr val="bg1"/>
              </a:solidFill>
              <a:latin typeface="微软雅黑" panose="020B0503020204020204" pitchFamily="34" charset="-122"/>
              <a:ea typeface="微软雅黑" panose="020B0503020204020204" pitchFamily="34" charset="-122"/>
            </a:endParaRPr>
          </a:p>
          <a:p>
            <a:pPr marL="285750" indent="-285750">
              <a:lnSpc>
                <a:spcPts val="3000"/>
              </a:lnSpc>
              <a:buFont typeface="Wingdings" panose="05000000000000000000" charset="0"/>
              <a:buChar char="n"/>
            </a:pPr>
            <a:r>
              <a:rPr lang="zh-CN" altLang="en-US" dirty="0">
                <a:solidFill>
                  <a:schemeClr val="bg1"/>
                </a:solidFill>
                <a:latin typeface="微软雅黑" panose="020B0503020204020204" pitchFamily="34" charset="-122"/>
                <a:ea typeface="微软雅黑" panose="020B0503020204020204" pitchFamily="34" charset="-122"/>
              </a:rPr>
              <a:t>同步执行，从上往下</a:t>
            </a:r>
            <a:endParaRPr lang="zh-CN" altLang="en-US" dirty="0">
              <a:solidFill>
                <a:schemeClr val="bg1"/>
              </a:solidFill>
              <a:latin typeface="微软雅黑" panose="020B0503020204020204" pitchFamily="34" charset="-122"/>
              <a:ea typeface="微软雅黑" panose="020B0503020204020204" pitchFamily="34" charset="-122"/>
            </a:endParaRPr>
          </a:p>
          <a:p>
            <a:pPr marL="285750" indent="-285750">
              <a:lnSpc>
                <a:spcPts val="3000"/>
              </a:lnSpc>
              <a:buFont typeface="Wingdings" panose="05000000000000000000" charset="0"/>
              <a:buChar char="n"/>
            </a:pPr>
            <a:r>
              <a:rPr lang="zh-CN" altLang="en-US" dirty="0">
                <a:solidFill>
                  <a:schemeClr val="bg1"/>
                </a:solidFill>
                <a:latin typeface="微软雅黑" panose="020B0503020204020204" pitchFamily="34" charset="-122"/>
                <a:ea typeface="微软雅黑" panose="020B0503020204020204" pitchFamily="34" charset="-122"/>
              </a:rPr>
              <a:t>全局上下文只有一</a:t>
            </a:r>
            <a:r>
              <a:rPr lang="zh-CN" altLang="en-US" dirty="0" smtClean="0">
                <a:solidFill>
                  <a:schemeClr val="bg1"/>
                </a:solidFill>
                <a:latin typeface="微软雅黑" panose="020B0503020204020204" pitchFamily="34" charset="-122"/>
                <a:ea typeface="微软雅黑" panose="020B0503020204020204" pitchFamily="34" charset="-122"/>
              </a:rPr>
              <a:t>个</a:t>
            </a:r>
            <a:endParaRPr lang="en-US" altLang="zh-CN" dirty="0" smtClean="0">
              <a:solidFill>
                <a:schemeClr val="bg1"/>
              </a:solidFill>
              <a:latin typeface="微软雅黑" panose="020B0503020204020204" pitchFamily="34" charset="-122"/>
              <a:ea typeface="微软雅黑" panose="020B0503020204020204" pitchFamily="34" charset="-122"/>
            </a:endParaRPr>
          </a:p>
          <a:p>
            <a:pPr marL="285750" indent="-285750">
              <a:lnSpc>
                <a:spcPts val="3000"/>
              </a:lnSpc>
              <a:buFont typeface="Wingdings" panose="05000000000000000000" charset="0"/>
              <a:buChar char="n"/>
            </a:pPr>
            <a:r>
              <a:rPr lang="zh-CN" altLang="en-US" dirty="0" smtClean="0">
                <a:solidFill>
                  <a:schemeClr val="bg1"/>
                </a:solidFill>
                <a:latin typeface="微软雅黑" panose="020B0503020204020204" pitchFamily="34" charset="-122"/>
                <a:ea typeface="微软雅黑" panose="020B0503020204020204" pitchFamily="34" charset="-122"/>
              </a:rPr>
              <a:t>函数</a:t>
            </a:r>
            <a:r>
              <a:rPr lang="zh-CN" altLang="en-US" dirty="0">
                <a:solidFill>
                  <a:schemeClr val="bg1"/>
                </a:solidFill>
                <a:latin typeface="微软雅黑" panose="020B0503020204020204" pitchFamily="34" charset="-122"/>
                <a:ea typeface="微软雅黑" panose="020B0503020204020204" pitchFamily="34" charset="-122"/>
              </a:rPr>
              <a:t>调用一次，产生一个新的执行</a:t>
            </a:r>
            <a:r>
              <a:rPr lang="zh-CN" altLang="en-US" dirty="0" smtClean="0">
                <a:solidFill>
                  <a:schemeClr val="bg1"/>
                </a:solidFill>
                <a:latin typeface="微软雅黑" panose="020B0503020204020204" pitchFamily="34" charset="-122"/>
                <a:ea typeface="微软雅黑" panose="020B0503020204020204" pitchFamily="34" charset="-122"/>
              </a:rPr>
              <a:t>上下文</a:t>
            </a:r>
            <a:endParaRPr lang="en-US" altLang="zh-CN" dirty="0" smtClean="0">
              <a:solidFill>
                <a:schemeClr val="bg1"/>
              </a:solidFill>
              <a:latin typeface="微软雅黑" panose="020B0503020204020204" pitchFamily="34" charset="-122"/>
              <a:ea typeface="微软雅黑" panose="020B0503020204020204" pitchFamily="34" charset="-122"/>
            </a:endParaRPr>
          </a:p>
          <a:p>
            <a:pPr marL="285750" indent="-285750">
              <a:lnSpc>
                <a:spcPts val="3000"/>
              </a:lnSpc>
              <a:buFont typeface="Wingdings" panose="05000000000000000000" charset="0"/>
              <a:buChar char="n"/>
            </a:pPr>
            <a:r>
              <a:rPr lang="zh-CN" altLang="en-US" dirty="0" smtClean="0">
                <a:solidFill>
                  <a:schemeClr val="bg1"/>
                </a:solidFill>
                <a:latin typeface="微软雅黑" panose="020B0503020204020204" pitchFamily="34" charset="-122"/>
                <a:ea typeface="微软雅黑" panose="020B0503020204020204" pitchFamily="34" charset="-122"/>
              </a:rPr>
              <a:t>函数</a:t>
            </a:r>
            <a:r>
              <a:rPr lang="zh-CN" altLang="en-US" dirty="0">
                <a:solidFill>
                  <a:schemeClr val="bg1"/>
                </a:solidFill>
                <a:latin typeface="微软雅黑" panose="020B0503020204020204" pitchFamily="34" charset="-122"/>
                <a:ea typeface="微软雅黑" panose="020B0503020204020204" pitchFamily="34" charset="-122"/>
              </a:rPr>
              <a:t>执行上下文没有数目</a:t>
            </a:r>
            <a:r>
              <a:rPr lang="zh-CN" altLang="en-US" dirty="0" smtClean="0">
                <a:solidFill>
                  <a:schemeClr val="bg1"/>
                </a:solidFill>
                <a:latin typeface="微软雅黑" panose="020B0503020204020204" pitchFamily="34" charset="-122"/>
                <a:ea typeface="微软雅黑" panose="020B0503020204020204" pitchFamily="34" charset="-122"/>
              </a:rPr>
              <a:t>限制</a:t>
            </a:r>
            <a:endParaRPr lang="zh-CN" altLang="en-US"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250" fill="hold"/>
                                        <p:tgtEl>
                                          <p:spTgt spid="5"/>
                                        </p:tgtEl>
                                        <p:attrNameLst>
                                          <p:attrName>ppt_x</p:attrName>
                                        </p:attrNameLst>
                                      </p:cBhvr>
                                      <p:tavLst>
                                        <p:tav tm="0">
                                          <p:val>
                                            <p:strVal val="#ppt_x"/>
                                          </p:val>
                                        </p:tav>
                                        <p:tav tm="100000">
                                          <p:val>
                                            <p:strVal val="#ppt_x"/>
                                          </p:val>
                                        </p:tav>
                                      </p:tavLst>
                                    </p:anim>
                                    <p:anim calcmode="lin" valueType="num">
                                      <p:cBhvr additive="base">
                                        <p:cTn id="8" dur="25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3"/>
                                        </p:tgtEl>
                                        <p:attrNameLst>
                                          <p:attrName>style.visibility</p:attrName>
                                        </p:attrNameLst>
                                      </p:cBhvr>
                                      <p:to>
                                        <p:strVal val="visible"/>
                                      </p:to>
                                    </p:set>
                                    <p:anim calcmode="lin" valueType="num">
                                      <p:cBhvr additive="base">
                                        <p:cTn id="13" dur="250" fill="hold"/>
                                        <p:tgtEl>
                                          <p:spTgt spid="23"/>
                                        </p:tgtEl>
                                        <p:attrNameLst>
                                          <p:attrName>ppt_x</p:attrName>
                                        </p:attrNameLst>
                                      </p:cBhvr>
                                      <p:tavLst>
                                        <p:tav tm="0">
                                          <p:val>
                                            <p:strVal val="#ppt_x"/>
                                          </p:val>
                                        </p:tav>
                                        <p:tav tm="100000">
                                          <p:val>
                                            <p:strVal val="#ppt_x"/>
                                          </p:val>
                                        </p:tav>
                                      </p:tavLst>
                                    </p:anim>
                                    <p:anim calcmode="lin" valueType="num">
                                      <p:cBhvr additive="base">
                                        <p:cTn id="14" dur="25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作用域 </a:t>
            </a:r>
            <a:r>
              <a:rPr lang="en-US" altLang="zh-CN" dirty="0" smtClean="0"/>
              <a:t>– </a:t>
            </a:r>
            <a:r>
              <a:rPr lang="zh-CN" altLang="en-US" dirty="0" smtClean="0"/>
              <a:t>执行上下文</a:t>
            </a:r>
            <a:endParaRPr lang="zh-CN" altLang="en-US" dirty="0"/>
          </a:p>
        </p:txBody>
      </p:sp>
      <p:sp>
        <p:nvSpPr>
          <p:cNvPr id="4" name="灯片编号占位符 3"/>
          <p:cNvSpPr>
            <a:spLocks noGrp="1"/>
          </p:cNvSpPr>
          <p:nvPr>
            <p:ph type="sldNum" sz="quarter" idx="12"/>
          </p:nvPr>
        </p:nvSpPr>
        <p:spPr>
          <a:xfrm>
            <a:off x="5381625" y="6359611"/>
            <a:ext cx="1200150" cy="238126"/>
          </a:xfrm>
        </p:spPr>
        <p:txBody>
          <a:bodyPr/>
          <a:lstStyle/>
          <a:p>
            <a:fld id="{AE15D405-B2DF-4EC3-AD91-92680604D88F}" type="slidenum">
              <a:rPr lang="zh-CN" altLang="en-US" smtClean="0"/>
            </a:fld>
            <a:endParaRPr lang="zh-CN" altLang="en-US" dirty="0"/>
          </a:p>
        </p:txBody>
      </p:sp>
      <p:sp>
        <p:nvSpPr>
          <p:cNvPr id="5" name="矩形 4"/>
          <p:cNvSpPr/>
          <p:nvPr/>
        </p:nvSpPr>
        <p:spPr>
          <a:xfrm>
            <a:off x="557439" y="4920967"/>
            <a:ext cx="6096000" cy="922020"/>
          </a:xfrm>
          <a:prstGeom prst="rect">
            <a:avLst/>
          </a:prstGeom>
        </p:spPr>
        <p:txBody>
          <a:bodyPr>
            <a:spAutoFit/>
          </a:bodyPr>
          <a:lstStyle/>
          <a:p>
            <a:pPr marL="342900" indent="-342900">
              <a:lnSpc>
                <a:spcPct val="150000"/>
              </a:lnSpc>
              <a:buFontTx/>
              <a:buAutoNum type="arabicPeriod"/>
            </a:pPr>
            <a:r>
              <a:rPr lang="zh-CN" altLang="en-US" dirty="0" smtClean="0">
                <a:solidFill>
                  <a:schemeClr val="bg1"/>
                </a:solidFill>
                <a:latin typeface="微软雅黑" panose="020B0503020204020204" pitchFamily="34" charset="-122"/>
                <a:ea typeface="微软雅黑" panose="020B0503020204020204" pitchFamily="34" charset="-122"/>
              </a:rPr>
              <a:t>作用域</a:t>
            </a:r>
            <a:r>
              <a:rPr lang="zh-CN" altLang="en-US" dirty="0">
                <a:solidFill>
                  <a:schemeClr val="bg1"/>
                </a:solidFill>
                <a:latin typeface="微软雅黑" panose="020B0503020204020204" pitchFamily="34" charset="-122"/>
                <a:ea typeface="微软雅黑" panose="020B0503020204020204" pitchFamily="34" charset="-122"/>
              </a:rPr>
              <a:t>在定义时就确定，并且不会改变</a:t>
            </a:r>
            <a:endParaRPr lang="zh-CN" altLang="en-US" dirty="0">
              <a:solidFill>
                <a:schemeClr val="bg1"/>
              </a:solidFill>
              <a:latin typeface="微软雅黑" panose="020B0503020204020204" pitchFamily="34" charset="-122"/>
              <a:ea typeface="微软雅黑" panose="020B0503020204020204" pitchFamily="34" charset="-122"/>
            </a:endParaRPr>
          </a:p>
          <a:p>
            <a:pPr marL="342900" indent="-342900">
              <a:lnSpc>
                <a:spcPct val="150000"/>
              </a:lnSpc>
              <a:buAutoNum type="arabicPeriod"/>
            </a:pPr>
            <a:r>
              <a:rPr lang="zh-CN" altLang="en-US" dirty="0" smtClean="0">
                <a:solidFill>
                  <a:schemeClr val="bg1"/>
                </a:solidFill>
                <a:latin typeface="微软雅黑" panose="020B0503020204020204" pitchFamily="34" charset="-122"/>
                <a:ea typeface="微软雅黑" panose="020B0503020204020204" pitchFamily="34" charset="-122"/>
              </a:rPr>
              <a:t>执行</a:t>
            </a:r>
            <a:r>
              <a:rPr lang="zh-CN" altLang="en-US" dirty="0">
                <a:solidFill>
                  <a:schemeClr val="bg1"/>
                </a:solidFill>
                <a:latin typeface="微软雅黑" panose="020B0503020204020204" pitchFamily="34" charset="-122"/>
                <a:ea typeface="微软雅黑" panose="020B0503020204020204" pitchFamily="34" charset="-122"/>
              </a:rPr>
              <a:t>上下文在运行时确定，随时可能</a:t>
            </a:r>
            <a:r>
              <a:rPr lang="zh-CN" altLang="en-US" dirty="0" smtClean="0">
                <a:solidFill>
                  <a:schemeClr val="bg1"/>
                </a:solidFill>
                <a:latin typeface="微软雅黑" panose="020B0503020204020204" pitchFamily="34" charset="-122"/>
                <a:ea typeface="微软雅黑" panose="020B0503020204020204" pitchFamily="34" charset="-122"/>
              </a:rPr>
              <a:t>改变</a:t>
            </a:r>
            <a:endParaRPr lang="en-US" altLang="zh-CN" dirty="0">
              <a:solidFill>
                <a:schemeClr val="bg1"/>
              </a:solidFill>
              <a:latin typeface="微软雅黑" panose="020B0503020204020204" pitchFamily="34" charset="-122"/>
              <a:ea typeface="微软雅黑" panose="020B0503020204020204" pitchFamily="34" charset="-122"/>
            </a:endParaRPr>
          </a:p>
        </p:txBody>
      </p:sp>
      <p:pic>
        <p:nvPicPr>
          <p:cNvPr id="7" name="图片 6"/>
          <p:cNvPicPr>
            <a:picLocks noChangeAspect="1"/>
          </p:cNvPicPr>
          <p:nvPr/>
        </p:nvPicPr>
        <p:blipFill>
          <a:blip r:embed="rId1"/>
          <a:stretch>
            <a:fillRect/>
          </a:stretch>
        </p:blipFill>
        <p:spPr>
          <a:xfrm>
            <a:off x="557439" y="1257390"/>
            <a:ext cx="6246773" cy="341066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250" fill="hold"/>
                                        <p:tgtEl>
                                          <p:spTgt spid="5"/>
                                        </p:tgtEl>
                                        <p:attrNameLst>
                                          <p:attrName>ppt_x</p:attrName>
                                        </p:attrNameLst>
                                      </p:cBhvr>
                                      <p:tavLst>
                                        <p:tav tm="0">
                                          <p:val>
                                            <p:strVal val="#ppt_x"/>
                                          </p:val>
                                        </p:tav>
                                        <p:tav tm="100000">
                                          <p:val>
                                            <p:strVal val="#ppt_x"/>
                                          </p:val>
                                        </p:tav>
                                      </p:tavLst>
                                    </p:anim>
                                    <p:anim calcmode="lin" valueType="num">
                                      <p:cBhvr additive="base">
                                        <p:cTn id="8" dur="25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3716020" y="2949575"/>
            <a:ext cx="4760595" cy="958850"/>
          </a:xfrm>
          <a:prstGeom prst="roundRect">
            <a:avLst>
              <a:gd name="adj" fmla="val 50000"/>
            </a:avLst>
          </a:prstGeom>
          <a:gradFill>
            <a:gsLst>
              <a:gs pos="22000">
                <a:srgbClr val="DD69B4"/>
              </a:gs>
              <a:gs pos="100000">
                <a:srgbClr val="0054FF"/>
              </a:gs>
            </a:gsLst>
            <a:lin ang="27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800">
                <a:latin typeface="微软雅黑" panose="020B0503020204020204" pitchFamily="34" charset="-122"/>
                <a:ea typeface="微软雅黑" panose="020B0503020204020204" pitchFamily="34" charset="-122"/>
              </a:rPr>
              <a:t>this</a:t>
            </a:r>
            <a:endParaRPr lang="en-US" altLang="zh-CN" sz="280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JS </a:t>
            </a:r>
            <a:r>
              <a:rPr lang="zh-CN" altLang="en-US" dirty="0" smtClean="0"/>
              <a:t>核心概念 </a:t>
            </a:r>
            <a:r>
              <a:rPr lang="en-US" altLang="zh-CN" dirty="0"/>
              <a:t>- this</a:t>
            </a:r>
            <a:endParaRPr lang="zh-CN" altLang="en-US" dirty="0"/>
          </a:p>
        </p:txBody>
      </p:sp>
      <p:sp>
        <p:nvSpPr>
          <p:cNvPr id="3" name="内容占位符 2"/>
          <p:cNvSpPr>
            <a:spLocks noGrp="1"/>
          </p:cNvSpPr>
          <p:nvPr>
            <p:ph idx="1"/>
          </p:nvPr>
        </p:nvSpPr>
        <p:spPr/>
        <p:txBody>
          <a:bodyPr/>
          <a:lstStyle/>
          <a:p>
            <a:r>
              <a:rPr lang="zh-CN" altLang="en-US" dirty="0" smtClean="0"/>
              <a:t>指向</a:t>
            </a:r>
            <a:endParaRPr lang="en-US" altLang="zh-CN" dirty="0" smtClean="0"/>
          </a:p>
          <a:p>
            <a:pPr lvl="1"/>
            <a:r>
              <a:rPr lang="en-US" altLang="zh-CN" dirty="0" smtClean="0"/>
              <a:t>this</a:t>
            </a:r>
            <a:r>
              <a:rPr lang="zh-CN" altLang="en-US" dirty="0"/>
              <a:t>的指向在函数定义的时候是确定不了的，只有函数执行的时候才能确定</a:t>
            </a:r>
            <a:r>
              <a:rPr lang="en-US" altLang="zh-CN" dirty="0"/>
              <a:t>this</a:t>
            </a:r>
            <a:r>
              <a:rPr lang="zh-CN" altLang="en-US" dirty="0"/>
              <a:t>到底指向谁</a:t>
            </a:r>
            <a:endParaRPr lang="en-US" altLang="zh-CN" dirty="0" smtClean="0"/>
          </a:p>
          <a:p>
            <a:endParaRPr lang="en-US" altLang="zh-CN" dirty="0" smtClean="0"/>
          </a:p>
          <a:p>
            <a:r>
              <a:rPr lang="zh-CN" altLang="en-US" dirty="0" smtClean="0"/>
              <a:t>分类</a:t>
            </a:r>
            <a:endParaRPr lang="en-US" altLang="zh-CN" dirty="0" smtClean="0"/>
          </a:p>
          <a:p>
            <a:pPr lvl="1"/>
            <a:r>
              <a:rPr lang="zh-CN" altLang="en-US" dirty="0"/>
              <a:t>作为对象的方法调用</a:t>
            </a:r>
            <a:endParaRPr lang="zh-CN" altLang="en-US" dirty="0"/>
          </a:p>
          <a:p>
            <a:pPr lvl="1"/>
            <a:r>
              <a:rPr lang="zh-CN" altLang="en-US" dirty="0"/>
              <a:t>作为普通函数调用</a:t>
            </a:r>
            <a:endParaRPr lang="zh-CN" altLang="en-US" dirty="0"/>
          </a:p>
          <a:p>
            <a:pPr lvl="1"/>
            <a:r>
              <a:rPr lang="zh-CN" altLang="en-US" dirty="0"/>
              <a:t>构造器调用</a:t>
            </a:r>
            <a:endParaRPr lang="zh-CN" altLang="en-US" dirty="0"/>
          </a:p>
          <a:p>
            <a:pPr lvl="1"/>
            <a:r>
              <a:rPr lang="en-US" altLang="zh-CN" dirty="0"/>
              <a:t>call </a:t>
            </a:r>
            <a:r>
              <a:rPr lang="zh-CN" altLang="en-US" dirty="0"/>
              <a:t>或 </a:t>
            </a:r>
            <a:r>
              <a:rPr lang="en-US" altLang="zh-CN" dirty="0" smtClean="0"/>
              <a:t>apply </a:t>
            </a:r>
            <a:r>
              <a:rPr lang="zh-CN" altLang="en-US" dirty="0"/>
              <a:t>调用</a:t>
            </a:r>
            <a:endParaRPr lang="zh-CN" altLang="en-US" dirty="0"/>
          </a:p>
          <a:p>
            <a:pPr lvl="1"/>
            <a:r>
              <a:rPr lang="en-US" altLang="zh-CN" dirty="0"/>
              <a:t>with </a:t>
            </a:r>
            <a:r>
              <a:rPr lang="zh-CN" altLang="en-US" dirty="0"/>
              <a:t>或 </a:t>
            </a:r>
            <a:r>
              <a:rPr lang="en-US" altLang="zh-CN" dirty="0" err="1"/>
              <a:t>eval</a:t>
            </a:r>
            <a:r>
              <a:rPr lang="en-US" altLang="zh-CN" dirty="0"/>
              <a:t> </a:t>
            </a:r>
            <a:r>
              <a:rPr lang="zh-CN" altLang="en-US" dirty="0" smtClean="0"/>
              <a:t>调用</a:t>
            </a:r>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25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250" fill="hold"/>
                                        <p:tgtEl>
                                          <p:spTgt spid="3">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anim calcmode="lin" valueType="num">
                                      <p:cBhvr additive="base">
                                        <p:cTn id="11" dur="25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2" dur="250" fill="hold"/>
                                        <p:tgtEl>
                                          <p:spTgt spid="3">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 calcmode="lin" valueType="num">
                                      <p:cBhvr additive="base">
                                        <p:cTn id="15" dur="25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6" dur="250" fill="hold"/>
                                        <p:tgtEl>
                                          <p:spTgt spid="3">
                                            <p:txEl>
                                              <p:pRg st="5" end="5"/>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 calcmode="lin" valueType="num">
                                      <p:cBhvr additive="base">
                                        <p:cTn id="19" dur="25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0" dur="250" fill="hold"/>
                                        <p:tgtEl>
                                          <p:spTgt spid="3">
                                            <p:txEl>
                                              <p:pRg st="6" end="6"/>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anim calcmode="lin" valueType="num">
                                      <p:cBhvr additive="base">
                                        <p:cTn id="23" dur="25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4" dur="250" fill="hold"/>
                                        <p:tgtEl>
                                          <p:spTgt spid="3">
                                            <p:txEl>
                                              <p:pRg st="7" end="7"/>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 calcmode="lin" valueType="num">
                                      <p:cBhvr additive="base">
                                        <p:cTn id="27" dur="25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8" dur="25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this -</a:t>
            </a:r>
            <a:r>
              <a:rPr lang="zh-CN" altLang="en-US" dirty="0"/>
              <a:t>作为对象的方法</a:t>
            </a:r>
            <a:r>
              <a:rPr lang="zh-CN" altLang="en-US" dirty="0" smtClean="0"/>
              <a:t>调用</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
        <p:nvSpPr>
          <p:cNvPr id="5" name="矩形 4"/>
          <p:cNvSpPr/>
          <p:nvPr/>
        </p:nvSpPr>
        <p:spPr>
          <a:xfrm>
            <a:off x="557439" y="1221939"/>
            <a:ext cx="6096000" cy="2585323"/>
          </a:xfrm>
          <a:prstGeom prst="rect">
            <a:avLst/>
          </a:prstGeom>
        </p:spPr>
        <p:txBody>
          <a:bodyPr>
            <a:spAutoFit/>
          </a:bodyPr>
          <a:lstStyle/>
          <a:p>
            <a:r>
              <a:rPr lang="en-US" altLang="zh-CN" dirty="0" err="1">
                <a:solidFill>
                  <a:srgbClr val="C678DD"/>
                </a:solidFill>
                <a:latin typeface="Consolas" panose="020B0609020204030204" pitchFamily="49" charset="0"/>
              </a:rPr>
              <a:t>var</a:t>
            </a:r>
            <a:r>
              <a:rPr lang="en-US" altLang="zh-CN" dirty="0">
                <a:solidFill>
                  <a:srgbClr val="ABB2BF"/>
                </a:solidFill>
                <a:latin typeface="Consolas" panose="020B0609020204030204" pitchFamily="49" charset="0"/>
              </a:rPr>
              <a:t> </a:t>
            </a:r>
            <a:r>
              <a:rPr lang="en-US" altLang="zh-CN" dirty="0" err="1">
                <a:solidFill>
                  <a:srgbClr val="E06C75"/>
                </a:solidFill>
                <a:latin typeface="Consolas" panose="020B0609020204030204" pitchFamily="49" charset="0"/>
              </a:rPr>
              <a:t>obj</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a</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1</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err="1">
                <a:solidFill>
                  <a:srgbClr val="61AFEF"/>
                </a:solidFill>
                <a:latin typeface="Consolas" panose="020B0609020204030204" pitchFamily="49" charset="0"/>
              </a:rPr>
              <a:t>getA</a:t>
            </a:r>
            <a:r>
              <a:rPr lang="en-US" altLang="zh-CN" dirty="0">
                <a:solidFill>
                  <a:srgbClr val="ABB2BF"/>
                </a:solidFill>
                <a:latin typeface="Consolas" panose="020B0609020204030204" pitchFamily="49" charset="0"/>
              </a:rPr>
              <a:t>: </a:t>
            </a:r>
            <a:r>
              <a:rPr lang="en-US" altLang="zh-CN" dirty="0">
                <a:solidFill>
                  <a:srgbClr val="C678DD"/>
                </a:solidFill>
                <a:latin typeface="Consolas" panose="020B0609020204030204" pitchFamily="49" charset="0"/>
              </a:rPr>
              <a:t>function</a:t>
            </a:r>
            <a:r>
              <a:rPr lang="en-US" altLang="zh-CN" dirty="0">
                <a:solidFill>
                  <a:srgbClr val="ABB2BF"/>
                </a:solidFill>
                <a:latin typeface="Consolas" panose="020B0609020204030204" pitchFamily="49" charset="0"/>
              </a:rPr>
              <a:t> ()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a:solidFill>
                  <a:srgbClr val="E5C07B"/>
                </a:solidFill>
                <a:latin typeface="Consolas" panose="020B0609020204030204" pitchFamily="49" charset="0"/>
              </a:rPr>
              <a:t>console</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log</a:t>
            </a:r>
            <a:r>
              <a:rPr lang="en-US" altLang="zh-CN" dirty="0">
                <a:solidFill>
                  <a:srgbClr val="ABB2BF"/>
                </a:solidFill>
                <a:latin typeface="Consolas" panose="020B0609020204030204" pitchFamily="49" charset="0"/>
              </a:rPr>
              <a:t>(</a:t>
            </a:r>
            <a:r>
              <a:rPr lang="en-US" altLang="zh-CN" dirty="0">
                <a:solidFill>
                  <a:srgbClr val="E5C07B"/>
                </a:solidFill>
                <a:latin typeface="Consolas" panose="020B0609020204030204" pitchFamily="49" charset="0"/>
              </a:rPr>
              <a:t>this</a:t>
            </a:r>
            <a:r>
              <a:rPr lang="en-US" altLang="zh-CN" dirty="0">
                <a:solidFill>
                  <a:srgbClr val="ABB2BF"/>
                </a:solidFill>
                <a:latin typeface="Consolas" panose="020B0609020204030204" pitchFamily="49" charset="0"/>
              </a:rPr>
              <a:t>); </a:t>
            </a:r>
            <a:r>
              <a:rPr lang="en-US" altLang="zh-CN" i="1" dirty="0">
                <a:solidFill>
                  <a:srgbClr val="7F848E"/>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a:solidFill>
                  <a:srgbClr val="E5C07B"/>
                </a:solidFill>
                <a:latin typeface="Consolas" panose="020B0609020204030204" pitchFamily="49" charset="0"/>
              </a:rPr>
              <a:t>console</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log</a:t>
            </a:r>
            <a:r>
              <a:rPr lang="en-US" altLang="zh-CN" dirty="0">
                <a:solidFill>
                  <a:srgbClr val="ABB2BF"/>
                </a:solidFill>
                <a:latin typeface="Consolas" panose="020B0609020204030204" pitchFamily="49" charset="0"/>
              </a:rPr>
              <a:t>(</a:t>
            </a:r>
            <a:r>
              <a:rPr lang="en-US" altLang="zh-CN" dirty="0" err="1">
                <a:solidFill>
                  <a:srgbClr val="E5C07B"/>
                </a:solidFill>
                <a:latin typeface="Consolas" panose="020B0609020204030204" pitchFamily="49" charset="0"/>
              </a:rPr>
              <a:t>this</a:t>
            </a:r>
            <a:r>
              <a:rPr lang="en-US" altLang="zh-CN" dirty="0" err="1">
                <a:solidFill>
                  <a:srgbClr val="ABB2BF"/>
                </a:solidFill>
                <a:latin typeface="Consolas" panose="020B0609020204030204" pitchFamily="49" charset="0"/>
              </a:rPr>
              <a:t>.</a:t>
            </a:r>
            <a:r>
              <a:rPr lang="en-US" altLang="zh-CN" dirty="0" err="1">
                <a:solidFill>
                  <a:srgbClr val="E06C75"/>
                </a:solidFill>
                <a:latin typeface="Consolas" panose="020B0609020204030204" pitchFamily="49" charset="0"/>
              </a:rPr>
              <a:t>a</a:t>
            </a:r>
            <a:r>
              <a:rPr lang="en-US" altLang="zh-CN" dirty="0">
                <a:solidFill>
                  <a:srgbClr val="ABB2BF"/>
                </a:solidFill>
                <a:latin typeface="Consolas" panose="020B0609020204030204" pitchFamily="49" charset="0"/>
              </a:rPr>
              <a:t>); </a:t>
            </a:r>
            <a:r>
              <a:rPr lang="en-US" altLang="zh-CN" i="1" dirty="0">
                <a:solidFill>
                  <a:srgbClr val="7F848E"/>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br>
              <a:rPr lang="en-US" altLang="zh-CN" dirty="0">
                <a:solidFill>
                  <a:srgbClr val="ABB2BF"/>
                </a:solidFill>
                <a:latin typeface="Consolas" panose="020B0609020204030204" pitchFamily="49" charset="0"/>
              </a:rPr>
            </a:br>
            <a:r>
              <a:rPr lang="en-US" altLang="zh-CN" dirty="0" err="1">
                <a:solidFill>
                  <a:srgbClr val="E06C75"/>
                </a:solidFill>
                <a:latin typeface="Consolas" panose="020B0609020204030204" pitchFamily="49" charset="0"/>
              </a:rPr>
              <a:t>obj</a:t>
            </a:r>
            <a:r>
              <a:rPr lang="en-US" altLang="zh-CN" dirty="0" err="1">
                <a:solidFill>
                  <a:srgbClr val="ABB2BF"/>
                </a:solidFill>
                <a:latin typeface="Consolas" panose="020B0609020204030204" pitchFamily="49" charset="0"/>
              </a:rPr>
              <a:t>.</a:t>
            </a:r>
            <a:r>
              <a:rPr lang="en-US" altLang="zh-CN" dirty="0" err="1">
                <a:solidFill>
                  <a:srgbClr val="61AFEF"/>
                </a:solidFill>
                <a:latin typeface="Consolas" panose="020B0609020204030204" pitchFamily="49" charset="0"/>
              </a:rPr>
              <a:t>getA</a:t>
            </a:r>
            <a:r>
              <a:rPr lang="en-US" altLang="zh-CN" dirty="0">
                <a:solidFill>
                  <a:srgbClr val="ABB2BF"/>
                </a:solidFill>
                <a:latin typeface="Consolas" panose="020B0609020204030204" pitchFamily="49" charset="0"/>
              </a:rPr>
              <a:t>();</a:t>
            </a:r>
            <a:endParaRPr lang="en-US" altLang="zh-CN" b="0" dirty="0">
              <a:solidFill>
                <a:srgbClr val="ABB2BF"/>
              </a:solidFill>
              <a:effectLst/>
              <a:latin typeface="Consolas" panose="020B0609020204030204" pitchFamily="49"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this - </a:t>
            </a:r>
            <a:r>
              <a:rPr lang="zh-CN" altLang="en-US" dirty="0" smtClean="0"/>
              <a:t>作为</a:t>
            </a:r>
            <a:r>
              <a:rPr lang="zh-CN" altLang="en-US" dirty="0"/>
              <a:t>普通函数</a:t>
            </a:r>
            <a:r>
              <a:rPr lang="zh-CN" altLang="en-US" dirty="0" smtClean="0"/>
              <a:t>调用</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
        <p:nvSpPr>
          <p:cNvPr id="3" name="矩形 2"/>
          <p:cNvSpPr/>
          <p:nvPr/>
        </p:nvSpPr>
        <p:spPr>
          <a:xfrm>
            <a:off x="557439" y="1221939"/>
            <a:ext cx="3883932" cy="2031325"/>
          </a:xfrm>
          <a:prstGeom prst="rect">
            <a:avLst/>
          </a:prstGeom>
        </p:spPr>
        <p:txBody>
          <a:bodyPr wrap="square">
            <a:spAutoFit/>
          </a:bodyPr>
          <a:lstStyle/>
          <a:p>
            <a:r>
              <a:rPr lang="en-US" altLang="zh-CN" dirty="0">
                <a:solidFill>
                  <a:srgbClr val="E5C07B"/>
                </a:solidFill>
                <a:latin typeface="Consolas" panose="020B0609020204030204" pitchFamily="49" charset="0"/>
              </a:rPr>
              <a:t>window</a:t>
            </a:r>
            <a:r>
              <a:rPr lang="en-US" altLang="zh-CN" dirty="0">
                <a:solidFill>
                  <a:srgbClr val="ABB2BF"/>
                </a:solidFill>
                <a:latin typeface="Consolas" panose="020B0609020204030204" pitchFamily="49" charset="0"/>
              </a:rPr>
              <a:t>.</a:t>
            </a:r>
            <a:r>
              <a:rPr lang="en-US" altLang="zh-CN" dirty="0">
                <a:solidFill>
                  <a:srgbClr val="E06C75"/>
                </a:solidFill>
                <a:latin typeface="Consolas" panose="020B0609020204030204" pitchFamily="49" charset="0"/>
              </a:rPr>
              <a:t>name</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smtClean="0">
                <a:solidFill>
                  <a:srgbClr val="98C379"/>
                </a:solidFill>
                <a:latin typeface="Consolas" panose="020B0609020204030204" pitchFamily="49" charset="0"/>
              </a:rPr>
              <a:t>'</a:t>
            </a:r>
            <a:r>
              <a:rPr lang="zh-CN" altLang="en-US" dirty="0" smtClean="0">
                <a:solidFill>
                  <a:srgbClr val="98C379"/>
                </a:solidFill>
                <a:latin typeface="Consolas" panose="020B0609020204030204" pitchFamily="49" charset="0"/>
              </a:rPr>
              <a:t>智学网</a:t>
            </a:r>
            <a:r>
              <a:rPr lang="en-US" altLang="zh-CN" dirty="0" smtClean="0">
                <a:solidFill>
                  <a:srgbClr val="98C379"/>
                </a:solidFill>
                <a:latin typeface="Consolas" panose="020B0609020204030204" pitchFamily="49" charset="0"/>
              </a:rPr>
              <a:t>'</a:t>
            </a:r>
            <a:r>
              <a:rPr lang="en-US" altLang="zh-CN" dirty="0" smtClean="0">
                <a:solidFill>
                  <a:srgbClr val="ABB2BF"/>
                </a:solidFill>
                <a:latin typeface="Consolas" panose="020B0609020204030204" pitchFamily="49" charset="0"/>
              </a:rPr>
              <a:t>;</a:t>
            </a:r>
            <a:endParaRPr lang="en-US" altLang="zh-CN" dirty="0" smtClean="0">
              <a:solidFill>
                <a:srgbClr val="ABB2BF"/>
              </a:solidFill>
              <a:latin typeface="Consolas" panose="020B0609020204030204" pitchFamily="49" charset="0"/>
            </a:endParaRPr>
          </a:p>
          <a:p>
            <a:br>
              <a:rPr lang="en-US" altLang="zh-CN" dirty="0">
                <a:solidFill>
                  <a:srgbClr val="ABB2BF"/>
                </a:solidFill>
                <a:latin typeface="Consolas" panose="020B0609020204030204" pitchFamily="49" charset="0"/>
              </a:rPr>
            </a:br>
            <a:r>
              <a:rPr lang="en-US" altLang="zh-CN" dirty="0">
                <a:solidFill>
                  <a:srgbClr val="C678DD"/>
                </a:solidFill>
                <a:latin typeface="Consolas" panose="020B0609020204030204" pitchFamily="49" charset="0"/>
              </a:rPr>
              <a:t>function</a:t>
            </a:r>
            <a:r>
              <a:rPr lang="en-US" altLang="zh-CN" dirty="0">
                <a:solidFill>
                  <a:srgbClr val="ABB2BF"/>
                </a:solidFill>
                <a:latin typeface="Consolas" panose="020B0609020204030204" pitchFamily="49" charset="0"/>
              </a:rPr>
              <a:t> </a:t>
            </a:r>
            <a:r>
              <a:rPr lang="en-US" altLang="zh-CN" dirty="0" err="1">
                <a:solidFill>
                  <a:srgbClr val="61AFEF"/>
                </a:solidFill>
                <a:latin typeface="Consolas" panose="020B0609020204030204" pitchFamily="49" charset="0"/>
              </a:rPr>
              <a:t>getName</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a:solidFill>
                  <a:srgbClr val="C678DD"/>
                </a:solidFill>
                <a:latin typeface="Consolas" panose="020B0609020204030204" pitchFamily="49" charset="0"/>
              </a:rPr>
              <a:t>return</a:t>
            </a:r>
            <a:r>
              <a:rPr lang="en-US" altLang="zh-CN" dirty="0">
                <a:solidFill>
                  <a:srgbClr val="ABB2BF"/>
                </a:solidFill>
                <a:latin typeface="Consolas" panose="020B0609020204030204" pitchFamily="49" charset="0"/>
              </a:rPr>
              <a:t> </a:t>
            </a:r>
            <a:r>
              <a:rPr lang="en-US" altLang="zh-CN" dirty="0">
                <a:solidFill>
                  <a:srgbClr val="E5C07B"/>
                </a:solidFill>
                <a:latin typeface="Consolas" panose="020B0609020204030204" pitchFamily="49" charset="0"/>
              </a:rPr>
              <a:t>this</a:t>
            </a:r>
            <a:r>
              <a:rPr lang="en-US" altLang="zh-CN" dirty="0">
                <a:solidFill>
                  <a:srgbClr val="ABB2BF"/>
                </a:solidFill>
                <a:latin typeface="Consolas" panose="020B0609020204030204" pitchFamily="49" charset="0"/>
              </a:rPr>
              <a:t>.</a:t>
            </a:r>
            <a:r>
              <a:rPr lang="en-US" altLang="zh-CN" dirty="0">
                <a:solidFill>
                  <a:srgbClr val="E06C75"/>
                </a:solidFill>
                <a:latin typeface="Consolas" panose="020B0609020204030204" pitchFamily="49" charset="0"/>
              </a:rPr>
              <a:t>name</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br>
              <a:rPr lang="en-US" altLang="zh-CN" dirty="0">
                <a:solidFill>
                  <a:srgbClr val="ABB2BF"/>
                </a:solidFill>
                <a:latin typeface="Consolas" panose="020B0609020204030204" pitchFamily="49" charset="0"/>
              </a:rPr>
            </a:br>
            <a:r>
              <a:rPr lang="en-US" altLang="zh-CN" dirty="0">
                <a:solidFill>
                  <a:srgbClr val="E5C07B"/>
                </a:solidFill>
                <a:latin typeface="Consolas" panose="020B0609020204030204" pitchFamily="49" charset="0"/>
              </a:rPr>
              <a:t>console</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log</a:t>
            </a:r>
            <a:r>
              <a:rPr lang="en-US" altLang="zh-CN" dirty="0">
                <a:solidFill>
                  <a:srgbClr val="ABB2BF"/>
                </a:solidFill>
                <a:latin typeface="Consolas" panose="020B0609020204030204" pitchFamily="49" charset="0"/>
              </a:rPr>
              <a:t>(</a:t>
            </a:r>
            <a:r>
              <a:rPr lang="en-US" altLang="zh-CN" dirty="0" err="1">
                <a:solidFill>
                  <a:srgbClr val="61AFEF"/>
                </a:solidFill>
                <a:latin typeface="Consolas" panose="020B0609020204030204" pitchFamily="49" charset="0"/>
              </a:rPr>
              <a:t>getName</a:t>
            </a:r>
            <a:r>
              <a:rPr lang="en-US" altLang="zh-CN" dirty="0">
                <a:solidFill>
                  <a:srgbClr val="ABB2BF"/>
                </a:solidFill>
                <a:latin typeface="Consolas" panose="020B0609020204030204" pitchFamily="49" charset="0"/>
              </a:rPr>
              <a:t>());</a:t>
            </a:r>
            <a:endParaRPr lang="en-US" altLang="zh-CN" b="0" dirty="0">
              <a:solidFill>
                <a:srgbClr val="ABB2BF"/>
              </a:solidFill>
              <a:effectLst/>
              <a:latin typeface="Consolas" panose="020B0609020204030204" pitchFamily="49" charset="0"/>
            </a:endParaRPr>
          </a:p>
        </p:txBody>
      </p:sp>
      <p:grpSp>
        <p:nvGrpSpPr>
          <p:cNvPr id="9" name="组合 8"/>
          <p:cNvGrpSpPr/>
          <p:nvPr/>
        </p:nvGrpSpPr>
        <p:grpSpPr>
          <a:xfrm>
            <a:off x="6166576" y="1221939"/>
            <a:ext cx="4660192" cy="3533260"/>
            <a:chOff x="1250345" y="3836762"/>
            <a:chExt cx="5537236" cy="3533260"/>
          </a:xfrm>
        </p:grpSpPr>
        <p:sp>
          <p:nvSpPr>
            <p:cNvPr id="5" name="矩形 4"/>
            <p:cNvSpPr/>
            <p:nvPr/>
          </p:nvSpPr>
          <p:spPr>
            <a:xfrm>
              <a:off x="1250345" y="3836762"/>
              <a:ext cx="4212752" cy="369332"/>
            </a:xfrm>
            <a:prstGeom prst="rect">
              <a:avLst/>
            </a:prstGeom>
          </p:spPr>
          <p:txBody>
            <a:bodyPr wrap="square">
              <a:spAutoFit/>
            </a:bodyPr>
            <a:lstStyle/>
            <a:p>
              <a:r>
                <a:rPr lang="en-US" altLang="zh-CN" dirty="0">
                  <a:solidFill>
                    <a:srgbClr val="ABB2BF"/>
                  </a:solidFill>
                  <a:latin typeface="Consolas" panose="020B0609020204030204" pitchFamily="49" charset="0"/>
                </a:rPr>
                <a:t>&lt;</a:t>
              </a:r>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id</a:t>
              </a:r>
              <a:r>
                <a:rPr lang="en-US" altLang="zh-CN" dirty="0" smtClean="0">
                  <a:solidFill>
                    <a:srgbClr val="ABB2BF"/>
                  </a:solidFill>
                  <a:latin typeface="Consolas" panose="020B0609020204030204" pitchFamily="49" charset="0"/>
                </a:rPr>
                <a:t>=</a:t>
              </a:r>
              <a:r>
                <a:rPr lang="en-US" altLang="zh-CN" dirty="0" smtClean="0">
                  <a:solidFill>
                    <a:srgbClr val="98C379"/>
                  </a:solidFill>
                  <a:latin typeface="Consolas" panose="020B0609020204030204" pitchFamily="49" charset="0"/>
                </a:rPr>
                <a:t>“div”</a:t>
              </a:r>
              <a:r>
                <a:rPr lang="en-US" altLang="zh-CN" dirty="0" smtClean="0">
                  <a:solidFill>
                    <a:srgbClr val="ABB2BF"/>
                  </a:solidFill>
                  <a:latin typeface="Consolas" panose="020B0609020204030204" pitchFamily="49" charset="0"/>
                </a:rPr>
                <a:t>&gt;</a:t>
              </a:r>
              <a:r>
                <a:rPr lang="zh-CN" altLang="en-US" dirty="0">
                  <a:solidFill>
                    <a:srgbClr val="ABB2BF"/>
                  </a:solidFill>
                  <a:latin typeface="Consolas" panose="020B0609020204030204" pitchFamily="49" charset="0"/>
                </a:rPr>
                <a:t>智学网</a:t>
              </a:r>
              <a:r>
                <a:rPr lang="en-US" altLang="zh-CN" dirty="0" smtClean="0">
                  <a:solidFill>
                    <a:srgbClr val="ABB2BF"/>
                  </a:solidFill>
                  <a:latin typeface="Consolas" panose="020B0609020204030204" pitchFamily="49" charset="0"/>
                </a:rPr>
                <a:t>&lt;/</a:t>
              </a:r>
              <a:r>
                <a:rPr lang="en-US" altLang="zh-CN" dirty="0">
                  <a:solidFill>
                    <a:srgbClr val="E06C75"/>
                  </a:solidFill>
                  <a:latin typeface="Consolas" panose="020B0609020204030204" pitchFamily="49" charset="0"/>
                </a:rPr>
                <a:t>div</a:t>
              </a:r>
              <a:r>
                <a:rPr lang="en-US" altLang="zh-CN" dirty="0">
                  <a:solidFill>
                    <a:srgbClr val="ABB2BF"/>
                  </a:solidFill>
                  <a:latin typeface="Consolas" panose="020B0609020204030204" pitchFamily="49" charset="0"/>
                </a:rPr>
                <a:t>&gt;</a:t>
              </a:r>
              <a:endParaRPr lang="en-US" altLang="zh-CN" b="0" dirty="0">
                <a:solidFill>
                  <a:srgbClr val="ABB2BF"/>
                </a:solidFill>
                <a:effectLst/>
                <a:latin typeface="Consolas" panose="020B0609020204030204" pitchFamily="49" charset="0"/>
              </a:endParaRPr>
            </a:p>
          </p:txBody>
        </p:sp>
        <p:sp>
          <p:nvSpPr>
            <p:cNvPr id="8" name="矩形 7"/>
            <p:cNvSpPr/>
            <p:nvPr/>
          </p:nvSpPr>
          <p:spPr>
            <a:xfrm>
              <a:off x="1250347" y="4231852"/>
              <a:ext cx="5537234" cy="3138170"/>
            </a:xfrm>
            <a:prstGeom prst="rect">
              <a:avLst/>
            </a:prstGeom>
          </p:spPr>
          <p:txBody>
            <a:bodyPr wrap="square">
              <a:spAutoFit/>
            </a:bodyPr>
            <a:lstStyle/>
            <a:p>
              <a:r>
                <a:rPr lang="en-US" altLang="zh-CN" dirty="0">
                  <a:solidFill>
                    <a:srgbClr val="E06C75"/>
                  </a:solidFill>
                  <a:latin typeface="Consolas" panose="020B0609020204030204" pitchFamily="49" charset="0"/>
                </a:rPr>
                <a:t>window</a:t>
              </a:r>
              <a:r>
                <a:rPr lang="en-US" altLang="zh-CN" dirty="0">
                  <a:solidFill>
                    <a:srgbClr val="ABB2BF"/>
                  </a:solidFill>
                  <a:latin typeface="Consolas" panose="020B0609020204030204" pitchFamily="49" charset="0"/>
                </a:rPr>
                <a:t>.</a:t>
              </a:r>
              <a:r>
                <a:rPr lang="en-US" altLang="zh-CN" dirty="0">
                  <a:solidFill>
                    <a:srgbClr val="E06C75"/>
                  </a:solidFill>
                  <a:latin typeface="Consolas" panose="020B0609020204030204" pitchFamily="49" charset="0"/>
                </a:rPr>
                <a:t>id</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98C379"/>
                  </a:solidFill>
                  <a:latin typeface="Consolas" panose="020B0609020204030204" pitchFamily="49" charset="0"/>
                </a:rPr>
                <a:t>'</a:t>
              </a:r>
              <a:r>
                <a:rPr lang="en-US" altLang="zh-CN" dirty="0" err="1">
                  <a:solidFill>
                    <a:srgbClr val="98C379"/>
                  </a:solidFill>
                  <a:latin typeface="Consolas" panose="020B0609020204030204" pitchFamily="49" charset="0"/>
                </a:rPr>
                <a:t>zhixue</a:t>
              </a:r>
              <a:r>
                <a:rPr lang="en-US" altLang="zh-CN" dirty="0">
                  <a:solidFill>
                    <a:srgbClr val="98C379"/>
                  </a:solidFill>
                  <a:latin typeface="Consolas" panose="020B0609020204030204" pitchFamily="49" charset="0"/>
                </a:rPr>
                <a:t>'</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endParaRPr lang="en-US" altLang="zh-CN" dirty="0">
                <a:solidFill>
                  <a:srgbClr val="ABB2BF"/>
                </a:solidFill>
                <a:latin typeface="Consolas" panose="020B0609020204030204" pitchFamily="49" charset="0"/>
              </a:endParaRPr>
            </a:p>
            <a:p>
              <a:r>
                <a:rPr lang="en-US" altLang="zh-CN" dirty="0" smtClean="0">
                  <a:solidFill>
                    <a:srgbClr val="E06C75"/>
                  </a:solidFill>
                  <a:latin typeface="Consolas" panose="020B0609020204030204" pitchFamily="49" charset="0"/>
                </a:rPr>
                <a:t>$</a:t>
              </a:r>
              <a:r>
                <a:rPr lang="en-US" altLang="zh-CN" dirty="0" smtClean="0">
                  <a:solidFill>
                    <a:srgbClr val="ABB2BF"/>
                  </a:solidFill>
                  <a:latin typeface="Consolas" panose="020B0609020204030204" pitchFamily="49" charset="0"/>
                </a:rPr>
                <a:t>(</a:t>
              </a:r>
              <a:r>
                <a:rPr lang="en-US" altLang="zh-CN" dirty="0" smtClean="0">
                  <a:solidFill>
                    <a:srgbClr val="98C379"/>
                  </a:solidFill>
                  <a:latin typeface="Consolas" panose="020B0609020204030204" pitchFamily="49" charset="0"/>
                </a:rPr>
                <a:t>'#</a:t>
              </a:r>
              <a:r>
                <a:rPr lang="en-US" altLang="zh-CN" dirty="0">
                  <a:solidFill>
                    <a:srgbClr val="98C379"/>
                  </a:solidFill>
                  <a:latin typeface="Consolas" panose="020B0609020204030204" pitchFamily="49" charset="0"/>
                </a:rPr>
                <a:t>div</a:t>
              </a:r>
              <a:r>
                <a:rPr lang="en-US" altLang="zh-CN" dirty="0" smtClean="0">
                  <a:solidFill>
                    <a:srgbClr val="98C379"/>
                  </a:solidFill>
                  <a:latin typeface="Consolas" panose="020B0609020204030204" pitchFamily="49" charset="0"/>
                </a:rPr>
                <a:t>'</a:t>
              </a:r>
              <a:r>
                <a:rPr lang="en-US" altLang="zh-CN" dirty="0" smtClean="0">
                  <a:solidFill>
                    <a:srgbClr val="ABB2BF"/>
                  </a:solidFill>
                  <a:latin typeface="Consolas" panose="020B0609020204030204" pitchFamily="49" charset="0"/>
                </a:rPr>
                <a:t>).</a:t>
              </a:r>
              <a:r>
                <a:rPr lang="en-US" altLang="zh-CN" dirty="0" smtClean="0">
                  <a:solidFill>
                    <a:srgbClr val="61AFEF"/>
                  </a:solidFill>
                  <a:latin typeface="Consolas" panose="020B0609020204030204" pitchFamily="49" charset="0"/>
                </a:rPr>
                <a:t>click</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C678DD"/>
                  </a:solidFill>
                  <a:latin typeface="Consolas" panose="020B0609020204030204" pitchFamily="49" charset="0"/>
                </a:rPr>
                <a:t>function</a:t>
              </a:r>
              <a:r>
                <a:rPr lang="en-US" altLang="zh-CN" dirty="0">
                  <a:solidFill>
                    <a:srgbClr val="ABB2BF"/>
                  </a:solidFill>
                  <a:latin typeface="Consolas" panose="020B0609020204030204" pitchFamily="49" charset="0"/>
                </a:rPr>
                <a:t> () {</a:t>
              </a:r>
              <a:endParaRPr lang="en-US" altLang="zh-CN" dirty="0">
                <a:solidFill>
                  <a:srgbClr val="ABB2BF"/>
                </a:solidFill>
                <a:latin typeface="Consolas" panose="020B0609020204030204" pitchFamily="49" charset="0"/>
              </a:endParaRPr>
            </a:p>
            <a:p>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console</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log</a:t>
              </a:r>
              <a:r>
                <a:rPr lang="en-US" altLang="zh-CN" dirty="0">
                  <a:solidFill>
                    <a:srgbClr val="ABB2BF"/>
                  </a:solidFill>
                  <a:latin typeface="Consolas" panose="020B0609020204030204" pitchFamily="49" charset="0"/>
                </a:rPr>
                <a:t>(</a:t>
              </a:r>
              <a:r>
                <a:rPr lang="en-US" altLang="zh-CN" dirty="0">
                  <a:solidFill>
                    <a:srgbClr val="E5C07B"/>
                  </a:solidFill>
                  <a:latin typeface="Consolas" panose="020B0609020204030204" pitchFamily="49" charset="0"/>
                </a:rPr>
                <a:t>this</a:t>
              </a:r>
              <a:r>
                <a:rPr lang="en-US" altLang="zh-CN" dirty="0">
                  <a:solidFill>
                    <a:srgbClr val="ABB2BF"/>
                  </a:solidFill>
                  <a:latin typeface="Consolas" panose="020B0609020204030204" pitchFamily="49" charset="0"/>
                </a:rPr>
                <a:t>.</a:t>
              </a:r>
              <a:r>
                <a:rPr lang="en-US" altLang="zh-CN" dirty="0">
                  <a:solidFill>
                    <a:srgbClr val="E06C75"/>
                  </a:solidFill>
                  <a:latin typeface="Consolas" panose="020B0609020204030204" pitchFamily="49" charset="0"/>
                </a:rPr>
                <a:t>id</a:t>
              </a:r>
              <a:r>
                <a:rPr lang="en-US" altLang="zh-CN" dirty="0">
                  <a:solidFill>
                    <a:srgbClr val="ABB2BF"/>
                  </a:solidFill>
                  <a:latin typeface="Consolas" panose="020B0609020204030204" pitchFamily="49" charset="0"/>
                </a:rPr>
                <a:t>); </a:t>
              </a:r>
              <a:r>
                <a:rPr lang="en-US" altLang="zh-CN" i="1" dirty="0">
                  <a:solidFill>
                    <a:srgbClr val="7F848E"/>
                  </a:solidFill>
                  <a:latin typeface="Consolas" panose="020B0609020204030204" pitchFamily="49" charset="0"/>
                </a:rPr>
                <a:t>// </a:t>
              </a:r>
              <a:r>
                <a:rPr lang="en-US" altLang="zh-CN" i="1" dirty="0" err="1">
                  <a:solidFill>
                    <a:srgbClr val="7F848E"/>
                  </a:solidFill>
                  <a:latin typeface="Consolas" panose="020B0609020204030204" pitchFamily="49" charset="0"/>
                </a:rPr>
                <a:t>id.div</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err="1">
                  <a:solidFill>
                    <a:srgbClr val="C678DD"/>
                  </a:solidFill>
                  <a:latin typeface="Consolas" panose="020B0609020204030204" pitchFamily="49" charset="0"/>
                </a:rPr>
                <a:t>var</a:t>
              </a:r>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callback</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C678DD"/>
                  </a:solidFill>
                  <a:latin typeface="Consolas" panose="020B0609020204030204" pitchFamily="49" charset="0"/>
                </a:rPr>
                <a:t>function</a:t>
              </a:r>
              <a:r>
                <a:rPr lang="en-US" altLang="zh-CN" dirty="0">
                  <a:solidFill>
                    <a:srgbClr val="ABB2BF"/>
                  </a:solidFill>
                  <a:latin typeface="Consolas" panose="020B0609020204030204" pitchFamily="49" charset="0"/>
                </a:rPr>
                <a:t> ()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console</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log</a:t>
              </a:r>
              <a:r>
                <a:rPr lang="en-US" altLang="zh-CN" dirty="0">
                  <a:solidFill>
                    <a:srgbClr val="ABB2BF"/>
                  </a:solidFill>
                  <a:latin typeface="Consolas" panose="020B0609020204030204" pitchFamily="49" charset="0"/>
                </a:rPr>
                <a:t>(</a:t>
              </a:r>
              <a:r>
                <a:rPr lang="en-US" altLang="zh-CN" dirty="0">
                  <a:solidFill>
                    <a:srgbClr val="E5C07B"/>
                  </a:solidFill>
                  <a:latin typeface="Consolas" panose="020B0609020204030204" pitchFamily="49" charset="0"/>
                </a:rPr>
                <a:t>this</a:t>
              </a:r>
              <a:r>
                <a:rPr lang="en-US" altLang="zh-CN" dirty="0">
                  <a:solidFill>
                    <a:srgbClr val="ABB2BF"/>
                  </a:solidFill>
                  <a:latin typeface="Consolas" panose="020B0609020204030204" pitchFamily="49" charset="0"/>
                </a:rPr>
                <a:t>.</a:t>
              </a:r>
              <a:r>
                <a:rPr lang="en-US" altLang="zh-CN" dirty="0">
                  <a:solidFill>
                    <a:srgbClr val="E06C75"/>
                  </a:solidFill>
                  <a:latin typeface="Consolas" panose="020B0609020204030204" pitchFamily="49" charset="0"/>
                </a:rPr>
                <a:t>id</a:t>
              </a:r>
              <a:r>
                <a:rPr lang="en-US" altLang="zh-CN" dirty="0">
                  <a:solidFill>
                    <a:srgbClr val="ABB2BF"/>
                  </a:solidFill>
                  <a:latin typeface="Consolas" panose="020B0609020204030204" pitchFamily="49" charset="0"/>
                </a:rPr>
                <a:t>); </a:t>
              </a:r>
              <a:r>
                <a:rPr lang="en-US" altLang="zh-CN" i="1" dirty="0">
                  <a:solidFill>
                    <a:srgbClr val="7F848E"/>
                  </a:solidFill>
                  <a:latin typeface="Consolas" panose="020B0609020204030204" pitchFamily="49" charset="0"/>
                </a:rPr>
                <a:t>// window</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callback</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a:t>
              </a:r>
              <a:endParaRPr lang="en-US" altLang="zh-CN" b="0" dirty="0">
                <a:solidFill>
                  <a:srgbClr val="ABB2BF"/>
                </a:solidFill>
                <a:effectLst/>
                <a:latin typeface="Consolas" panose="020B0609020204030204" pitchFamily="49" charset="0"/>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this - </a:t>
            </a:r>
            <a:r>
              <a:rPr lang="zh-CN" altLang="en-US" dirty="0" smtClean="0"/>
              <a:t>构造</a:t>
            </a:r>
            <a:r>
              <a:rPr lang="zh-CN" altLang="en-US" dirty="0"/>
              <a:t>器</a:t>
            </a:r>
            <a:r>
              <a:rPr lang="zh-CN" altLang="en-US" dirty="0" smtClean="0"/>
              <a:t>调用</a:t>
            </a:r>
            <a:endParaRPr lang="zh-CN" altLang="en-US" dirty="0"/>
          </a:p>
        </p:txBody>
      </p:sp>
      <p:sp>
        <p:nvSpPr>
          <p:cNvPr id="3" name="内容占位符 2"/>
          <p:cNvSpPr>
            <a:spLocks noGrp="1"/>
          </p:cNvSpPr>
          <p:nvPr>
            <p:ph idx="1"/>
          </p:nvPr>
        </p:nvSpPr>
        <p:spPr/>
        <p:txBody>
          <a:bodyPr/>
          <a:lstStyle/>
          <a:p>
            <a:r>
              <a:rPr lang="zh-CN" altLang="en-US" dirty="0" smtClean="0"/>
              <a:t>使用 </a:t>
            </a:r>
            <a:r>
              <a:rPr lang="en-US" altLang="zh-CN" dirty="0" smtClean="0"/>
              <a:t>new </a:t>
            </a:r>
            <a:r>
              <a:rPr lang="zh-CN" altLang="en-US" dirty="0"/>
              <a:t>运算符调用函数时，该函数总会返回一个</a:t>
            </a:r>
            <a:r>
              <a:rPr lang="zh-CN" altLang="en-US" dirty="0" smtClean="0"/>
              <a:t>对象</a:t>
            </a:r>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
        <p:nvSpPr>
          <p:cNvPr id="8" name="矩形 7"/>
          <p:cNvSpPr/>
          <p:nvPr/>
        </p:nvSpPr>
        <p:spPr>
          <a:xfrm>
            <a:off x="557439" y="2113873"/>
            <a:ext cx="6096000" cy="1754326"/>
          </a:xfrm>
          <a:prstGeom prst="rect">
            <a:avLst/>
          </a:prstGeom>
        </p:spPr>
        <p:txBody>
          <a:bodyPr>
            <a:spAutoFit/>
          </a:bodyPr>
          <a:lstStyle/>
          <a:p>
            <a:r>
              <a:rPr lang="en-US" altLang="zh-CN" dirty="0" err="1">
                <a:solidFill>
                  <a:srgbClr val="C678DD"/>
                </a:solidFill>
                <a:latin typeface="Consolas" panose="020B0609020204030204" pitchFamily="49" charset="0"/>
              </a:rPr>
              <a:t>var</a:t>
            </a:r>
            <a:r>
              <a:rPr lang="en-US" altLang="zh-CN" dirty="0">
                <a:solidFill>
                  <a:srgbClr val="ABB2BF"/>
                </a:solidFill>
                <a:latin typeface="Consolas" panose="020B0609020204030204" pitchFamily="49" charset="0"/>
              </a:rPr>
              <a:t> </a:t>
            </a:r>
            <a:r>
              <a:rPr lang="en-US" altLang="zh-CN" dirty="0" err="1">
                <a:solidFill>
                  <a:srgbClr val="E5C07B"/>
                </a:solidFill>
                <a:latin typeface="Consolas" panose="020B0609020204030204" pitchFamily="49" charset="0"/>
              </a:rPr>
              <a:t>MyClass</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C678DD"/>
                </a:solidFill>
                <a:latin typeface="Consolas" panose="020B0609020204030204" pitchFamily="49" charset="0"/>
              </a:rPr>
              <a:t>function</a:t>
            </a:r>
            <a:r>
              <a:rPr lang="en-US" altLang="zh-CN" dirty="0">
                <a:solidFill>
                  <a:srgbClr val="ABB2BF"/>
                </a:solidFill>
                <a:latin typeface="Consolas" panose="020B0609020204030204" pitchFamily="49" charset="0"/>
              </a:rPr>
              <a:t> ()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a:solidFill>
                  <a:srgbClr val="E5C07B"/>
                </a:solidFill>
                <a:latin typeface="Consolas" panose="020B0609020204030204" pitchFamily="49" charset="0"/>
              </a:rPr>
              <a:t>this</a:t>
            </a:r>
            <a:r>
              <a:rPr lang="en-US" altLang="zh-CN" dirty="0">
                <a:solidFill>
                  <a:srgbClr val="ABB2BF"/>
                </a:solidFill>
                <a:latin typeface="Consolas" panose="020B0609020204030204" pitchFamily="49" charset="0"/>
              </a:rPr>
              <a:t>.</a:t>
            </a:r>
            <a:r>
              <a:rPr lang="en-US" altLang="zh-CN" dirty="0">
                <a:solidFill>
                  <a:srgbClr val="E06C75"/>
                </a:solidFill>
                <a:latin typeface="Consolas" panose="020B0609020204030204" pitchFamily="49" charset="0"/>
              </a:rPr>
              <a:t>name</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98C379"/>
                </a:solidFill>
                <a:latin typeface="Consolas" panose="020B0609020204030204" pitchFamily="49" charset="0"/>
              </a:rPr>
              <a:t>'one'</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err="1">
                <a:solidFill>
                  <a:srgbClr val="C678DD"/>
                </a:solidFill>
                <a:latin typeface="Consolas" panose="020B0609020204030204" pitchFamily="49" charset="0"/>
              </a:rPr>
              <a:t>var</a:t>
            </a:r>
            <a:r>
              <a:rPr lang="en-US" altLang="zh-CN" dirty="0">
                <a:solidFill>
                  <a:srgbClr val="ABB2BF"/>
                </a:solidFill>
                <a:latin typeface="Consolas" panose="020B0609020204030204" pitchFamily="49" charset="0"/>
              </a:rPr>
              <a:t> </a:t>
            </a:r>
            <a:r>
              <a:rPr lang="en-US" altLang="zh-CN" dirty="0" err="1">
                <a:solidFill>
                  <a:srgbClr val="E06C75"/>
                </a:solidFill>
                <a:latin typeface="Consolas" panose="020B0609020204030204" pitchFamily="49" charset="0"/>
              </a:rPr>
              <a:t>obj</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C678DD"/>
                </a:solidFill>
                <a:latin typeface="Consolas" panose="020B0609020204030204" pitchFamily="49" charset="0"/>
              </a:rPr>
              <a:t>new</a:t>
            </a:r>
            <a:r>
              <a:rPr lang="en-US" altLang="zh-CN" dirty="0">
                <a:solidFill>
                  <a:srgbClr val="ABB2BF"/>
                </a:solidFill>
                <a:latin typeface="Consolas" panose="020B0609020204030204" pitchFamily="49" charset="0"/>
              </a:rPr>
              <a:t> </a:t>
            </a:r>
            <a:r>
              <a:rPr lang="en-US" altLang="zh-CN" dirty="0" err="1">
                <a:solidFill>
                  <a:srgbClr val="E5C07B"/>
                </a:solidFill>
                <a:latin typeface="Consolas" panose="020B0609020204030204" pitchFamily="49" charset="0"/>
              </a:rPr>
              <a:t>MyClass</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br>
              <a:rPr lang="en-US" altLang="zh-CN" dirty="0">
                <a:solidFill>
                  <a:srgbClr val="ABB2BF"/>
                </a:solidFill>
                <a:latin typeface="Consolas" panose="020B0609020204030204" pitchFamily="49" charset="0"/>
              </a:rPr>
            </a:br>
            <a:r>
              <a:rPr lang="en-US" altLang="zh-CN" dirty="0">
                <a:solidFill>
                  <a:srgbClr val="E5C07B"/>
                </a:solidFill>
                <a:latin typeface="Consolas" panose="020B0609020204030204" pitchFamily="49" charset="0"/>
              </a:rPr>
              <a:t>console</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log</a:t>
            </a:r>
            <a:r>
              <a:rPr lang="en-US" altLang="zh-CN" dirty="0">
                <a:solidFill>
                  <a:srgbClr val="ABB2BF"/>
                </a:solidFill>
                <a:latin typeface="Consolas" panose="020B0609020204030204" pitchFamily="49" charset="0"/>
              </a:rPr>
              <a:t>(</a:t>
            </a:r>
            <a:r>
              <a:rPr lang="en-US" altLang="zh-CN" dirty="0">
                <a:solidFill>
                  <a:srgbClr val="E06C75"/>
                </a:solidFill>
                <a:latin typeface="Consolas" panose="020B0609020204030204" pitchFamily="49" charset="0"/>
              </a:rPr>
              <a:t>obj</a:t>
            </a:r>
            <a:r>
              <a:rPr lang="en-US" altLang="zh-CN" dirty="0">
                <a:solidFill>
                  <a:srgbClr val="ABB2BF"/>
                </a:solidFill>
                <a:latin typeface="Consolas" panose="020B0609020204030204" pitchFamily="49" charset="0"/>
              </a:rPr>
              <a:t>.</a:t>
            </a:r>
            <a:r>
              <a:rPr lang="en-US" altLang="zh-CN" dirty="0">
                <a:solidFill>
                  <a:srgbClr val="E06C75"/>
                </a:solidFill>
                <a:latin typeface="Consolas" panose="020B0609020204030204" pitchFamily="49" charset="0"/>
              </a:rPr>
              <a:t>name</a:t>
            </a:r>
            <a:r>
              <a:rPr lang="en-US" altLang="zh-CN" dirty="0">
                <a:solidFill>
                  <a:srgbClr val="ABB2BF"/>
                </a:solidFill>
                <a:latin typeface="Consolas" panose="020B0609020204030204" pitchFamily="49" charset="0"/>
              </a:rPr>
              <a:t>); </a:t>
            </a:r>
            <a:r>
              <a:rPr lang="en-US" altLang="zh-CN" i="1" dirty="0">
                <a:solidFill>
                  <a:srgbClr val="7F848E"/>
                </a:solidFill>
                <a:latin typeface="Consolas" panose="020B0609020204030204" pitchFamily="49" charset="0"/>
              </a:rPr>
              <a:t>// one</a:t>
            </a:r>
            <a:endParaRPr lang="en-US" altLang="zh-CN" b="0" dirty="0">
              <a:solidFill>
                <a:srgbClr val="ABB2BF"/>
              </a:solidFill>
              <a:effectLst/>
              <a:latin typeface="Consolas" panose="020B0609020204030204" pitchFamily="49"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this - </a:t>
            </a:r>
            <a:r>
              <a:rPr lang="zh-CN" altLang="en-US" dirty="0" smtClean="0"/>
              <a:t>构造</a:t>
            </a:r>
            <a:r>
              <a:rPr lang="zh-CN" altLang="en-US" dirty="0"/>
              <a:t>器</a:t>
            </a:r>
            <a:r>
              <a:rPr lang="zh-CN" altLang="en-US" dirty="0" smtClean="0"/>
              <a:t>调用</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
        <p:nvSpPr>
          <p:cNvPr id="5" name="矩形 4"/>
          <p:cNvSpPr/>
          <p:nvPr/>
        </p:nvSpPr>
        <p:spPr>
          <a:xfrm>
            <a:off x="557438" y="2016357"/>
            <a:ext cx="6096000" cy="3138170"/>
          </a:xfrm>
          <a:prstGeom prst="rect">
            <a:avLst/>
          </a:prstGeom>
        </p:spPr>
        <p:txBody>
          <a:bodyPr>
            <a:spAutoFit/>
          </a:bodyPr>
          <a:lstStyle/>
          <a:p>
            <a:r>
              <a:rPr lang="en-US" altLang="zh-CN" dirty="0" err="1">
                <a:solidFill>
                  <a:srgbClr val="C678DD"/>
                </a:solidFill>
                <a:latin typeface="Consolas" panose="020B0609020204030204" pitchFamily="49" charset="0"/>
              </a:rPr>
              <a:t>var</a:t>
            </a:r>
            <a:r>
              <a:rPr lang="en-US" altLang="zh-CN" dirty="0">
                <a:solidFill>
                  <a:srgbClr val="ABB2BF"/>
                </a:solidFill>
                <a:latin typeface="Consolas" panose="020B0609020204030204" pitchFamily="49" charset="0"/>
              </a:rPr>
              <a:t> </a:t>
            </a:r>
            <a:r>
              <a:rPr lang="en-US" altLang="zh-CN" dirty="0" err="1">
                <a:solidFill>
                  <a:srgbClr val="E5C07B"/>
                </a:solidFill>
                <a:latin typeface="Consolas" panose="020B0609020204030204" pitchFamily="49" charset="0"/>
              </a:rPr>
              <a:t>MyClass</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C678DD"/>
                </a:solidFill>
                <a:latin typeface="Consolas" panose="020B0609020204030204" pitchFamily="49" charset="0"/>
              </a:rPr>
              <a:t>function</a:t>
            </a:r>
            <a:r>
              <a:rPr lang="en-US" altLang="zh-CN" dirty="0">
                <a:solidFill>
                  <a:srgbClr val="ABB2BF"/>
                </a:solidFill>
                <a:latin typeface="Consolas" panose="020B0609020204030204" pitchFamily="49" charset="0"/>
              </a:rPr>
              <a:t> ()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a:solidFill>
                  <a:srgbClr val="E5C07B"/>
                </a:solidFill>
                <a:latin typeface="Consolas" panose="020B0609020204030204" pitchFamily="49" charset="0"/>
              </a:rPr>
              <a:t>this</a:t>
            </a:r>
            <a:r>
              <a:rPr lang="en-US" altLang="zh-CN" dirty="0">
                <a:solidFill>
                  <a:srgbClr val="ABB2BF"/>
                </a:solidFill>
                <a:latin typeface="Consolas" panose="020B0609020204030204" pitchFamily="49" charset="0"/>
              </a:rPr>
              <a:t>.</a:t>
            </a:r>
            <a:r>
              <a:rPr lang="en-US" altLang="zh-CN" dirty="0">
                <a:solidFill>
                  <a:srgbClr val="E06C75"/>
                </a:solidFill>
                <a:latin typeface="Consolas" panose="020B0609020204030204" pitchFamily="49" charset="0"/>
              </a:rPr>
              <a:t>name</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98C379"/>
                </a:solidFill>
                <a:latin typeface="Consolas" panose="020B0609020204030204" pitchFamily="49" charset="0"/>
              </a:rPr>
              <a:t>'one'</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微软雅黑" panose="020B0503020204020204" pitchFamily="34" charset="-122"/>
                <a:ea typeface="微软雅黑" panose="020B0503020204020204" pitchFamily="34" charset="-122"/>
              </a:rPr>
              <a:t>  </a:t>
            </a:r>
            <a:r>
              <a:rPr lang="en-US" altLang="zh-CN" i="1" dirty="0">
                <a:solidFill>
                  <a:srgbClr val="7F848E"/>
                </a:solidFill>
                <a:latin typeface="微软雅黑" panose="020B0503020204020204" pitchFamily="34" charset="-122"/>
                <a:ea typeface="微软雅黑" panose="020B0503020204020204" pitchFamily="34" charset="-122"/>
              </a:rPr>
              <a:t>// </a:t>
            </a:r>
            <a:r>
              <a:rPr lang="zh-CN" altLang="en-US" sz="1600" i="1" dirty="0">
                <a:solidFill>
                  <a:srgbClr val="7F848E"/>
                </a:solidFill>
                <a:latin typeface="微软雅黑" panose="020B0503020204020204" pitchFamily="34" charset="-122"/>
                <a:ea typeface="微软雅黑" panose="020B0503020204020204" pitchFamily="34" charset="-122"/>
              </a:rPr>
              <a:t>显式地返回一个对象</a:t>
            </a:r>
            <a:endParaRPr lang="zh-CN" altLang="en-US" dirty="0">
              <a:solidFill>
                <a:srgbClr val="ABB2BF"/>
              </a:solidFill>
              <a:latin typeface="微软雅黑" panose="020B0503020204020204" pitchFamily="34" charset="-122"/>
              <a:ea typeface="微软雅黑" panose="020B0503020204020204" pitchFamily="34" charset="-122"/>
            </a:endParaRPr>
          </a:p>
          <a:p>
            <a:r>
              <a:rPr lang="zh-CN" altLang="en-US" dirty="0">
                <a:solidFill>
                  <a:srgbClr val="ABB2BF"/>
                </a:solidFill>
                <a:latin typeface="Consolas" panose="020B0609020204030204" pitchFamily="49" charset="0"/>
              </a:rPr>
              <a:t>  </a:t>
            </a:r>
            <a:r>
              <a:rPr lang="en-US" altLang="zh-CN" dirty="0">
                <a:solidFill>
                  <a:srgbClr val="C678DD"/>
                </a:solidFill>
                <a:latin typeface="Consolas" panose="020B0609020204030204" pitchFamily="49" charset="0"/>
              </a:rPr>
              <a:t>return</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name</a:t>
            </a:r>
            <a:r>
              <a:rPr lang="en-US" altLang="zh-CN" dirty="0">
                <a:solidFill>
                  <a:srgbClr val="ABB2BF"/>
                </a:solidFill>
                <a:latin typeface="Consolas" panose="020B0609020204030204" pitchFamily="49" charset="0"/>
              </a:rPr>
              <a:t>: </a:t>
            </a:r>
            <a:r>
              <a:rPr lang="en-US" altLang="zh-CN" dirty="0">
                <a:solidFill>
                  <a:srgbClr val="98C379"/>
                </a:solidFill>
                <a:latin typeface="Consolas" panose="020B0609020204030204" pitchFamily="49" charset="0"/>
              </a:rPr>
              <a:t>'two'</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err="1">
                <a:solidFill>
                  <a:srgbClr val="C678DD"/>
                </a:solidFill>
                <a:latin typeface="Consolas" panose="020B0609020204030204" pitchFamily="49" charset="0"/>
              </a:rPr>
              <a:t>var</a:t>
            </a:r>
            <a:r>
              <a:rPr lang="en-US" altLang="zh-CN" dirty="0">
                <a:solidFill>
                  <a:srgbClr val="ABB2BF"/>
                </a:solidFill>
                <a:latin typeface="Consolas" panose="020B0609020204030204" pitchFamily="49" charset="0"/>
              </a:rPr>
              <a:t> </a:t>
            </a:r>
            <a:r>
              <a:rPr lang="en-US" altLang="zh-CN" dirty="0" err="1">
                <a:solidFill>
                  <a:srgbClr val="E06C75"/>
                </a:solidFill>
                <a:latin typeface="Consolas" panose="020B0609020204030204" pitchFamily="49" charset="0"/>
              </a:rPr>
              <a:t>obj</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C678DD"/>
                </a:solidFill>
                <a:latin typeface="Consolas" panose="020B0609020204030204" pitchFamily="49" charset="0"/>
              </a:rPr>
              <a:t>new</a:t>
            </a:r>
            <a:r>
              <a:rPr lang="en-US" altLang="zh-CN" dirty="0">
                <a:solidFill>
                  <a:srgbClr val="ABB2BF"/>
                </a:solidFill>
                <a:latin typeface="Consolas" panose="020B0609020204030204" pitchFamily="49" charset="0"/>
              </a:rPr>
              <a:t> </a:t>
            </a:r>
            <a:r>
              <a:rPr lang="en-US" altLang="zh-CN" dirty="0" err="1">
                <a:solidFill>
                  <a:srgbClr val="E5C07B"/>
                </a:solidFill>
                <a:latin typeface="Consolas" panose="020B0609020204030204" pitchFamily="49" charset="0"/>
              </a:rPr>
              <a:t>MyClass</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br>
              <a:rPr lang="en-US" altLang="zh-CN" dirty="0">
                <a:solidFill>
                  <a:srgbClr val="ABB2BF"/>
                </a:solidFill>
                <a:latin typeface="Consolas" panose="020B0609020204030204" pitchFamily="49" charset="0"/>
              </a:rPr>
            </a:br>
            <a:r>
              <a:rPr lang="en-US" altLang="zh-CN" dirty="0">
                <a:solidFill>
                  <a:srgbClr val="E5C07B"/>
                </a:solidFill>
                <a:latin typeface="Consolas" panose="020B0609020204030204" pitchFamily="49" charset="0"/>
              </a:rPr>
              <a:t>console</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log</a:t>
            </a:r>
            <a:r>
              <a:rPr lang="en-US" altLang="zh-CN" dirty="0">
                <a:solidFill>
                  <a:srgbClr val="ABB2BF"/>
                </a:solidFill>
                <a:latin typeface="Consolas" panose="020B0609020204030204" pitchFamily="49" charset="0"/>
              </a:rPr>
              <a:t>(</a:t>
            </a:r>
            <a:r>
              <a:rPr lang="en-US" altLang="zh-CN" dirty="0" err="1">
                <a:solidFill>
                  <a:srgbClr val="E06C75"/>
                </a:solidFill>
                <a:latin typeface="Consolas" panose="020B0609020204030204" pitchFamily="49" charset="0"/>
              </a:rPr>
              <a:t>obj</a:t>
            </a:r>
            <a:r>
              <a:rPr lang="en-US" altLang="zh-CN" dirty="0">
                <a:solidFill>
                  <a:srgbClr val="ABB2BF"/>
                </a:solidFill>
                <a:latin typeface="Consolas" panose="020B0609020204030204" pitchFamily="49" charset="0"/>
              </a:rPr>
              <a:t>); </a:t>
            </a:r>
            <a:r>
              <a:rPr lang="en-US" altLang="zh-CN" i="1" dirty="0">
                <a:solidFill>
                  <a:srgbClr val="7F848E"/>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E5C07B"/>
                </a:solidFill>
                <a:latin typeface="Consolas" panose="020B0609020204030204" pitchFamily="49" charset="0"/>
              </a:rPr>
              <a:t>console</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log</a:t>
            </a:r>
            <a:r>
              <a:rPr lang="en-US" altLang="zh-CN" dirty="0">
                <a:solidFill>
                  <a:srgbClr val="ABB2BF"/>
                </a:solidFill>
                <a:latin typeface="Consolas" panose="020B0609020204030204" pitchFamily="49" charset="0"/>
              </a:rPr>
              <a:t>(</a:t>
            </a:r>
            <a:r>
              <a:rPr lang="en-US" altLang="zh-CN" dirty="0">
                <a:solidFill>
                  <a:srgbClr val="E06C75"/>
                </a:solidFill>
                <a:latin typeface="Consolas" panose="020B0609020204030204" pitchFamily="49" charset="0"/>
              </a:rPr>
              <a:t>obj</a:t>
            </a:r>
            <a:r>
              <a:rPr lang="en-US" altLang="zh-CN" dirty="0">
                <a:solidFill>
                  <a:srgbClr val="ABB2BF"/>
                </a:solidFill>
                <a:latin typeface="Consolas" panose="020B0609020204030204" pitchFamily="49" charset="0"/>
              </a:rPr>
              <a:t>.</a:t>
            </a:r>
            <a:r>
              <a:rPr lang="en-US" altLang="zh-CN" dirty="0">
                <a:solidFill>
                  <a:srgbClr val="E06C75"/>
                </a:solidFill>
                <a:latin typeface="Consolas" panose="020B0609020204030204" pitchFamily="49" charset="0"/>
              </a:rPr>
              <a:t>name</a:t>
            </a:r>
            <a:r>
              <a:rPr lang="en-US" altLang="zh-CN" dirty="0">
                <a:solidFill>
                  <a:srgbClr val="ABB2BF"/>
                </a:solidFill>
                <a:latin typeface="Consolas" panose="020B0609020204030204" pitchFamily="49" charset="0"/>
              </a:rPr>
              <a:t>); </a:t>
            </a:r>
            <a:r>
              <a:rPr lang="en-US" altLang="zh-CN" i="1" dirty="0">
                <a:solidFill>
                  <a:srgbClr val="7F848E"/>
                </a:solidFill>
                <a:latin typeface="Consolas" panose="020B0609020204030204" pitchFamily="49" charset="0"/>
              </a:rPr>
              <a:t>// ?</a:t>
            </a:r>
            <a:endParaRPr lang="en-US" altLang="zh-CN" b="0" dirty="0">
              <a:solidFill>
                <a:srgbClr val="ABB2BF"/>
              </a:solidFill>
              <a:effectLst/>
              <a:latin typeface="Consolas" panose="020B0609020204030204" pitchFamily="49" charset="0"/>
            </a:endParaRPr>
          </a:p>
        </p:txBody>
      </p:sp>
      <p:sp>
        <p:nvSpPr>
          <p:cNvPr id="9" name="矩形 8"/>
          <p:cNvSpPr/>
          <p:nvPr/>
        </p:nvSpPr>
        <p:spPr>
          <a:xfrm>
            <a:off x="557438" y="5459686"/>
            <a:ext cx="7070799" cy="369332"/>
          </a:xfrm>
          <a:prstGeom prst="rect">
            <a:avLst/>
          </a:prstGeom>
        </p:spPr>
        <p:txBody>
          <a:bodyPr wrap="square">
            <a:spAutoFit/>
          </a:bodyPr>
          <a:lstStyle/>
          <a:p>
            <a:r>
              <a:rPr lang="zh-CN" altLang="en-US" dirty="0" smtClean="0">
                <a:solidFill>
                  <a:schemeClr val="bg1"/>
                </a:solidFill>
                <a:latin typeface="微软雅黑" panose="020B0503020204020204" pitchFamily="34" charset="-122"/>
                <a:ea typeface="微软雅黑" panose="020B0503020204020204" pitchFamily="34" charset="-122"/>
              </a:rPr>
              <a:t>如果显式的返回类型更新为 </a:t>
            </a:r>
            <a:r>
              <a:rPr lang="en-US" altLang="zh-CN" dirty="0" smtClean="0">
                <a:solidFill>
                  <a:schemeClr val="bg1"/>
                </a:solidFill>
                <a:latin typeface="微软雅黑" panose="020B0503020204020204" pitchFamily="34" charset="-122"/>
                <a:ea typeface="微软雅黑" panose="020B0503020204020204" pitchFamily="34" charset="-122"/>
              </a:rPr>
              <a:t>number</a:t>
            </a:r>
            <a:r>
              <a:rPr lang="zh-CN" altLang="en-US" dirty="0" smtClean="0">
                <a:solidFill>
                  <a:schemeClr val="bg1"/>
                </a:solidFill>
                <a:latin typeface="微软雅黑" panose="020B0503020204020204" pitchFamily="34" charset="-122"/>
                <a:ea typeface="微软雅黑" panose="020B0503020204020204" pitchFamily="34" charset="-122"/>
              </a:rPr>
              <a:t>、</a:t>
            </a:r>
            <a:r>
              <a:rPr lang="en-US" altLang="zh-CN" dirty="0" smtClean="0">
                <a:solidFill>
                  <a:schemeClr val="bg1"/>
                </a:solidFill>
                <a:latin typeface="微软雅黑" panose="020B0503020204020204" pitchFamily="34" charset="-122"/>
                <a:ea typeface="微软雅黑" panose="020B0503020204020204" pitchFamily="34" charset="-122"/>
              </a:rPr>
              <a:t>string</a:t>
            </a:r>
            <a:r>
              <a:rPr lang="zh-CN" altLang="en-US" dirty="0" smtClean="0">
                <a:solidFill>
                  <a:schemeClr val="bg1"/>
                </a:solidFill>
                <a:latin typeface="微软雅黑" panose="020B0503020204020204" pitchFamily="34" charset="-122"/>
                <a:ea typeface="微软雅黑" panose="020B0503020204020204" pitchFamily="34" charset="-122"/>
              </a:rPr>
              <a:t>、</a:t>
            </a:r>
            <a:r>
              <a:rPr lang="en-US" altLang="zh-CN" dirty="0" smtClean="0">
                <a:solidFill>
                  <a:schemeClr val="bg1"/>
                </a:solidFill>
                <a:latin typeface="微软雅黑" panose="020B0503020204020204" pitchFamily="34" charset="-122"/>
                <a:ea typeface="微软雅黑" panose="020B0503020204020204" pitchFamily="34" charset="-122"/>
              </a:rPr>
              <a:t>array</a:t>
            </a:r>
            <a:r>
              <a:rPr lang="zh-CN" altLang="en-US" dirty="0" smtClean="0">
                <a:solidFill>
                  <a:schemeClr val="bg1"/>
                </a:solidFill>
                <a:latin typeface="微软雅黑" panose="020B0503020204020204" pitchFamily="34" charset="-122"/>
                <a:ea typeface="微软雅黑" panose="020B0503020204020204" pitchFamily="34" charset="-122"/>
              </a:rPr>
              <a:t>，结果是什么？</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6" name="内容占位符 5"/>
          <p:cNvSpPr>
            <a:spLocks noGrp="1"/>
          </p:cNvSpPr>
          <p:nvPr>
            <p:ph idx="1"/>
          </p:nvPr>
        </p:nvSpPr>
        <p:spPr/>
        <p:txBody>
          <a:bodyPr/>
          <a:p>
            <a:r>
              <a:rPr lang="zh-CN" altLang="en-US" dirty="0">
                <a:sym typeface="+mn-ea"/>
              </a:rPr>
              <a:t>构造器显式地返回了一</a:t>
            </a:r>
            <a:r>
              <a:rPr lang="zh-CN" altLang="en-US" dirty="0" smtClean="0">
                <a:sym typeface="+mn-ea"/>
              </a:rPr>
              <a:t>个 </a:t>
            </a:r>
            <a:r>
              <a:rPr lang="en-US" altLang="zh-CN" dirty="0" smtClean="0">
                <a:sym typeface="+mn-ea"/>
              </a:rPr>
              <a:t>Object </a:t>
            </a:r>
            <a:r>
              <a:rPr lang="zh-CN" altLang="en-US" dirty="0" smtClean="0">
                <a:sym typeface="+mn-ea"/>
              </a:rPr>
              <a:t>对象</a:t>
            </a:r>
            <a:endParaRPr lang="zh-CN" altLang="en-US" dirty="0"/>
          </a:p>
          <a:p>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this </a:t>
            </a:r>
            <a:r>
              <a:rPr lang="en-US" altLang="zh-CN" dirty="0" smtClean="0"/>
              <a:t>– call</a:t>
            </a:r>
            <a:r>
              <a:rPr lang="zh-CN" altLang="en-US" dirty="0" smtClean="0"/>
              <a:t>和</a:t>
            </a:r>
            <a:r>
              <a:rPr lang="en-US" altLang="zh-CN" dirty="0" smtClean="0"/>
              <a:t>apply</a:t>
            </a:r>
            <a:endParaRPr lang="zh-CN" altLang="en-US" dirty="0"/>
          </a:p>
        </p:txBody>
      </p:sp>
      <p:sp>
        <p:nvSpPr>
          <p:cNvPr id="3" name="内容占位符 2"/>
          <p:cNvSpPr>
            <a:spLocks noGrp="1"/>
          </p:cNvSpPr>
          <p:nvPr>
            <p:ph idx="1"/>
          </p:nvPr>
        </p:nvSpPr>
        <p:spPr/>
        <p:txBody>
          <a:bodyPr/>
          <a:lstStyle/>
          <a:p>
            <a:r>
              <a:rPr lang="zh-CN" altLang="en-US" dirty="0"/>
              <a:t>动态地改变传入函数的</a:t>
            </a:r>
            <a:r>
              <a:rPr lang="en-US" altLang="zh-CN" dirty="0"/>
              <a:t>this</a:t>
            </a:r>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
        <p:nvSpPr>
          <p:cNvPr id="6" name="矩形 5"/>
          <p:cNvSpPr/>
          <p:nvPr/>
        </p:nvSpPr>
        <p:spPr>
          <a:xfrm>
            <a:off x="557439" y="1822781"/>
            <a:ext cx="6096000" cy="3970318"/>
          </a:xfrm>
          <a:prstGeom prst="rect">
            <a:avLst/>
          </a:prstGeom>
        </p:spPr>
        <p:txBody>
          <a:bodyPr>
            <a:spAutoFit/>
          </a:bodyPr>
          <a:lstStyle/>
          <a:p>
            <a:r>
              <a:rPr lang="en-US" altLang="zh-CN" dirty="0" err="1">
                <a:solidFill>
                  <a:srgbClr val="C678DD"/>
                </a:solidFill>
                <a:latin typeface="Consolas" panose="020B0609020204030204" pitchFamily="49" charset="0"/>
              </a:rPr>
              <a:t>var</a:t>
            </a:r>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obj1</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name</a:t>
            </a:r>
            <a:r>
              <a:rPr lang="en-US" altLang="zh-CN" dirty="0">
                <a:solidFill>
                  <a:srgbClr val="ABB2BF"/>
                </a:solidFill>
                <a:latin typeface="Consolas" panose="020B0609020204030204" pitchFamily="49" charset="0"/>
              </a:rPr>
              <a:t>: </a:t>
            </a:r>
            <a:r>
              <a:rPr lang="en-US" altLang="zh-CN" dirty="0">
                <a:solidFill>
                  <a:srgbClr val="98C379"/>
                </a:solidFill>
                <a:latin typeface="Consolas" panose="020B0609020204030204" pitchFamily="49" charset="0"/>
              </a:rPr>
              <a:t>'one'</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err="1">
                <a:solidFill>
                  <a:srgbClr val="61AFEF"/>
                </a:solidFill>
                <a:latin typeface="Consolas" panose="020B0609020204030204" pitchFamily="49" charset="0"/>
              </a:rPr>
              <a:t>getName</a:t>
            </a:r>
            <a:r>
              <a:rPr lang="en-US" altLang="zh-CN" dirty="0">
                <a:solidFill>
                  <a:srgbClr val="ABB2BF"/>
                </a:solidFill>
                <a:latin typeface="Consolas" panose="020B0609020204030204" pitchFamily="49" charset="0"/>
              </a:rPr>
              <a:t>: </a:t>
            </a:r>
            <a:r>
              <a:rPr lang="en-US" altLang="zh-CN" dirty="0">
                <a:solidFill>
                  <a:srgbClr val="C678DD"/>
                </a:solidFill>
                <a:latin typeface="Consolas" panose="020B0609020204030204" pitchFamily="49" charset="0"/>
              </a:rPr>
              <a:t>function</a:t>
            </a:r>
            <a:r>
              <a:rPr lang="en-US" altLang="zh-CN" dirty="0">
                <a:solidFill>
                  <a:srgbClr val="ABB2BF"/>
                </a:solidFill>
                <a:latin typeface="Consolas" panose="020B0609020204030204" pitchFamily="49" charset="0"/>
              </a:rPr>
              <a:t> ()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a:solidFill>
                  <a:srgbClr val="C678DD"/>
                </a:solidFill>
                <a:latin typeface="Consolas" panose="020B0609020204030204" pitchFamily="49" charset="0"/>
              </a:rPr>
              <a:t>return</a:t>
            </a:r>
            <a:r>
              <a:rPr lang="en-US" altLang="zh-CN" dirty="0">
                <a:solidFill>
                  <a:srgbClr val="ABB2BF"/>
                </a:solidFill>
                <a:latin typeface="Consolas" panose="020B0609020204030204" pitchFamily="49" charset="0"/>
              </a:rPr>
              <a:t> </a:t>
            </a:r>
            <a:r>
              <a:rPr lang="en-US" altLang="zh-CN" dirty="0">
                <a:solidFill>
                  <a:srgbClr val="E5C07B"/>
                </a:solidFill>
                <a:latin typeface="Consolas" panose="020B0609020204030204" pitchFamily="49" charset="0"/>
              </a:rPr>
              <a:t>this</a:t>
            </a:r>
            <a:r>
              <a:rPr lang="en-US" altLang="zh-CN" dirty="0">
                <a:solidFill>
                  <a:srgbClr val="ABB2BF"/>
                </a:solidFill>
                <a:latin typeface="Consolas" panose="020B0609020204030204" pitchFamily="49" charset="0"/>
              </a:rPr>
              <a:t>.</a:t>
            </a:r>
            <a:r>
              <a:rPr lang="en-US" altLang="zh-CN" dirty="0">
                <a:solidFill>
                  <a:srgbClr val="E06C75"/>
                </a:solidFill>
                <a:latin typeface="Consolas" panose="020B0609020204030204" pitchFamily="49" charset="0"/>
              </a:rPr>
              <a:t>name</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br>
              <a:rPr lang="en-US" altLang="zh-CN" dirty="0">
                <a:solidFill>
                  <a:srgbClr val="ABB2BF"/>
                </a:solidFill>
                <a:latin typeface="Consolas" panose="020B0609020204030204" pitchFamily="49" charset="0"/>
              </a:rPr>
            </a:br>
            <a:r>
              <a:rPr lang="en-US" altLang="zh-CN" dirty="0" err="1">
                <a:solidFill>
                  <a:srgbClr val="C678DD"/>
                </a:solidFill>
                <a:latin typeface="Consolas" panose="020B0609020204030204" pitchFamily="49" charset="0"/>
              </a:rPr>
              <a:t>var</a:t>
            </a:r>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obj2</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name</a:t>
            </a:r>
            <a:r>
              <a:rPr lang="en-US" altLang="zh-CN" dirty="0">
                <a:solidFill>
                  <a:srgbClr val="ABB2BF"/>
                </a:solidFill>
                <a:latin typeface="Consolas" panose="020B0609020204030204" pitchFamily="49" charset="0"/>
              </a:rPr>
              <a:t>: </a:t>
            </a:r>
            <a:r>
              <a:rPr lang="en-US" altLang="zh-CN" dirty="0">
                <a:solidFill>
                  <a:srgbClr val="98C379"/>
                </a:solidFill>
                <a:latin typeface="Consolas" panose="020B0609020204030204" pitchFamily="49" charset="0"/>
              </a:rPr>
              <a:t>'two'</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br>
              <a:rPr lang="en-US" altLang="zh-CN" dirty="0">
                <a:solidFill>
                  <a:srgbClr val="ABB2BF"/>
                </a:solidFill>
                <a:latin typeface="Consolas" panose="020B0609020204030204" pitchFamily="49" charset="0"/>
              </a:rPr>
            </a:br>
            <a:r>
              <a:rPr lang="en-US" altLang="zh-CN" dirty="0">
                <a:solidFill>
                  <a:srgbClr val="E5C07B"/>
                </a:solidFill>
                <a:latin typeface="Consolas" panose="020B0609020204030204" pitchFamily="49" charset="0"/>
              </a:rPr>
              <a:t>console</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log</a:t>
            </a:r>
            <a:r>
              <a:rPr lang="en-US" altLang="zh-CN" dirty="0">
                <a:solidFill>
                  <a:srgbClr val="ABB2BF"/>
                </a:solidFill>
                <a:latin typeface="Consolas" panose="020B0609020204030204" pitchFamily="49" charset="0"/>
              </a:rPr>
              <a:t>(</a:t>
            </a:r>
            <a:r>
              <a:rPr lang="en-US" altLang="zh-CN" dirty="0">
                <a:solidFill>
                  <a:srgbClr val="E06C75"/>
                </a:solidFill>
                <a:latin typeface="Consolas" panose="020B0609020204030204" pitchFamily="49" charset="0"/>
              </a:rPr>
              <a:t>obj1</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getName</a:t>
            </a:r>
            <a:r>
              <a:rPr lang="en-US" altLang="zh-CN" dirty="0">
                <a:solidFill>
                  <a:srgbClr val="ABB2BF"/>
                </a:solidFill>
                <a:latin typeface="Consolas" panose="020B0609020204030204" pitchFamily="49" charset="0"/>
              </a:rPr>
              <a:t>()); </a:t>
            </a:r>
            <a:r>
              <a:rPr lang="en-US" altLang="zh-CN" i="1" dirty="0">
                <a:solidFill>
                  <a:srgbClr val="7F848E"/>
                </a:solidFill>
                <a:latin typeface="Consolas" panose="020B0609020204030204" pitchFamily="49" charset="0"/>
              </a:rPr>
              <a:t>// one</a:t>
            </a:r>
            <a:endParaRPr lang="en-US" altLang="zh-CN" dirty="0">
              <a:solidFill>
                <a:srgbClr val="ABB2BF"/>
              </a:solidFill>
              <a:latin typeface="Consolas" panose="020B0609020204030204" pitchFamily="49" charset="0"/>
            </a:endParaRPr>
          </a:p>
          <a:p>
            <a:r>
              <a:rPr lang="en-US" altLang="zh-CN" dirty="0">
                <a:solidFill>
                  <a:srgbClr val="E5C07B"/>
                </a:solidFill>
                <a:latin typeface="Consolas" panose="020B0609020204030204" pitchFamily="49" charset="0"/>
              </a:rPr>
              <a:t>console</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log</a:t>
            </a:r>
            <a:r>
              <a:rPr lang="en-US" altLang="zh-CN" dirty="0">
                <a:solidFill>
                  <a:srgbClr val="ABB2BF"/>
                </a:solidFill>
                <a:latin typeface="Consolas" panose="020B0609020204030204" pitchFamily="49" charset="0"/>
              </a:rPr>
              <a:t>(</a:t>
            </a:r>
            <a:r>
              <a:rPr lang="en-US" altLang="zh-CN" dirty="0">
                <a:solidFill>
                  <a:srgbClr val="E06C75"/>
                </a:solidFill>
                <a:latin typeface="Consolas" panose="020B0609020204030204" pitchFamily="49" charset="0"/>
              </a:rPr>
              <a:t>obj1</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getName</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call</a:t>
            </a:r>
            <a:r>
              <a:rPr lang="en-US" altLang="zh-CN" dirty="0">
                <a:solidFill>
                  <a:srgbClr val="ABB2BF"/>
                </a:solidFill>
                <a:latin typeface="Consolas" panose="020B0609020204030204" pitchFamily="49" charset="0"/>
              </a:rPr>
              <a:t>(</a:t>
            </a:r>
            <a:r>
              <a:rPr lang="en-US" altLang="zh-CN" dirty="0">
                <a:solidFill>
                  <a:srgbClr val="E06C75"/>
                </a:solidFill>
                <a:latin typeface="Consolas" panose="020B0609020204030204" pitchFamily="49" charset="0"/>
              </a:rPr>
              <a:t>obj2</a:t>
            </a:r>
            <a:r>
              <a:rPr lang="en-US" altLang="zh-CN" dirty="0">
                <a:solidFill>
                  <a:srgbClr val="ABB2BF"/>
                </a:solidFill>
                <a:latin typeface="Consolas" panose="020B0609020204030204" pitchFamily="49" charset="0"/>
              </a:rPr>
              <a:t>)); </a:t>
            </a:r>
            <a:r>
              <a:rPr lang="en-US" altLang="zh-CN" i="1" dirty="0">
                <a:solidFill>
                  <a:srgbClr val="7F848E"/>
                </a:solidFill>
                <a:latin typeface="Consolas" panose="020B0609020204030204" pitchFamily="49" charset="0"/>
              </a:rPr>
              <a:t>// two</a:t>
            </a:r>
            <a:endParaRPr lang="en-US" altLang="zh-CN" dirty="0">
              <a:solidFill>
                <a:srgbClr val="ABB2BF"/>
              </a:solidFill>
              <a:latin typeface="Consolas" panose="020B0609020204030204" pitchFamily="49" charset="0"/>
            </a:endParaRPr>
          </a:p>
          <a:p>
            <a:r>
              <a:rPr lang="en-US" altLang="zh-CN" dirty="0">
                <a:solidFill>
                  <a:srgbClr val="E5C07B"/>
                </a:solidFill>
                <a:latin typeface="Consolas" panose="020B0609020204030204" pitchFamily="49" charset="0"/>
              </a:rPr>
              <a:t>console</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log</a:t>
            </a:r>
            <a:r>
              <a:rPr lang="en-US" altLang="zh-CN" dirty="0">
                <a:solidFill>
                  <a:srgbClr val="ABB2BF"/>
                </a:solidFill>
                <a:latin typeface="Consolas" panose="020B0609020204030204" pitchFamily="49" charset="0"/>
              </a:rPr>
              <a:t>(</a:t>
            </a:r>
            <a:r>
              <a:rPr lang="en-US" altLang="zh-CN" dirty="0">
                <a:solidFill>
                  <a:srgbClr val="E06C75"/>
                </a:solidFill>
                <a:latin typeface="Consolas" panose="020B0609020204030204" pitchFamily="49" charset="0"/>
              </a:rPr>
              <a:t>obj1</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getName</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apply</a:t>
            </a:r>
            <a:r>
              <a:rPr lang="en-US" altLang="zh-CN" dirty="0">
                <a:solidFill>
                  <a:srgbClr val="ABB2BF"/>
                </a:solidFill>
                <a:latin typeface="Consolas" panose="020B0609020204030204" pitchFamily="49" charset="0"/>
              </a:rPr>
              <a:t>(</a:t>
            </a:r>
            <a:r>
              <a:rPr lang="en-US" altLang="zh-CN" dirty="0">
                <a:solidFill>
                  <a:srgbClr val="E06C75"/>
                </a:solidFill>
                <a:latin typeface="Consolas" panose="020B0609020204030204" pitchFamily="49" charset="0"/>
              </a:rPr>
              <a:t>obj2</a:t>
            </a:r>
            <a:r>
              <a:rPr lang="en-US" altLang="zh-CN" dirty="0">
                <a:solidFill>
                  <a:srgbClr val="ABB2BF"/>
                </a:solidFill>
                <a:latin typeface="Consolas" panose="020B0609020204030204" pitchFamily="49" charset="0"/>
              </a:rPr>
              <a:t>)); </a:t>
            </a:r>
            <a:r>
              <a:rPr lang="en-US" altLang="zh-CN" i="1" dirty="0">
                <a:solidFill>
                  <a:srgbClr val="7F848E"/>
                </a:solidFill>
                <a:latin typeface="Consolas" panose="020B0609020204030204" pitchFamily="49" charset="0"/>
              </a:rPr>
              <a:t>// two</a:t>
            </a:r>
            <a:endParaRPr lang="en-US" altLang="zh-CN" b="0" dirty="0">
              <a:solidFill>
                <a:srgbClr val="ABB2BF"/>
              </a:solidFill>
              <a:effectLst/>
              <a:latin typeface="Consolas" panose="020B0609020204030204" pitchFamily="49"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丢失的</a:t>
            </a:r>
            <a:r>
              <a:rPr lang="en-US" altLang="zh-CN" dirty="0" smtClean="0"/>
              <a:t>this</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
        <p:nvSpPr>
          <p:cNvPr id="5" name="矩形 4"/>
          <p:cNvSpPr/>
          <p:nvPr/>
        </p:nvSpPr>
        <p:spPr>
          <a:xfrm>
            <a:off x="557439" y="1256434"/>
            <a:ext cx="6096000" cy="2862322"/>
          </a:xfrm>
          <a:prstGeom prst="rect">
            <a:avLst/>
          </a:prstGeom>
        </p:spPr>
        <p:txBody>
          <a:bodyPr>
            <a:spAutoFit/>
          </a:bodyPr>
          <a:lstStyle/>
          <a:p>
            <a:r>
              <a:rPr lang="en-US" altLang="zh-CN" dirty="0" err="1">
                <a:solidFill>
                  <a:srgbClr val="C678DD"/>
                </a:solidFill>
                <a:latin typeface="Consolas" panose="020B0609020204030204" pitchFamily="49" charset="0"/>
              </a:rPr>
              <a:t>var</a:t>
            </a:r>
            <a:r>
              <a:rPr lang="en-US" altLang="zh-CN" dirty="0">
                <a:solidFill>
                  <a:srgbClr val="ABB2BF"/>
                </a:solidFill>
                <a:latin typeface="Consolas" panose="020B0609020204030204" pitchFamily="49" charset="0"/>
              </a:rPr>
              <a:t> </a:t>
            </a:r>
            <a:r>
              <a:rPr lang="en-US" altLang="zh-CN" dirty="0" err="1">
                <a:solidFill>
                  <a:srgbClr val="E06C75"/>
                </a:solidFill>
                <a:latin typeface="Consolas" panose="020B0609020204030204" pitchFamily="49" charset="0"/>
              </a:rPr>
              <a:t>obj</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age</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18</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err="1">
                <a:solidFill>
                  <a:srgbClr val="61AFEF"/>
                </a:solidFill>
                <a:latin typeface="Consolas" panose="020B0609020204030204" pitchFamily="49" charset="0"/>
              </a:rPr>
              <a:t>getAge</a:t>
            </a:r>
            <a:r>
              <a:rPr lang="en-US" altLang="zh-CN" dirty="0">
                <a:solidFill>
                  <a:srgbClr val="ABB2BF"/>
                </a:solidFill>
                <a:latin typeface="Consolas" panose="020B0609020204030204" pitchFamily="49" charset="0"/>
              </a:rPr>
              <a:t>: </a:t>
            </a:r>
            <a:r>
              <a:rPr lang="en-US" altLang="zh-CN" dirty="0">
                <a:solidFill>
                  <a:srgbClr val="C678DD"/>
                </a:solidFill>
                <a:latin typeface="Consolas" panose="020B0609020204030204" pitchFamily="49" charset="0"/>
              </a:rPr>
              <a:t>function</a:t>
            </a:r>
            <a:r>
              <a:rPr lang="en-US" altLang="zh-CN" dirty="0">
                <a:solidFill>
                  <a:srgbClr val="ABB2BF"/>
                </a:solidFill>
                <a:latin typeface="Consolas" panose="020B0609020204030204" pitchFamily="49" charset="0"/>
              </a:rPr>
              <a:t> ()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a:solidFill>
                  <a:srgbClr val="C678DD"/>
                </a:solidFill>
                <a:latin typeface="Consolas" panose="020B0609020204030204" pitchFamily="49" charset="0"/>
              </a:rPr>
              <a:t>return</a:t>
            </a:r>
            <a:r>
              <a:rPr lang="en-US" altLang="zh-CN" dirty="0">
                <a:solidFill>
                  <a:srgbClr val="ABB2BF"/>
                </a:solidFill>
                <a:latin typeface="Consolas" panose="020B0609020204030204" pitchFamily="49" charset="0"/>
              </a:rPr>
              <a:t> </a:t>
            </a:r>
            <a:r>
              <a:rPr lang="en-US" altLang="zh-CN" dirty="0" err="1">
                <a:solidFill>
                  <a:srgbClr val="E5C07B"/>
                </a:solidFill>
                <a:latin typeface="Consolas" panose="020B0609020204030204" pitchFamily="49" charset="0"/>
              </a:rPr>
              <a:t>this</a:t>
            </a:r>
            <a:r>
              <a:rPr lang="en-US" altLang="zh-CN" dirty="0" err="1">
                <a:solidFill>
                  <a:srgbClr val="ABB2BF"/>
                </a:solidFill>
                <a:latin typeface="Consolas" panose="020B0609020204030204" pitchFamily="49" charset="0"/>
              </a:rPr>
              <a:t>.</a:t>
            </a:r>
            <a:r>
              <a:rPr lang="en-US" altLang="zh-CN" dirty="0" err="1">
                <a:solidFill>
                  <a:srgbClr val="E06C75"/>
                </a:solidFill>
                <a:latin typeface="Consolas" panose="020B0609020204030204" pitchFamily="49" charset="0"/>
              </a:rPr>
              <a:t>age</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err="1">
                <a:solidFill>
                  <a:srgbClr val="C678DD"/>
                </a:solidFill>
                <a:latin typeface="Consolas" panose="020B0609020204030204" pitchFamily="49" charset="0"/>
              </a:rPr>
              <a:t>var</a:t>
            </a:r>
            <a:r>
              <a:rPr lang="en-US" altLang="zh-CN" dirty="0">
                <a:solidFill>
                  <a:srgbClr val="ABB2BF"/>
                </a:solidFill>
                <a:latin typeface="Consolas" panose="020B0609020204030204" pitchFamily="49" charset="0"/>
              </a:rPr>
              <a:t> </a:t>
            </a:r>
            <a:r>
              <a:rPr lang="en-US" altLang="zh-CN" dirty="0">
                <a:solidFill>
                  <a:srgbClr val="61AFEF"/>
                </a:solidFill>
                <a:latin typeface="Consolas" panose="020B0609020204030204" pitchFamily="49" charset="0"/>
              </a:rPr>
              <a:t>getAge2</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err="1">
                <a:solidFill>
                  <a:srgbClr val="E06C75"/>
                </a:solidFill>
                <a:latin typeface="Consolas" panose="020B0609020204030204" pitchFamily="49" charset="0"/>
              </a:rPr>
              <a:t>obj</a:t>
            </a:r>
            <a:r>
              <a:rPr lang="en-US" altLang="zh-CN" dirty="0" err="1">
                <a:solidFill>
                  <a:srgbClr val="ABB2BF"/>
                </a:solidFill>
                <a:latin typeface="Consolas" panose="020B0609020204030204" pitchFamily="49" charset="0"/>
              </a:rPr>
              <a:t>.</a:t>
            </a:r>
            <a:r>
              <a:rPr lang="en-US" altLang="zh-CN" dirty="0" err="1">
                <a:solidFill>
                  <a:srgbClr val="61AFEF"/>
                </a:solidFill>
                <a:latin typeface="Consolas" panose="020B0609020204030204" pitchFamily="49" charset="0"/>
              </a:rPr>
              <a:t>getAge</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br>
              <a:rPr lang="en-US" altLang="zh-CN" dirty="0">
                <a:solidFill>
                  <a:srgbClr val="ABB2BF"/>
                </a:solidFill>
                <a:latin typeface="Consolas" panose="020B0609020204030204" pitchFamily="49" charset="0"/>
              </a:rPr>
            </a:br>
            <a:r>
              <a:rPr lang="en-US" altLang="zh-CN" dirty="0">
                <a:solidFill>
                  <a:srgbClr val="E5C07B"/>
                </a:solidFill>
                <a:latin typeface="Consolas" panose="020B0609020204030204" pitchFamily="49" charset="0"/>
              </a:rPr>
              <a:t>console</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log</a:t>
            </a:r>
            <a:r>
              <a:rPr lang="en-US" altLang="zh-CN" dirty="0">
                <a:solidFill>
                  <a:srgbClr val="ABB2BF"/>
                </a:solidFill>
                <a:latin typeface="Consolas" panose="020B0609020204030204" pitchFamily="49" charset="0"/>
              </a:rPr>
              <a:t>(</a:t>
            </a:r>
            <a:r>
              <a:rPr lang="en-US" altLang="zh-CN" dirty="0" err="1">
                <a:solidFill>
                  <a:srgbClr val="E06C75"/>
                </a:solidFill>
                <a:latin typeface="Consolas" panose="020B0609020204030204" pitchFamily="49" charset="0"/>
              </a:rPr>
              <a:t>obj</a:t>
            </a:r>
            <a:r>
              <a:rPr lang="en-US" altLang="zh-CN" dirty="0" err="1">
                <a:solidFill>
                  <a:srgbClr val="ABB2BF"/>
                </a:solidFill>
                <a:latin typeface="Consolas" panose="020B0609020204030204" pitchFamily="49" charset="0"/>
              </a:rPr>
              <a:t>.</a:t>
            </a:r>
            <a:r>
              <a:rPr lang="en-US" altLang="zh-CN" dirty="0" err="1">
                <a:solidFill>
                  <a:srgbClr val="61AFEF"/>
                </a:solidFill>
                <a:latin typeface="Consolas" panose="020B0609020204030204" pitchFamily="49" charset="0"/>
              </a:rPr>
              <a:t>getAge</a:t>
            </a:r>
            <a:r>
              <a:rPr lang="en-US" altLang="zh-CN" dirty="0">
                <a:solidFill>
                  <a:srgbClr val="ABB2BF"/>
                </a:solidFill>
                <a:latin typeface="Consolas" panose="020B0609020204030204" pitchFamily="49" charset="0"/>
              </a:rPr>
              <a:t>()); </a:t>
            </a:r>
            <a:r>
              <a:rPr lang="en-US" altLang="zh-CN" i="1" dirty="0">
                <a:solidFill>
                  <a:srgbClr val="7F848E"/>
                </a:solidFill>
                <a:latin typeface="Consolas" panose="020B0609020204030204" pitchFamily="49" charset="0"/>
              </a:rPr>
              <a:t>// </a:t>
            </a:r>
            <a:r>
              <a:rPr lang="en-US" altLang="zh-CN" i="1" dirty="0" smtClean="0">
                <a:solidFill>
                  <a:srgbClr val="7F848E"/>
                </a:solidFill>
                <a:latin typeface="Consolas" panose="020B0609020204030204" pitchFamily="49" charset="0"/>
              </a:rPr>
              <a:t>18</a:t>
            </a:r>
            <a:endParaRPr lang="en-US" altLang="zh-CN" dirty="0">
              <a:solidFill>
                <a:srgbClr val="ABB2BF"/>
              </a:solidFill>
              <a:latin typeface="Consolas" panose="020B0609020204030204" pitchFamily="49" charset="0"/>
            </a:endParaRPr>
          </a:p>
          <a:p>
            <a:r>
              <a:rPr lang="en-US" altLang="zh-CN" dirty="0">
                <a:solidFill>
                  <a:srgbClr val="E5C07B"/>
                </a:solidFill>
                <a:latin typeface="Consolas" panose="020B0609020204030204" pitchFamily="49" charset="0"/>
              </a:rPr>
              <a:t>console</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log</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getAge2</a:t>
            </a:r>
            <a:r>
              <a:rPr lang="en-US" altLang="zh-CN" dirty="0">
                <a:solidFill>
                  <a:srgbClr val="ABB2BF"/>
                </a:solidFill>
                <a:latin typeface="Consolas" panose="020B0609020204030204" pitchFamily="49" charset="0"/>
              </a:rPr>
              <a:t>()); </a:t>
            </a:r>
            <a:r>
              <a:rPr lang="en-US" altLang="zh-CN" i="1" dirty="0">
                <a:solidFill>
                  <a:srgbClr val="7F848E"/>
                </a:solidFill>
                <a:latin typeface="Consolas" panose="020B0609020204030204" pitchFamily="49" charset="0"/>
              </a:rPr>
              <a:t>// undefined</a:t>
            </a:r>
            <a:endParaRPr lang="en-US" altLang="zh-CN" b="0" dirty="0">
              <a:solidFill>
                <a:srgbClr val="ABB2BF"/>
              </a:solidFill>
              <a:effectLst/>
              <a:latin typeface="Consolas" panose="020B0609020204030204" pitchFamily="49"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3716020" y="2949575"/>
            <a:ext cx="4760595" cy="958850"/>
          </a:xfrm>
          <a:prstGeom prst="roundRect">
            <a:avLst>
              <a:gd name="adj" fmla="val 50000"/>
            </a:avLst>
          </a:prstGeom>
          <a:gradFill>
            <a:gsLst>
              <a:gs pos="22000">
                <a:srgbClr val="DD69B4"/>
              </a:gs>
              <a:gs pos="100000">
                <a:srgbClr val="0054FF"/>
              </a:gs>
            </a:gsLst>
            <a:lin ang="27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800">
                <a:latin typeface="微软雅黑" panose="020B0503020204020204" pitchFamily="34" charset="-122"/>
                <a:ea typeface="微软雅黑" panose="020B0503020204020204" pitchFamily="34" charset="-122"/>
              </a:rPr>
              <a:t>闭包</a:t>
            </a:r>
            <a:endParaRPr lang="zh-CN" altLang="en-US" sz="280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闭包 </a:t>
            </a:r>
            <a:r>
              <a:rPr lang="en-US" altLang="zh-CN" dirty="0" smtClean="0"/>
              <a:t>– </a:t>
            </a:r>
            <a:r>
              <a:rPr lang="zh-CN" altLang="en-US" dirty="0" smtClean="0"/>
              <a:t>变量的生命周期</a:t>
            </a:r>
            <a:endParaRPr lang="zh-CN" altLang="en-US" dirty="0"/>
          </a:p>
        </p:txBody>
      </p:sp>
      <p:sp>
        <p:nvSpPr>
          <p:cNvPr id="3" name="内容占位符 2"/>
          <p:cNvSpPr>
            <a:spLocks noGrp="1"/>
          </p:cNvSpPr>
          <p:nvPr>
            <p:ph idx="1"/>
          </p:nvPr>
        </p:nvSpPr>
        <p:spPr/>
        <p:txBody>
          <a:bodyPr/>
          <a:lstStyle/>
          <a:p>
            <a:r>
              <a:rPr lang="zh-CN" altLang="en-US" dirty="0" smtClean="0"/>
              <a:t>什么闭包</a:t>
            </a:r>
            <a:endParaRPr lang="en-US" altLang="zh-CN" dirty="0" smtClean="0"/>
          </a:p>
          <a:p>
            <a:pPr lvl="1"/>
            <a:r>
              <a:rPr lang="zh-CN" altLang="en-US" dirty="0" smtClean="0"/>
              <a:t>指一个函数可以访问其外部作用域中的变量</a:t>
            </a:r>
            <a:endParaRPr lang="zh-CN" altLang="en-US" dirty="0"/>
          </a:p>
          <a:p>
            <a:pPr marL="0" indent="0">
              <a:buNone/>
            </a:pP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闭包 </a:t>
            </a:r>
            <a:r>
              <a:rPr lang="en-US" altLang="zh-CN" dirty="0" smtClean="0"/>
              <a:t>– </a:t>
            </a:r>
            <a:r>
              <a:rPr lang="zh-CN" altLang="en-US" dirty="0" smtClean="0"/>
              <a:t>变量的生命周期</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
        <p:nvSpPr>
          <p:cNvPr id="6" name="矩形 5"/>
          <p:cNvSpPr/>
          <p:nvPr/>
        </p:nvSpPr>
        <p:spPr>
          <a:xfrm>
            <a:off x="557439" y="1193112"/>
            <a:ext cx="2031325" cy="369332"/>
          </a:xfrm>
          <a:prstGeom prst="rect">
            <a:avLst/>
          </a:prstGeom>
        </p:spPr>
        <p:txBody>
          <a:bodyPr wrap="none">
            <a:spAutoFit/>
          </a:bodyPr>
          <a:lstStyle/>
          <a:p>
            <a:r>
              <a:rPr lang="zh-CN" altLang="en-US" dirty="0" smtClean="0">
                <a:solidFill>
                  <a:schemeClr val="bg1"/>
                </a:solidFill>
                <a:latin typeface="微软雅黑" panose="020B0503020204020204" pitchFamily="34" charset="-122"/>
                <a:ea typeface="微软雅黑" panose="020B0503020204020204" pitchFamily="34" charset="-122"/>
              </a:rPr>
              <a:t>看下，这一段代码</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3" name="矩形 2"/>
          <p:cNvSpPr/>
          <p:nvPr/>
        </p:nvSpPr>
        <p:spPr>
          <a:xfrm>
            <a:off x="557439" y="1906017"/>
            <a:ext cx="3874518" cy="3416320"/>
          </a:xfrm>
          <a:prstGeom prst="rect">
            <a:avLst/>
          </a:prstGeom>
        </p:spPr>
        <p:txBody>
          <a:bodyPr wrap="square">
            <a:spAutoFit/>
          </a:bodyPr>
          <a:lstStyle/>
          <a:p>
            <a:r>
              <a:rPr lang="en-US" altLang="zh-CN" dirty="0">
                <a:solidFill>
                  <a:srgbClr val="C678DD"/>
                </a:solidFill>
                <a:latin typeface="Consolas" panose="020B0609020204030204" pitchFamily="49" charset="0"/>
              </a:rPr>
              <a:t>function</a:t>
            </a:r>
            <a:r>
              <a:rPr lang="en-US" altLang="zh-CN" dirty="0">
                <a:solidFill>
                  <a:srgbClr val="ABB2BF"/>
                </a:solidFill>
                <a:latin typeface="Consolas" panose="020B0609020204030204" pitchFamily="49" charset="0"/>
              </a:rPr>
              <a:t> </a:t>
            </a:r>
            <a:r>
              <a:rPr lang="en-US" altLang="zh-CN" dirty="0" err="1">
                <a:solidFill>
                  <a:srgbClr val="61AFEF"/>
                </a:solidFill>
                <a:latin typeface="Consolas" panose="020B0609020204030204" pitchFamily="49" charset="0"/>
              </a:rPr>
              <a:t>func</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err="1">
                <a:solidFill>
                  <a:srgbClr val="C678DD"/>
                </a:solidFill>
                <a:latin typeface="Consolas" panose="020B0609020204030204" pitchFamily="49" charset="0"/>
              </a:rPr>
              <a:t>var</a:t>
            </a:r>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a</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0</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a:solidFill>
                  <a:srgbClr val="C678DD"/>
                </a:solidFill>
                <a:latin typeface="Consolas" panose="020B0609020204030204" pitchFamily="49" charset="0"/>
              </a:rPr>
              <a:t>return</a:t>
            </a:r>
            <a:r>
              <a:rPr lang="en-US" altLang="zh-CN" dirty="0">
                <a:solidFill>
                  <a:srgbClr val="ABB2BF"/>
                </a:solidFill>
                <a:latin typeface="Consolas" panose="020B0609020204030204" pitchFamily="49" charset="0"/>
              </a:rPr>
              <a:t> </a:t>
            </a:r>
            <a:r>
              <a:rPr lang="en-US" altLang="zh-CN" dirty="0">
                <a:solidFill>
                  <a:srgbClr val="C678DD"/>
                </a:solidFill>
                <a:latin typeface="Consolas" panose="020B0609020204030204" pitchFamily="49" charset="0"/>
              </a:rPr>
              <a:t>function</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a</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a:solidFill>
                  <a:srgbClr val="E5C07B"/>
                </a:solidFill>
                <a:latin typeface="Consolas" panose="020B0609020204030204" pitchFamily="49" charset="0"/>
              </a:rPr>
              <a:t>console</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log</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'a = '</a:t>
            </a:r>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a</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br>
              <a:rPr lang="en-US" altLang="zh-CN" dirty="0">
                <a:solidFill>
                  <a:srgbClr val="ABB2BF"/>
                </a:solidFill>
                <a:latin typeface="Consolas" panose="020B0609020204030204" pitchFamily="49" charset="0"/>
              </a:rPr>
            </a:br>
            <a:r>
              <a:rPr lang="en-US" altLang="zh-CN" dirty="0" err="1">
                <a:solidFill>
                  <a:srgbClr val="C678DD"/>
                </a:solidFill>
                <a:latin typeface="Consolas" panose="020B0609020204030204" pitchFamily="49" charset="0"/>
              </a:rPr>
              <a:t>var</a:t>
            </a:r>
            <a:r>
              <a:rPr lang="en-US" altLang="zh-CN" dirty="0">
                <a:solidFill>
                  <a:srgbClr val="ABB2BF"/>
                </a:solidFill>
                <a:latin typeface="Consolas" panose="020B0609020204030204" pitchFamily="49" charset="0"/>
              </a:rPr>
              <a:t> </a:t>
            </a:r>
            <a:r>
              <a:rPr lang="en-US" altLang="zh-CN" dirty="0">
                <a:solidFill>
                  <a:srgbClr val="61AFEF"/>
                </a:solidFill>
                <a:latin typeface="Consolas" panose="020B0609020204030204" pitchFamily="49" charset="0"/>
              </a:rPr>
              <a:t>foo</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err="1">
                <a:solidFill>
                  <a:srgbClr val="61AFEF"/>
                </a:solidFill>
                <a:latin typeface="Consolas" panose="020B0609020204030204" pitchFamily="49" charset="0"/>
              </a:rPr>
              <a:t>func</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61AFEF"/>
                </a:solidFill>
                <a:latin typeface="Consolas" panose="020B0609020204030204" pitchFamily="49" charset="0"/>
              </a:rPr>
              <a:t>foo</a:t>
            </a:r>
            <a:r>
              <a:rPr lang="en-US" altLang="zh-CN" dirty="0">
                <a:solidFill>
                  <a:srgbClr val="ABB2BF"/>
                </a:solidFill>
                <a:latin typeface="Consolas" panose="020B0609020204030204" pitchFamily="49" charset="0"/>
              </a:rPr>
              <a:t>(); </a:t>
            </a:r>
            <a:r>
              <a:rPr lang="en-US" altLang="zh-CN" i="1" dirty="0">
                <a:solidFill>
                  <a:srgbClr val="7F848E"/>
                </a:solidFill>
                <a:latin typeface="Consolas" panose="020B0609020204030204" pitchFamily="49" charset="0"/>
              </a:rPr>
              <a:t>// print a = ?</a:t>
            </a:r>
            <a:endParaRPr lang="en-US" altLang="zh-CN" dirty="0">
              <a:solidFill>
                <a:srgbClr val="ABB2BF"/>
              </a:solidFill>
              <a:latin typeface="Consolas" panose="020B0609020204030204" pitchFamily="49" charset="0"/>
            </a:endParaRPr>
          </a:p>
          <a:p>
            <a:r>
              <a:rPr lang="en-US" altLang="zh-CN" dirty="0">
                <a:solidFill>
                  <a:srgbClr val="61AFEF"/>
                </a:solidFill>
                <a:latin typeface="Consolas" panose="020B0609020204030204" pitchFamily="49" charset="0"/>
              </a:rPr>
              <a:t>foo</a:t>
            </a:r>
            <a:r>
              <a:rPr lang="en-US" altLang="zh-CN" dirty="0">
                <a:solidFill>
                  <a:srgbClr val="ABB2BF"/>
                </a:solidFill>
                <a:latin typeface="Consolas" panose="020B0609020204030204" pitchFamily="49" charset="0"/>
              </a:rPr>
              <a:t>(); </a:t>
            </a:r>
            <a:r>
              <a:rPr lang="en-US" altLang="zh-CN" i="1" dirty="0">
                <a:solidFill>
                  <a:srgbClr val="7F848E"/>
                </a:solidFill>
                <a:latin typeface="Consolas" panose="020B0609020204030204" pitchFamily="49" charset="0"/>
              </a:rPr>
              <a:t>// print a = ?</a:t>
            </a:r>
            <a:endParaRPr lang="en-US" altLang="zh-CN" dirty="0">
              <a:solidFill>
                <a:srgbClr val="ABB2BF"/>
              </a:solidFill>
              <a:latin typeface="Consolas" panose="020B0609020204030204" pitchFamily="49" charset="0"/>
            </a:endParaRPr>
          </a:p>
          <a:p>
            <a:r>
              <a:rPr lang="en-US" altLang="zh-CN" dirty="0">
                <a:solidFill>
                  <a:srgbClr val="61AFEF"/>
                </a:solidFill>
                <a:latin typeface="Consolas" panose="020B0609020204030204" pitchFamily="49" charset="0"/>
              </a:rPr>
              <a:t>foo</a:t>
            </a:r>
            <a:r>
              <a:rPr lang="en-US" altLang="zh-CN" dirty="0">
                <a:solidFill>
                  <a:srgbClr val="ABB2BF"/>
                </a:solidFill>
                <a:latin typeface="Consolas" panose="020B0609020204030204" pitchFamily="49" charset="0"/>
              </a:rPr>
              <a:t>(); </a:t>
            </a:r>
            <a:r>
              <a:rPr lang="en-US" altLang="zh-CN" i="1" dirty="0">
                <a:solidFill>
                  <a:srgbClr val="7F848E"/>
                </a:solidFill>
                <a:latin typeface="Consolas" panose="020B0609020204030204" pitchFamily="49" charset="0"/>
              </a:rPr>
              <a:t>// print a = ?</a:t>
            </a:r>
            <a:endParaRPr lang="en-US" altLang="zh-CN" b="0" dirty="0">
              <a:solidFill>
                <a:srgbClr val="ABB2BF"/>
              </a:solidFill>
              <a:effectLst/>
              <a:latin typeface="Consolas" panose="020B0609020204030204" pitchFamily="49"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闭包 </a:t>
            </a:r>
            <a:r>
              <a:rPr lang="en-US" altLang="zh-CN" dirty="0" smtClean="0"/>
              <a:t>– </a:t>
            </a:r>
            <a:r>
              <a:rPr lang="zh-CN" altLang="en-US" dirty="0"/>
              <a:t>实践</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
        <p:nvSpPr>
          <p:cNvPr id="5" name="矩形 4"/>
          <p:cNvSpPr/>
          <p:nvPr/>
        </p:nvSpPr>
        <p:spPr>
          <a:xfrm>
            <a:off x="557439" y="1214220"/>
            <a:ext cx="11156766" cy="646331"/>
          </a:xfrm>
          <a:prstGeom prst="rect">
            <a:avLst/>
          </a:prstGeom>
        </p:spPr>
        <p:txBody>
          <a:bodyPr wrap="square">
            <a:spAutoFit/>
          </a:bodyPr>
          <a:lstStyle/>
          <a:p>
            <a:r>
              <a:rPr lang="zh-CN" altLang="en-US" dirty="0">
                <a:solidFill>
                  <a:schemeClr val="bg1"/>
                </a:solidFill>
                <a:latin typeface="微软雅黑" panose="020B0503020204020204" pitchFamily="34" charset="-122"/>
                <a:ea typeface="微软雅黑" panose="020B0503020204020204" pitchFamily="34" charset="-122"/>
              </a:rPr>
              <a:t>假设页面上有</a:t>
            </a:r>
            <a:r>
              <a:rPr lang="en-US" altLang="zh-CN" dirty="0">
                <a:solidFill>
                  <a:schemeClr val="bg1"/>
                </a:solidFill>
                <a:latin typeface="微软雅黑" panose="020B0503020204020204" pitchFamily="34" charset="-122"/>
                <a:ea typeface="微软雅黑" panose="020B0503020204020204" pitchFamily="34" charset="-122"/>
              </a:rPr>
              <a:t>5 </a:t>
            </a:r>
            <a:r>
              <a:rPr lang="zh-CN" altLang="en-US" dirty="0" smtClean="0">
                <a:solidFill>
                  <a:schemeClr val="bg1"/>
                </a:solidFill>
                <a:latin typeface="微软雅黑" panose="020B0503020204020204" pitchFamily="34" charset="-122"/>
                <a:ea typeface="微软雅黑" panose="020B0503020204020204" pitchFamily="34" charset="-122"/>
              </a:rPr>
              <a:t>个 </a:t>
            </a:r>
            <a:r>
              <a:rPr lang="en-US" altLang="zh-CN" dirty="0" smtClean="0">
                <a:solidFill>
                  <a:schemeClr val="bg1"/>
                </a:solidFill>
                <a:latin typeface="微软雅黑" panose="020B0503020204020204" pitchFamily="34" charset="-122"/>
                <a:ea typeface="微软雅黑" panose="020B0503020204020204" pitchFamily="34" charset="-122"/>
              </a:rPr>
              <a:t>div </a:t>
            </a:r>
            <a:r>
              <a:rPr lang="zh-CN" altLang="en-US" dirty="0">
                <a:solidFill>
                  <a:schemeClr val="bg1"/>
                </a:solidFill>
                <a:latin typeface="微软雅黑" panose="020B0503020204020204" pitchFamily="34" charset="-122"/>
                <a:ea typeface="微软雅黑" panose="020B0503020204020204" pitchFamily="34" charset="-122"/>
              </a:rPr>
              <a:t>节点，我们通过循环来给</a:t>
            </a:r>
            <a:r>
              <a:rPr lang="zh-CN" altLang="en-US" dirty="0" smtClean="0">
                <a:solidFill>
                  <a:schemeClr val="bg1"/>
                </a:solidFill>
                <a:latin typeface="微软雅黑" panose="020B0503020204020204" pitchFamily="34" charset="-122"/>
                <a:ea typeface="微软雅黑" panose="020B0503020204020204" pitchFamily="34" charset="-122"/>
              </a:rPr>
              <a:t>每个 </a:t>
            </a:r>
            <a:r>
              <a:rPr lang="en-US" altLang="zh-CN" dirty="0">
                <a:solidFill>
                  <a:schemeClr val="bg1"/>
                </a:solidFill>
                <a:latin typeface="微软雅黑" panose="020B0503020204020204" pitchFamily="34" charset="-122"/>
                <a:ea typeface="微软雅黑" panose="020B0503020204020204" pitchFamily="34" charset="-122"/>
              </a:rPr>
              <a:t>div</a:t>
            </a:r>
            <a:r>
              <a:rPr lang="en-US" altLang="zh-CN" dirty="0" smtClean="0">
                <a:solidFill>
                  <a:schemeClr val="bg1"/>
                </a:solidFill>
                <a:latin typeface="微软雅黑" panose="020B0503020204020204" pitchFamily="34" charset="-122"/>
                <a:ea typeface="微软雅黑" panose="020B0503020204020204" pitchFamily="34" charset="-122"/>
              </a:rPr>
              <a:t> </a:t>
            </a:r>
            <a:r>
              <a:rPr lang="zh-CN" altLang="en-US" dirty="0" smtClean="0">
                <a:solidFill>
                  <a:schemeClr val="bg1"/>
                </a:solidFill>
                <a:latin typeface="微软雅黑" panose="020B0503020204020204" pitchFamily="34" charset="-122"/>
                <a:ea typeface="微软雅黑" panose="020B0503020204020204" pitchFamily="34" charset="-122"/>
              </a:rPr>
              <a:t>绑定 </a:t>
            </a:r>
            <a:r>
              <a:rPr lang="en-US" altLang="zh-CN" dirty="0" smtClean="0">
                <a:solidFill>
                  <a:schemeClr val="bg1"/>
                </a:solidFill>
                <a:latin typeface="微软雅黑" panose="020B0503020204020204" pitchFamily="34" charset="-122"/>
                <a:ea typeface="微软雅黑" panose="020B0503020204020204" pitchFamily="34" charset="-122"/>
              </a:rPr>
              <a:t>click </a:t>
            </a:r>
            <a:r>
              <a:rPr lang="zh-CN" altLang="en-US" dirty="0">
                <a:solidFill>
                  <a:schemeClr val="bg1"/>
                </a:solidFill>
                <a:latin typeface="微软雅黑" panose="020B0503020204020204" pitchFamily="34" charset="-122"/>
                <a:ea typeface="微软雅黑" panose="020B0503020204020204" pitchFamily="34" charset="-122"/>
              </a:rPr>
              <a:t>事件</a:t>
            </a:r>
            <a:r>
              <a:rPr lang="zh-CN" altLang="en-US" dirty="0" smtClean="0">
                <a:solidFill>
                  <a:schemeClr val="bg1"/>
                </a:solidFill>
                <a:latin typeface="微软雅黑" panose="020B0503020204020204" pitchFamily="34" charset="-122"/>
                <a:ea typeface="微软雅黑" panose="020B0503020204020204" pitchFamily="34" charset="-122"/>
              </a:rPr>
              <a:t>，</a:t>
            </a:r>
            <a:endParaRPr lang="en-US" altLang="zh-CN" dirty="0" smtClean="0">
              <a:solidFill>
                <a:schemeClr val="bg1"/>
              </a:solidFill>
              <a:latin typeface="微软雅黑" panose="020B0503020204020204" pitchFamily="34" charset="-122"/>
              <a:ea typeface="微软雅黑" panose="020B0503020204020204" pitchFamily="34" charset="-122"/>
            </a:endParaRPr>
          </a:p>
          <a:p>
            <a:r>
              <a:rPr lang="zh-CN" altLang="en-US" dirty="0" smtClean="0">
                <a:solidFill>
                  <a:schemeClr val="bg1"/>
                </a:solidFill>
                <a:latin typeface="微软雅黑" panose="020B0503020204020204" pitchFamily="34" charset="-122"/>
                <a:ea typeface="微软雅黑" panose="020B0503020204020204" pitchFamily="34" charset="-122"/>
              </a:rPr>
              <a:t>按照</a:t>
            </a:r>
            <a:r>
              <a:rPr lang="zh-CN" altLang="en-US" dirty="0">
                <a:solidFill>
                  <a:schemeClr val="bg1"/>
                </a:solidFill>
                <a:latin typeface="微软雅黑" panose="020B0503020204020204" pitchFamily="34" charset="-122"/>
                <a:ea typeface="微软雅黑" panose="020B0503020204020204" pitchFamily="34" charset="-122"/>
              </a:rPr>
              <a:t>索引顺序，点击</a:t>
            </a:r>
            <a:r>
              <a:rPr lang="zh-CN" altLang="en-US" dirty="0" smtClean="0">
                <a:solidFill>
                  <a:schemeClr val="bg1"/>
                </a:solidFill>
                <a:latin typeface="微软雅黑" panose="020B0503020204020204" pitchFamily="34" charset="-122"/>
                <a:ea typeface="微软雅黑" panose="020B0503020204020204" pitchFamily="34" charset="-122"/>
              </a:rPr>
              <a:t>第 </a:t>
            </a:r>
            <a:r>
              <a:rPr lang="en-US" altLang="zh-CN" dirty="0" smtClean="0">
                <a:solidFill>
                  <a:schemeClr val="bg1"/>
                </a:solidFill>
                <a:latin typeface="微软雅黑" panose="020B0503020204020204" pitchFamily="34" charset="-122"/>
                <a:ea typeface="微软雅黑" panose="020B0503020204020204" pitchFamily="34" charset="-122"/>
              </a:rPr>
              <a:t>1 </a:t>
            </a:r>
            <a:r>
              <a:rPr lang="zh-CN" altLang="en-US" dirty="0" smtClean="0">
                <a:solidFill>
                  <a:schemeClr val="bg1"/>
                </a:solidFill>
                <a:latin typeface="微软雅黑" panose="020B0503020204020204" pitchFamily="34" charset="-122"/>
                <a:ea typeface="微软雅黑" panose="020B0503020204020204" pitchFamily="34" charset="-122"/>
              </a:rPr>
              <a:t>个 </a:t>
            </a:r>
            <a:r>
              <a:rPr lang="en-US" altLang="zh-CN" dirty="0" smtClean="0">
                <a:solidFill>
                  <a:schemeClr val="bg1"/>
                </a:solidFill>
                <a:latin typeface="微软雅黑" panose="020B0503020204020204" pitchFamily="34" charset="-122"/>
                <a:ea typeface="微软雅黑" panose="020B0503020204020204" pitchFamily="34" charset="-122"/>
              </a:rPr>
              <a:t>div </a:t>
            </a:r>
            <a:r>
              <a:rPr lang="zh-CN" altLang="en-US" dirty="0">
                <a:solidFill>
                  <a:schemeClr val="bg1"/>
                </a:solidFill>
                <a:latin typeface="微软雅黑" panose="020B0503020204020204" pitchFamily="34" charset="-122"/>
                <a:ea typeface="微软雅黑" panose="020B0503020204020204" pitchFamily="34" charset="-122"/>
              </a:rPr>
              <a:t>时弹</a:t>
            </a:r>
            <a:r>
              <a:rPr lang="zh-CN" altLang="en-US" dirty="0" smtClean="0">
                <a:solidFill>
                  <a:schemeClr val="bg1"/>
                </a:solidFill>
                <a:latin typeface="微软雅黑" panose="020B0503020204020204" pitchFamily="34" charset="-122"/>
                <a:ea typeface="微软雅黑" panose="020B0503020204020204" pitchFamily="34" charset="-122"/>
              </a:rPr>
              <a:t>出</a:t>
            </a:r>
            <a:r>
              <a:rPr lang="en-US" altLang="zh-CN" dirty="0" smtClean="0">
                <a:solidFill>
                  <a:schemeClr val="bg1"/>
                </a:solidFill>
                <a:latin typeface="微软雅黑" panose="020B0503020204020204" pitchFamily="34" charset="-122"/>
                <a:ea typeface="微软雅黑" panose="020B0503020204020204" pitchFamily="34" charset="-122"/>
              </a:rPr>
              <a:t>0</a:t>
            </a:r>
            <a:r>
              <a:rPr lang="zh-CN" altLang="en-US" dirty="0">
                <a:solidFill>
                  <a:schemeClr val="bg1"/>
                </a:solidFill>
                <a:latin typeface="微软雅黑" panose="020B0503020204020204" pitchFamily="34" charset="-122"/>
                <a:ea typeface="微软雅黑" panose="020B0503020204020204" pitchFamily="34" charset="-122"/>
              </a:rPr>
              <a:t>，点击第</a:t>
            </a:r>
            <a:r>
              <a:rPr lang="en-US" altLang="zh-CN" dirty="0">
                <a:solidFill>
                  <a:schemeClr val="bg1"/>
                </a:solidFill>
                <a:latin typeface="微软雅黑" panose="020B0503020204020204" pitchFamily="34" charset="-122"/>
                <a:ea typeface="微软雅黑" panose="020B0503020204020204" pitchFamily="34" charset="-122"/>
              </a:rPr>
              <a:t>2 </a:t>
            </a:r>
            <a:r>
              <a:rPr lang="zh-CN" altLang="en-US" dirty="0" smtClean="0">
                <a:solidFill>
                  <a:schemeClr val="bg1"/>
                </a:solidFill>
                <a:latin typeface="微软雅黑" panose="020B0503020204020204" pitchFamily="34" charset="-122"/>
                <a:ea typeface="微软雅黑" panose="020B0503020204020204" pitchFamily="34" charset="-122"/>
              </a:rPr>
              <a:t>个 </a:t>
            </a:r>
            <a:r>
              <a:rPr lang="en-US" altLang="zh-CN" dirty="0" smtClean="0">
                <a:solidFill>
                  <a:schemeClr val="bg1"/>
                </a:solidFill>
                <a:latin typeface="微软雅黑" panose="020B0503020204020204" pitchFamily="34" charset="-122"/>
                <a:ea typeface="微软雅黑" panose="020B0503020204020204" pitchFamily="34" charset="-122"/>
              </a:rPr>
              <a:t>div </a:t>
            </a:r>
            <a:r>
              <a:rPr lang="zh-CN" altLang="en-US" dirty="0">
                <a:solidFill>
                  <a:schemeClr val="bg1"/>
                </a:solidFill>
                <a:latin typeface="微软雅黑" panose="020B0503020204020204" pitchFamily="34" charset="-122"/>
                <a:ea typeface="微软雅黑" panose="020B0503020204020204" pitchFamily="34" charset="-122"/>
              </a:rPr>
              <a:t>时弹出</a:t>
            </a:r>
            <a:r>
              <a:rPr lang="en-US" altLang="zh-CN" dirty="0">
                <a:solidFill>
                  <a:schemeClr val="bg1"/>
                </a:solidFill>
                <a:latin typeface="微软雅黑" panose="020B0503020204020204" pitchFamily="34" charset="-122"/>
                <a:ea typeface="微软雅黑" panose="020B0503020204020204" pitchFamily="34" charset="-122"/>
              </a:rPr>
              <a:t>1</a:t>
            </a:r>
            <a:r>
              <a:rPr lang="zh-CN" altLang="en-US" dirty="0">
                <a:solidFill>
                  <a:schemeClr val="bg1"/>
                </a:solidFill>
                <a:latin typeface="微软雅黑" panose="020B0503020204020204" pitchFamily="34" charset="-122"/>
                <a:ea typeface="微软雅黑" panose="020B0503020204020204" pitchFamily="34" charset="-122"/>
              </a:rPr>
              <a:t>，以此类推。</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557439" y="2225232"/>
            <a:ext cx="7227318" cy="2031325"/>
          </a:xfrm>
          <a:prstGeom prst="rect">
            <a:avLst/>
          </a:prstGeom>
        </p:spPr>
        <p:txBody>
          <a:bodyPr wrap="square">
            <a:spAutoFit/>
          </a:bodyPr>
          <a:lstStyle/>
          <a:p>
            <a:r>
              <a:rPr lang="en-US" altLang="zh-CN" dirty="0" err="1">
                <a:solidFill>
                  <a:srgbClr val="C678DD"/>
                </a:solidFill>
                <a:latin typeface="Consolas" panose="020B0609020204030204" pitchFamily="49" charset="0"/>
              </a:rPr>
              <a:t>var</a:t>
            </a:r>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nodes</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err="1">
                <a:solidFill>
                  <a:srgbClr val="E06C75"/>
                </a:solidFill>
                <a:latin typeface="Consolas" panose="020B0609020204030204" pitchFamily="49" charset="0"/>
              </a:rPr>
              <a:t>document</a:t>
            </a:r>
            <a:r>
              <a:rPr lang="en-US" altLang="zh-CN" dirty="0" err="1">
                <a:solidFill>
                  <a:srgbClr val="ABB2BF"/>
                </a:solidFill>
                <a:latin typeface="Consolas" panose="020B0609020204030204" pitchFamily="49" charset="0"/>
              </a:rPr>
              <a:t>.</a:t>
            </a:r>
            <a:r>
              <a:rPr lang="en-US" altLang="zh-CN" dirty="0" err="1">
                <a:solidFill>
                  <a:srgbClr val="61AFEF"/>
                </a:solidFill>
                <a:latin typeface="Consolas" panose="020B0609020204030204" pitchFamily="49" charset="0"/>
              </a:rPr>
              <a:t>getElementsByTagName</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'div</a:t>
            </a:r>
            <a:r>
              <a:rPr lang="en-US" altLang="zh-CN" dirty="0" smtClean="0">
                <a:solidFill>
                  <a:srgbClr val="98C379"/>
                </a:solidFill>
                <a:latin typeface="Consolas" panose="020B0609020204030204" pitchFamily="49" charset="0"/>
              </a:rPr>
              <a:t>'</a:t>
            </a:r>
            <a:r>
              <a:rPr lang="en-US" altLang="zh-CN" dirty="0" smtClean="0">
                <a:solidFill>
                  <a:srgbClr val="ABB2BF"/>
                </a:solidFill>
                <a:latin typeface="Consolas" panose="020B0609020204030204" pitchFamily="49" charset="0"/>
              </a:rPr>
              <a:t>);</a:t>
            </a:r>
            <a:endParaRPr lang="en-US" altLang="zh-CN" dirty="0" smtClean="0">
              <a:solidFill>
                <a:srgbClr val="ABB2BF"/>
              </a:solidFill>
              <a:latin typeface="Consolas" panose="020B0609020204030204" pitchFamily="49" charset="0"/>
            </a:endParaRPr>
          </a:p>
          <a:p>
            <a:endParaRPr lang="en-US" altLang="zh-CN" dirty="0">
              <a:solidFill>
                <a:srgbClr val="ABB2BF"/>
              </a:solidFill>
              <a:latin typeface="Consolas" panose="020B0609020204030204" pitchFamily="49" charset="0"/>
            </a:endParaRPr>
          </a:p>
          <a:p>
            <a:r>
              <a:rPr lang="en-US" altLang="zh-CN" dirty="0">
                <a:solidFill>
                  <a:srgbClr val="C678DD"/>
                </a:solidFill>
                <a:latin typeface="Consolas" panose="020B0609020204030204" pitchFamily="49" charset="0"/>
              </a:rPr>
              <a:t>for</a:t>
            </a:r>
            <a:r>
              <a:rPr lang="en-US" altLang="zh-CN" dirty="0">
                <a:solidFill>
                  <a:srgbClr val="ABB2BF"/>
                </a:solidFill>
                <a:latin typeface="Consolas" panose="020B0609020204030204" pitchFamily="49" charset="0"/>
              </a:rPr>
              <a:t> (</a:t>
            </a:r>
            <a:r>
              <a:rPr lang="en-US" altLang="zh-CN" dirty="0" err="1">
                <a:solidFill>
                  <a:srgbClr val="C678DD"/>
                </a:solidFill>
                <a:latin typeface="Consolas" panose="020B0609020204030204" pitchFamily="49" charset="0"/>
              </a:rPr>
              <a:t>var</a:t>
            </a:r>
            <a:r>
              <a:rPr lang="en-US" altLang="zh-CN" dirty="0">
                <a:solidFill>
                  <a:srgbClr val="ABB2BF"/>
                </a:solidFill>
                <a:latin typeface="Consolas" panose="020B0609020204030204" pitchFamily="49" charset="0"/>
              </a:rPr>
              <a:t> </a:t>
            </a:r>
            <a:r>
              <a:rPr lang="en-US" altLang="zh-CN" dirty="0" err="1">
                <a:solidFill>
                  <a:srgbClr val="E06C75"/>
                </a:solidFill>
                <a:latin typeface="Consolas" panose="020B0609020204030204" pitchFamily="49" charset="0"/>
              </a:rPr>
              <a:t>i</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0</a:t>
            </a:r>
            <a:r>
              <a:rPr lang="en-US" altLang="zh-CN" dirty="0">
                <a:solidFill>
                  <a:srgbClr val="ABB2BF"/>
                </a:solidFill>
                <a:latin typeface="Consolas" panose="020B0609020204030204" pitchFamily="49" charset="0"/>
              </a:rPr>
              <a:t>, </a:t>
            </a:r>
            <a:r>
              <a:rPr lang="en-US" altLang="zh-CN" dirty="0" err="1">
                <a:solidFill>
                  <a:srgbClr val="E06C75"/>
                </a:solidFill>
                <a:latin typeface="Consolas" panose="020B0609020204030204" pitchFamily="49" charset="0"/>
              </a:rPr>
              <a:t>len</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err="1">
                <a:solidFill>
                  <a:srgbClr val="E06C75"/>
                </a:solidFill>
                <a:latin typeface="Consolas" panose="020B0609020204030204" pitchFamily="49" charset="0"/>
              </a:rPr>
              <a:t>nodes</a:t>
            </a:r>
            <a:r>
              <a:rPr lang="en-US" altLang="zh-CN" dirty="0" err="1">
                <a:solidFill>
                  <a:srgbClr val="ABB2BF"/>
                </a:solidFill>
                <a:latin typeface="Consolas" panose="020B0609020204030204" pitchFamily="49" charset="0"/>
              </a:rPr>
              <a:t>.</a:t>
            </a:r>
            <a:r>
              <a:rPr lang="en-US" altLang="zh-CN" dirty="0" err="1">
                <a:solidFill>
                  <a:srgbClr val="E5C07B"/>
                </a:solidFill>
                <a:latin typeface="Consolas" panose="020B0609020204030204" pitchFamily="49" charset="0"/>
              </a:rPr>
              <a:t>length</a:t>
            </a:r>
            <a:r>
              <a:rPr lang="en-US" altLang="zh-CN" dirty="0">
                <a:solidFill>
                  <a:srgbClr val="ABB2BF"/>
                </a:solidFill>
                <a:latin typeface="Consolas" panose="020B0609020204030204" pitchFamily="49" charset="0"/>
              </a:rPr>
              <a:t>; </a:t>
            </a:r>
            <a:r>
              <a:rPr lang="en-US" altLang="zh-CN" dirty="0" err="1">
                <a:solidFill>
                  <a:srgbClr val="E06C75"/>
                </a:solidFill>
                <a:latin typeface="Consolas" panose="020B0609020204030204" pitchFamily="49" charset="0"/>
              </a:rPr>
              <a:t>i</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&lt;</a:t>
            </a:r>
            <a:r>
              <a:rPr lang="en-US" altLang="zh-CN" dirty="0">
                <a:solidFill>
                  <a:srgbClr val="ABB2BF"/>
                </a:solidFill>
                <a:latin typeface="Consolas" panose="020B0609020204030204" pitchFamily="49" charset="0"/>
              </a:rPr>
              <a:t> </a:t>
            </a:r>
            <a:r>
              <a:rPr lang="en-US" altLang="zh-CN" dirty="0" err="1">
                <a:solidFill>
                  <a:srgbClr val="E06C75"/>
                </a:solidFill>
                <a:latin typeface="Consolas" panose="020B0609020204030204" pitchFamily="49" charset="0"/>
              </a:rPr>
              <a:t>len</a:t>
            </a:r>
            <a:r>
              <a:rPr lang="en-US" altLang="zh-CN" dirty="0">
                <a:solidFill>
                  <a:srgbClr val="ABB2BF"/>
                </a:solidFill>
                <a:latin typeface="Consolas" panose="020B0609020204030204" pitchFamily="49" charset="0"/>
              </a:rPr>
              <a:t>; </a:t>
            </a:r>
            <a:r>
              <a:rPr lang="en-US" altLang="zh-CN" dirty="0" err="1">
                <a:solidFill>
                  <a:srgbClr val="E06C75"/>
                </a:solidFill>
                <a:latin typeface="Consolas" panose="020B0609020204030204" pitchFamily="49" charset="0"/>
              </a:rPr>
              <a:t>i</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nodes</a:t>
            </a:r>
            <a:r>
              <a:rPr lang="en-US" altLang="zh-CN" dirty="0">
                <a:solidFill>
                  <a:srgbClr val="ABB2BF"/>
                </a:solidFill>
                <a:latin typeface="Consolas" panose="020B0609020204030204" pitchFamily="49" charset="0"/>
              </a:rPr>
              <a:t>[</a:t>
            </a:r>
            <a:r>
              <a:rPr lang="en-US" altLang="zh-CN" dirty="0" err="1">
                <a:solidFill>
                  <a:srgbClr val="E06C75"/>
                </a:solidFill>
                <a:latin typeface="Consolas" panose="020B0609020204030204" pitchFamily="49" charset="0"/>
              </a:rPr>
              <a:t>i</a:t>
            </a:r>
            <a:r>
              <a:rPr lang="en-US" altLang="zh-CN" dirty="0">
                <a:solidFill>
                  <a:srgbClr val="ABB2BF"/>
                </a:solidFill>
                <a:latin typeface="Consolas" panose="020B0609020204030204" pitchFamily="49" charset="0"/>
              </a:rPr>
              <a:t>].</a:t>
            </a:r>
            <a:r>
              <a:rPr lang="en-US" altLang="zh-CN" dirty="0" err="1">
                <a:solidFill>
                  <a:srgbClr val="E06C75"/>
                </a:solidFill>
                <a:latin typeface="Consolas" panose="020B0609020204030204" pitchFamily="49" charset="0"/>
              </a:rPr>
              <a:t>onclick</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C678DD"/>
                </a:solidFill>
                <a:latin typeface="Consolas" panose="020B0609020204030204" pitchFamily="49" charset="0"/>
              </a:rPr>
              <a:t>function</a:t>
            </a:r>
            <a:r>
              <a:rPr lang="en-US" altLang="zh-CN" dirty="0">
                <a:solidFill>
                  <a:srgbClr val="ABB2BF"/>
                </a:solidFill>
                <a:latin typeface="Consolas" panose="020B0609020204030204" pitchFamily="49" charset="0"/>
              </a:rPr>
              <a:t> ()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console</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log</a:t>
            </a:r>
            <a:r>
              <a:rPr lang="en-US" altLang="zh-CN" dirty="0">
                <a:solidFill>
                  <a:srgbClr val="ABB2BF"/>
                </a:solidFill>
                <a:latin typeface="Consolas" panose="020B0609020204030204" pitchFamily="49" charset="0"/>
              </a:rPr>
              <a:t>(</a:t>
            </a:r>
            <a:r>
              <a:rPr lang="en-US" altLang="zh-CN" dirty="0" err="1">
                <a:solidFill>
                  <a:srgbClr val="E06C75"/>
                </a:solidFill>
                <a:latin typeface="Consolas" panose="020B0609020204030204" pitchFamily="49" charset="0"/>
              </a:rPr>
              <a:t>i</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a:t>
            </a:r>
            <a:endParaRPr lang="en-US" altLang="zh-CN" b="0" dirty="0">
              <a:solidFill>
                <a:srgbClr val="ABB2BF"/>
              </a:solidFill>
              <a:effectLst/>
              <a:latin typeface="Consolas" panose="020B0609020204030204" pitchFamily="49" charset="0"/>
            </a:endParaRPr>
          </a:p>
        </p:txBody>
      </p:sp>
      <p:sp>
        <p:nvSpPr>
          <p:cNvPr id="8" name="乘号 7"/>
          <p:cNvSpPr/>
          <p:nvPr/>
        </p:nvSpPr>
        <p:spPr>
          <a:xfrm>
            <a:off x="6581775" y="2993782"/>
            <a:ext cx="1202982" cy="1262775"/>
          </a:xfrm>
          <a:prstGeom prst="mathMultiply">
            <a:avLst>
              <a:gd name="adj1" fmla="val 7901"/>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557439" y="5025107"/>
            <a:ext cx="6096000" cy="1477328"/>
          </a:xfrm>
          <a:prstGeom prst="rect">
            <a:avLst/>
          </a:prstGeom>
        </p:spPr>
        <p:txBody>
          <a:bodyPr wrap="square">
            <a:spAutoFit/>
          </a:bodyPr>
          <a:lstStyle/>
          <a:p>
            <a:r>
              <a:rPr lang="en-US" altLang="zh-CN" dirty="0" smtClean="0">
                <a:solidFill>
                  <a:srgbClr val="ABB2BF"/>
                </a:solidFill>
                <a:latin typeface="Consolas" panose="020B0609020204030204" pitchFamily="49" charset="0"/>
              </a:rPr>
              <a:t>(</a:t>
            </a:r>
            <a:r>
              <a:rPr lang="en-US" altLang="zh-CN" dirty="0">
                <a:solidFill>
                  <a:srgbClr val="C678DD"/>
                </a:solidFill>
                <a:latin typeface="Consolas" panose="020B0609020204030204" pitchFamily="49" charset="0"/>
              </a:rPr>
              <a:t>function</a:t>
            </a:r>
            <a:r>
              <a:rPr lang="en-US" altLang="zh-CN" dirty="0">
                <a:solidFill>
                  <a:srgbClr val="ABB2BF"/>
                </a:solidFill>
                <a:latin typeface="Consolas" panose="020B0609020204030204" pitchFamily="49" charset="0"/>
              </a:rPr>
              <a:t> (</a:t>
            </a:r>
            <a:r>
              <a:rPr lang="en-US" altLang="zh-CN" i="1" dirty="0" err="1">
                <a:solidFill>
                  <a:srgbClr val="E06C75"/>
                </a:solidFill>
                <a:latin typeface="Consolas" panose="020B0609020204030204" pitchFamily="49" charset="0"/>
              </a:rPr>
              <a:t>i</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nodes</a:t>
            </a:r>
            <a:r>
              <a:rPr lang="en-US" altLang="zh-CN" dirty="0">
                <a:solidFill>
                  <a:srgbClr val="ABB2BF"/>
                </a:solidFill>
                <a:latin typeface="Consolas" panose="020B0609020204030204" pitchFamily="49" charset="0"/>
              </a:rPr>
              <a:t>[</a:t>
            </a:r>
            <a:r>
              <a:rPr lang="en-US" altLang="zh-CN" i="1" dirty="0" err="1">
                <a:solidFill>
                  <a:srgbClr val="E06C75"/>
                </a:solidFill>
                <a:latin typeface="Consolas" panose="020B0609020204030204" pitchFamily="49" charset="0"/>
              </a:rPr>
              <a:t>i</a:t>
            </a:r>
            <a:r>
              <a:rPr lang="en-US" altLang="zh-CN" dirty="0">
                <a:solidFill>
                  <a:srgbClr val="ABB2BF"/>
                </a:solidFill>
                <a:latin typeface="Consolas" panose="020B0609020204030204" pitchFamily="49" charset="0"/>
              </a:rPr>
              <a:t>].</a:t>
            </a:r>
            <a:r>
              <a:rPr lang="en-US" altLang="zh-CN" dirty="0" err="1">
                <a:solidFill>
                  <a:srgbClr val="E06C75"/>
                </a:solidFill>
                <a:latin typeface="Consolas" panose="020B0609020204030204" pitchFamily="49" charset="0"/>
              </a:rPr>
              <a:t>onclick</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C678DD"/>
                </a:solidFill>
                <a:latin typeface="Consolas" panose="020B0609020204030204" pitchFamily="49" charset="0"/>
              </a:rPr>
              <a:t>function</a:t>
            </a:r>
            <a:r>
              <a:rPr lang="en-US" altLang="zh-CN" dirty="0">
                <a:solidFill>
                  <a:srgbClr val="ABB2BF"/>
                </a:solidFill>
                <a:latin typeface="Consolas" panose="020B0609020204030204" pitchFamily="49" charset="0"/>
              </a:rPr>
              <a:t> ()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console</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log</a:t>
            </a:r>
            <a:r>
              <a:rPr lang="en-US" altLang="zh-CN" dirty="0">
                <a:solidFill>
                  <a:srgbClr val="ABB2BF"/>
                </a:solidFill>
                <a:latin typeface="Consolas" panose="020B0609020204030204" pitchFamily="49" charset="0"/>
              </a:rPr>
              <a:t>(</a:t>
            </a:r>
            <a:r>
              <a:rPr lang="en-US" altLang="zh-CN" i="1" dirty="0" err="1">
                <a:solidFill>
                  <a:srgbClr val="E06C75"/>
                </a:solidFill>
                <a:latin typeface="Consolas" panose="020B0609020204030204" pitchFamily="49" charset="0"/>
              </a:rPr>
              <a:t>i</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smtClean="0">
                <a:solidFill>
                  <a:srgbClr val="ABB2BF"/>
                </a:solidFill>
                <a:latin typeface="Consolas" panose="020B0609020204030204" pitchFamily="49" charset="0"/>
              </a:rPr>
              <a:t>})(</a:t>
            </a:r>
            <a:r>
              <a:rPr lang="en-US" altLang="zh-CN" dirty="0" err="1">
                <a:solidFill>
                  <a:srgbClr val="E06C75"/>
                </a:solidFill>
                <a:latin typeface="Consolas" panose="020B0609020204030204" pitchFamily="49" charset="0"/>
              </a:rPr>
              <a:t>i</a:t>
            </a:r>
            <a:r>
              <a:rPr lang="en-US" altLang="zh-CN" dirty="0">
                <a:solidFill>
                  <a:srgbClr val="ABB2BF"/>
                </a:solidFill>
                <a:latin typeface="Consolas" panose="020B0609020204030204" pitchFamily="49" charset="0"/>
              </a:rPr>
              <a:t>);</a:t>
            </a:r>
            <a:endParaRPr lang="en-US" altLang="zh-CN" b="0" dirty="0">
              <a:solidFill>
                <a:srgbClr val="ABB2BF"/>
              </a:solidFill>
              <a:effectLst/>
              <a:latin typeface="Consolas" panose="020B0609020204030204" pitchFamily="49" charset="0"/>
            </a:endParaRPr>
          </a:p>
        </p:txBody>
      </p:sp>
      <p:sp>
        <p:nvSpPr>
          <p:cNvPr id="11" name="下箭头 10"/>
          <p:cNvSpPr/>
          <p:nvPr/>
        </p:nvSpPr>
        <p:spPr>
          <a:xfrm>
            <a:off x="652203" y="4439981"/>
            <a:ext cx="214183" cy="448635"/>
          </a:xfrm>
          <a:prstGeom prst="downArrow">
            <a:avLst>
              <a:gd name="adj1" fmla="val 36666"/>
              <a:gd name="adj2" fmla="val 79999"/>
            </a:avLst>
          </a:prstGeom>
          <a:solidFill>
            <a:srgbClr val="0283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1"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 calcmode="lin" valueType="num">
                                      <p:cBhvr additive="base">
                                        <p:cTn id="14" dur="250" fill="hold"/>
                                        <p:tgtEl>
                                          <p:spTgt spid="10"/>
                                        </p:tgtEl>
                                        <p:attrNameLst>
                                          <p:attrName>ppt_x</p:attrName>
                                        </p:attrNameLst>
                                      </p:cBhvr>
                                      <p:tavLst>
                                        <p:tav tm="0">
                                          <p:val>
                                            <p:strVal val="#ppt_x"/>
                                          </p:val>
                                        </p:tav>
                                        <p:tav tm="100000">
                                          <p:val>
                                            <p:strVal val="#ppt_x"/>
                                          </p:val>
                                        </p:tav>
                                      </p:tavLst>
                                    </p:anim>
                                    <p:anim calcmode="lin" valueType="num">
                                      <p:cBhvr additive="base">
                                        <p:cTn id="15" dur="250" fill="hold"/>
                                        <p:tgtEl>
                                          <p:spTgt spid="10"/>
                                        </p:tgtEl>
                                        <p:attrNameLst>
                                          <p:attrName>ppt_y</p:attrName>
                                        </p:attrNameLst>
                                      </p:cBhvr>
                                      <p:tavLst>
                                        <p:tav tm="0">
                                          <p:val>
                                            <p:strVal val="0-#ppt_h/2"/>
                                          </p:val>
                                        </p:tav>
                                        <p:tav tm="100000">
                                          <p:val>
                                            <p:strVal val="#ppt_y"/>
                                          </p:val>
                                        </p:tav>
                                      </p:tavLst>
                                    </p:anim>
                                  </p:childTnLst>
                                </p:cTn>
                              </p:par>
                              <p:par>
                                <p:cTn id="16" presetID="2" presetClass="entr" presetSubtype="1"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 calcmode="lin" valueType="num">
                                      <p:cBhvr additive="base">
                                        <p:cTn id="18" dur="250" fill="hold"/>
                                        <p:tgtEl>
                                          <p:spTgt spid="11"/>
                                        </p:tgtEl>
                                        <p:attrNameLst>
                                          <p:attrName>ppt_x</p:attrName>
                                        </p:attrNameLst>
                                      </p:cBhvr>
                                      <p:tavLst>
                                        <p:tav tm="0">
                                          <p:val>
                                            <p:strVal val="#ppt_x"/>
                                          </p:val>
                                        </p:tav>
                                        <p:tav tm="100000">
                                          <p:val>
                                            <p:strVal val="#ppt_x"/>
                                          </p:val>
                                        </p:tav>
                                      </p:tavLst>
                                    </p:anim>
                                    <p:anim calcmode="lin" valueType="num">
                                      <p:cBhvr additive="base">
                                        <p:cTn id="19" dur="250" fill="hold"/>
                                        <p:tgtEl>
                                          <p:spTgt spid="11"/>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p:bldP spid="11"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闭包 </a:t>
            </a:r>
            <a:r>
              <a:rPr lang="en-US" altLang="zh-CN" dirty="0" smtClean="0"/>
              <a:t>– </a:t>
            </a:r>
            <a:r>
              <a:rPr lang="zh-CN" altLang="en-US" dirty="0" smtClean="0"/>
              <a:t>变量的生命周期</a:t>
            </a:r>
            <a:endParaRPr lang="zh-CN" altLang="en-US" dirty="0"/>
          </a:p>
        </p:txBody>
      </p:sp>
      <p:sp>
        <p:nvSpPr>
          <p:cNvPr id="3" name="内容占位符 2"/>
          <p:cNvSpPr>
            <a:spLocks noGrp="1"/>
          </p:cNvSpPr>
          <p:nvPr>
            <p:ph idx="1"/>
          </p:nvPr>
        </p:nvSpPr>
        <p:spPr/>
        <p:txBody>
          <a:bodyPr/>
          <a:lstStyle/>
          <a:p>
            <a:r>
              <a:rPr lang="zh-CN" altLang="en-US" dirty="0" smtClean="0"/>
              <a:t>全局变量</a:t>
            </a:r>
            <a:endParaRPr lang="en-US" altLang="zh-CN" dirty="0" smtClean="0"/>
          </a:p>
          <a:p>
            <a:pPr lvl="1"/>
            <a:r>
              <a:rPr lang="zh-CN" altLang="en-US" dirty="0" smtClean="0"/>
              <a:t>生命周期</a:t>
            </a:r>
            <a:r>
              <a:rPr lang="zh-CN" altLang="en-US" dirty="0"/>
              <a:t>是永久的，除非主动销毁这个全局变量</a:t>
            </a:r>
            <a:endParaRPr lang="zh-CN" altLang="en-US" dirty="0"/>
          </a:p>
          <a:p>
            <a:r>
              <a:rPr lang="zh-CN" altLang="en-US" dirty="0" smtClean="0"/>
              <a:t>局部变量</a:t>
            </a:r>
            <a:endParaRPr lang="en-US" altLang="zh-CN" dirty="0" smtClean="0"/>
          </a:p>
          <a:p>
            <a:pPr lvl="1"/>
            <a:r>
              <a:rPr lang="zh-CN" altLang="en-US" dirty="0" smtClean="0"/>
              <a:t>函数</a:t>
            </a:r>
            <a:r>
              <a:rPr lang="zh-CN" altLang="en-US" dirty="0"/>
              <a:t>内声明的局部变量，随着函数调用的结束而被销毁</a:t>
            </a:r>
            <a:endParaRPr lang="zh-CN" altLang="en-US" dirty="0"/>
          </a:p>
          <a:p>
            <a:pPr marL="0" indent="0">
              <a:buNone/>
            </a:pP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闭包 </a:t>
            </a:r>
            <a:r>
              <a:rPr lang="en-US" altLang="zh-CN" dirty="0" smtClean="0"/>
              <a:t>– </a:t>
            </a:r>
            <a:r>
              <a:rPr lang="zh-CN" altLang="en-US" dirty="0" smtClean="0"/>
              <a:t>思考</a:t>
            </a:r>
            <a:endParaRPr lang="zh-CN" altLang="en-US" dirty="0" smtClean="0"/>
          </a:p>
        </p:txBody>
      </p:sp>
      <p:sp>
        <p:nvSpPr>
          <p:cNvPr id="3" name="内容占位符 2"/>
          <p:cNvSpPr>
            <a:spLocks noGrp="1"/>
          </p:cNvSpPr>
          <p:nvPr>
            <p:ph idx="1"/>
          </p:nvPr>
        </p:nvSpPr>
        <p:spPr/>
        <p:txBody>
          <a:bodyPr/>
          <a:p>
            <a:pPr lvl="0"/>
            <a:r>
              <a:rPr lang="zh-CN" altLang="en-US"/>
              <a:t>如何销毁闭包中变量？</a:t>
            </a:r>
            <a:endParaRPr lang="zh-CN" altLang="en-US"/>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3716020" y="2949575"/>
            <a:ext cx="4760595" cy="958850"/>
          </a:xfrm>
          <a:prstGeom prst="roundRect">
            <a:avLst>
              <a:gd name="adj" fmla="val 50000"/>
            </a:avLst>
          </a:prstGeom>
          <a:gradFill>
            <a:gsLst>
              <a:gs pos="22000">
                <a:srgbClr val="DD69B4"/>
              </a:gs>
              <a:gs pos="100000">
                <a:srgbClr val="0054FF"/>
              </a:gs>
            </a:gsLst>
            <a:lin ang="27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800">
                <a:latin typeface="微软雅黑" panose="020B0503020204020204" pitchFamily="34" charset="-122"/>
                <a:ea typeface="微软雅黑" panose="020B0503020204020204" pitchFamily="34" charset="-122"/>
              </a:rPr>
              <a:t>类型转换</a:t>
            </a:r>
            <a:endParaRPr lang="zh-CN" altLang="en-US" sz="280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类型转换</a:t>
            </a:r>
            <a:endParaRPr lang="en-US" altLang="zh-CN" dirty="0"/>
          </a:p>
        </p:txBody>
      </p:sp>
      <p:sp>
        <p:nvSpPr>
          <p:cNvPr id="3" name="内容占位符 2"/>
          <p:cNvSpPr>
            <a:spLocks noGrp="1"/>
          </p:cNvSpPr>
          <p:nvPr>
            <p:ph idx="1"/>
          </p:nvPr>
        </p:nvSpPr>
        <p:spPr/>
        <p:txBody>
          <a:bodyPr/>
          <a:lstStyle/>
          <a:p>
            <a:r>
              <a:rPr lang="zh-CN" altLang="en-US" dirty="0" smtClean="0"/>
              <a:t>显</a:t>
            </a:r>
            <a:r>
              <a:rPr lang="zh-CN" altLang="en-US" dirty="0"/>
              <a:t>式</a:t>
            </a:r>
            <a:r>
              <a:rPr lang="zh-CN" altLang="en-US" dirty="0" smtClean="0"/>
              <a:t>转换</a:t>
            </a:r>
            <a:endParaRPr lang="en-US" altLang="zh-CN" dirty="0" smtClean="0"/>
          </a:p>
          <a:p>
            <a:pPr lvl="1"/>
            <a:r>
              <a:rPr lang="zh-CN" altLang="en-US" dirty="0"/>
              <a:t>转换为数值类型：</a:t>
            </a:r>
            <a:r>
              <a:rPr lang="en-US" altLang="zh-CN" dirty="0"/>
              <a:t>Number(mix)</a:t>
            </a:r>
            <a:r>
              <a:rPr lang="zh-CN" altLang="en-US" dirty="0"/>
              <a:t>、</a:t>
            </a:r>
            <a:r>
              <a:rPr lang="en-US" altLang="zh-CN" dirty="0" err="1"/>
              <a:t>parseInt</a:t>
            </a:r>
            <a:r>
              <a:rPr lang="en-US" altLang="zh-CN" dirty="0"/>
              <a:t>(</a:t>
            </a:r>
            <a:r>
              <a:rPr lang="en-US" altLang="zh-CN" dirty="0" err="1"/>
              <a:t>string,radix</a:t>
            </a:r>
            <a:r>
              <a:rPr lang="en-US" altLang="zh-CN" dirty="0"/>
              <a:t>)</a:t>
            </a:r>
            <a:r>
              <a:rPr lang="zh-CN" altLang="en-US" dirty="0"/>
              <a:t>、</a:t>
            </a:r>
            <a:r>
              <a:rPr lang="en-US" altLang="zh-CN" dirty="0" err="1"/>
              <a:t>parseFloat</a:t>
            </a:r>
            <a:r>
              <a:rPr lang="en-US" altLang="zh-CN" dirty="0"/>
              <a:t>(string)</a:t>
            </a:r>
            <a:endParaRPr lang="en-US" altLang="zh-CN" dirty="0"/>
          </a:p>
          <a:p>
            <a:pPr lvl="1"/>
            <a:r>
              <a:rPr lang="zh-CN" altLang="en-US" dirty="0"/>
              <a:t>转换为字符串类型：</a:t>
            </a:r>
            <a:r>
              <a:rPr lang="en-US" altLang="zh-CN" dirty="0" err="1"/>
              <a:t>toString</a:t>
            </a:r>
            <a:r>
              <a:rPr lang="en-US" altLang="zh-CN" dirty="0"/>
              <a:t>(radix)</a:t>
            </a:r>
            <a:r>
              <a:rPr lang="zh-CN" altLang="en-US" dirty="0"/>
              <a:t>、</a:t>
            </a:r>
            <a:r>
              <a:rPr lang="en-US" altLang="zh-CN" dirty="0"/>
              <a:t>String(mix)</a:t>
            </a:r>
            <a:endParaRPr lang="en-US" altLang="zh-CN" dirty="0"/>
          </a:p>
          <a:p>
            <a:pPr lvl="1"/>
            <a:r>
              <a:rPr lang="zh-CN" altLang="en-US" dirty="0"/>
              <a:t>转换为布尔类型：</a:t>
            </a:r>
            <a:r>
              <a:rPr lang="en-US" altLang="zh-CN" dirty="0"/>
              <a:t>Boolean(mix)</a:t>
            </a:r>
            <a:endParaRPr lang="en-US" altLang="zh-CN" dirty="0"/>
          </a:p>
          <a:p>
            <a:pPr lvl="1"/>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类型转换</a:t>
            </a:r>
            <a:endParaRPr lang="zh-CN" altLang="en-US" dirty="0"/>
          </a:p>
        </p:txBody>
      </p:sp>
      <p:sp>
        <p:nvSpPr>
          <p:cNvPr id="3" name="内容占位符 2"/>
          <p:cNvSpPr>
            <a:spLocks noGrp="1"/>
          </p:cNvSpPr>
          <p:nvPr>
            <p:ph idx="1"/>
          </p:nvPr>
        </p:nvSpPr>
        <p:spPr/>
        <p:txBody>
          <a:bodyPr/>
          <a:lstStyle/>
          <a:p>
            <a:r>
              <a:rPr lang="zh-CN" altLang="en-US" dirty="0" smtClean="0"/>
              <a:t>隐式类型转换</a:t>
            </a:r>
            <a:endParaRPr lang="en-US" altLang="zh-CN" dirty="0"/>
          </a:p>
          <a:p>
            <a:pPr lvl="1"/>
            <a:r>
              <a:rPr lang="zh-CN" altLang="en-US" dirty="0" smtClean="0"/>
              <a:t>某些</a:t>
            </a:r>
            <a:r>
              <a:rPr lang="zh-CN" altLang="en-US" dirty="0"/>
              <a:t>情况下，即使我们不提供显示转换</a:t>
            </a:r>
            <a:r>
              <a:rPr lang="zh-CN" altLang="en-US" dirty="0" smtClean="0"/>
              <a:t>，</a:t>
            </a:r>
            <a:r>
              <a:rPr lang="en-US" altLang="zh-CN" dirty="0" smtClean="0"/>
              <a:t>JS </a:t>
            </a:r>
            <a:r>
              <a:rPr lang="zh-CN" altLang="en-US" dirty="0" smtClean="0"/>
              <a:t>也</a:t>
            </a:r>
            <a:r>
              <a:rPr lang="zh-CN" altLang="en-US" dirty="0"/>
              <a:t>会进行自动类型</a:t>
            </a:r>
            <a:r>
              <a:rPr lang="zh-CN" altLang="en-US" dirty="0" smtClean="0"/>
              <a:t>转换</a:t>
            </a:r>
            <a:endParaRPr lang="en-US" altLang="zh-CN" dirty="0" smtClean="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
        <p:nvSpPr>
          <p:cNvPr id="5" name="矩形 4"/>
          <p:cNvSpPr/>
          <p:nvPr/>
        </p:nvSpPr>
        <p:spPr>
          <a:xfrm>
            <a:off x="1013012" y="2608747"/>
            <a:ext cx="4518212" cy="923330"/>
          </a:xfrm>
          <a:prstGeom prst="rect">
            <a:avLst/>
          </a:prstGeom>
        </p:spPr>
        <p:txBody>
          <a:bodyPr wrap="square">
            <a:spAutoFit/>
          </a:bodyPr>
          <a:lstStyle/>
          <a:p>
            <a:r>
              <a:rPr lang="en-US" altLang="zh-CN" dirty="0">
                <a:solidFill>
                  <a:srgbClr val="E06C75"/>
                </a:solidFill>
                <a:latin typeface="Consolas" panose="020B0609020204030204" pitchFamily="49" charset="0"/>
              </a:rPr>
              <a:t>console</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log</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'2021'</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0</a:t>
            </a:r>
            <a:r>
              <a:rPr lang="en-US" altLang="zh-CN" dirty="0">
                <a:solidFill>
                  <a:srgbClr val="ABB2BF"/>
                </a:solidFill>
                <a:latin typeface="Consolas" panose="020B0609020204030204" pitchFamily="49" charset="0"/>
              </a:rPr>
              <a:t>); </a:t>
            </a:r>
            <a:r>
              <a:rPr lang="en-US" altLang="zh-CN" i="1" dirty="0">
                <a:solidFill>
                  <a:srgbClr val="7F848E"/>
                </a:solidFill>
                <a:latin typeface="Consolas" panose="020B0609020204030204" pitchFamily="49" charset="0"/>
              </a:rPr>
              <a:t>// 2021</a:t>
            </a:r>
            <a:endParaRPr lang="en-US" altLang="zh-CN" dirty="0">
              <a:solidFill>
                <a:srgbClr val="ABB2BF"/>
              </a:solidFill>
              <a:latin typeface="Consolas" panose="020B0609020204030204" pitchFamily="49" charset="0"/>
            </a:endParaRPr>
          </a:p>
          <a:p>
            <a:r>
              <a:rPr lang="en-US" altLang="zh-CN" dirty="0">
                <a:solidFill>
                  <a:srgbClr val="E06C75"/>
                </a:solidFill>
                <a:latin typeface="Consolas" panose="020B0609020204030204" pitchFamily="49" charset="0"/>
              </a:rPr>
              <a:t>console</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log</a:t>
            </a:r>
            <a:r>
              <a:rPr lang="en-US" altLang="zh-CN" dirty="0">
                <a:solidFill>
                  <a:srgbClr val="ABB2BF"/>
                </a:solidFill>
                <a:latin typeface="Consolas" panose="020B0609020204030204" pitchFamily="49" charset="0"/>
              </a:rPr>
              <a:t>(</a:t>
            </a:r>
            <a:r>
              <a:rPr lang="en-US" altLang="zh-CN" dirty="0">
                <a:solidFill>
                  <a:srgbClr val="D19A66"/>
                </a:solidFill>
                <a:latin typeface="Consolas" panose="020B0609020204030204" pitchFamily="49" charset="0"/>
              </a:rPr>
              <a:t>2021</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98C379"/>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i="1" dirty="0">
                <a:solidFill>
                  <a:srgbClr val="7F848E"/>
                </a:solidFill>
                <a:latin typeface="Consolas" panose="020B0609020204030204" pitchFamily="49" charset="0"/>
              </a:rPr>
              <a:t>// '2021'</a:t>
            </a:r>
            <a:endParaRPr lang="en-US" altLang="zh-CN" dirty="0">
              <a:solidFill>
                <a:srgbClr val="ABB2BF"/>
              </a:solidFill>
              <a:latin typeface="Consolas" panose="020B0609020204030204" pitchFamily="49" charset="0"/>
            </a:endParaRPr>
          </a:p>
          <a:p>
            <a:r>
              <a:rPr lang="en-US" altLang="zh-CN" dirty="0">
                <a:solidFill>
                  <a:srgbClr val="E06C75"/>
                </a:solidFill>
                <a:latin typeface="Consolas" panose="020B0609020204030204" pitchFamily="49" charset="0"/>
              </a:rPr>
              <a:t>console</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log</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'0'</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0</a:t>
            </a:r>
            <a:r>
              <a:rPr lang="en-US" altLang="zh-CN" dirty="0">
                <a:solidFill>
                  <a:srgbClr val="ABB2BF"/>
                </a:solidFill>
                <a:latin typeface="Consolas" panose="020B0609020204030204" pitchFamily="49" charset="0"/>
              </a:rPr>
              <a:t>); </a:t>
            </a:r>
            <a:r>
              <a:rPr lang="en-US" altLang="zh-CN" i="1" dirty="0">
                <a:solidFill>
                  <a:srgbClr val="7F848E"/>
                </a:solidFill>
                <a:latin typeface="Consolas" panose="020B0609020204030204" pitchFamily="49" charset="0"/>
              </a:rPr>
              <a:t>// true</a:t>
            </a:r>
            <a:endParaRPr lang="en-US" altLang="zh-CN" b="0" dirty="0">
              <a:solidFill>
                <a:srgbClr val="ABB2BF"/>
              </a:solidFill>
              <a:effectLst/>
              <a:latin typeface="Consolas" panose="020B0609020204030204" pitchFamily="49"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类型</a:t>
            </a:r>
            <a:r>
              <a:rPr lang="zh-CN" altLang="en-US" dirty="0"/>
              <a:t>转换</a:t>
            </a:r>
            <a:r>
              <a:rPr lang="en-US" altLang="zh-CN" dirty="0"/>
              <a:t> - </a:t>
            </a:r>
            <a:r>
              <a:rPr lang="zh-CN" altLang="en-US" dirty="0"/>
              <a:t>运算</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pic>
        <p:nvPicPr>
          <p:cNvPr id="6" name="内容占位符 5" descr="change"/>
          <p:cNvPicPr>
            <a:picLocks noChangeAspect="1"/>
          </p:cNvPicPr>
          <p:nvPr>
            <p:ph idx="1"/>
          </p:nvPr>
        </p:nvPicPr>
        <p:blipFill>
          <a:blip r:embed="rId1"/>
          <a:stretch>
            <a:fillRect/>
          </a:stretch>
        </p:blipFill>
        <p:spPr>
          <a:xfrm>
            <a:off x="2089785" y="1631315"/>
            <a:ext cx="8096250" cy="416242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类型</a:t>
            </a:r>
            <a:r>
              <a:rPr lang="zh-CN" altLang="en-US" dirty="0"/>
              <a:t>转换</a:t>
            </a:r>
            <a:r>
              <a:rPr lang="en-US" altLang="zh-CN" dirty="0"/>
              <a:t> - </a:t>
            </a:r>
            <a:r>
              <a:rPr lang="zh-CN" altLang="en-US" dirty="0"/>
              <a:t>隐式转换规则</a:t>
            </a:r>
            <a:endParaRPr lang="zh-CN" altLang="en-US" dirty="0"/>
          </a:p>
        </p:txBody>
      </p:sp>
      <p:sp>
        <p:nvSpPr>
          <p:cNvPr id="3" name="内容占位符 2"/>
          <p:cNvSpPr>
            <a:spLocks noGrp="1"/>
          </p:cNvSpPr>
          <p:nvPr>
            <p:ph idx="1"/>
          </p:nvPr>
        </p:nvSpPr>
        <p:spPr/>
        <p:txBody>
          <a:bodyPr>
            <a:normAutofit/>
          </a:bodyPr>
          <a:lstStyle/>
          <a:p>
            <a:r>
              <a:t>对象转换</a:t>
            </a:r>
            <a:r>
              <a:rPr lang="zh-CN"/>
              <a:t>规则</a:t>
            </a:r>
            <a:r>
              <a:t>，会调用内置的 </a:t>
            </a:r>
            <a:r>
              <a:rPr b="1"/>
              <a:t>[ToPrimitive]</a:t>
            </a:r>
            <a:r>
              <a:t> 函数</a:t>
            </a:r>
          </a:p>
          <a:p>
            <a:pPr lvl="1"/>
            <a:r>
              <a:t>已是基础类型，</a:t>
            </a:r>
            <a:r>
              <a:rPr lang="zh-CN"/>
              <a:t>无需</a:t>
            </a:r>
            <a:r>
              <a:t>转换</a:t>
            </a:r>
          </a:p>
          <a:p>
            <a:pPr lvl="1"/>
            <a:r>
              <a:t>目标类型为字符串</a:t>
            </a:r>
            <a:r>
              <a:rPr lang="zh-CN"/>
              <a:t>，</a:t>
            </a:r>
            <a:r>
              <a:t>先调用 toString</a:t>
            </a:r>
          </a:p>
          <a:p>
            <a:pPr lvl="2"/>
            <a:r>
              <a:rPr lang="zh-CN"/>
              <a:t>结果</a:t>
            </a:r>
            <a:r>
              <a:t>为基础类型</a:t>
            </a:r>
            <a:r>
              <a:rPr lang="zh-CN"/>
              <a:t>，则</a:t>
            </a:r>
            <a:r>
              <a:t>返回转换的值</a:t>
            </a:r>
          </a:p>
          <a:p>
            <a:pPr lvl="1"/>
            <a:r>
              <a:t>目标类型不为字符串</a:t>
            </a:r>
            <a:r>
              <a:rPr lang="zh-CN"/>
              <a:t>，</a:t>
            </a:r>
            <a:r>
              <a:t>先调用 valueOf</a:t>
            </a:r>
          </a:p>
          <a:p>
            <a:pPr lvl="2"/>
            <a:r>
              <a:t>结果为基础类型，就返回转换的值</a:t>
            </a:r>
          </a:p>
          <a:p>
            <a:pPr lvl="2"/>
            <a:r>
              <a:t>结果不是基础类型</a:t>
            </a:r>
            <a:r>
              <a:rPr lang="zh-CN"/>
              <a:t>，</a:t>
            </a:r>
            <a:r>
              <a:t>再调用 toString</a:t>
            </a:r>
          </a:p>
          <a:p>
            <a:pPr lvl="1"/>
            <a:r>
              <a:t>如果都没有返回基础类型，就会报错</a:t>
            </a:r>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类型</a:t>
            </a:r>
            <a:r>
              <a:rPr lang="zh-CN" altLang="en-US" dirty="0"/>
              <a:t>转换</a:t>
            </a:r>
            <a:endParaRPr lang="zh-CN" altLang="en-US" dirty="0"/>
          </a:p>
        </p:txBody>
      </p:sp>
      <p:sp>
        <p:nvSpPr>
          <p:cNvPr id="3" name="内容占位符 2"/>
          <p:cNvSpPr>
            <a:spLocks noGrp="1"/>
          </p:cNvSpPr>
          <p:nvPr>
            <p:ph idx="1"/>
          </p:nvPr>
        </p:nvSpPr>
        <p:spPr/>
        <p:txBody>
          <a:bodyPr/>
          <a:lstStyle/>
          <a:p>
            <a:r>
              <a:rPr lang="zh-CN" altLang="en-US" dirty="0" smtClean="0"/>
              <a:t>隐式转换 </a:t>
            </a:r>
            <a:r>
              <a:rPr lang="en-US" altLang="zh-CN" dirty="0" smtClean="0"/>
              <a:t>– </a:t>
            </a:r>
            <a:r>
              <a:rPr lang="zh-CN" altLang="en-US" dirty="0" smtClean="0"/>
              <a:t>实例</a:t>
            </a:r>
            <a:endParaRPr lang="en-US" altLang="zh-CN" dirty="0"/>
          </a:p>
          <a:p>
            <a:pPr lvl="1"/>
            <a:endParaRPr lang="en-US" altLang="zh-CN" dirty="0" smtClean="0"/>
          </a:p>
          <a:p>
            <a:pPr lvl="1"/>
            <a:r>
              <a:rPr lang="en-US" altLang="zh-CN" dirty="0" smtClean="0"/>
              <a:t>null == undefined </a:t>
            </a:r>
            <a:r>
              <a:rPr lang="zh-CN" altLang="en-US" dirty="0" smtClean="0"/>
              <a:t>？</a:t>
            </a:r>
            <a:endParaRPr lang="en-US" altLang="zh-CN" dirty="0" smtClean="0"/>
          </a:p>
          <a:p>
            <a:pPr lvl="1"/>
            <a:endParaRPr lang="en-US" altLang="zh-CN" dirty="0" err="1" smtClean="0"/>
          </a:p>
          <a:p>
            <a:pPr lvl="1"/>
            <a:r>
              <a:rPr lang="en-US" altLang="zh-CN" dirty="0" err="1" smtClean="0"/>
              <a:t>NaN</a:t>
            </a:r>
            <a:r>
              <a:rPr lang="en-US" altLang="zh-CN" dirty="0" smtClean="0"/>
              <a:t> == </a:t>
            </a:r>
            <a:r>
              <a:rPr lang="en-US" altLang="zh-CN" dirty="0" err="1" smtClean="0"/>
              <a:t>NaN</a:t>
            </a:r>
            <a:r>
              <a:rPr lang="en-US" altLang="zh-CN" dirty="0" smtClean="0"/>
              <a:t> </a:t>
            </a:r>
            <a:r>
              <a:rPr lang="zh-CN" altLang="en-US" dirty="0" smtClean="0"/>
              <a:t>？</a:t>
            </a:r>
            <a:endParaRPr lang="en-US" altLang="zh-CN" dirty="0" smtClean="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
        <p:nvSpPr>
          <p:cNvPr id="7" name="矩形 6"/>
          <p:cNvSpPr/>
          <p:nvPr/>
        </p:nvSpPr>
        <p:spPr>
          <a:xfrm>
            <a:off x="4060825" y="2091690"/>
            <a:ext cx="862330" cy="430530"/>
          </a:xfrm>
          <a:prstGeom prst="rect">
            <a:avLst/>
          </a:prstGeom>
          <a:solidFill>
            <a:srgbClr val="0283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dirty="0" smtClean="0">
                <a:latin typeface="微软雅黑" panose="020B0503020204020204" pitchFamily="34" charset="-122"/>
                <a:ea typeface="微软雅黑" panose="020B0503020204020204" pitchFamily="34" charset="-122"/>
              </a:rPr>
              <a:t>true</a:t>
            </a:r>
            <a:endParaRPr lang="en-US" altLang="zh-CN" dirty="0">
              <a:latin typeface="微软雅黑" panose="020B0503020204020204" pitchFamily="34" charset="-122"/>
              <a:ea typeface="微软雅黑" panose="020B0503020204020204" pitchFamily="34" charset="-122"/>
            </a:endParaRPr>
          </a:p>
        </p:txBody>
      </p:sp>
      <p:sp>
        <p:nvSpPr>
          <p:cNvPr id="6" name="矩形 5"/>
          <p:cNvSpPr/>
          <p:nvPr/>
        </p:nvSpPr>
        <p:spPr>
          <a:xfrm>
            <a:off x="4060825" y="2956560"/>
            <a:ext cx="862330" cy="430530"/>
          </a:xfrm>
          <a:prstGeom prst="rect">
            <a:avLst/>
          </a:prstGeom>
          <a:solidFill>
            <a:srgbClr val="0283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dirty="0">
                <a:latin typeface="微软雅黑" panose="020B0503020204020204" pitchFamily="34" charset="-122"/>
                <a:ea typeface="微软雅黑" panose="020B0503020204020204" pitchFamily="34" charset="-122"/>
              </a:rPr>
              <a:t>false</a:t>
            </a:r>
            <a:endParaRPr lang="en-US" altLang="zh-CN"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250" fill="hold">
                                          <p:stCondLst>
                                            <p:cond delay="0"/>
                                          </p:stCondLst>
                                        </p:cTn>
                                        <p:tgtEl>
                                          <p:spTgt spid="7"/>
                                        </p:tgtEl>
                                        <p:attrNameLst>
                                          <p:attrName>style.visibility</p:attrName>
                                        </p:attrNameLst>
                                      </p:cBhvr>
                                      <p:to>
                                        <p:strVal val="visible"/>
                                      </p:to>
                                    </p:set>
                                    <p:anim calcmode="lin" valueType="num">
                                      <p:cBhvr additive="base">
                                        <p:cTn id="7" dur="250" fill="hold"/>
                                        <p:tgtEl>
                                          <p:spTgt spid="7"/>
                                        </p:tgtEl>
                                        <p:attrNameLst>
                                          <p:attrName>ppt_x</p:attrName>
                                        </p:attrNameLst>
                                      </p:cBhvr>
                                      <p:tavLst>
                                        <p:tav tm="0">
                                          <p:val>
                                            <p:strVal val="1+#ppt_w/2"/>
                                          </p:val>
                                        </p:tav>
                                        <p:tav tm="100000">
                                          <p:val>
                                            <p:strVal val="#ppt_x"/>
                                          </p:val>
                                        </p:tav>
                                      </p:tavLst>
                                    </p:anim>
                                    <p:anim calcmode="lin" valueType="num">
                                      <p:cBhvr additive="base">
                                        <p:cTn id="8" dur="25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250" fill="hold">
                                          <p:stCondLst>
                                            <p:cond delay="0"/>
                                          </p:stCondLst>
                                        </p:cTn>
                                        <p:tgtEl>
                                          <p:spTgt spid="6"/>
                                        </p:tgtEl>
                                        <p:attrNameLst>
                                          <p:attrName>style.visibility</p:attrName>
                                        </p:attrNameLst>
                                      </p:cBhvr>
                                      <p:to>
                                        <p:strVal val="visible"/>
                                      </p:to>
                                    </p:set>
                                    <p:anim calcmode="lin" valueType="num">
                                      <p:cBhvr additive="base">
                                        <p:cTn id="13" dur="250" fill="hold"/>
                                        <p:tgtEl>
                                          <p:spTgt spid="6"/>
                                        </p:tgtEl>
                                        <p:attrNameLst>
                                          <p:attrName>ppt_x</p:attrName>
                                        </p:attrNameLst>
                                      </p:cBhvr>
                                      <p:tavLst>
                                        <p:tav tm="0">
                                          <p:val>
                                            <p:strVal val="1+#ppt_w/2"/>
                                          </p:val>
                                        </p:tav>
                                        <p:tav tm="100000">
                                          <p:val>
                                            <p:strVal val="#ppt_x"/>
                                          </p:val>
                                        </p:tav>
                                      </p:tavLst>
                                    </p:anim>
                                    <p:anim calcmode="lin" valueType="num">
                                      <p:cBhvr additive="base">
                                        <p:cTn id="14" dur="25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7" grpId="1" animBg="1"/>
      <p:bldP spid="6" grpId="0" animBg="1"/>
      <p:bldP spid="6" grpId="1"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类型</a:t>
            </a:r>
            <a:r>
              <a:rPr lang="zh-CN" altLang="en-US" dirty="0"/>
              <a:t>转换</a:t>
            </a:r>
            <a:endParaRPr lang="zh-CN" altLang="en-US" dirty="0"/>
          </a:p>
        </p:txBody>
      </p:sp>
      <p:sp>
        <p:nvSpPr>
          <p:cNvPr id="3" name="内容占位符 2"/>
          <p:cNvSpPr>
            <a:spLocks noGrp="1"/>
          </p:cNvSpPr>
          <p:nvPr>
            <p:ph idx="1"/>
          </p:nvPr>
        </p:nvSpPr>
        <p:spPr/>
        <p:txBody>
          <a:bodyPr/>
          <a:lstStyle/>
          <a:p>
            <a:r>
              <a:rPr lang="zh-CN" altLang="en-US" dirty="0" smtClean="0"/>
              <a:t>隐式转换 </a:t>
            </a:r>
            <a:r>
              <a:rPr lang="en-US" altLang="zh-CN" dirty="0" smtClean="0"/>
              <a:t>– </a:t>
            </a:r>
            <a:r>
              <a:rPr lang="zh-CN" altLang="en-US" dirty="0"/>
              <a:t>实例</a:t>
            </a:r>
            <a:endParaRPr lang="en-US" altLang="zh-CN" dirty="0" smtClean="0"/>
          </a:p>
          <a:p>
            <a:pPr lvl="1"/>
            <a:r>
              <a:rPr lang="en-US" altLang="zh-CN" dirty="0" smtClean="0"/>
              <a:t>[] == ![]</a:t>
            </a:r>
            <a:endParaRPr lang="en-US" altLang="zh-CN" dirty="0" smtClean="0"/>
          </a:p>
          <a:p>
            <a:pPr lvl="1"/>
            <a:endParaRPr lang="en-US" altLang="zh-CN"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
        <p:nvSpPr>
          <p:cNvPr id="6" name="矩形 5"/>
          <p:cNvSpPr/>
          <p:nvPr/>
        </p:nvSpPr>
        <p:spPr>
          <a:xfrm>
            <a:off x="4300833" y="1187496"/>
            <a:ext cx="4065383" cy="4323080"/>
          </a:xfrm>
          <a:prstGeom prst="rect">
            <a:avLst/>
          </a:prstGeom>
        </p:spPr>
        <p:txBody>
          <a:bodyPr wrap="square">
            <a:spAutoFit/>
          </a:bodyPr>
          <a:lstStyle/>
          <a:p>
            <a:pPr>
              <a:lnSpc>
                <a:spcPts val="3000"/>
              </a:lnSpc>
            </a:pPr>
            <a:r>
              <a:rPr lang="zh-CN" altLang="en-US" sz="2400" dirty="0" smtClean="0">
                <a:solidFill>
                  <a:schemeClr val="bg1"/>
                </a:solidFill>
                <a:latin typeface="微软雅黑" panose="020B0503020204020204" pitchFamily="34" charset="-122"/>
                <a:ea typeface="微软雅黑" panose="020B0503020204020204" pitchFamily="34" charset="-122"/>
              </a:rPr>
              <a:t>运算过程：</a:t>
            </a:r>
            <a:endParaRPr lang="zh-CN" altLang="en-US" sz="2400" dirty="0" smtClean="0">
              <a:solidFill>
                <a:schemeClr val="bg1"/>
              </a:solidFill>
              <a:latin typeface="微软雅黑" panose="020B0503020204020204" pitchFamily="34" charset="-122"/>
              <a:ea typeface="微软雅黑" panose="020B0503020204020204" pitchFamily="34" charset="-122"/>
            </a:endParaRPr>
          </a:p>
          <a:p>
            <a:pPr>
              <a:lnSpc>
                <a:spcPts val="3000"/>
              </a:lnSpc>
            </a:pPr>
            <a:endParaRPr lang="en-US" altLang="zh-CN" sz="2400" dirty="0" smtClean="0">
              <a:solidFill>
                <a:schemeClr val="bg1"/>
              </a:solidFill>
              <a:latin typeface="微软雅黑" panose="020B0503020204020204" pitchFamily="34" charset="-122"/>
              <a:ea typeface="微软雅黑" panose="020B0503020204020204" pitchFamily="34" charset="-122"/>
            </a:endParaRPr>
          </a:p>
          <a:p>
            <a:pPr marL="342900" indent="-342900">
              <a:lnSpc>
                <a:spcPts val="3000"/>
              </a:lnSpc>
              <a:buFont typeface="+mj-lt"/>
              <a:buAutoNum type="arabicPeriod"/>
            </a:pPr>
            <a:r>
              <a:rPr lang="zh-CN" altLang="en-US" dirty="0" smtClean="0">
                <a:solidFill>
                  <a:schemeClr val="bg1"/>
                </a:solidFill>
                <a:latin typeface="微软雅黑" panose="020B0503020204020204" pitchFamily="34" charset="-122"/>
                <a:ea typeface="微软雅黑" panose="020B0503020204020204" pitchFamily="34" charset="-122"/>
              </a:rPr>
              <a:t>!</a:t>
            </a:r>
            <a:r>
              <a:rPr lang="zh-CN" altLang="en-US" dirty="0">
                <a:solidFill>
                  <a:schemeClr val="bg1"/>
                </a:solidFill>
                <a:latin typeface="微软雅黑" panose="020B0503020204020204" pitchFamily="34" charset="-122"/>
                <a:ea typeface="微软雅黑" panose="020B0503020204020204" pitchFamily="34" charset="-122"/>
              </a:rPr>
              <a:t>[] =&gt; !Boolean([]) =&gt; </a:t>
            </a:r>
            <a:r>
              <a:rPr lang="zh-CN" altLang="en-US" dirty="0" smtClean="0">
                <a:solidFill>
                  <a:schemeClr val="bg1"/>
                </a:solidFill>
                <a:latin typeface="微软雅黑" panose="020B0503020204020204" pitchFamily="34" charset="-122"/>
                <a:ea typeface="微软雅黑" panose="020B0503020204020204" pitchFamily="34" charset="-122"/>
              </a:rPr>
              <a:t>false</a:t>
            </a:r>
            <a:endParaRPr lang="zh-CN" altLang="en-US" dirty="0">
              <a:solidFill>
                <a:schemeClr val="bg1"/>
              </a:solidFill>
              <a:latin typeface="微软雅黑" panose="020B0503020204020204" pitchFamily="34" charset="-122"/>
              <a:ea typeface="微软雅黑" panose="020B0503020204020204" pitchFamily="34" charset="-122"/>
            </a:endParaRPr>
          </a:p>
          <a:p>
            <a:pPr marL="342900" indent="-342900">
              <a:lnSpc>
                <a:spcPts val="3000"/>
              </a:lnSpc>
              <a:buFont typeface="+mj-lt"/>
              <a:buAutoNum type="arabicPeriod"/>
            </a:pPr>
            <a:r>
              <a:rPr lang="zh-CN" altLang="en-US" dirty="0" smtClean="0">
                <a:solidFill>
                  <a:schemeClr val="bg1"/>
                </a:solidFill>
                <a:latin typeface="微软雅黑" panose="020B0503020204020204" pitchFamily="34" charset="-122"/>
                <a:ea typeface="微软雅黑" panose="020B0503020204020204" pitchFamily="34" charset="-122"/>
              </a:rPr>
              <a:t>即：[] == fals</a:t>
            </a:r>
            <a:r>
              <a:rPr lang="en-US" altLang="zh-CN" dirty="0" smtClean="0">
                <a:solidFill>
                  <a:schemeClr val="bg1"/>
                </a:solidFill>
                <a:latin typeface="微软雅黑" panose="020B0503020204020204" pitchFamily="34" charset="-122"/>
                <a:ea typeface="微软雅黑" panose="020B0503020204020204" pitchFamily="34" charset="-122"/>
              </a:rPr>
              <a:t>e</a:t>
            </a:r>
            <a:endParaRPr lang="zh-CN" altLang="en-US" dirty="0">
              <a:solidFill>
                <a:schemeClr val="bg1"/>
              </a:solidFill>
              <a:latin typeface="微软雅黑" panose="020B0503020204020204" pitchFamily="34" charset="-122"/>
              <a:ea typeface="微软雅黑" panose="020B0503020204020204" pitchFamily="34" charset="-122"/>
            </a:endParaRPr>
          </a:p>
          <a:p>
            <a:pPr marL="342900" indent="-342900">
              <a:lnSpc>
                <a:spcPts val="3000"/>
              </a:lnSpc>
              <a:buFont typeface="+mj-lt"/>
              <a:buAutoNum type="arabicPeriod"/>
            </a:pPr>
            <a:r>
              <a:rPr lang="zh-CN" altLang="en-US" dirty="0">
                <a:solidFill>
                  <a:schemeClr val="bg1"/>
                </a:solidFill>
                <a:latin typeface="微软雅黑" panose="020B0503020204020204" pitchFamily="34" charset="-122"/>
                <a:ea typeface="微软雅黑" panose="020B0503020204020204" pitchFamily="34" charset="-122"/>
              </a:rPr>
              <a:t>flase =&gt; 0</a:t>
            </a:r>
            <a:endParaRPr lang="zh-CN" altLang="en-US" dirty="0">
              <a:solidFill>
                <a:schemeClr val="bg1"/>
              </a:solidFill>
              <a:latin typeface="微软雅黑" panose="020B0503020204020204" pitchFamily="34" charset="-122"/>
              <a:ea typeface="微软雅黑" panose="020B0503020204020204" pitchFamily="34" charset="-122"/>
            </a:endParaRPr>
          </a:p>
          <a:p>
            <a:pPr marL="342900" indent="-342900">
              <a:lnSpc>
                <a:spcPts val="3000"/>
              </a:lnSpc>
              <a:buFont typeface="+mj-lt"/>
              <a:buAutoNum type="arabicPeriod"/>
            </a:pPr>
            <a:r>
              <a:rPr lang="zh-CN" altLang="en-US" dirty="0" smtClean="0">
                <a:solidFill>
                  <a:schemeClr val="bg1"/>
                </a:solidFill>
                <a:latin typeface="微软雅黑" panose="020B0503020204020204" pitchFamily="34" charset="-122"/>
                <a:ea typeface="微软雅黑" panose="020B0503020204020204" pitchFamily="34" charset="-122"/>
                <a:sym typeface="+mn-ea"/>
              </a:rPr>
              <a:t>即：</a:t>
            </a:r>
            <a:r>
              <a:rPr lang="zh-CN" altLang="en-US" dirty="0" smtClean="0">
                <a:solidFill>
                  <a:schemeClr val="bg1"/>
                </a:solidFill>
                <a:latin typeface="微软雅黑" panose="020B0503020204020204" pitchFamily="34" charset="-122"/>
                <a:ea typeface="微软雅黑" panose="020B0503020204020204" pitchFamily="34" charset="-122"/>
              </a:rPr>
              <a:t>[] == 0 </a:t>
            </a:r>
            <a:endParaRPr lang="zh-CN" altLang="en-US" dirty="0">
              <a:solidFill>
                <a:schemeClr val="bg1"/>
              </a:solidFill>
              <a:latin typeface="微软雅黑" panose="020B0503020204020204" pitchFamily="34" charset="-122"/>
              <a:ea typeface="微软雅黑" panose="020B0503020204020204" pitchFamily="34" charset="-122"/>
            </a:endParaRPr>
          </a:p>
          <a:p>
            <a:pPr marL="342900" indent="-342900">
              <a:lnSpc>
                <a:spcPts val="3000"/>
              </a:lnSpc>
              <a:buFont typeface="+mj-lt"/>
              <a:buAutoNum type="arabicPeriod"/>
            </a:pPr>
            <a:r>
              <a:rPr lang="zh-CN" altLang="en-US" dirty="0">
                <a:solidFill>
                  <a:schemeClr val="bg1"/>
                </a:solidFill>
                <a:latin typeface="微软雅黑" panose="020B0503020204020204" pitchFamily="34" charset="-122"/>
                <a:ea typeface="微软雅黑" panose="020B0503020204020204" pitchFamily="34" charset="-122"/>
              </a:rPr>
              <a:t>[].toString</a:t>
            </a:r>
            <a:r>
              <a:rPr lang="zh-CN" altLang="en-US" dirty="0" smtClean="0">
                <a:solidFill>
                  <a:schemeClr val="bg1"/>
                </a:solidFill>
                <a:latin typeface="微软雅黑" panose="020B0503020204020204" pitchFamily="34" charset="-122"/>
                <a:ea typeface="微软雅黑" panose="020B0503020204020204" pitchFamily="34" charset="-122"/>
              </a:rPr>
              <a:t>() = ""</a:t>
            </a:r>
            <a:endParaRPr lang="zh-CN" altLang="en-US" dirty="0">
              <a:solidFill>
                <a:schemeClr val="bg1"/>
              </a:solidFill>
              <a:latin typeface="微软雅黑" panose="020B0503020204020204" pitchFamily="34" charset="-122"/>
              <a:ea typeface="微软雅黑" panose="020B0503020204020204" pitchFamily="34" charset="-122"/>
            </a:endParaRPr>
          </a:p>
          <a:p>
            <a:pPr marL="342900" indent="-342900">
              <a:lnSpc>
                <a:spcPts val="3000"/>
              </a:lnSpc>
              <a:buFont typeface="+mj-lt"/>
              <a:buAutoNum type="arabicPeriod"/>
            </a:pPr>
            <a:r>
              <a:rPr lang="zh-CN" altLang="en-US" dirty="0" smtClean="0">
                <a:solidFill>
                  <a:schemeClr val="bg1"/>
                </a:solidFill>
                <a:latin typeface="微软雅黑" panose="020B0503020204020204" pitchFamily="34" charset="-122"/>
                <a:ea typeface="微软雅黑" panose="020B0503020204020204" pitchFamily="34" charset="-122"/>
                <a:sym typeface="+mn-ea"/>
              </a:rPr>
              <a:t>即：</a:t>
            </a:r>
            <a:r>
              <a:rPr lang="zh-CN" altLang="en-US" dirty="0">
                <a:solidFill>
                  <a:schemeClr val="bg1"/>
                </a:solidFill>
                <a:latin typeface="微软雅黑" panose="020B0503020204020204" pitchFamily="34" charset="-122"/>
                <a:ea typeface="微软雅黑" panose="020B0503020204020204" pitchFamily="34" charset="-122"/>
              </a:rPr>
              <a:t>"" == </a:t>
            </a:r>
            <a:r>
              <a:rPr lang="zh-CN" altLang="en-US" dirty="0" smtClean="0">
                <a:solidFill>
                  <a:schemeClr val="bg1"/>
                </a:solidFill>
                <a:latin typeface="微软雅黑" panose="020B0503020204020204" pitchFamily="34" charset="-122"/>
                <a:ea typeface="微软雅黑" panose="020B0503020204020204" pitchFamily="34" charset="-122"/>
              </a:rPr>
              <a:t>0</a:t>
            </a:r>
            <a:endParaRPr lang="zh-CN" altLang="en-US" dirty="0">
              <a:solidFill>
                <a:schemeClr val="bg1"/>
              </a:solidFill>
              <a:latin typeface="微软雅黑" panose="020B0503020204020204" pitchFamily="34" charset="-122"/>
              <a:ea typeface="微软雅黑" panose="020B0503020204020204" pitchFamily="34" charset="-122"/>
            </a:endParaRPr>
          </a:p>
          <a:p>
            <a:pPr marL="342900" indent="-342900">
              <a:lnSpc>
                <a:spcPts val="3000"/>
              </a:lnSpc>
              <a:buFont typeface="+mj-lt"/>
              <a:buAutoNum type="arabicPeriod"/>
            </a:pPr>
            <a:r>
              <a:rPr lang="zh-CN" altLang="en-US" dirty="0">
                <a:solidFill>
                  <a:schemeClr val="bg1"/>
                </a:solidFill>
                <a:latin typeface="微软雅黑" panose="020B0503020204020204" pitchFamily="34" charset="-122"/>
                <a:ea typeface="微软雅黑" panose="020B0503020204020204" pitchFamily="34" charset="-122"/>
              </a:rPr>
              <a:t>Number</a:t>
            </a:r>
            <a:r>
              <a:rPr lang="zh-CN" altLang="en-US" dirty="0" smtClean="0">
                <a:solidFill>
                  <a:schemeClr val="bg1"/>
                </a:solidFill>
                <a:latin typeface="微软雅黑" panose="020B0503020204020204" pitchFamily="34" charset="-122"/>
                <a:ea typeface="微软雅黑" panose="020B0503020204020204" pitchFamily="34" charset="-122"/>
              </a:rPr>
              <a:t>("") = 0</a:t>
            </a:r>
            <a:endParaRPr lang="zh-CN" altLang="en-US" dirty="0">
              <a:solidFill>
                <a:schemeClr val="bg1"/>
              </a:solidFill>
              <a:latin typeface="微软雅黑" panose="020B0503020204020204" pitchFamily="34" charset="-122"/>
              <a:ea typeface="微软雅黑" panose="020B0503020204020204" pitchFamily="34" charset="-122"/>
            </a:endParaRPr>
          </a:p>
          <a:p>
            <a:pPr marL="342900" indent="-342900">
              <a:lnSpc>
                <a:spcPts val="3000"/>
              </a:lnSpc>
              <a:buFont typeface="+mj-lt"/>
              <a:buAutoNum type="arabicPeriod"/>
            </a:pPr>
            <a:r>
              <a:rPr lang="zh-CN" altLang="en-US" dirty="0" smtClean="0">
                <a:solidFill>
                  <a:schemeClr val="bg1"/>
                </a:solidFill>
                <a:latin typeface="微软雅黑" panose="020B0503020204020204" pitchFamily="34" charset="-122"/>
                <a:ea typeface="微软雅黑" panose="020B0503020204020204" pitchFamily="34" charset="-122"/>
                <a:sym typeface="+mn-ea"/>
              </a:rPr>
              <a:t>即：</a:t>
            </a:r>
            <a:r>
              <a:rPr lang="zh-CN" altLang="en-US" dirty="0" smtClean="0">
                <a:solidFill>
                  <a:schemeClr val="bg1"/>
                </a:solidFill>
                <a:latin typeface="微软雅黑" panose="020B0503020204020204" pitchFamily="34" charset="-122"/>
                <a:ea typeface="微软雅黑" panose="020B0503020204020204" pitchFamily="34" charset="-122"/>
              </a:rPr>
              <a:t>0 == 0</a:t>
            </a:r>
            <a:endParaRPr lang="en-US" altLang="zh-CN" dirty="0" smtClean="0">
              <a:solidFill>
                <a:schemeClr val="bg1"/>
              </a:solidFill>
              <a:latin typeface="微软雅黑" panose="020B0503020204020204" pitchFamily="34" charset="-122"/>
              <a:ea typeface="微软雅黑" panose="020B0503020204020204" pitchFamily="34" charset="-122"/>
            </a:endParaRPr>
          </a:p>
          <a:p>
            <a:pPr marL="342900" indent="-342900">
              <a:lnSpc>
                <a:spcPts val="3000"/>
              </a:lnSpc>
              <a:buFont typeface="+mj-lt"/>
              <a:buAutoNum type="arabicPeriod"/>
            </a:pPr>
            <a:r>
              <a:rPr lang="zh-CN" altLang="en-US" dirty="0" smtClean="0">
                <a:solidFill>
                  <a:schemeClr val="bg1"/>
                </a:solidFill>
                <a:latin typeface="微软雅黑" panose="020B0503020204020204" pitchFamily="34" charset="-122"/>
                <a:ea typeface="微软雅黑" panose="020B0503020204020204" pitchFamily="34" charset="-122"/>
              </a:rPr>
              <a:t>结果：true </a:t>
            </a:r>
            <a:endParaRPr lang="zh-CN" altLang="en-US"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类型</a:t>
            </a:r>
            <a:r>
              <a:rPr lang="zh-CN" altLang="en-US" dirty="0"/>
              <a:t>转换</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pic>
        <p:nvPicPr>
          <p:cNvPr id="54" name="图片 53"/>
          <p:cNvPicPr>
            <a:picLocks noChangeAspect="1"/>
          </p:cNvPicPr>
          <p:nvPr/>
        </p:nvPicPr>
        <p:blipFill>
          <a:blip r:embed="rId1"/>
          <a:stretch>
            <a:fillRect/>
          </a:stretch>
        </p:blipFill>
        <p:spPr>
          <a:xfrm>
            <a:off x="557530" y="1330325"/>
            <a:ext cx="5190490" cy="3142615"/>
          </a:xfrm>
          <a:prstGeom prst="rect">
            <a:avLst/>
          </a:prstGeom>
        </p:spPr>
      </p:pic>
      <p:pic>
        <p:nvPicPr>
          <p:cNvPr id="58" name="图片 57"/>
          <p:cNvPicPr>
            <a:picLocks noChangeAspect="1"/>
          </p:cNvPicPr>
          <p:nvPr/>
        </p:nvPicPr>
        <p:blipFill>
          <a:blip r:embed="rId2"/>
          <a:stretch>
            <a:fillRect/>
          </a:stretch>
        </p:blipFill>
        <p:spPr>
          <a:xfrm>
            <a:off x="6363335" y="1330325"/>
            <a:ext cx="5323840" cy="3933190"/>
          </a:xfrm>
          <a:prstGeom prst="rect">
            <a:avLst/>
          </a:prstGeom>
        </p:spPr>
      </p:pic>
      <p:sp>
        <p:nvSpPr>
          <p:cNvPr id="7" name="矩形 6"/>
          <p:cNvSpPr/>
          <p:nvPr/>
        </p:nvSpPr>
        <p:spPr>
          <a:xfrm>
            <a:off x="1181735" y="5546090"/>
            <a:ext cx="862330" cy="430530"/>
          </a:xfrm>
          <a:prstGeom prst="rect">
            <a:avLst/>
          </a:prstGeom>
          <a:solidFill>
            <a:srgbClr val="0283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dirty="0" smtClean="0">
                <a:latin typeface="微软雅黑" panose="020B0503020204020204" pitchFamily="34" charset="-122"/>
                <a:ea typeface="微软雅黑" panose="020B0503020204020204" pitchFamily="34" charset="-122"/>
              </a:rPr>
              <a:t>true</a:t>
            </a:r>
            <a:endParaRPr lang="en-US" altLang="zh-CN" dirty="0">
              <a:latin typeface="微软雅黑" panose="020B0503020204020204" pitchFamily="34" charset="-122"/>
              <a:ea typeface="微软雅黑" panose="020B0503020204020204" pitchFamily="34" charset="-122"/>
            </a:endParaRPr>
          </a:p>
        </p:txBody>
      </p:sp>
      <p:sp>
        <p:nvSpPr>
          <p:cNvPr id="3" name="矩形 2"/>
          <p:cNvSpPr/>
          <p:nvPr/>
        </p:nvSpPr>
        <p:spPr>
          <a:xfrm>
            <a:off x="7008495" y="5546090"/>
            <a:ext cx="862330" cy="430530"/>
          </a:xfrm>
          <a:prstGeom prst="rect">
            <a:avLst/>
          </a:prstGeom>
          <a:solidFill>
            <a:srgbClr val="0283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dirty="0" smtClean="0">
                <a:latin typeface="微软雅黑" panose="020B0503020204020204" pitchFamily="34" charset="-122"/>
                <a:ea typeface="微软雅黑" panose="020B0503020204020204" pitchFamily="34" charset="-122"/>
              </a:rPr>
              <a:t>true</a:t>
            </a:r>
            <a:endParaRPr lang="en-US" altLang="zh-CN" dirty="0">
              <a:latin typeface="微软雅黑" panose="020B0503020204020204" pitchFamily="34" charset="-122"/>
              <a:ea typeface="微软雅黑" panose="020B0503020204020204" pitchFamily="34" charset="-122"/>
            </a:endParaRPr>
          </a:p>
        </p:txBody>
      </p:sp>
      <p:sp>
        <p:nvSpPr>
          <p:cNvPr id="5" name="矩形 4"/>
          <p:cNvSpPr/>
          <p:nvPr/>
        </p:nvSpPr>
        <p:spPr>
          <a:xfrm>
            <a:off x="7903845" y="5546090"/>
            <a:ext cx="862330" cy="430530"/>
          </a:xfrm>
          <a:prstGeom prst="rect">
            <a:avLst/>
          </a:prstGeom>
          <a:solidFill>
            <a:srgbClr val="0283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dirty="0" smtClean="0">
                <a:latin typeface="微软雅黑" panose="020B0503020204020204" pitchFamily="34" charset="-122"/>
                <a:ea typeface="微软雅黑" panose="020B0503020204020204" pitchFamily="34" charset="-122"/>
              </a:rPr>
              <a:t>true</a:t>
            </a:r>
            <a:endParaRPr lang="en-US" altLang="zh-CN"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250" fill="hold">
                                          <p:stCondLst>
                                            <p:cond delay="0"/>
                                          </p:stCondLst>
                                        </p:cTn>
                                        <p:tgtEl>
                                          <p:spTgt spid="7"/>
                                        </p:tgtEl>
                                        <p:attrNameLst>
                                          <p:attrName>style.visibility</p:attrName>
                                        </p:attrNameLst>
                                      </p:cBhvr>
                                      <p:to>
                                        <p:strVal val="visible"/>
                                      </p:to>
                                    </p:set>
                                    <p:anim calcmode="lin" valueType="num">
                                      <p:cBhvr additive="base">
                                        <p:cTn id="7" dur="250" fill="hold"/>
                                        <p:tgtEl>
                                          <p:spTgt spid="7"/>
                                        </p:tgtEl>
                                        <p:attrNameLst>
                                          <p:attrName>ppt_x</p:attrName>
                                        </p:attrNameLst>
                                      </p:cBhvr>
                                      <p:tavLst>
                                        <p:tav tm="0">
                                          <p:val>
                                            <p:strVal val="1+#ppt_w/2"/>
                                          </p:val>
                                        </p:tav>
                                        <p:tav tm="100000">
                                          <p:val>
                                            <p:strVal val="#ppt_x"/>
                                          </p:val>
                                        </p:tav>
                                      </p:tavLst>
                                    </p:anim>
                                    <p:anim calcmode="lin" valueType="num">
                                      <p:cBhvr additive="base">
                                        <p:cTn id="8" dur="25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250" fill="hold">
                                          <p:stCondLst>
                                            <p:cond delay="0"/>
                                          </p:stCondLst>
                                        </p:cTn>
                                        <p:tgtEl>
                                          <p:spTgt spid="3"/>
                                        </p:tgtEl>
                                        <p:attrNameLst>
                                          <p:attrName>style.visibility</p:attrName>
                                        </p:attrNameLst>
                                      </p:cBhvr>
                                      <p:to>
                                        <p:strVal val="visible"/>
                                      </p:to>
                                    </p:set>
                                    <p:anim calcmode="lin" valueType="num">
                                      <p:cBhvr additive="base">
                                        <p:cTn id="13" dur="250" fill="hold"/>
                                        <p:tgtEl>
                                          <p:spTgt spid="3"/>
                                        </p:tgtEl>
                                        <p:attrNameLst>
                                          <p:attrName>ppt_x</p:attrName>
                                        </p:attrNameLst>
                                      </p:cBhvr>
                                      <p:tavLst>
                                        <p:tav tm="0">
                                          <p:val>
                                            <p:strVal val="1+#ppt_w/2"/>
                                          </p:val>
                                        </p:tav>
                                        <p:tav tm="100000">
                                          <p:val>
                                            <p:strVal val="#ppt_x"/>
                                          </p:val>
                                        </p:tav>
                                      </p:tavLst>
                                    </p:anim>
                                    <p:anim calcmode="lin" valueType="num">
                                      <p:cBhvr additive="base">
                                        <p:cTn id="14" dur="25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250" fill="hold">
                                          <p:stCondLst>
                                            <p:cond delay="0"/>
                                          </p:stCondLst>
                                        </p:cTn>
                                        <p:tgtEl>
                                          <p:spTgt spid="5"/>
                                        </p:tgtEl>
                                        <p:attrNameLst>
                                          <p:attrName>style.visibility</p:attrName>
                                        </p:attrNameLst>
                                      </p:cBhvr>
                                      <p:to>
                                        <p:strVal val="visible"/>
                                      </p:to>
                                    </p:set>
                                    <p:anim calcmode="lin" valueType="num">
                                      <p:cBhvr additive="base">
                                        <p:cTn id="19" dur="250" fill="hold"/>
                                        <p:tgtEl>
                                          <p:spTgt spid="5"/>
                                        </p:tgtEl>
                                        <p:attrNameLst>
                                          <p:attrName>ppt_x</p:attrName>
                                        </p:attrNameLst>
                                      </p:cBhvr>
                                      <p:tavLst>
                                        <p:tav tm="0">
                                          <p:val>
                                            <p:strVal val="1+#ppt_w/2"/>
                                          </p:val>
                                        </p:tav>
                                        <p:tav tm="100000">
                                          <p:val>
                                            <p:strVal val="#ppt_x"/>
                                          </p:val>
                                        </p:tav>
                                      </p:tavLst>
                                    </p:anim>
                                    <p:anim calcmode="lin" valueType="num">
                                      <p:cBhvr additive="base">
                                        <p:cTn id="20" dur="25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7" grpId="1" animBg="1"/>
      <p:bldP spid="3" grpId="0" bldLvl="0" animBg="1"/>
      <p:bldP spid="3" grpId="1" animBg="1"/>
      <p:bldP spid="5" grpId="0" bldLvl="0" animBg="1"/>
      <p:bldP spid="5" grpId="1"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3716020" y="2949575"/>
            <a:ext cx="4760595" cy="958850"/>
          </a:xfrm>
          <a:prstGeom prst="roundRect">
            <a:avLst>
              <a:gd name="adj" fmla="val 50000"/>
            </a:avLst>
          </a:prstGeom>
          <a:gradFill>
            <a:gsLst>
              <a:gs pos="22000">
                <a:srgbClr val="DD69B4"/>
              </a:gs>
              <a:gs pos="100000">
                <a:srgbClr val="0054FF"/>
              </a:gs>
            </a:gsLst>
            <a:lin ang="27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800">
                <a:latin typeface="微软雅黑" panose="020B0503020204020204" pitchFamily="34" charset="-122"/>
                <a:ea typeface="微软雅黑" panose="020B0503020204020204" pitchFamily="34" charset="-122"/>
              </a:rPr>
              <a:t>原型和原型链</a:t>
            </a:r>
            <a:endParaRPr lang="zh-CN" altLang="en-US" sz="280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原型与原型链</a:t>
            </a:r>
            <a:endParaRPr lang="zh-CN" altLang="en-US" dirty="0"/>
          </a:p>
        </p:txBody>
      </p:sp>
      <p:sp>
        <p:nvSpPr>
          <p:cNvPr id="3" name="内容占位符 2"/>
          <p:cNvSpPr>
            <a:spLocks noGrp="1"/>
          </p:cNvSpPr>
          <p:nvPr>
            <p:ph idx="1"/>
          </p:nvPr>
        </p:nvSpPr>
        <p:spPr/>
        <p:txBody>
          <a:bodyPr/>
          <a:lstStyle/>
          <a:p>
            <a:r>
              <a:rPr lang="zh-CN" altLang="en-US" dirty="0"/>
              <a:t>什么是原型</a:t>
            </a:r>
            <a:endParaRPr lang="zh-CN" altLang="en-US" dirty="0"/>
          </a:p>
          <a:p>
            <a:pPr lvl="1"/>
            <a:r>
              <a:rPr lang="zh-CN" altLang="en-US" dirty="0"/>
              <a:t>js原型也叫做js原型对象</a:t>
            </a:r>
            <a:endParaRPr lang="zh-CN" altLang="en-US" dirty="0"/>
          </a:p>
          <a:p>
            <a:pPr lvl="1"/>
            <a:r>
              <a:rPr lang="zh-CN" altLang="en-US" dirty="0"/>
              <a:t>是一种对象属性</a:t>
            </a:r>
            <a:endParaRPr lang="zh-CN" altLang="en-US" dirty="0"/>
          </a:p>
          <a:p>
            <a:pPr lvl="1"/>
            <a:r>
              <a:rPr lang="zh-CN" altLang="en-US" dirty="0"/>
              <a:t>在</a:t>
            </a:r>
            <a:r>
              <a:rPr lang="en-US" altLang="zh-CN" dirty="0"/>
              <a:t>js</a:t>
            </a:r>
            <a:r>
              <a:rPr lang="zh-CN" altLang="en-US" dirty="0"/>
              <a:t>中，每一个函数，都有这样的</a:t>
            </a:r>
            <a:r>
              <a:rPr lang="zh-CN" altLang="en-US" dirty="0">
                <a:sym typeface="+mn-ea"/>
              </a:rPr>
              <a:t>对象属性</a:t>
            </a:r>
            <a:r>
              <a:rPr lang="zh-CN" altLang="en-US" dirty="0"/>
              <a:t>，这个属性就是prototype</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原型对象与原型链</a:t>
            </a:r>
            <a:endParaRPr lang="zh-CN" altLang="en-US" dirty="0"/>
          </a:p>
        </p:txBody>
      </p:sp>
      <p:sp>
        <p:nvSpPr>
          <p:cNvPr id="3" name="内容占位符 2"/>
          <p:cNvSpPr>
            <a:spLocks noGrp="1"/>
          </p:cNvSpPr>
          <p:nvPr>
            <p:ph idx="1"/>
          </p:nvPr>
        </p:nvSpPr>
        <p:spPr/>
        <p:txBody>
          <a:bodyPr/>
          <a:lstStyle/>
          <a:p>
            <a:r>
              <a:rPr lang="en-US" altLang="zh-CN" dirty="0" smtClean="0"/>
              <a:t>prototype </a:t>
            </a:r>
            <a:r>
              <a:rPr lang="zh-CN" altLang="en-US" dirty="0" smtClean="0"/>
              <a:t>和 </a:t>
            </a:r>
            <a:r>
              <a:rPr lang="en-US" altLang="zh-CN" dirty="0" smtClean="0"/>
              <a:t>__</a:t>
            </a:r>
            <a:r>
              <a:rPr lang="en-US" altLang="zh-CN" dirty="0"/>
              <a:t>proto</a:t>
            </a:r>
            <a:r>
              <a:rPr lang="en-US" altLang="zh-CN" dirty="0" smtClean="0"/>
              <a:t>__ </a:t>
            </a:r>
            <a:r>
              <a:rPr lang="zh-CN" altLang="en-US" dirty="0" smtClean="0"/>
              <a:t>是什么？</a:t>
            </a:r>
            <a:endParaRPr lang="zh-CN" altLang="en-US" dirty="0" smtClean="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
        <p:nvSpPr>
          <p:cNvPr id="5" name="矩形 4"/>
          <p:cNvSpPr/>
          <p:nvPr/>
        </p:nvSpPr>
        <p:spPr>
          <a:xfrm>
            <a:off x="557439" y="1886235"/>
            <a:ext cx="6096000" cy="3416320"/>
          </a:xfrm>
          <a:prstGeom prst="rect">
            <a:avLst/>
          </a:prstGeom>
        </p:spPr>
        <p:txBody>
          <a:bodyPr>
            <a:spAutoFit/>
          </a:bodyPr>
          <a:lstStyle/>
          <a:p>
            <a:r>
              <a:rPr lang="en-US" altLang="zh-CN" dirty="0" err="1">
                <a:solidFill>
                  <a:srgbClr val="C678DD"/>
                </a:solidFill>
                <a:latin typeface="Consolas" panose="020B0609020204030204" pitchFamily="49" charset="0"/>
              </a:rPr>
              <a:t>var</a:t>
            </a:r>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a</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name</a:t>
            </a:r>
            <a:r>
              <a:rPr lang="en-US" altLang="zh-CN" dirty="0">
                <a:solidFill>
                  <a:srgbClr val="ABB2BF"/>
                </a:solidFill>
                <a:latin typeface="Consolas" panose="020B0609020204030204" pitchFamily="49" charset="0"/>
              </a:rPr>
              <a:t>: </a:t>
            </a:r>
            <a:r>
              <a:rPr lang="en-US" altLang="zh-CN" dirty="0">
                <a:solidFill>
                  <a:srgbClr val="98C379"/>
                </a:solidFill>
                <a:latin typeface="Consolas" panose="020B0609020204030204" pitchFamily="49" charset="0"/>
              </a:rPr>
              <a:t>'</a:t>
            </a:r>
            <a:r>
              <a:rPr lang="en-US" altLang="zh-CN" dirty="0" err="1">
                <a:solidFill>
                  <a:srgbClr val="98C379"/>
                </a:solidFill>
                <a:latin typeface="Consolas" panose="020B0609020204030204" pitchFamily="49" charset="0"/>
              </a:rPr>
              <a:t>aaa</a:t>
            </a:r>
            <a:r>
              <a:rPr lang="en-US" altLang="zh-CN" dirty="0">
                <a:solidFill>
                  <a:srgbClr val="98C379"/>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E06C75"/>
                </a:solidFill>
                <a:latin typeface="Consolas" panose="020B0609020204030204" pitchFamily="49" charset="0"/>
              </a:rPr>
              <a:t>console</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log</a:t>
            </a:r>
            <a:r>
              <a:rPr lang="en-US" altLang="zh-CN" dirty="0">
                <a:solidFill>
                  <a:srgbClr val="ABB2BF"/>
                </a:solidFill>
                <a:latin typeface="Consolas" panose="020B0609020204030204" pitchFamily="49" charset="0"/>
              </a:rPr>
              <a:t>(</a:t>
            </a:r>
            <a:r>
              <a:rPr lang="en-US" altLang="zh-CN" dirty="0" err="1">
                <a:solidFill>
                  <a:srgbClr val="E06C75"/>
                </a:solidFill>
                <a:latin typeface="Consolas" panose="020B0609020204030204" pitchFamily="49" charset="0"/>
              </a:rPr>
              <a:t>a</a:t>
            </a:r>
            <a:r>
              <a:rPr lang="en-US" altLang="zh-CN" dirty="0" err="1">
                <a:solidFill>
                  <a:srgbClr val="ABB2BF"/>
                </a:solidFill>
                <a:latin typeface="Consolas" panose="020B0609020204030204" pitchFamily="49" charset="0"/>
              </a:rPr>
              <a:t>.</a:t>
            </a:r>
            <a:r>
              <a:rPr lang="en-US" altLang="zh-CN" dirty="0" err="1">
                <a:solidFill>
                  <a:srgbClr val="E06C75"/>
                </a:solidFill>
                <a:latin typeface="Consolas" panose="020B0609020204030204" pitchFamily="49" charset="0"/>
              </a:rPr>
              <a:t>prototype</a:t>
            </a:r>
            <a:r>
              <a:rPr lang="en-US" altLang="zh-CN" dirty="0">
                <a:solidFill>
                  <a:srgbClr val="ABB2BF"/>
                </a:solidFill>
                <a:latin typeface="Consolas" panose="020B0609020204030204" pitchFamily="49" charset="0"/>
              </a:rPr>
              <a:t>); </a:t>
            </a:r>
            <a:r>
              <a:rPr lang="en-US" altLang="zh-CN" i="1" dirty="0">
                <a:solidFill>
                  <a:srgbClr val="7F848E"/>
                </a:solidFill>
                <a:latin typeface="Consolas" panose="020B0609020204030204" pitchFamily="49" charset="0"/>
              </a:rPr>
              <a:t>// undefined</a:t>
            </a:r>
            <a:endParaRPr lang="en-US" altLang="zh-CN" dirty="0">
              <a:solidFill>
                <a:srgbClr val="ABB2BF"/>
              </a:solidFill>
              <a:latin typeface="Consolas" panose="020B0609020204030204" pitchFamily="49" charset="0"/>
            </a:endParaRPr>
          </a:p>
          <a:p>
            <a:r>
              <a:rPr lang="en-US" altLang="zh-CN" dirty="0">
                <a:solidFill>
                  <a:srgbClr val="E06C75"/>
                </a:solidFill>
                <a:latin typeface="Consolas" panose="020B0609020204030204" pitchFamily="49" charset="0"/>
              </a:rPr>
              <a:t>console</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log</a:t>
            </a:r>
            <a:r>
              <a:rPr lang="en-US" altLang="zh-CN" dirty="0">
                <a:solidFill>
                  <a:srgbClr val="ABB2BF"/>
                </a:solidFill>
                <a:latin typeface="Consolas" panose="020B0609020204030204" pitchFamily="49" charset="0"/>
              </a:rPr>
              <a:t>(</a:t>
            </a:r>
            <a:r>
              <a:rPr lang="en-US" altLang="zh-CN" dirty="0" err="1">
                <a:solidFill>
                  <a:srgbClr val="E06C75"/>
                </a:solidFill>
                <a:latin typeface="Consolas" panose="020B0609020204030204" pitchFamily="49" charset="0"/>
              </a:rPr>
              <a:t>a</a:t>
            </a:r>
            <a:r>
              <a:rPr lang="en-US" altLang="zh-CN" dirty="0" err="1">
                <a:solidFill>
                  <a:srgbClr val="ABB2BF"/>
                </a:solidFill>
                <a:latin typeface="Consolas" panose="020B0609020204030204" pitchFamily="49" charset="0"/>
              </a:rPr>
              <a:t>.</a:t>
            </a:r>
            <a:r>
              <a:rPr lang="en-US" altLang="zh-CN" dirty="0" err="1">
                <a:solidFill>
                  <a:srgbClr val="E06C75"/>
                </a:solidFill>
                <a:latin typeface="Consolas" panose="020B0609020204030204" pitchFamily="49" charset="0"/>
              </a:rPr>
              <a:t>__proto</a:t>
            </a:r>
            <a:r>
              <a:rPr lang="en-US" altLang="zh-CN" dirty="0">
                <a:solidFill>
                  <a:srgbClr val="E06C75"/>
                </a:solidFill>
                <a:latin typeface="Consolas" panose="020B0609020204030204" pitchFamily="49" charset="0"/>
              </a:rPr>
              <a:t>__</a:t>
            </a:r>
            <a:r>
              <a:rPr lang="en-US" altLang="zh-CN" dirty="0">
                <a:solidFill>
                  <a:srgbClr val="ABB2BF"/>
                </a:solidFill>
                <a:latin typeface="Consolas" panose="020B0609020204030204" pitchFamily="49" charset="0"/>
              </a:rPr>
              <a:t>); </a:t>
            </a:r>
            <a:r>
              <a:rPr lang="en-US" altLang="zh-CN" i="1" dirty="0">
                <a:solidFill>
                  <a:srgbClr val="7F848E"/>
                </a:solidFill>
                <a:latin typeface="Consolas" panose="020B0609020204030204" pitchFamily="49" charset="0"/>
              </a:rPr>
              <a:t>// Object {}</a:t>
            </a:r>
            <a:endParaRPr lang="en-US" altLang="zh-CN" dirty="0">
              <a:solidFill>
                <a:srgbClr val="ABB2BF"/>
              </a:solidFill>
              <a:latin typeface="Consolas" panose="020B0609020204030204" pitchFamily="49" charset="0"/>
            </a:endParaRPr>
          </a:p>
          <a:p>
            <a:endParaRPr lang="en-US" altLang="zh-CN" dirty="0" smtClean="0">
              <a:solidFill>
                <a:srgbClr val="ABB2BF"/>
              </a:solidFill>
              <a:latin typeface="Consolas" panose="020B0609020204030204" pitchFamily="49" charset="0"/>
            </a:endParaRPr>
          </a:p>
          <a:p>
            <a:br>
              <a:rPr lang="en-US" altLang="zh-CN" dirty="0">
                <a:solidFill>
                  <a:srgbClr val="ABB2BF"/>
                </a:solidFill>
                <a:latin typeface="Consolas" panose="020B0609020204030204" pitchFamily="49" charset="0"/>
              </a:rPr>
            </a:br>
            <a:r>
              <a:rPr lang="en-US" altLang="zh-CN" dirty="0" err="1">
                <a:solidFill>
                  <a:srgbClr val="C678DD"/>
                </a:solidFill>
                <a:latin typeface="Consolas" panose="020B0609020204030204" pitchFamily="49" charset="0"/>
              </a:rPr>
              <a:t>var</a:t>
            </a:r>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b</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C678DD"/>
                </a:solidFill>
                <a:latin typeface="Consolas" panose="020B0609020204030204" pitchFamily="49" charset="0"/>
              </a:rPr>
              <a:t>function</a:t>
            </a:r>
            <a:r>
              <a:rPr lang="en-US" altLang="zh-CN" dirty="0">
                <a:solidFill>
                  <a:srgbClr val="ABB2BF"/>
                </a:solidFill>
                <a:latin typeface="Consolas" panose="020B0609020204030204" pitchFamily="49" charset="0"/>
              </a:rPr>
              <a:t> ()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a:solidFill>
                  <a:srgbClr val="E5C07B"/>
                </a:solidFill>
                <a:latin typeface="Consolas" panose="020B0609020204030204" pitchFamily="49" charset="0"/>
              </a:rPr>
              <a:t>this</a:t>
            </a:r>
            <a:r>
              <a:rPr lang="en-US" altLang="zh-CN" dirty="0">
                <a:solidFill>
                  <a:srgbClr val="ABB2BF"/>
                </a:solidFill>
                <a:latin typeface="Consolas" panose="020B0609020204030204" pitchFamily="49" charset="0"/>
              </a:rPr>
              <a:t>.</a:t>
            </a:r>
            <a:r>
              <a:rPr lang="en-US" altLang="zh-CN" dirty="0">
                <a:solidFill>
                  <a:srgbClr val="E06C75"/>
                </a:solidFill>
                <a:latin typeface="Consolas" panose="020B0609020204030204" pitchFamily="49" charset="0"/>
              </a:rPr>
              <a:t>name</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98C379"/>
                </a:solidFill>
                <a:latin typeface="Consolas" panose="020B0609020204030204" pitchFamily="49" charset="0"/>
              </a:rPr>
              <a:t>'</a:t>
            </a:r>
            <a:r>
              <a:rPr lang="en-US" altLang="zh-CN" dirty="0" err="1">
                <a:solidFill>
                  <a:srgbClr val="98C379"/>
                </a:solidFill>
                <a:latin typeface="Consolas" panose="020B0609020204030204" pitchFamily="49" charset="0"/>
              </a:rPr>
              <a:t>bbb</a:t>
            </a:r>
            <a:r>
              <a:rPr lang="en-US" altLang="zh-CN" dirty="0">
                <a:solidFill>
                  <a:srgbClr val="98C379"/>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E06C75"/>
                </a:solidFill>
                <a:latin typeface="Consolas" panose="020B0609020204030204" pitchFamily="49" charset="0"/>
              </a:rPr>
              <a:t>console</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log</a:t>
            </a:r>
            <a:r>
              <a:rPr lang="en-US" altLang="zh-CN" dirty="0">
                <a:solidFill>
                  <a:srgbClr val="ABB2BF"/>
                </a:solidFill>
                <a:latin typeface="Consolas" panose="020B0609020204030204" pitchFamily="49" charset="0"/>
              </a:rPr>
              <a:t>(</a:t>
            </a:r>
            <a:r>
              <a:rPr lang="en-US" altLang="zh-CN" dirty="0" err="1">
                <a:solidFill>
                  <a:srgbClr val="E06C75"/>
                </a:solidFill>
                <a:latin typeface="Consolas" panose="020B0609020204030204" pitchFamily="49" charset="0"/>
              </a:rPr>
              <a:t>b</a:t>
            </a:r>
            <a:r>
              <a:rPr lang="en-US" altLang="zh-CN" dirty="0" err="1">
                <a:solidFill>
                  <a:srgbClr val="ABB2BF"/>
                </a:solidFill>
                <a:latin typeface="Consolas" panose="020B0609020204030204" pitchFamily="49" charset="0"/>
              </a:rPr>
              <a:t>.</a:t>
            </a:r>
            <a:r>
              <a:rPr lang="en-US" altLang="zh-CN" dirty="0" err="1">
                <a:solidFill>
                  <a:srgbClr val="E06C75"/>
                </a:solidFill>
                <a:latin typeface="Consolas" panose="020B0609020204030204" pitchFamily="49" charset="0"/>
              </a:rPr>
              <a:t>prototype</a:t>
            </a:r>
            <a:r>
              <a:rPr lang="en-US" altLang="zh-CN" dirty="0">
                <a:solidFill>
                  <a:srgbClr val="ABB2BF"/>
                </a:solidFill>
                <a:latin typeface="Consolas" panose="020B0609020204030204" pitchFamily="49" charset="0"/>
              </a:rPr>
              <a:t>); </a:t>
            </a:r>
            <a:r>
              <a:rPr lang="en-US" altLang="zh-CN" i="1" dirty="0">
                <a:solidFill>
                  <a:srgbClr val="7F848E"/>
                </a:solidFill>
                <a:latin typeface="Consolas" panose="020B0609020204030204" pitchFamily="49" charset="0"/>
              </a:rPr>
              <a:t>// b {}</a:t>
            </a:r>
            <a:endParaRPr lang="en-US" altLang="zh-CN" dirty="0">
              <a:solidFill>
                <a:srgbClr val="ABB2BF"/>
              </a:solidFill>
              <a:latin typeface="Consolas" panose="020B0609020204030204" pitchFamily="49" charset="0"/>
            </a:endParaRPr>
          </a:p>
          <a:p>
            <a:r>
              <a:rPr lang="en-US" altLang="zh-CN" dirty="0">
                <a:solidFill>
                  <a:srgbClr val="E06C75"/>
                </a:solidFill>
                <a:latin typeface="Consolas" panose="020B0609020204030204" pitchFamily="49" charset="0"/>
              </a:rPr>
              <a:t>console</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log</a:t>
            </a:r>
            <a:r>
              <a:rPr lang="en-US" altLang="zh-CN" dirty="0">
                <a:solidFill>
                  <a:srgbClr val="ABB2BF"/>
                </a:solidFill>
                <a:latin typeface="Consolas" panose="020B0609020204030204" pitchFamily="49" charset="0"/>
              </a:rPr>
              <a:t>(</a:t>
            </a:r>
            <a:r>
              <a:rPr lang="en-US" altLang="zh-CN" dirty="0" err="1">
                <a:solidFill>
                  <a:srgbClr val="E06C75"/>
                </a:solidFill>
                <a:latin typeface="Consolas" panose="020B0609020204030204" pitchFamily="49" charset="0"/>
              </a:rPr>
              <a:t>b</a:t>
            </a:r>
            <a:r>
              <a:rPr lang="en-US" altLang="zh-CN" dirty="0" err="1">
                <a:solidFill>
                  <a:srgbClr val="ABB2BF"/>
                </a:solidFill>
                <a:latin typeface="Consolas" panose="020B0609020204030204" pitchFamily="49" charset="0"/>
              </a:rPr>
              <a:t>.</a:t>
            </a:r>
            <a:r>
              <a:rPr lang="en-US" altLang="zh-CN" dirty="0" err="1">
                <a:solidFill>
                  <a:srgbClr val="E06C75"/>
                </a:solidFill>
                <a:latin typeface="Consolas" panose="020B0609020204030204" pitchFamily="49" charset="0"/>
              </a:rPr>
              <a:t>__proto</a:t>
            </a:r>
            <a:r>
              <a:rPr lang="en-US" altLang="zh-CN" dirty="0">
                <a:solidFill>
                  <a:srgbClr val="E06C75"/>
                </a:solidFill>
                <a:latin typeface="Consolas" panose="020B0609020204030204" pitchFamily="49" charset="0"/>
              </a:rPr>
              <a:t>__</a:t>
            </a:r>
            <a:r>
              <a:rPr lang="en-US" altLang="zh-CN" dirty="0">
                <a:solidFill>
                  <a:srgbClr val="ABB2BF"/>
                </a:solidFill>
                <a:latin typeface="Consolas" panose="020B0609020204030204" pitchFamily="49" charset="0"/>
              </a:rPr>
              <a:t>); </a:t>
            </a:r>
            <a:r>
              <a:rPr lang="en-US" altLang="zh-CN" i="1" dirty="0">
                <a:solidFill>
                  <a:srgbClr val="7F848E"/>
                </a:solidFill>
                <a:latin typeface="Consolas" panose="020B0609020204030204" pitchFamily="49" charset="0"/>
              </a:rPr>
              <a:t>// function() {}</a:t>
            </a:r>
            <a:endParaRPr lang="en-US" altLang="zh-CN" b="0" dirty="0">
              <a:solidFill>
                <a:srgbClr val="ABB2BF"/>
              </a:solidFill>
              <a:effectLst/>
              <a:latin typeface="Consolas" panose="020B0609020204030204" pitchFamily="49"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原型对象与原型链</a:t>
            </a:r>
            <a:endParaRPr lang="zh-CN" altLang="en-US" dirty="0"/>
          </a:p>
        </p:txBody>
      </p:sp>
      <p:sp>
        <p:nvSpPr>
          <p:cNvPr id="3" name="内容占位符 2"/>
          <p:cNvSpPr>
            <a:spLocks noGrp="1"/>
          </p:cNvSpPr>
          <p:nvPr>
            <p:ph idx="1"/>
          </p:nvPr>
        </p:nvSpPr>
        <p:spPr/>
        <p:txBody>
          <a:bodyPr/>
          <a:lstStyle/>
          <a:p>
            <a:r>
              <a:rPr lang="en-US" altLang="zh-CN" dirty="0" smtClean="0"/>
              <a:t>prototype </a:t>
            </a:r>
            <a:r>
              <a:rPr lang="zh-CN" altLang="en-US" dirty="0" smtClean="0"/>
              <a:t>和 </a:t>
            </a:r>
            <a:r>
              <a:rPr lang="en-US" altLang="zh-CN" dirty="0" smtClean="0"/>
              <a:t>__</a:t>
            </a:r>
            <a:r>
              <a:rPr lang="en-US" altLang="zh-CN" dirty="0"/>
              <a:t>proto</a:t>
            </a:r>
            <a:r>
              <a:rPr lang="en-US" altLang="zh-CN" dirty="0" smtClean="0"/>
              <a:t>__ </a:t>
            </a:r>
            <a:r>
              <a:rPr lang="zh-CN" altLang="en-US" dirty="0" smtClean="0"/>
              <a:t>的</a:t>
            </a:r>
            <a:r>
              <a:rPr lang="zh-CN" altLang="en-US" dirty="0"/>
              <a:t>区别</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
        <p:nvSpPr>
          <p:cNvPr id="6" name="矩形 5"/>
          <p:cNvSpPr/>
          <p:nvPr/>
        </p:nvSpPr>
        <p:spPr>
          <a:xfrm>
            <a:off x="557530" y="2321560"/>
            <a:ext cx="4237990" cy="1264285"/>
          </a:xfrm>
          <a:prstGeom prst="rect">
            <a:avLst/>
          </a:prstGeom>
          <a:solidFill>
            <a:srgbClr val="0283CA"/>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dirty="0" smtClean="0"/>
              <a:t>function</a:t>
            </a:r>
            <a:endParaRPr lang="zh-CN" altLang="en-US" dirty="0"/>
          </a:p>
        </p:txBody>
      </p:sp>
      <p:sp>
        <p:nvSpPr>
          <p:cNvPr id="8" name="矩形 7"/>
          <p:cNvSpPr/>
          <p:nvPr/>
        </p:nvSpPr>
        <p:spPr>
          <a:xfrm>
            <a:off x="1902460" y="2476500"/>
            <a:ext cx="1205230" cy="955040"/>
          </a:xfrm>
          <a:prstGeom prst="rect">
            <a:avLst/>
          </a:prstGeom>
          <a:solidFill>
            <a:schemeClr val="tx2">
              <a:lumMod val="60000"/>
              <a:lumOff val="40000"/>
            </a:schemeClr>
          </a:solidFill>
          <a:ln w="19050">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prototype</a:t>
            </a:r>
            <a:endParaRPr lang="zh-CN" altLang="en-US" dirty="0"/>
          </a:p>
        </p:txBody>
      </p:sp>
      <p:sp>
        <p:nvSpPr>
          <p:cNvPr id="9" name="矩形 8"/>
          <p:cNvSpPr/>
          <p:nvPr/>
        </p:nvSpPr>
        <p:spPr>
          <a:xfrm>
            <a:off x="6342335" y="2323129"/>
            <a:ext cx="3442447" cy="1264023"/>
          </a:xfrm>
          <a:prstGeom prst="rect">
            <a:avLst/>
          </a:prstGeom>
          <a:solidFill>
            <a:srgbClr val="0283CA"/>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dirty="0" smtClean="0"/>
              <a:t>object</a:t>
            </a:r>
            <a:endParaRPr lang="zh-CN" altLang="en-US" dirty="0"/>
          </a:p>
        </p:txBody>
      </p:sp>
      <p:sp>
        <p:nvSpPr>
          <p:cNvPr id="10" name="矩形 9"/>
          <p:cNvSpPr/>
          <p:nvPr/>
        </p:nvSpPr>
        <p:spPr>
          <a:xfrm>
            <a:off x="8329295" y="2477135"/>
            <a:ext cx="1205230" cy="955040"/>
          </a:xfrm>
          <a:prstGeom prst="rect">
            <a:avLst/>
          </a:prstGeom>
          <a:solidFill>
            <a:schemeClr val="tx2">
              <a:lumMod val="60000"/>
              <a:lumOff val="4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__proto__</a:t>
            </a:r>
            <a:endParaRPr lang="zh-CN" altLang="en-US" dirty="0"/>
          </a:p>
        </p:txBody>
      </p:sp>
      <p:sp>
        <p:nvSpPr>
          <p:cNvPr id="13" name="文本框 12"/>
          <p:cNvSpPr txBox="1"/>
          <p:nvPr/>
        </p:nvSpPr>
        <p:spPr>
          <a:xfrm>
            <a:off x="557623" y="4234366"/>
            <a:ext cx="8672830" cy="1630045"/>
          </a:xfrm>
          <a:prstGeom prst="rect">
            <a:avLst/>
          </a:prstGeom>
          <a:noFill/>
        </p:spPr>
        <p:txBody>
          <a:bodyPr wrap="none" rtlCol="0">
            <a:spAutoFit/>
          </a:bodyPr>
          <a:lstStyle/>
          <a:p>
            <a:pPr marL="342900" indent="-342900" algn="l">
              <a:lnSpc>
                <a:spcPts val="3000"/>
              </a:lnSpc>
              <a:buFont typeface="+mj-lt"/>
              <a:buAutoNum type="arabicPeriod"/>
            </a:pPr>
            <a:r>
              <a:rPr lang="en-US" altLang="zh-CN" dirty="0" smtClean="0">
                <a:solidFill>
                  <a:schemeClr val="bg1"/>
                </a:solidFill>
                <a:latin typeface="微软雅黑" panose="020B0503020204020204" pitchFamily="34" charset="-122"/>
                <a:ea typeface="微软雅黑" panose="020B0503020204020204" pitchFamily="34" charset="-122"/>
                <a:sym typeface="+mn-ea"/>
              </a:rPr>
              <a:t>prototype</a:t>
            </a:r>
            <a:r>
              <a:rPr lang="zh-CN" altLang="en-US" dirty="0" smtClean="0">
                <a:solidFill>
                  <a:schemeClr val="bg1"/>
                </a:solidFill>
                <a:latin typeface="微软雅黑" panose="020B0503020204020204" pitchFamily="34" charset="-122"/>
                <a:ea typeface="微软雅黑" panose="020B0503020204020204" pitchFamily="34" charset="-122"/>
                <a:sym typeface="+mn-ea"/>
              </a:rPr>
              <a:t>：函数才有的属性，指向函数的原型对象</a:t>
            </a:r>
            <a:endParaRPr lang="zh-CN" altLang="en-US" dirty="0" smtClean="0">
              <a:solidFill>
                <a:schemeClr val="bg1"/>
              </a:solidFill>
              <a:latin typeface="微软雅黑" panose="020B0503020204020204" pitchFamily="34" charset="-122"/>
              <a:ea typeface="微软雅黑" panose="020B0503020204020204" pitchFamily="34" charset="-122"/>
              <a:sym typeface="+mn-ea"/>
            </a:endParaRPr>
          </a:p>
          <a:p>
            <a:pPr marL="342900" indent="-342900" algn="l">
              <a:lnSpc>
                <a:spcPts val="3000"/>
              </a:lnSpc>
              <a:buFont typeface="+mj-lt"/>
              <a:buAutoNum type="arabicPeriod"/>
            </a:pPr>
            <a:r>
              <a:rPr lang="en-US" altLang="zh-CN" dirty="0" smtClean="0">
                <a:solidFill>
                  <a:schemeClr val="bg1"/>
                </a:solidFill>
                <a:latin typeface="微软雅黑" panose="020B0503020204020204" pitchFamily="34" charset="-122"/>
                <a:ea typeface="微软雅黑" panose="020B0503020204020204" pitchFamily="34" charset="-122"/>
                <a:sym typeface="+mn-ea"/>
              </a:rPr>
              <a:t>__proto__</a:t>
            </a:r>
            <a:r>
              <a:rPr lang="zh-CN" altLang="en-US" dirty="0" smtClean="0">
                <a:solidFill>
                  <a:schemeClr val="bg1"/>
                </a:solidFill>
                <a:latin typeface="微软雅黑" panose="020B0503020204020204" pitchFamily="34" charset="-122"/>
                <a:ea typeface="微软雅黑" panose="020B0503020204020204" pitchFamily="34" charset="-122"/>
                <a:sym typeface="+mn-ea"/>
              </a:rPr>
              <a:t>：每个对象都有的属性（</a:t>
            </a:r>
            <a:r>
              <a:rPr lang="en-US" altLang="zh-CN" dirty="0" smtClean="0">
                <a:solidFill>
                  <a:schemeClr val="bg1"/>
                </a:solidFill>
                <a:latin typeface="微软雅黑" panose="020B0503020204020204" pitchFamily="34" charset="-122"/>
                <a:ea typeface="微软雅黑" panose="020B0503020204020204" pitchFamily="34" charset="-122"/>
                <a:sym typeface="+mn-ea"/>
              </a:rPr>
              <a:t>null </a:t>
            </a:r>
            <a:r>
              <a:rPr lang="zh-CN" altLang="en-US" dirty="0" smtClean="0">
                <a:solidFill>
                  <a:schemeClr val="bg1"/>
                </a:solidFill>
                <a:latin typeface="微软雅黑" panose="020B0503020204020204" pitchFamily="34" charset="-122"/>
                <a:ea typeface="微软雅黑" panose="020B0503020204020204" pitchFamily="34" charset="-122"/>
                <a:sym typeface="+mn-ea"/>
              </a:rPr>
              <a:t>除外），指向对象的原型</a:t>
            </a:r>
            <a:endParaRPr lang="en-US" altLang="zh-CN" dirty="0" smtClean="0">
              <a:solidFill>
                <a:schemeClr val="bg1"/>
              </a:solidFill>
              <a:latin typeface="微软雅黑" panose="020B0503020204020204" pitchFamily="34" charset="-122"/>
              <a:ea typeface="微软雅黑" panose="020B0503020204020204" pitchFamily="34" charset="-122"/>
            </a:endParaRPr>
          </a:p>
          <a:p>
            <a:pPr marL="342900" indent="-342900" algn="l">
              <a:lnSpc>
                <a:spcPts val="3000"/>
              </a:lnSpc>
              <a:buFont typeface="+mj-lt"/>
              <a:buAutoNum type="arabicPeriod"/>
            </a:pPr>
            <a:r>
              <a:rPr lang="en-US" altLang="zh-CN" dirty="0" smtClean="0">
                <a:solidFill>
                  <a:schemeClr val="bg1"/>
                </a:solidFill>
                <a:latin typeface="微软雅黑" panose="020B0503020204020204" pitchFamily="34" charset="-122"/>
                <a:ea typeface="微软雅黑" panose="020B0503020204020204" pitchFamily="34" charset="-122"/>
              </a:rPr>
              <a:t>__proto__ </a:t>
            </a:r>
            <a:r>
              <a:rPr lang="zh-CN" altLang="en-US" dirty="0" smtClean="0">
                <a:solidFill>
                  <a:schemeClr val="bg1"/>
                </a:solidFill>
                <a:latin typeface="微软雅黑" panose="020B0503020204020204" pitchFamily="34" charset="-122"/>
                <a:ea typeface="微软雅黑" panose="020B0503020204020204" pitchFamily="34" charset="-122"/>
              </a:rPr>
              <a:t>可以理解为构造器的原型</a:t>
            </a:r>
            <a:r>
              <a:rPr lang="zh-CN" altLang="en-US" dirty="0">
                <a:solidFill>
                  <a:schemeClr val="bg1"/>
                </a:solidFill>
                <a:latin typeface="微软雅黑" panose="020B0503020204020204" pitchFamily="34" charset="-122"/>
                <a:ea typeface="微软雅黑" panose="020B0503020204020204" pitchFamily="34" charset="-122"/>
              </a:rPr>
              <a:t>，</a:t>
            </a:r>
            <a:r>
              <a:rPr lang="zh-CN" altLang="en-US" dirty="0" smtClean="0">
                <a:solidFill>
                  <a:schemeClr val="bg1"/>
                </a:solidFill>
                <a:latin typeface="微软雅黑" panose="020B0503020204020204" pitchFamily="34" charset="-122"/>
                <a:ea typeface="微软雅黑" panose="020B0503020204020204" pitchFamily="34" charset="-122"/>
              </a:rPr>
              <a:t>即 </a:t>
            </a:r>
            <a:r>
              <a:rPr lang="en-US" altLang="zh-CN" dirty="0" smtClean="0">
                <a:solidFill>
                  <a:schemeClr val="bg1"/>
                </a:solidFill>
                <a:latin typeface="微软雅黑" panose="020B0503020204020204" pitchFamily="34" charset="-122"/>
                <a:ea typeface="微软雅黑" panose="020B0503020204020204" pitchFamily="34" charset="-122"/>
              </a:rPr>
              <a:t>__proto__ === </a:t>
            </a:r>
            <a:r>
              <a:rPr lang="en-US" altLang="zh-CN" dirty="0" err="1" smtClean="0">
                <a:solidFill>
                  <a:schemeClr val="bg1"/>
                </a:solidFill>
                <a:latin typeface="微软雅黑" panose="020B0503020204020204" pitchFamily="34" charset="-122"/>
                <a:ea typeface="微软雅黑" panose="020B0503020204020204" pitchFamily="34" charset="-122"/>
              </a:rPr>
              <a:t>constructor.prototype</a:t>
            </a:r>
            <a:endParaRPr lang="en-US" altLang="zh-CN" dirty="0" smtClean="0">
              <a:solidFill>
                <a:schemeClr val="bg1"/>
              </a:solidFill>
              <a:latin typeface="微软雅黑" panose="020B0503020204020204" pitchFamily="34" charset="-122"/>
              <a:ea typeface="微软雅黑" panose="020B0503020204020204" pitchFamily="34" charset="-122"/>
            </a:endParaRPr>
          </a:p>
          <a:p>
            <a:pPr marL="342900" indent="-342900" algn="l">
              <a:lnSpc>
                <a:spcPts val="3000"/>
              </a:lnSpc>
              <a:buFont typeface="+mj-lt"/>
              <a:buAutoNum type="arabicPeriod"/>
            </a:pPr>
            <a:r>
              <a:rPr lang="en-US" altLang="zh-CN" dirty="0" err="1" smtClean="0">
                <a:solidFill>
                  <a:schemeClr val="bg1"/>
                </a:solidFill>
                <a:latin typeface="微软雅黑" panose="020B0503020204020204" pitchFamily="34" charset="-122"/>
                <a:ea typeface="微软雅黑" panose="020B0503020204020204" pitchFamily="34" charset="-122"/>
              </a:rPr>
              <a:t>Object.create</a:t>
            </a:r>
            <a:r>
              <a:rPr lang="en-US" altLang="zh-CN" dirty="0" smtClean="0">
                <a:solidFill>
                  <a:schemeClr val="bg1"/>
                </a:solidFill>
                <a:latin typeface="微软雅黑" panose="020B0503020204020204" pitchFamily="34" charset="-122"/>
                <a:ea typeface="微软雅黑" panose="020B0503020204020204" pitchFamily="34" charset="-122"/>
              </a:rPr>
              <a:t>() </a:t>
            </a:r>
            <a:r>
              <a:rPr lang="zh-CN" altLang="en-US" dirty="0" smtClean="0">
                <a:solidFill>
                  <a:schemeClr val="bg1"/>
                </a:solidFill>
                <a:latin typeface="微软雅黑" panose="020B0503020204020204" pitchFamily="34" charset="-122"/>
                <a:ea typeface="微软雅黑" panose="020B0503020204020204" pitchFamily="34" charset="-122"/>
              </a:rPr>
              <a:t>创建的对象不适用</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a:xfrm>
            <a:off x="3360420" y="2477135"/>
            <a:ext cx="1205230" cy="955040"/>
          </a:xfrm>
          <a:prstGeom prst="rect">
            <a:avLst/>
          </a:prstGeom>
          <a:solidFill>
            <a:schemeClr val="tx2">
              <a:lumMod val="60000"/>
              <a:lumOff val="4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dirty="0" smtClean="0"/>
              <a:t>__proto__</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原型对象与原型链</a:t>
            </a:r>
            <a:endParaRPr lang="zh-CN" altLang="en-US" dirty="0"/>
          </a:p>
        </p:txBody>
      </p:sp>
      <p:sp>
        <p:nvSpPr>
          <p:cNvPr id="3" name="内容占位符 2"/>
          <p:cNvSpPr>
            <a:spLocks noGrp="1"/>
          </p:cNvSpPr>
          <p:nvPr>
            <p:ph idx="1"/>
          </p:nvPr>
        </p:nvSpPr>
        <p:spPr/>
        <p:txBody>
          <a:bodyPr/>
          <a:lstStyle/>
          <a:p>
            <a:r>
              <a:rPr lang="en-US" altLang="zh-CN" dirty="0"/>
              <a:t>_</a:t>
            </a:r>
            <a:r>
              <a:rPr lang="en-US" altLang="zh-CN" dirty="0" smtClean="0"/>
              <a:t>_</a:t>
            </a:r>
            <a:r>
              <a:rPr lang="en-US" altLang="zh-CN" dirty="0"/>
              <a:t>proto</a:t>
            </a:r>
            <a:r>
              <a:rPr lang="en-US" altLang="zh-CN" dirty="0" smtClean="0"/>
              <a:t>__ </a:t>
            </a:r>
            <a:r>
              <a:rPr lang="zh-CN" altLang="en-US" dirty="0" smtClean="0"/>
              <a:t>属性指向谁</a:t>
            </a:r>
            <a:endParaRPr lang="en-US" altLang="zh-CN" dirty="0" smtClean="0"/>
          </a:p>
          <a:p>
            <a:pPr lvl="1"/>
            <a:r>
              <a:rPr lang="zh-CN" altLang="en-US" dirty="0" smtClean="0"/>
              <a:t>取决于对象创建的实现方式</a:t>
            </a:r>
            <a:endParaRPr lang="en-US" altLang="zh-CN" dirty="0" smtClean="0"/>
          </a:p>
          <a:p>
            <a:pPr lvl="2"/>
            <a:r>
              <a:rPr lang="zh-CN" altLang="en-US" dirty="0"/>
              <a:t>字面</a:t>
            </a:r>
            <a:r>
              <a:rPr lang="zh-CN" altLang="en-US" dirty="0" smtClean="0"/>
              <a:t>量方式</a:t>
            </a:r>
            <a:endParaRPr lang="en-US" altLang="zh-CN" dirty="0" smtClean="0"/>
          </a:p>
          <a:p>
            <a:pPr lvl="2"/>
            <a:r>
              <a:rPr lang="zh-CN" altLang="en-US" dirty="0" smtClean="0"/>
              <a:t>构造器方式</a:t>
            </a:r>
            <a:endParaRPr lang="en-US" altLang="zh-CN" dirty="0" smtClean="0"/>
          </a:p>
          <a:p>
            <a:pPr lvl="2"/>
            <a:r>
              <a:rPr lang="en-US" altLang="zh-CN" dirty="0" err="1" smtClean="0"/>
              <a:t>Object.create</a:t>
            </a:r>
            <a:r>
              <a:rPr lang="en-US" altLang="zh-CN" dirty="0" smtClean="0"/>
              <a:t> </a:t>
            </a:r>
            <a:r>
              <a:rPr lang="zh-CN" altLang="en-US" dirty="0" smtClean="0"/>
              <a:t>方式</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原型对象与原型链</a:t>
            </a:r>
            <a:endParaRPr lang="zh-CN" altLang="en-US" dirty="0"/>
          </a:p>
        </p:txBody>
      </p:sp>
      <p:sp>
        <p:nvSpPr>
          <p:cNvPr id="3" name="内容占位符 2"/>
          <p:cNvSpPr>
            <a:spLocks noGrp="1"/>
          </p:cNvSpPr>
          <p:nvPr>
            <p:ph idx="1"/>
          </p:nvPr>
        </p:nvSpPr>
        <p:spPr/>
        <p:txBody>
          <a:bodyPr/>
          <a:lstStyle/>
          <a:p>
            <a:r>
              <a:rPr lang="en-US" altLang="zh-CN" dirty="0"/>
              <a:t>_</a:t>
            </a:r>
            <a:r>
              <a:rPr lang="en-US" altLang="zh-CN" dirty="0" smtClean="0"/>
              <a:t>_</a:t>
            </a:r>
            <a:r>
              <a:rPr lang="en-US" altLang="zh-CN" dirty="0"/>
              <a:t>proto</a:t>
            </a:r>
            <a:r>
              <a:rPr lang="en-US" altLang="zh-CN" dirty="0" smtClean="0"/>
              <a:t>__ </a:t>
            </a:r>
            <a:r>
              <a:rPr lang="zh-CN" altLang="en-US" dirty="0" smtClean="0"/>
              <a:t>属性指向谁 </a:t>
            </a:r>
            <a:r>
              <a:rPr lang="en-US" altLang="zh-CN" dirty="0" smtClean="0"/>
              <a:t>– </a:t>
            </a:r>
            <a:r>
              <a:rPr lang="zh-CN" altLang="en-US" dirty="0" smtClean="0"/>
              <a:t>自面量方式</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
        <p:nvSpPr>
          <p:cNvPr id="5" name="矩形 4"/>
          <p:cNvSpPr/>
          <p:nvPr/>
        </p:nvSpPr>
        <p:spPr>
          <a:xfrm>
            <a:off x="557439" y="4325880"/>
            <a:ext cx="3442447" cy="1264023"/>
          </a:xfrm>
          <a:prstGeom prst="rect">
            <a:avLst/>
          </a:prstGeom>
          <a:solidFill>
            <a:srgbClr val="0283CA"/>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dirty="0" smtClean="0"/>
              <a:t>object a</a:t>
            </a:r>
            <a:endParaRPr lang="zh-CN" altLang="en-US" dirty="0"/>
          </a:p>
        </p:txBody>
      </p:sp>
      <p:sp>
        <p:nvSpPr>
          <p:cNvPr id="6" name="矩形 5"/>
          <p:cNvSpPr/>
          <p:nvPr/>
        </p:nvSpPr>
        <p:spPr>
          <a:xfrm>
            <a:off x="2074664" y="4480521"/>
            <a:ext cx="1645404" cy="954740"/>
          </a:xfrm>
          <a:prstGeom prst="rect">
            <a:avLst/>
          </a:prstGeom>
          <a:solidFill>
            <a:schemeClr val="tx2">
              <a:lumMod val="60000"/>
              <a:lumOff val="4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__proto__</a:t>
            </a:r>
            <a:endParaRPr lang="zh-CN" altLang="en-US" dirty="0"/>
          </a:p>
        </p:txBody>
      </p:sp>
      <p:sp>
        <p:nvSpPr>
          <p:cNvPr id="7" name="矩形 6"/>
          <p:cNvSpPr/>
          <p:nvPr/>
        </p:nvSpPr>
        <p:spPr>
          <a:xfrm>
            <a:off x="5201875" y="4325880"/>
            <a:ext cx="3442447" cy="1264023"/>
          </a:xfrm>
          <a:prstGeom prst="rect">
            <a:avLst/>
          </a:prstGeom>
          <a:solidFill>
            <a:srgbClr val="0283CA"/>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dirty="0" smtClean="0"/>
              <a:t>object a</a:t>
            </a:r>
            <a:endParaRPr lang="en-US" altLang="zh-CN" dirty="0" smtClean="0"/>
          </a:p>
          <a:p>
            <a:r>
              <a:rPr lang="en-US" altLang="zh-CN" dirty="0"/>
              <a:t>constructor</a:t>
            </a:r>
            <a:endParaRPr lang="zh-CN" altLang="en-US" dirty="0"/>
          </a:p>
        </p:txBody>
      </p:sp>
      <p:sp>
        <p:nvSpPr>
          <p:cNvPr id="8" name="矩形 7"/>
          <p:cNvSpPr/>
          <p:nvPr/>
        </p:nvSpPr>
        <p:spPr>
          <a:xfrm>
            <a:off x="6719100" y="4480521"/>
            <a:ext cx="1645404" cy="954740"/>
          </a:xfrm>
          <a:prstGeom prst="rect">
            <a:avLst/>
          </a:prstGeom>
          <a:solidFill>
            <a:schemeClr val="tx2">
              <a:lumMod val="60000"/>
              <a:lumOff val="4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prototype</a:t>
            </a:r>
            <a:endParaRPr lang="zh-CN" altLang="en-US" dirty="0"/>
          </a:p>
        </p:txBody>
      </p:sp>
      <p:sp>
        <p:nvSpPr>
          <p:cNvPr id="11" name="矩形 10"/>
          <p:cNvSpPr/>
          <p:nvPr/>
        </p:nvSpPr>
        <p:spPr>
          <a:xfrm>
            <a:off x="557439" y="2425424"/>
            <a:ext cx="8165397" cy="923330"/>
          </a:xfrm>
          <a:prstGeom prst="rect">
            <a:avLst/>
          </a:prstGeom>
        </p:spPr>
        <p:txBody>
          <a:bodyPr wrap="square">
            <a:spAutoFit/>
          </a:bodyPr>
          <a:lstStyle/>
          <a:p>
            <a:r>
              <a:rPr lang="en-US" altLang="zh-CN" dirty="0" err="1">
                <a:solidFill>
                  <a:srgbClr val="C678DD"/>
                </a:solidFill>
                <a:latin typeface="Consolas" panose="020B0609020204030204" pitchFamily="49" charset="0"/>
              </a:rPr>
              <a:t>var</a:t>
            </a:r>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a</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E06C75"/>
                </a:solidFill>
                <a:latin typeface="Consolas" panose="020B0609020204030204" pitchFamily="49" charset="0"/>
              </a:rPr>
              <a:t>console</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log</a:t>
            </a:r>
            <a:r>
              <a:rPr lang="en-US" altLang="zh-CN" dirty="0">
                <a:solidFill>
                  <a:srgbClr val="ABB2BF"/>
                </a:solidFill>
                <a:latin typeface="Consolas" panose="020B0609020204030204" pitchFamily="49" charset="0"/>
              </a:rPr>
              <a:t>(</a:t>
            </a:r>
            <a:r>
              <a:rPr lang="en-US" altLang="zh-CN" dirty="0" err="1">
                <a:solidFill>
                  <a:srgbClr val="E06C75"/>
                </a:solidFill>
                <a:latin typeface="Consolas" panose="020B0609020204030204" pitchFamily="49" charset="0"/>
              </a:rPr>
              <a:t>a</a:t>
            </a:r>
            <a:r>
              <a:rPr lang="en-US" altLang="zh-CN" dirty="0" err="1">
                <a:solidFill>
                  <a:srgbClr val="ABB2BF"/>
                </a:solidFill>
                <a:latin typeface="Consolas" panose="020B0609020204030204" pitchFamily="49" charset="0"/>
              </a:rPr>
              <a:t>.</a:t>
            </a:r>
            <a:r>
              <a:rPr lang="en-US" altLang="zh-CN" dirty="0" err="1">
                <a:solidFill>
                  <a:srgbClr val="E06C75"/>
                </a:solidFill>
                <a:latin typeface="Consolas" panose="020B0609020204030204" pitchFamily="49" charset="0"/>
              </a:rPr>
              <a:t>__proto</a:t>
            </a:r>
            <a:r>
              <a:rPr lang="en-US" altLang="zh-CN" dirty="0">
                <a:solidFill>
                  <a:srgbClr val="E06C75"/>
                </a:solidFill>
                <a:latin typeface="Consolas" panose="020B0609020204030204" pitchFamily="49" charset="0"/>
              </a:rPr>
              <a:t>__</a:t>
            </a:r>
            <a:r>
              <a:rPr lang="en-US" altLang="zh-CN" dirty="0">
                <a:solidFill>
                  <a:srgbClr val="ABB2BF"/>
                </a:solidFill>
                <a:latin typeface="Consolas" panose="020B0609020204030204" pitchFamily="49" charset="0"/>
              </a:rPr>
              <a:t>); </a:t>
            </a:r>
            <a:r>
              <a:rPr lang="en-US" altLang="zh-CN" i="1" dirty="0">
                <a:solidFill>
                  <a:srgbClr val="7F848E"/>
                </a:solidFill>
                <a:latin typeface="Consolas" panose="020B0609020204030204" pitchFamily="49" charset="0"/>
              </a:rPr>
              <a:t>// Object {}</a:t>
            </a:r>
            <a:endParaRPr lang="en-US" altLang="zh-CN" dirty="0">
              <a:solidFill>
                <a:srgbClr val="ABB2BF"/>
              </a:solidFill>
              <a:latin typeface="Consolas" panose="020B0609020204030204" pitchFamily="49" charset="0"/>
            </a:endParaRPr>
          </a:p>
          <a:p>
            <a:r>
              <a:rPr lang="en-US" altLang="zh-CN" dirty="0">
                <a:solidFill>
                  <a:srgbClr val="E06C75"/>
                </a:solidFill>
                <a:latin typeface="Consolas" panose="020B0609020204030204" pitchFamily="49" charset="0"/>
              </a:rPr>
              <a:t>console</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log</a:t>
            </a:r>
            <a:r>
              <a:rPr lang="en-US" altLang="zh-CN" dirty="0">
                <a:solidFill>
                  <a:srgbClr val="ABB2BF"/>
                </a:solidFill>
                <a:latin typeface="Consolas" panose="020B0609020204030204" pitchFamily="49" charset="0"/>
              </a:rPr>
              <a:t>(</a:t>
            </a:r>
            <a:r>
              <a:rPr lang="en-US" altLang="zh-CN" dirty="0" err="1">
                <a:solidFill>
                  <a:srgbClr val="E06C75"/>
                </a:solidFill>
                <a:latin typeface="Consolas" panose="020B0609020204030204" pitchFamily="49" charset="0"/>
              </a:rPr>
              <a:t>a</a:t>
            </a:r>
            <a:r>
              <a:rPr lang="en-US" altLang="zh-CN" dirty="0" err="1">
                <a:solidFill>
                  <a:srgbClr val="ABB2BF"/>
                </a:solidFill>
                <a:latin typeface="Consolas" panose="020B0609020204030204" pitchFamily="49" charset="0"/>
              </a:rPr>
              <a:t>.</a:t>
            </a:r>
            <a:r>
              <a:rPr lang="en-US" altLang="zh-CN" dirty="0" err="1">
                <a:solidFill>
                  <a:srgbClr val="E06C75"/>
                </a:solidFill>
                <a:latin typeface="Consolas" panose="020B0609020204030204" pitchFamily="49" charset="0"/>
              </a:rPr>
              <a:t>__proto</a:t>
            </a:r>
            <a:r>
              <a:rPr lang="en-US" altLang="zh-CN" dirty="0">
                <a:solidFill>
                  <a:srgbClr val="E06C75"/>
                </a:solidFill>
                <a:latin typeface="Consolas" panose="020B0609020204030204" pitchFamily="49" charset="0"/>
              </a:rPr>
              <a:t>__</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err="1">
                <a:solidFill>
                  <a:srgbClr val="E06C75"/>
                </a:solidFill>
                <a:latin typeface="Consolas" panose="020B0609020204030204" pitchFamily="49" charset="0"/>
              </a:rPr>
              <a:t>a</a:t>
            </a:r>
            <a:r>
              <a:rPr lang="en-US" altLang="zh-CN" dirty="0" err="1">
                <a:solidFill>
                  <a:srgbClr val="ABB2BF"/>
                </a:solidFill>
                <a:latin typeface="Consolas" panose="020B0609020204030204" pitchFamily="49" charset="0"/>
              </a:rPr>
              <a:t>.</a:t>
            </a:r>
            <a:r>
              <a:rPr lang="en-US" altLang="zh-CN" dirty="0" err="1">
                <a:solidFill>
                  <a:srgbClr val="E06C75"/>
                </a:solidFill>
                <a:latin typeface="Consolas" panose="020B0609020204030204" pitchFamily="49" charset="0"/>
              </a:rPr>
              <a:t>constructor</a:t>
            </a:r>
            <a:r>
              <a:rPr lang="en-US" altLang="zh-CN" dirty="0" err="1">
                <a:solidFill>
                  <a:srgbClr val="ABB2BF"/>
                </a:solidFill>
                <a:latin typeface="Consolas" panose="020B0609020204030204" pitchFamily="49" charset="0"/>
              </a:rPr>
              <a:t>.</a:t>
            </a:r>
            <a:r>
              <a:rPr lang="en-US" altLang="zh-CN" dirty="0" err="1">
                <a:solidFill>
                  <a:srgbClr val="E06C75"/>
                </a:solidFill>
                <a:latin typeface="Consolas" panose="020B0609020204030204" pitchFamily="49" charset="0"/>
              </a:rPr>
              <a:t>prototype</a:t>
            </a:r>
            <a:r>
              <a:rPr lang="en-US" altLang="zh-CN" dirty="0">
                <a:solidFill>
                  <a:srgbClr val="ABB2BF"/>
                </a:solidFill>
                <a:latin typeface="Consolas" panose="020B0609020204030204" pitchFamily="49" charset="0"/>
              </a:rPr>
              <a:t>); </a:t>
            </a:r>
            <a:r>
              <a:rPr lang="en-US" altLang="zh-CN" i="1" dirty="0">
                <a:solidFill>
                  <a:srgbClr val="7F848E"/>
                </a:solidFill>
                <a:latin typeface="Consolas" panose="020B0609020204030204" pitchFamily="49" charset="0"/>
              </a:rPr>
              <a:t>// true</a:t>
            </a:r>
            <a:endParaRPr lang="en-US" altLang="zh-CN" b="0" dirty="0">
              <a:solidFill>
                <a:srgbClr val="ABB2BF"/>
              </a:solidFill>
              <a:effectLst/>
              <a:latin typeface="Consolas" panose="020B0609020204030204" pitchFamily="49" charset="0"/>
            </a:endParaRPr>
          </a:p>
        </p:txBody>
      </p:sp>
      <p:cxnSp>
        <p:nvCxnSpPr>
          <p:cNvPr id="13" name="肘形连接符 12"/>
          <p:cNvCxnSpPr/>
          <p:nvPr/>
        </p:nvCxnSpPr>
        <p:spPr>
          <a:xfrm rot="5400000" flipH="1" flipV="1">
            <a:off x="5219584" y="2158303"/>
            <a:ext cx="12700" cy="4644436"/>
          </a:xfrm>
          <a:prstGeom prst="bentConnector3">
            <a:avLst>
              <a:gd name="adj1" fmla="val 4129409"/>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原型对象与原型链</a:t>
            </a:r>
            <a:endParaRPr lang="zh-CN" altLang="en-US" dirty="0"/>
          </a:p>
        </p:txBody>
      </p:sp>
      <p:sp>
        <p:nvSpPr>
          <p:cNvPr id="3" name="内容占位符 2"/>
          <p:cNvSpPr>
            <a:spLocks noGrp="1"/>
          </p:cNvSpPr>
          <p:nvPr>
            <p:ph idx="1"/>
          </p:nvPr>
        </p:nvSpPr>
        <p:spPr/>
        <p:txBody>
          <a:bodyPr/>
          <a:lstStyle/>
          <a:p>
            <a:r>
              <a:rPr lang="en-US" altLang="zh-CN" dirty="0"/>
              <a:t>_</a:t>
            </a:r>
            <a:r>
              <a:rPr lang="en-US" altLang="zh-CN" dirty="0" smtClean="0"/>
              <a:t>_</a:t>
            </a:r>
            <a:r>
              <a:rPr lang="en-US" altLang="zh-CN" dirty="0"/>
              <a:t>proto</a:t>
            </a:r>
            <a:r>
              <a:rPr lang="en-US" altLang="zh-CN" dirty="0" smtClean="0"/>
              <a:t>__ </a:t>
            </a:r>
            <a:r>
              <a:rPr lang="zh-CN" altLang="en-US" dirty="0" smtClean="0"/>
              <a:t>属性指向谁 </a:t>
            </a:r>
            <a:r>
              <a:rPr lang="en-US" altLang="zh-CN" dirty="0" smtClean="0"/>
              <a:t>– </a:t>
            </a:r>
            <a:r>
              <a:rPr lang="zh-CN" altLang="en-US" dirty="0" smtClean="0"/>
              <a:t>构造器方式</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
        <p:nvSpPr>
          <p:cNvPr id="5" name="矩形 4"/>
          <p:cNvSpPr/>
          <p:nvPr/>
        </p:nvSpPr>
        <p:spPr>
          <a:xfrm>
            <a:off x="557439" y="4325880"/>
            <a:ext cx="3442447" cy="1264023"/>
          </a:xfrm>
          <a:prstGeom prst="rect">
            <a:avLst/>
          </a:prstGeom>
          <a:solidFill>
            <a:srgbClr val="0283CA"/>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dirty="0" smtClean="0"/>
              <a:t>object a</a:t>
            </a:r>
            <a:endParaRPr lang="zh-CN" altLang="en-US" dirty="0"/>
          </a:p>
        </p:txBody>
      </p:sp>
      <p:sp>
        <p:nvSpPr>
          <p:cNvPr id="6" name="矩形 5"/>
          <p:cNvSpPr/>
          <p:nvPr/>
        </p:nvSpPr>
        <p:spPr>
          <a:xfrm>
            <a:off x="2074664" y="4480521"/>
            <a:ext cx="1645404" cy="954740"/>
          </a:xfrm>
          <a:prstGeom prst="rect">
            <a:avLst/>
          </a:prstGeom>
          <a:solidFill>
            <a:schemeClr val="tx2">
              <a:lumMod val="60000"/>
              <a:lumOff val="4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__proto__</a:t>
            </a:r>
            <a:endParaRPr lang="zh-CN" altLang="en-US" dirty="0"/>
          </a:p>
        </p:txBody>
      </p:sp>
      <p:sp>
        <p:nvSpPr>
          <p:cNvPr id="7" name="矩形 6"/>
          <p:cNvSpPr/>
          <p:nvPr/>
        </p:nvSpPr>
        <p:spPr>
          <a:xfrm>
            <a:off x="5201875" y="4325880"/>
            <a:ext cx="3442447" cy="1264023"/>
          </a:xfrm>
          <a:prstGeom prst="rect">
            <a:avLst/>
          </a:prstGeom>
          <a:solidFill>
            <a:srgbClr val="0283CA"/>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dirty="0" smtClean="0"/>
              <a:t>function A</a:t>
            </a:r>
            <a:endParaRPr lang="zh-CN" altLang="en-US" dirty="0"/>
          </a:p>
        </p:txBody>
      </p:sp>
      <p:sp>
        <p:nvSpPr>
          <p:cNvPr id="8" name="矩形 7"/>
          <p:cNvSpPr/>
          <p:nvPr/>
        </p:nvSpPr>
        <p:spPr>
          <a:xfrm>
            <a:off x="6719100" y="4480521"/>
            <a:ext cx="1645404" cy="954740"/>
          </a:xfrm>
          <a:prstGeom prst="rect">
            <a:avLst/>
          </a:prstGeom>
          <a:solidFill>
            <a:schemeClr val="tx2">
              <a:lumMod val="60000"/>
              <a:lumOff val="4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prototype</a:t>
            </a:r>
            <a:endParaRPr lang="zh-CN" altLang="en-US" dirty="0"/>
          </a:p>
        </p:txBody>
      </p:sp>
      <p:cxnSp>
        <p:nvCxnSpPr>
          <p:cNvPr id="13" name="肘形连接符 12"/>
          <p:cNvCxnSpPr/>
          <p:nvPr/>
        </p:nvCxnSpPr>
        <p:spPr>
          <a:xfrm rot="5400000" flipH="1" flipV="1">
            <a:off x="5219584" y="2158303"/>
            <a:ext cx="12700" cy="4644436"/>
          </a:xfrm>
          <a:prstGeom prst="bentConnector3">
            <a:avLst>
              <a:gd name="adj1" fmla="val 4129409"/>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557438" y="2419430"/>
            <a:ext cx="8086883" cy="1200329"/>
          </a:xfrm>
          <a:prstGeom prst="rect">
            <a:avLst/>
          </a:prstGeom>
        </p:spPr>
        <p:txBody>
          <a:bodyPr wrap="square">
            <a:spAutoFit/>
          </a:bodyPr>
          <a:lstStyle/>
          <a:p>
            <a:r>
              <a:rPr lang="en-US" altLang="zh-CN" dirty="0" err="1">
                <a:solidFill>
                  <a:srgbClr val="C678DD"/>
                </a:solidFill>
                <a:latin typeface="Consolas" panose="020B0609020204030204" pitchFamily="49" charset="0"/>
              </a:rPr>
              <a:t>var</a:t>
            </a:r>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A</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C678DD"/>
                </a:solidFill>
                <a:latin typeface="Consolas" panose="020B0609020204030204" pitchFamily="49" charset="0"/>
              </a:rPr>
              <a:t>function</a:t>
            </a:r>
            <a:r>
              <a:rPr lang="en-US" altLang="zh-CN" dirty="0">
                <a:solidFill>
                  <a:srgbClr val="ABB2BF"/>
                </a:solidFill>
                <a:latin typeface="Consolas" panose="020B0609020204030204" pitchFamily="49" charset="0"/>
              </a:rPr>
              <a:t> () {};</a:t>
            </a:r>
            <a:endParaRPr lang="en-US" altLang="zh-CN" dirty="0">
              <a:solidFill>
                <a:srgbClr val="ABB2BF"/>
              </a:solidFill>
              <a:latin typeface="Consolas" panose="020B0609020204030204" pitchFamily="49" charset="0"/>
            </a:endParaRPr>
          </a:p>
          <a:p>
            <a:r>
              <a:rPr lang="en-US" altLang="zh-CN" dirty="0" err="1">
                <a:solidFill>
                  <a:srgbClr val="C678DD"/>
                </a:solidFill>
                <a:latin typeface="Consolas" panose="020B0609020204030204" pitchFamily="49" charset="0"/>
              </a:rPr>
              <a:t>var</a:t>
            </a:r>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a</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C678DD"/>
                </a:solidFill>
                <a:latin typeface="Consolas" panose="020B0609020204030204" pitchFamily="49" charset="0"/>
              </a:rPr>
              <a:t>new</a:t>
            </a:r>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A</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E06C75"/>
                </a:solidFill>
                <a:latin typeface="Consolas" panose="020B0609020204030204" pitchFamily="49" charset="0"/>
              </a:rPr>
              <a:t>console</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log</a:t>
            </a:r>
            <a:r>
              <a:rPr lang="en-US" altLang="zh-CN" dirty="0">
                <a:solidFill>
                  <a:srgbClr val="ABB2BF"/>
                </a:solidFill>
                <a:latin typeface="Consolas" panose="020B0609020204030204" pitchFamily="49" charset="0"/>
              </a:rPr>
              <a:t>(</a:t>
            </a:r>
            <a:r>
              <a:rPr lang="en-US" altLang="zh-CN" dirty="0" err="1">
                <a:solidFill>
                  <a:srgbClr val="E06C75"/>
                </a:solidFill>
                <a:latin typeface="Consolas" panose="020B0609020204030204" pitchFamily="49" charset="0"/>
              </a:rPr>
              <a:t>a</a:t>
            </a:r>
            <a:r>
              <a:rPr lang="en-US" altLang="zh-CN" dirty="0" err="1">
                <a:solidFill>
                  <a:srgbClr val="ABB2BF"/>
                </a:solidFill>
                <a:latin typeface="Consolas" panose="020B0609020204030204" pitchFamily="49" charset="0"/>
              </a:rPr>
              <a:t>.</a:t>
            </a:r>
            <a:r>
              <a:rPr lang="en-US" altLang="zh-CN" dirty="0" err="1">
                <a:solidFill>
                  <a:srgbClr val="E06C75"/>
                </a:solidFill>
                <a:latin typeface="Consolas" panose="020B0609020204030204" pitchFamily="49" charset="0"/>
              </a:rPr>
              <a:t>__proto</a:t>
            </a:r>
            <a:r>
              <a:rPr lang="en-US" altLang="zh-CN" dirty="0">
                <a:solidFill>
                  <a:srgbClr val="E06C75"/>
                </a:solidFill>
                <a:latin typeface="Consolas" panose="020B0609020204030204" pitchFamily="49" charset="0"/>
              </a:rPr>
              <a:t>__</a:t>
            </a:r>
            <a:r>
              <a:rPr lang="en-US" altLang="zh-CN" dirty="0">
                <a:solidFill>
                  <a:srgbClr val="ABB2BF"/>
                </a:solidFill>
                <a:latin typeface="Consolas" panose="020B0609020204030204" pitchFamily="49" charset="0"/>
              </a:rPr>
              <a:t>); </a:t>
            </a:r>
            <a:r>
              <a:rPr lang="en-US" altLang="zh-CN" i="1" dirty="0">
                <a:solidFill>
                  <a:srgbClr val="7F848E"/>
                </a:solidFill>
                <a:latin typeface="Consolas" panose="020B0609020204030204" pitchFamily="49" charset="0"/>
              </a:rPr>
              <a:t>// A {}</a:t>
            </a:r>
            <a:endParaRPr lang="en-US" altLang="zh-CN" dirty="0">
              <a:solidFill>
                <a:srgbClr val="ABB2BF"/>
              </a:solidFill>
              <a:latin typeface="Consolas" panose="020B0609020204030204" pitchFamily="49" charset="0"/>
            </a:endParaRPr>
          </a:p>
          <a:p>
            <a:r>
              <a:rPr lang="en-US" altLang="zh-CN" dirty="0">
                <a:solidFill>
                  <a:srgbClr val="E06C75"/>
                </a:solidFill>
                <a:latin typeface="Consolas" panose="020B0609020204030204" pitchFamily="49" charset="0"/>
              </a:rPr>
              <a:t>console</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log</a:t>
            </a:r>
            <a:r>
              <a:rPr lang="en-US" altLang="zh-CN" dirty="0">
                <a:solidFill>
                  <a:srgbClr val="ABB2BF"/>
                </a:solidFill>
                <a:latin typeface="Consolas" panose="020B0609020204030204" pitchFamily="49" charset="0"/>
              </a:rPr>
              <a:t>(</a:t>
            </a:r>
            <a:r>
              <a:rPr lang="en-US" altLang="zh-CN" dirty="0" err="1">
                <a:solidFill>
                  <a:srgbClr val="E06C75"/>
                </a:solidFill>
                <a:latin typeface="Consolas" panose="020B0609020204030204" pitchFamily="49" charset="0"/>
              </a:rPr>
              <a:t>a</a:t>
            </a:r>
            <a:r>
              <a:rPr lang="en-US" altLang="zh-CN" dirty="0" err="1">
                <a:solidFill>
                  <a:srgbClr val="ABB2BF"/>
                </a:solidFill>
                <a:latin typeface="Consolas" panose="020B0609020204030204" pitchFamily="49" charset="0"/>
              </a:rPr>
              <a:t>.</a:t>
            </a:r>
            <a:r>
              <a:rPr lang="en-US" altLang="zh-CN" dirty="0" err="1">
                <a:solidFill>
                  <a:srgbClr val="E06C75"/>
                </a:solidFill>
                <a:latin typeface="Consolas" panose="020B0609020204030204" pitchFamily="49" charset="0"/>
              </a:rPr>
              <a:t>__proto</a:t>
            </a:r>
            <a:r>
              <a:rPr lang="en-US" altLang="zh-CN" dirty="0">
                <a:solidFill>
                  <a:srgbClr val="E06C75"/>
                </a:solidFill>
                <a:latin typeface="Consolas" panose="020B0609020204030204" pitchFamily="49" charset="0"/>
              </a:rPr>
              <a:t>__</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err="1" smtClean="0">
                <a:solidFill>
                  <a:srgbClr val="E06C75"/>
                </a:solidFill>
                <a:latin typeface="Consolas" panose="020B0609020204030204" pitchFamily="49" charset="0"/>
              </a:rPr>
              <a:t>A</a:t>
            </a:r>
            <a:r>
              <a:rPr lang="en-US" altLang="zh-CN" dirty="0" err="1" smtClean="0">
                <a:solidFill>
                  <a:srgbClr val="ABB2BF"/>
                </a:solidFill>
                <a:latin typeface="Consolas" panose="020B0609020204030204" pitchFamily="49" charset="0"/>
              </a:rPr>
              <a:t>.</a:t>
            </a:r>
            <a:r>
              <a:rPr lang="en-US" altLang="zh-CN" dirty="0" err="1" smtClean="0">
                <a:solidFill>
                  <a:srgbClr val="E06C75"/>
                </a:solidFill>
                <a:latin typeface="Consolas" panose="020B0609020204030204" pitchFamily="49" charset="0"/>
              </a:rPr>
              <a:t>prototype</a:t>
            </a:r>
            <a:r>
              <a:rPr lang="en-US" altLang="zh-CN" dirty="0">
                <a:solidFill>
                  <a:srgbClr val="ABB2BF"/>
                </a:solidFill>
                <a:latin typeface="Consolas" panose="020B0609020204030204" pitchFamily="49" charset="0"/>
              </a:rPr>
              <a:t>); </a:t>
            </a:r>
            <a:r>
              <a:rPr lang="en-US" altLang="zh-CN" i="1" dirty="0">
                <a:solidFill>
                  <a:srgbClr val="7F848E"/>
                </a:solidFill>
                <a:latin typeface="Consolas" panose="020B0609020204030204" pitchFamily="49" charset="0"/>
              </a:rPr>
              <a:t>// true</a:t>
            </a:r>
            <a:endParaRPr lang="en-US" altLang="zh-CN" b="0" dirty="0">
              <a:solidFill>
                <a:srgbClr val="ABB2BF"/>
              </a:solidFill>
              <a:effectLst/>
              <a:latin typeface="Consolas" panose="020B0609020204030204" pitchFamily="49"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原型对象与原型链</a:t>
            </a:r>
            <a:endParaRPr lang="zh-CN" altLang="en-US" dirty="0"/>
          </a:p>
        </p:txBody>
      </p:sp>
      <p:sp>
        <p:nvSpPr>
          <p:cNvPr id="3" name="内容占位符 2"/>
          <p:cNvSpPr>
            <a:spLocks noGrp="1"/>
          </p:cNvSpPr>
          <p:nvPr>
            <p:ph idx="1"/>
          </p:nvPr>
        </p:nvSpPr>
        <p:spPr/>
        <p:txBody>
          <a:bodyPr/>
          <a:lstStyle/>
          <a:p>
            <a:r>
              <a:rPr lang="en-US" altLang="zh-CN" dirty="0"/>
              <a:t>_</a:t>
            </a:r>
            <a:r>
              <a:rPr lang="en-US" altLang="zh-CN" dirty="0" smtClean="0"/>
              <a:t>_</a:t>
            </a:r>
            <a:r>
              <a:rPr lang="en-US" altLang="zh-CN" dirty="0"/>
              <a:t>proto</a:t>
            </a:r>
            <a:r>
              <a:rPr lang="en-US" altLang="zh-CN" dirty="0" smtClean="0"/>
              <a:t>__ </a:t>
            </a:r>
            <a:r>
              <a:rPr lang="zh-CN" altLang="en-US" dirty="0" smtClean="0"/>
              <a:t>属性指向谁 </a:t>
            </a:r>
            <a:r>
              <a:rPr lang="en-US" altLang="zh-CN" dirty="0" smtClean="0"/>
              <a:t>– </a:t>
            </a:r>
            <a:r>
              <a:rPr lang="en-US" altLang="zh-CN" dirty="0" err="1" smtClean="0"/>
              <a:t>Object.create</a:t>
            </a:r>
            <a:r>
              <a:rPr lang="en-US" altLang="zh-CN" dirty="0" smtClean="0"/>
              <a:t> </a:t>
            </a:r>
            <a:r>
              <a:rPr lang="zh-CN" altLang="en-US" dirty="0" smtClean="0"/>
              <a:t>方式</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
        <p:nvSpPr>
          <p:cNvPr id="5" name="矩形 4"/>
          <p:cNvSpPr/>
          <p:nvPr/>
        </p:nvSpPr>
        <p:spPr>
          <a:xfrm>
            <a:off x="557439" y="4325880"/>
            <a:ext cx="3442447" cy="1264023"/>
          </a:xfrm>
          <a:prstGeom prst="rect">
            <a:avLst/>
          </a:prstGeom>
          <a:solidFill>
            <a:srgbClr val="0283CA"/>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dirty="0" smtClean="0"/>
              <a:t>object a2</a:t>
            </a:r>
            <a:endParaRPr lang="zh-CN" altLang="en-US" dirty="0"/>
          </a:p>
        </p:txBody>
      </p:sp>
      <p:sp>
        <p:nvSpPr>
          <p:cNvPr id="6" name="矩形 5"/>
          <p:cNvSpPr/>
          <p:nvPr/>
        </p:nvSpPr>
        <p:spPr>
          <a:xfrm>
            <a:off x="2074664" y="4480521"/>
            <a:ext cx="1645404" cy="954740"/>
          </a:xfrm>
          <a:prstGeom prst="rect">
            <a:avLst/>
          </a:prstGeom>
          <a:solidFill>
            <a:schemeClr val="tx2">
              <a:lumMod val="60000"/>
              <a:lumOff val="4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__proto__</a:t>
            </a:r>
            <a:endParaRPr lang="zh-CN" altLang="en-US" dirty="0"/>
          </a:p>
        </p:txBody>
      </p:sp>
      <p:sp>
        <p:nvSpPr>
          <p:cNvPr id="7" name="矩形 6"/>
          <p:cNvSpPr/>
          <p:nvPr/>
        </p:nvSpPr>
        <p:spPr>
          <a:xfrm>
            <a:off x="5201875" y="4325880"/>
            <a:ext cx="3442447" cy="1264023"/>
          </a:xfrm>
          <a:prstGeom prst="rect">
            <a:avLst/>
          </a:prstGeom>
          <a:solidFill>
            <a:srgbClr val="0283CA"/>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dirty="0" smtClean="0"/>
              <a:t>object a1</a:t>
            </a:r>
            <a:endParaRPr lang="en-US" altLang="zh-CN" dirty="0" smtClean="0"/>
          </a:p>
        </p:txBody>
      </p:sp>
      <p:sp>
        <p:nvSpPr>
          <p:cNvPr id="8" name="矩形 7"/>
          <p:cNvSpPr/>
          <p:nvPr/>
        </p:nvSpPr>
        <p:spPr>
          <a:xfrm>
            <a:off x="6719100" y="4480521"/>
            <a:ext cx="1645404" cy="954740"/>
          </a:xfrm>
          <a:prstGeom prst="rect">
            <a:avLst/>
          </a:prstGeom>
          <a:solidFill>
            <a:schemeClr val="tx2">
              <a:lumMod val="60000"/>
              <a:lumOff val="4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prototype</a:t>
            </a:r>
            <a:endParaRPr lang="zh-CN" altLang="en-US" dirty="0"/>
          </a:p>
        </p:txBody>
      </p:sp>
      <p:sp>
        <p:nvSpPr>
          <p:cNvPr id="9" name="矩形 8"/>
          <p:cNvSpPr/>
          <p:nvPr/>
        </p:nvSpPr>
        <p:spPr>
          <a:xfrm>
            <a:off x="557439" y="2200808"/>
            <a:ext cx="8459934" cy="1200329"/>
          </a:xfrm>
          <a:prstGeom prst="rect">
            <a:avLst/>
          </a:prstGeom>
        </p:spPr>
        <p:txBody>
          <a:bodyPr wrap="square">
            <a:spAutoFit/>
          </a:bodyPr>
          <a:lstStyle/>
          <a:p>
            <a:r>
              <a:rPr lang="en-US" altLang="zh-CN" dirty="0" err="1">
                <a:solidFill>
                  <a:srgbClr val="C678DD"/>
                </a:solidFill>
                <a:latin typeface="Consolas" panose="020B0609020204030204" pitchFamily="49" charset="0"/>
              </a:rPr>
              <a:t>var</a:t>
            </a:r>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a1</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 </a:t>
            </a:r>
            <a:r>
              <a:rPr lang="en-US" altLang="zh-CN" dirty="0">
                <a:solidFill>
                  <a:srgbClr val="E06C75"/>
                </a:solidFill>
                <a:latin typeface="Consolas" panose="020B0609020204030204" pitchFamily="49" charset="0"/>
              </a:rPr>
              <a:t>a</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1</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err="1">
                <a:solidFill>
                  <a:srgbClr val="C678DD"/>
                </a:solidFill>
                <a:latin typeface="Consolas" panose="020B0609020204030204" pitchFamily="49" charset="0"/>
              </a:rPr>
              <a:t>var</a:t>
            </a:r>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a2</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err="1">
                <a:solidFill>
                  <a:srgbClr val="E5C07B"/>
                </a:solidFill>
                <a:latin typeface="Consolas" panose="020B0609020204030204" pitchFamily="49" charset="0"/>
              </a:rPr>
              <a:t>Object</a:t>
            </a:r>
            <a:r>
              <a:rPr lang="en-US" altLang="zh-CN" dirty="0" err="1">
                <a:solidFill>
                  <a:srgbClr val="ABB2BF"/>
                </a:solidFill>
                <a:latin typeface="Consolas" panose="020B0609020204030204" pitchFamily="49" charset="0"/>
              </a:rPr>
              <a:t>.</a:t>
            </a:r>
            <a:r>
              <a:rPr lang="en-US" altLang="zh-CN" dirty="0" err="1">
                <a:solidFill>
                  <a:srgbClr val="61AFEF"/>
                </a:solidFill>
                <a:latin typeface="Consolas" panose="020B0609020204030204" pitchFamily="49" charset="0"/>
              </a:rPr>
              <a:t>create</a:t>
            </a:r>
            <a:r>
              <a:rPr lang="en-US" altLang="zh-CN" dirty="0">
                <a:solidFill>
                  <a:srgbClr val="ABB2BF"/>
                </a:solidFill>
                <a:latin typeface="Consolas" panose="020B0609020204030204" pitchFamily="49" charset="0"/>
              </a:rPr>
              <a:t>(</a:t>
            </a:r>
            <a:r>
              <a:rPr lang="en-US" altLang="zh-CN" dirty="0">
                <a:solidFill>
                  <a:srgbClr val="E06C75"/>
                </a:solidFill>
                <a:latin typeface="Consolas" panose="020B0609020204030204" pitchFamily="49" charset="0"/>
              </a:rPr>
              <a:t>a1</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E06C75"/>
                </a:solidFill>
                <a:latin typeface="Consolas" panose="020B0609020204030204" pitchFamily="49" charset="0"/>
              </a:rPr>
              <a:t>console</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log</a:t>
            </a:r>
            <a:r>
              <a:rPr lang="en-US" altLang="zh-CN" dirty="0">
                <a:solidFill>
                  <a:srgbClr val="ABB2BF"/>
                </a:solidFill>
                <a:latin typeface="Consolas" panose="020B0609020204030204" pitchFamily="49" charset="0"/>
              </a:rPr>
              <a:t>(</a:t>
            </a:r>
            <a:r>
              <a:rPr lang="en-US" altLang="zh-CN" dirty="0">
                <a:solidFill>
                  <a:srgbClr val="E06C75"/>
                </a:solidFill>
                <a:latin typeface="Consolas" panose="020B0609020204030204" pitchFamily="49" charset="0"/>
              </a:rPr>
              <a:t>a2</a:t>
            </a:r>
            <a:r>
              <a:rPr lang="en-US" altLang="zh-CN" dirty="0">
                <a:solidFill>
                  <a:srgbClr val="ABB2BF"/>
                </a:solidFill>
                <a:latin typeface="Consolas" panose="020B0609020204030204" pitchFamily="49" charset="0"/>
              </a:rPr>
              <a:t>.</a:t>
            </a:r>
            <a:r>
              <a:rPr lang="en-US" altLang="zh-CN" dirty="0">
                <a:solidFill>
                  <a:srgbClr val="E06C75"/>
                </a:solidFill>
                <a:latin typeface="Consolas" panose="020B0609020204030204" pitchFamily="49" charset="0"/>
              </a:rPr>
              <a:t>__proto__</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a1</a:t>
            </a:r>
            <a:r>
              <a:rPr lang="en-US" altLang="zh-CN" dirty="0">
                <a:solidFill>
                  <a:srgbClr val="ABB2BF"/>
                </a:solidFill>
                <a:latin typeface="Consolas" panose="020B0609020204030204" pitchFamily="49" charset="0"/>
              </a:rPr>
              <a:t>.</a:t>
            </a:r>
            <a:r>
              <a:rPr lang="en-US" altLang="zh-CN" dirty="0">
                <a:solidFill>
                  <a:srgbClr val="E06C75"/>
                </a:solidFill>
                <a:latin typeface="Consolas" panose="020B0609020204030204" pitchFamily="49" charset="0"/>
              </a:rPr>
              <a:t>constructor</a:t>
            </a:r>
            <a:r>
              <a:rPr lang="en-US" altLang="zh-CN" dirty="0">
                <a:solidFill>
                  <a:srgbClr val="ABB2BF"/>
                </a:solidFill>
                <a:latin typeface="Consolas" panose="020B0609020204030204" pitchFamily="49" charset="0"/>
              </a:rPr>
              <a:t>.</a:t>
            </a:r>
            <a:r>
              <a:rPr lang="en-US" altLang="zh-CN" dirty="0">
                <a:solidFill>
                  <a:srgbClr val="E06C75"/>
                </a:solidFill>
                <a:latin typeface="Consolas" panose="020B0609020204030204" pitchFamily="49" charset="0"/>
              </a:rPr>
              <a:t>prototype</a:t>
            </a:r>
            <a:r>
              <a:rPr lang="en-US" altLang="zh-CN" dirty="0">
                <a:solidFill>
                  <a:srgbClr val="ABB2BF"/>
                </a:solidFill>
                <a:latin typeface="Consolas" panose="020B0609020204030204" pitchFamily="49" charset="0"/>
              </a:rPr>
              <a:t>); </a:t>
            </a:r>
            <a:r>
              <a:rPr lang="en-US" altLang="zh-CN" i="1" dirty="0">
                <a:solidFill>
                  <a:srgbClr val="7F848E"/>
                </a:solidFill>
                <a:latin typeface="Consolas" panose="020B0609020204030204" pitchFamily="49" charset="0"/>
              </a:rPr>
              <a:t>// false</a:t>
            </a:r>
            <a:endParaRPr lang="en-US" altLang="zh-CN" dirty="0">
              <a:solidFill>
                <a:srgbClr val="ABB2BF"/>
              </a:solidFill>
              <a:latin typeface="Consolas" panose="020B0609020204030204" pitchFamily="49" charset="0"/>
            </a:endParaRPr>
          </a:p>
          <a:p>
            <a:r>
              <a:rPr lang="en-US" altLang="zh-CN" dirty="0">
                <a:solidFill>
                  <a:srgbClr val="E06C75"/>
                </a:solidFill>
                <a:latin typeface="Consolas" panose="020B0609020204030204" pitchFamily="49" charset="0"/>
              </a:rPr>
              <a:t>console</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log</a:t>
            </a:r>
            <a:r>
              <a:rPr lang="en-US" altLang="zh-CN" dirty="0">
                <a:solidFill>
                  <a:srgbClr val="ABB2BF"/>
                </a:solidFill>
                <a:latin typeface="Consolas" panose="020B0609020204030204" pitchFamily="49" charset="0"/>
              </a:rPr>
              <a:t>(</a:t>
            </a:r>
            <a:r>
              <a:rPr lang="en-US" altLang="zh-CN" dirty="0">
                <a:solidFill>
                  <a:srgbClr val="E06C75"/>
                </a:solidFill>
                <a:latin typeface="Consolas" panose="020B0609020204030204" pitchFamily="49" charset="0"/>
              </a:rPr>
              <a:t>a2</a:t>
            </a:r>
            <a:r>
              <a:rPr lang="en-US" altLang="zh-CN" dirty="0">
                <a:solidFill>
                  <a:srgbClr val="ABB2BF"/>
                </a:solidFill>
                <a:latin typeface="Consolas" panose="020B0609020204030204" pitchFamily="49" charset="0"/>
              </a:rPr>
              <a:t>.</a:t>
            </a:r>
            <a:r>
              <a:rPr lang="en-US" altLang="zh-CN" dirty="0">
                <a:solidFill>
                  <a:srgbClr val="E06C75"/>
                </a:solidFill>
                <a:latin typeface="Consolas" panose="020B0609020204030204" pitchFamily="49" charset="0"/>
              </a:rPr>
              <a:t>__proto__</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a1</a:t>
            </a:r>
            <a:r>
              <a:rPr lang="en-US" altLang="zh-CN" dirty="0">
                <a:solidFill>
                  <a:srgbClr val="ABB2BF"/>
                </a:solidFill>
                <a:latin typeface="Consolas" panose="020B0609020204030204" pitchFamily="49" charset="0"/>
              </a:rPr>
              <a:t>); </a:t>
            </a:r>
            <a:r>
              <a:rPr lang="en-US" altLang="zh-CN" i="1" dirty="0">
                <a:solidFill>
                  <a:srgbClr val="7F848E"/>
                </a:solidFill>
                <a:latin typeface="Consolas" panose="020B0609020204030204" pitchFamily="49" charset="0"/>
              </a:rPr>
              <a:t>// true</a:t>
            </a:r>
            <a:endParaRPr lang="en-US" altLang="zh-CN" b="0" dirty="0">
              <a:solidFill>
                <a:srgbClr val="ABB2BF"/>
              </a:solidFill>
              <a:effectLst/>
              <a:latin typeface="Consolas" panose="020B0609020204030204" pitchFamily="49" charset="0"/>
            </a:endParaRPr>
          </a:p>
        </p:txBody>
      </p:sp>
      <p:cxnSp>
        <p:nvCxnSpPr>
          <p:cNvPr id="16" name="肘形连接符 15"/>
          <p:cNvCxnSpPr>
            <a:stCxn id="6" idx="3"/>
            <a:endCxn id="7" idx="1"/>
          </p:cNvCxnSpPr>
          <p:nvPr/>
        </p:nvCxnSpPr>
        <p:spPr>
          <a:xfrm>
            <a:off x="3720068" y="4957891"/>
            <a:ext cx="1481807" cy="1"/>
          </a:xfrm>
          <a:prstGeom prst="bentConnector3">
            <a:avLst>
              <a:gd name="adj1" fmla="val 50000"/>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原型对象与原型链</a:t>
            </a:r>
            <a:endParaRPr lang="zh-CN" altLang="en-US" dirty="0"/>
          </a:p>
        </p:txBody>
      </p:sp>
      <p:sp>
        <p:nvSpPr>
          <p:cNvPr id="3" name="内容占位符 2"/>
          <p:cNvSpPr>
            <a:spLocks noGrp="1"/>
          </p:cNvSpPr>
          <p:nvPr>
            <p:ph idx="1"/>
          </p:nvPr>
        </p:nvSpPr>
        <p:spPr/>
        <p:txBody>
          <a:bodyPr/>
          <a:lstStyle/>
          <a:p>
            <a:r>
              <a:rPr lang="zh-CN" altLang="en-US" dirty="0" smtClean="0"/>
              <a:t>原型链（访问对象属性）</a:t>
            </a:r>
            <a:endParaRPr lang="en-US" altLang="zh-CN" dirty="0" smtClean="0"/>
          </a:p>
          <a:p>
            <a:pPr lvl="1"/>
            <a:r>
              <a:rPr lang="en-US" altLang="zh-CN" dirty="0" smtClean="0"/>
              <a:t>__proto__ </a:t>
            </a:r>
            <a:r>
              <a:rPr lang="zh-CN" altLang="en-US" dirty="0" smtClean="0"/>
              <a:t>是任何对象都有的属性，形成了一条 </a:t>
            </a:r>
            <a:r>
              <a:rPr lang="en-US" altLang="zh-CN" dirty="0" smtClean="0"/>
              <a:t>__proto__ </a:t>
            </a:r>
            <a:r>
              <a:rPr lang="zh-CN" altLang="en-US" dirty="0" smtClean="0"/>
              <a:t>连起来的链条，递归访问 </a:t>
            </a:r>
            <a:r>
              <a:rPr lang="en-US" altLang="zh-CN" dirty="0"/>
              <a:t>__proto__</a:t>
            </a:r>
            <a:r>
              <a:rPr lang="zh-CN" altLang="en-US" dirty="0" smtClean="0"/>
              <a:t>，直到值为 </a:t>
            </a:r>
            <a:r>
              <a:rPr lang="en-US" altLang="zh-CN" dirty="0" smtClean="0"/>
              <a:t>null</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grpSp>
        <p:nvGrpSpPr>
          <p:cNvPr id="15" name="组合 14"/>
          <p:cNvGrpSpPr/>
          <p:nvPr/>
        </p:nvGrpSpPr>
        <p:grpSpPr>
          <a:xfrm>
            <a:off x="931907" y="4034855"/>
            <a:ext cx="2124801" cy="1432169"/>
            <a:chOff x="557439" y="4450080"/>
            <a:chExt cx="2261044" cy="1524000"/>
          </a:xfrm>
        </p:grpSpPr>
        <p:sp>
          <p:nvSpPr>
            <p:cNvPr id="5" name="矩形 4"/>
            <p:cNvSpPr/>
            <p:nvPr/>
          </p:nvSpPr>
          <p:spPr>
            <a:xfrm>
              <a:off x="557439" y="4450080"/>
              <a:ext cx="2261044" cy="1524000"/>
            </a:xfrm>
            <a:prstGeom prst="rect">
              <a:avLst/>
            </a:prstGeom>
            <a:solidFill>
              <a:srgbClr val="0283CA"/>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dirty="0" smtClean="0"/>
                <a:t>a</a:t>
              </a:r>
              <a:endParaRPr lang="zh-CN" altLang="en-US" dirty="0"/>
            </a:p>
          </p:txBody>
        </p:sp>
        <p:sp>
          <p:nvSpPr>
            <p:cNvPr id="6" name="矩形 5"/>
            <p:cNvSpPr/>
            <p:nvPr/>
          </p:nvSpPr>
          <p:spPr>
            <a:xfrm>
              <a:off x="834397" y="5011872"/>
              <a:ext cx="1707128" cy="790352"/>
            </a:xfrm>
            <a:prstGeom prst="rect">
              <a:avLst/>
            </a:prstGeom>
            <a:solidFill>
              <a:schemeClr val="tx2">
                <a:lumMod val="60000"/>
                <a:lumOff val="4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__proto__</a:t>
              </a:r>
              <a:endParaRPr lang="zh-CN" altLang="en-US" dirty="0"/>
            </a:p>
          </p:txBody>
        </p:sp>
      </p:grpSp>
      <p:sp>
        <p:nvSpPr>
          <p:cNvPr id="10" name="矩形 9"/>
          <p:cNvSpPr/>
          <p:nvPr/>
        </p:nvSpPr>
        <p:spPr>
          <a:xfrm>
            <a:off x="931907" y="2855659"/>
            <a:ext cx="3387544" cy="646331"/>
          </a:xfrm>
          <a:prstGeom prst="rect">
            <a:avLst/>
          </a:prstGeom>
        </p:spPr>
        <p:txBody>
          <a:bodyPr wrap="square">
            <a:spAutoFit/>
          </a:bodyPr>
          <a:lstStyle/>
          <a:p>
            <a:r>
              <a:rPr lang="en-US" altLang="zh-CN" dirty="0" err="1">
                <a:solidFill>
                  <a:srgbClr val="C678DD"/>
                </a:solidFill>
                <a:latin typeface="Consolas" panose="020B0609020204030204" pitchFamily="49" charset="0"/>
              </a:rPr>
              <a:t>var</a:t>
            </a:r>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A</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C678DD"/>
                </a:solidFill>
                <a:latin typeface="Consolas" panose="020B0609020204030204" pitchFamily="49" charset="0"/>
              </a:rPr>
              <a:t>function</a:t>
            </a:r>
            <a:r>
              <a:rPr lang="en-US" altLang="zh-CN" dirty="0">
                <a:solidFill>
                  <a:srgbClr val="ABB2BF"/>
                </a:solidFill>
                <a:latin typeface="Consolas" panose="020B0609020204030204" pitchFamily="49" charset="0"/>
              </a:rPr>
              <a:t> () {};</a:t>
            </a:r>
            <a:endParaRPr lang="en-US" altLang="zh-CN" dirty="0">
              <a:solidFill>
                <a:srgbClr val="ABB2BF"/>
              </a:solidFill>
              <a:latin typeface="Consolas" panose="020B0609020204030204" pitchFamily="49" charset="0"/>
            </a:endParaRPr>
          </a:p>
          <a:p>
            <a:r>
              <a:rPr lang="en-US" altLang="zh-CN" dirty="0" err="1">
                <a:solidFill>
                  <a:srgbClr val="C678DD"/>
                </a:solidFill>
                <a:latin typeface="Consolas" panose="020B0609020204030204" pitchFamily="49" charset="0"/>
              </a:rPr>
              <a:t>var</a:t>
            </a:r>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a</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C678DD"/>
                </a:solidFill>
                <a:latin typeface="Consolas" panose="020B0609020204030204" pitchFamily="49" charset="0"/>
              </a:rPr>
              <a:t>new</a:t>
            </a:r>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A</a:t>
            </a:r>
            <a:r>
              <a:rPr lang="en-US" altLang="zh-CN" dirty="0">
                <a:solidFill>
                  <a:srgbClr val="ABB2BF"/>
                </a:solidFill>
                <a:latin typeface="Consolas" panose="020B0609020204030204" pitchFamily="49" charset="0"/>
              </a:rPr>
              <a:t>();</a:t>
            </a:r>
            <a:endParaRPr lang="en-US" altLang="zh-CN" b="0" dirty="0">
              <a:solidFill>
                <a:srgbClr val="ABB2BF"/>
              </a:solidFill>
              <a:effectLst/>
              <a:latin typeface="Consolas" panose="020B0609020204030204" pitchFamily="49" charset="0"/>
            </a:endParaRPr>
          </a:p>
        </p:txBody>
      </p:sp>
      <p:grpSp>
        <p:nvGrpSpPr>
          <p:cNvPr id="16" name="组合 15"/>
          <p:cNvGrpSpPr/>
          <p:nvPr/>
        </p:nvGrpSpPr>
        <p:grpSpPr>
          <a:xfrm>
            <a:off x="3598570" y="4034855"/>
            <a:ext cx="2124801" cy="1432169"/>
            <a:chOff x="557439" y="4450080"/>
            <a:chExt cx="2261044" cy="1524000"/>
          </a:xfrm>
        </p:grpSpPr>
        <p:sp>
          <p:nvSpPr>
            <p:cNvPr id="17" name="矩形 16"/>
            <p:cNvSpPr/>
            <p:nvPr/>
          </p:nvSpPr>
          <p:spPr>
            <a:xfrm>
              <a:off x="557439" y="4450080"/>
              <a:ext cx="2261044" cy="1524000"/>
            </a:xfrm>
            <a:prstGeom prst="rect">
              <a:avLst/>
            </a:prstGeom>
            <a:solidFill>
              <a:srgbClr val="0283CA"/>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dirty="0" err="1" smtClean="0"/>
                <a:t>A.prototype</a:t>
              </a:r>
              <a:endParaRPr lang="zh-CN" altLang="en-US" dirty="0"/>
            </a:p>
          </p:txBody>
        </p:sp>
        <p:sp>
          <p:nvSpPr>
            <p:cNvPr id="18" name="矩形 17"/>
            <p:cNvSpPr/>
            <p:nvPr/>
          </p:nvSpPr>
          <p:spPr>
            <a:xfrm>
              <a:off x="834397" y="5011872"/>
              <a:ext cx="1707128" cy="790352"/>
            </a:xfrm>
            <a:prstGeom prst="rect">
              <a:avLst/>
            </a:prstGeom>
            <a:solidFill>
              <a:schemeClr val="tx2">
                <a:lumMod val="60000"/>
                <a:lumOff val="4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__proto__</a:t>
              </a:r>
              <a:endParaRPr lang="zh-CN" altLang="en-US" dirty="0"/>
            </a:p>
          </p:txBody>
        </p:sp>
      </p:grpSp>
      <p:grpSp>
        <p:nvGrpSpPr>
          <p:cNvPr id="19" name="组合 18"/>
          <p:cNvGrpSpPr/>
          <p:nvPr/>
        </p:nvGrpSpPr>
        <p:grpSpPr>
          <a:xfrm>
            <a:off x="6265233" y="4034855"/>
            <a:ext cx="2124801" cy="1432169"/>
            <a:chOff x="557439" y="4450080"/>
            <a:chExt cx="2261044" cy="1524000"/>
          </a:xfrm>
        </p:grpSpPr>
        <p:sp>
          <p:nvSpPr>
            <p:cNvPr id="20" name="矩形 19"/>
            <p:cNvSpPr/>
            <p:nvPr/>
          </p:nvSpPr>
          <p:spPr>
            <a:xfrm>
              <a:off x="557439" y="4450080"/>
              <a:ext cx="2261044" cy="1524000"/>
            </a:xfrm>
            <a:prstGeom prst="rect">
              <a:avLst/>
            </a:prstGeom>
            <a:solidFill>
              <a:srgbClr val="0283CA"/>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dirty="0" err="1" smtClean="0"/>
                <a:t>Object.prototype</a:t>
              </a:r>
              <a:endParaRPr lang="zh-CN" altLang="en-US" dirty="0"/>
            </a:p>
          </p:txBody>
        </p:sp>
        <p:sp>
          <p:nvSpPr>
            <p:cNvPr id="21" name="矩形 20"/>
            <p:cNvSpPr/>
            <p:nvPr/>
          </p:nvSpPr>
          <p:spPr>
            <a:xfrm>
              <a:off x="834397" y="5011872"/>
              <a:ext cx="1707128" cy="790352"/>
            </a:xfrm>
            <a:prstGeom prst="rect">
              <a:avLst/>
            </a:prstGeom>
            <a:solidFill>
              <a:schemeClr val="tx2">
                <a:lumMod val="60000"/>
                <a:lumOff val="4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__proto__</a:t>
              </a:r>
              <a:endParaRPr lang="zh-CN" altLang="en-US" dirty="0"/>
            </a:p>
          </p:txBody>
        </p:sp>
      </p:grpSp>
      <p:sp>
        <p:nvSpPr>
          <p:cNvPr id="23" name="矩形 22"/>
          <p:cNvSpPr/>
          <p:nvPr/>
        </p:nvSpPr>
        <p:spPr>
          <a:xfrm>
            <a:off x="8931896" y="4034855"/>
            <a:ext cx="2124801" cy="1432169"/>
          </a:xfrm>
          <a:prstGeom prst="rect">
            <a:avLst/>
          </a:prstGeom>
          <a:solidFill>
            <a:srgbClr val="0283CA"/>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dirty="0" smtClean="0"/>
              <a:t>null</a:t>
            </a:r>
            <a:endParaRPr lang="zh-CN" altLang="en-US" dirty="0"/>
          </a:p>
        </p:txBody>
      </p:sp>
      <p:cxnSp>
        <p:nvCxnSpPr>
          <p:cNvPr id="28" name="直接箭头连接符 27"/>
          <p:cNvCxnSpPr>
            <a:endCxn id="17" idx="1"/>
          </p:cNvCxnSpPr>
          <p:nvPr/>
        </p:nvCxnSpPr>
        <p:spPr>
          <a:xfrm flipV="1">
            <a:off x="2796438" y="4750940"/>
            <a:ext cx="802132" cy="18321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a:endCxn id="20" idx="1"/>
          </p:cNvCxnSpPr>
          <p:nvPr/>
        </p:nvCxnSpPr>
        <p:spPr>
          <a:xfrm flipV="1">
            <a:off x="5463101" y="4750940"/>
            <a:ext cx="802132" cy="18321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a:endCxn id="23" idx="1"/>
          </p:cNvCxnSpPr>
          <p:nvPr/>
        </p:nvCxnSpPr>
        <p:spPr>
          <a:xfrm flipV="1">
            <a:off x="8129764" y="4750940"/>
            <a:ext cx="802132" cy="18321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3716020" y="2949575"/>
            <a:ext cx="4760595" cy="958850"/>
          </a:xfrm>
          <a:prstGeom prst="roundRect">
            <a:avLst>
              <a:gd name="adj" fmla="val 50000"/>
            </a:avLst>
          </a:prstGeom>
          <a:gradFill>
            <a:gsLst>
              <a:gs pos="22000">
                <a:srgbClr val="DD69B4"/>
              </a:gs>
              <a:gs pos="100000">
                <a:srgbClr val="0054FF"/>
              </a:gs>
            </a:gsLst>
            <a:lin ang="27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800">
                <a:latin typeface="微软雅黑" panose="020B0503020204020204" pitchFamily="34" charset="-122"/>
                <a:ea typeface="微软雅黑" panose="020B0503020204020204" pitchFamily="34" charset="-122"/>
              </a:rPr>
              <a:t>事件循环</a:t>
            </a:r>
            <a:endParaRPr lang="zh-CN" altLang="en-US" sz="280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事件循环机制</a:t>
            </a:r>
            <a:endParaRPr lang="zh-CN" altLang="en-US" dirty="0"/>
          </a:p>
        </p:txBody>
      </p:sp>
      <p:sp>
        <p:nvSpPr>
          <p:cNvPr id="3" name="内容占位符 2"/>
          <p:cNvSpPr>
            <a:spLocks noGrp="1"/>
          </p:cNvSpPr>
          <p:nvPr>
            <p:ph idx="1"/>
          </p:nvPr>
        </p:nvSpPr>
        <p:spPr/>
        <p:txBody>
          <a:bodyPr/>
          <a:lstStyle/>
          <a:p>
            <a:r>
              <a:rPr lang="en-US" altLang="zh-CN" dirty="0" smtClean="0"/>
              <a:t>JS</a:t>
            </a:r>
            <a:r>
              <a:rPr lang="zh-CN" altLang="en-US" dirty="0" smtClean="0"/>
              <a:t>语言特点</a:t>
            </a:r>
            <a:endParaRPr lang="en-US" altLang="zh-CN" dirty="0" smtClean="0"/>
          </a:p>
          <a:p>
            <a:pPr lvl="1"/>
            <a:r>
              <a:rPr lang="zh-CN" altLang="en-US" dirty="0"/>
              <a:t>单</a:t>
            </a:r>
            <a:r>
              <a:rPr lang="zh-CN" altLang="en-US" dirty="0" smtClean="0"/>
              <a:t>线程，即同一时间只能做一件事</a:t>
            </a:r>
            <a:endParaRPr lang="en-US" altLang="zh-CN" dirty="0" smtClean="0"/>
          </a:p>
          <a:p>
            <a:pPr lvl="1"/>
            <a:endParaRPr lang="en-US" altLang="zh-CN" dirty="0"/>
          </a:p>
          <a:p>
            <a:r>
              <a:rPr lang="en-US" altLang="zh-CN" dirty="0" smtClean="0"/>
              <a:t>JS</a:t>
            </a:r>
            <a:r>
              <a:rPr lang="zh-CN" altLang="en-US" dirty="0" smtClean="0"/>
              <a:t>主要用途</a:t>
            </a:r>
            <a:endParaRPr lang="en-US" altLang="zh-CN" dirty="0" smtClean="0"/>
          </a:p>
          <a:p>
            <a:pPr lvl="1"/>
            <a:r>
              <a:rPr lang="zh-CN" altLang="en-US" dirty="0" smtClean="0"/>
              <a:t>与用户交互</a:t>
            </a:r>
            <a:endParaRPr lang="en-US" altLang="zh-CN" dirty="0" smtClean="0"/>
          </a:p>
          <a:p>
            <a:pPr lvl="1"/>
            <a:r>
              <a:rPr lang="zh-CN" altLang="en-US" dirty="0" smtClean="0"/>
              <a:t>操作</a:t>
            </a:r>
            <a:r>
              <a:rPr lang="en-US" altLang="zh-CN" dirty="0" smtClean="0"/>
              <a:t>DOM</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事件循环机制</a:t>
            </a:r>
            <a:endParaRPr lang="zh-CN" altLang="en-US" dirty="0"/>
          </a:p>
        </p:txBody>
      </p:sp>
      <p:pic>
        <p:nvPicPr>
          <p:cNvPr id="5" name="内容占位符 4"/>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557439" y="1130300"/>
            <a:ext cx="6177346" cy="5165725"/>
          </a:xfrm>
        </p:spPr>
      </p:pic>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事件循环机制</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
        <p:nvSpPr>
          <p:cNvPr id="5" name="矩形 4"/>
          <p:cNvSpPr/>
          <p:nvPr/>
        </p:nvSpPr>
        <p:spPr>
          <a:xfrm>
            <a:off x="557439" y="1316845"/>
            <a:ext cx="3801201" cy="2030095"/>
          </a:xfrm>
          <a:prstGeom prst="rect">
            <a:avLst/>
          </a:prstGeom>
        </p:spPr>
        <p:txBody>
          <a:bodyPr wrap="square">
            <a:spAutoFit/>
          </a:bodyPr>
          <a:lstStyle/>
          <a:p>
            <a:r>
              <a:rPr lang="en-US" altLang="zh-CN" dirty="0">
                <a:solidFill>
                  <a:srgbClr val="E06C75"/>
                </a:solidFill>
                <a:latin typeface="Consolas" panose="020B0609020204030204" pitchFamily="49" charset="0"/>
                <a:sym typeface="+mn-ea"/>
              </a:rPr>
              <a:t>console</a:t>
            </a:r>
            <a:r>
              <a:rPr lang="en-US" altLang="zh-CN" dirty="0">
                <a:solidFill>
                  <a:srgbClr val="ABB2BF"/>
                </a:solidFill>
                <a:latin typeface="Consolas" panose="020B0609020204030204" pitchFamily="49" charset="0"/>
                <a:sym typeface="+mn-ea"/>
              </a:rPr>
              <a:t>.</a:t>
            </a:r>
            <a:r>
              <a:rPr lang="en-US" altLang="zh-CN" dirty="0">
                <a:solidFill>
                  <a:srgbClr val="61AFEF"/>
                </a:solidFill>
                <a:latin typeface="Consolas" panose="020B0609020204030204" pitchFamily="49" charset="0"/>
                <a:sym typeface="+mn-ea"/>
              </a:rPr>
              <a:t>log</a:t>
            </a:r>
            <a:r>
              <a:rPr lang="en-US" altLang="zh-CN" dirty="0">
                <a:solidFill>
                  <a:srgbClr val="ABB2BF"/>
                </a:solidFill>
                <a:latin typeface="Consolas" panose="020B0609020204030204" pitchFamily="49" charset="0"/>
                <a:sym typeface="+mn-ea"/>
              </a:rPr>
              <a:t>(</a:t>
            </a:r>
            <a:r>
              <a:rPr lang="en-US" altLang="zh-CN" dirty="0">
                <a:solidFill>
                  <a:srgbClr val="98C379"/>
                </a:solidFill>
                <a:latin typeface="Consolas" panose="020B0609020204030204" pitchFamily="49" charset="0"/>
                <a:sym typeface="+mn-ea"/>
              </a:rPr>
              <a:t>'script start'</a:t>
            </a:r>
            <a:r>
              <a:rPr lang="en-US" altLang="zh-CN" dirty="0">
                <a:solidFill>
                  <a:srgbClr val="ABB2BF"/>
                </a:solidFill>
                <a:latin typeface="Consolas" panose="020B0609020204030204" pitchFamily="49" charset="0"/>
                <a:sym typeface="+mn-ea"/>
              </a:rPr>
              <a:t>);</a:t>
            </a:r>
            <a:endParaRPr lang="en-US" altLang="zh-CN" b="0" dirty="0">
              <a:solidFill>
                <a:srgbClr val="ABB2BF"/>
              </a:solidFill>
              <a:effectLst/>
              <a:latin typeface="Consolas" panose="020B0609020204030204" pitchFamily="49" charset="0"/>
            </a:endParaRPr>
          </a:p>
          <a:p>
            <a:endParaRPr lang="en-US" altLang="zh-CN" dirty="0">
              <a:solidFill>
                <a:srgbClr val="E06C75"/>
              </a:solidFill>
              <a:latin typeface="Consolas" panose="020B0609020204030204" pitchFamily="49" charset="0"/>
            </a:endParaRPr>
          </a:p>
          <a:p>
            <a:r>
              <a:rPr lang="en-US" altLang="zh-CN" dirty="0" err="1">
                <a:solidFill>
                  <a:srgbClr val="61AFEF"/>
                </a:solidFill>
                <a:latin typeface="Consolas" panose="020B0609020204030204" pitchFamily="49" charset="0"/>
                <a:sym typeface="+mn-ea"/>
              </a:rPr>
              <a:t>setTimeout</a:t>
            </a:r>
            <a:r>
              <a:rPr lang="en-US" altLang="zh-CN" dirty="0">
                <a:solidFill>
                  <a:srgbClr val="ABB2BF"/>
                </a:solidFill>
                <a:latin typeface="Consolas" panose="020B0609020204030204" pitchFamily="49" charset="0"/>
                <a:sym typeface="+mn-ea"/>
              </a:rPr>
              <a:t>(</a:t>
            </a:r>
            <a:r>
              <a:rPr lang="en-US" altLang="zh-CN" dirty="0">
                <a:solidFill>
                  <a:srgbClr val="C678DD"/>
                </a:solidFill>
                <a:latin typeface="Consolas" panose="020B0609020204030204" pitchFamily="49" charset="0"/>
                <a:sym typeface="+mn-ea"/>
              </a:rPr>
              <a:t>function</a:t>
            </a:r>
            <a:r>
              <a:rPr lang="en-US" altLang="zh-CN" dirty="0">
                <a:solidFill>
                  <a:srgbClr val="ABB2BF"/>
                </a:solidFill>
                <a:latin typeface="Consolas" panose="020B0609020204030204" pitchFamily="49" charset="0"/>
                <a:sym typeface="+mn-ea"/>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sym typeface="+mn-ea"/>
              </a:rPr>
              <a:t>  </a:t>
            </a:r>
            <a:r>
              <a:rPr lang="en-US" altLang="zh-CN" dirty="0">
                <a:solidFill>
                  <a:srgbClr val="E06C75"/>
                </a:solidFill>
                <a:latin typeface="Consolas" panose="020B0609020204030204" pitchFamily="49" charset="0"/>
                <a:sym typeface="+mn-ea"/>
              </a:rPr>
              <a:t>console</a:t>
            </a:r>
            <a:r>
              <a:rPr lang="en-US" altLang="zh-CN" dirty="0">
                <a:solidFill>
                  <a:srgbClr val="ABB2BF"/>
                </a:solidFill>
                <a:latin typeface="Consolas" panose="020B0609020204030204" pitchFamily="49" charset="0"/>
                <a:sym typeface="+mn-ea"/>
              </a:rPr>
              <a:t>.</a:t>
            </a:r>
            <a:r>
              <a:rPr lang="en-US" altLang="zh-CN" dirty="0">
                <a:solidFill>
                  <a:srgbClr val="61AFEF"/>
                </a:solidFill>
                <a:latin typeface="Consolas" panose="020B0609020204030204" pitchFamily="49" charset="0"/>
                <a:sym typeface="+mn-ea"/>
              </a:rPr>
              <a:t>log</a:t>
            </a:r>
            <a:r>
              <a:rPr lang="en-US" altLang="zh-CN" dirty="0">
                <a:solidFill>
                  <a:srgbClr val="ABB2BF"/>
                </a:solidFill>
                <a:latin typeface="Consolas" panose="020B0609020204030204" pitchFamily="49" charset="0"/>
                <a:sym typeface="+mn-ea"/>
              </a:rPr>
              <a:t>(</a:t>
            </a:r>
            <a:r>
              <a:rPr lang="en-US" altLang="zh-CN" dirty="0">
                <a:solidFill>
                  <a:srgbClr val="98C379"/>
                </a:solidFill>
                <a:latin typeface="Consolas" panose="020B0609020204030204" pitchFamily="49" charset="0"/>
                <a:sym typeface="+mn-ea"/>
              </a:rPr>
              <a:t>'</a:t>
            </a:r>
            <a:r>
              <a:rPr lang="en-US" altLang="zh-CN" dirty="0" err="1">
                <a:solidFill>
                  <a:srgbClr val="98C379"/>
                </a:solidFill>
                <a:latin typeface="Consolas" panose="020B0609020204030204" pitchFamily="49" charset="0"/>
                <a:sym typeface="+mn-ea"/>
              </a:rPr>
              <a:t>setTimeout</a:t>
            </a:r>
            <a:r>
              <a:rPr lang="en-US" altLang="zh-CN" dirty="0">
                <a:solidFill>
                  <a:srgbClr val="98C379"/>
                </a:solidFill>
                <a:latin typeface="Consolas" panose="020B0609020204030204" pitchFamily="49" charset="0"/>
                <a:sym typeface="+mn-ea"/>
              </a:rPr>
              <a:t>'</a:t>
            </a:r>
            <a:r>
              <a:rPr lang="en-US" altLang="zh-CN" dirty="0">
                <a:solidFill>
                  <a:srgbClr val="ABB2BF"/>
                </a:solidFill>
                <a:latin typeface="Consolas" panose="020B0609020204030204" pitchFamily="49" charset="0"/>
                <a:sym typeface="+mn-ea"/>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sym typeface="+mn-ea"/>
              </a:rPr>
              <a:t>}, </a:t>
            </a:r>
            <a:r>
              <a:rPr lang="en-US" altLang="zh-CN" dirty="0">
                <a:solidFill>
                  <a:srgbClr val="D19A66"/>
                </a:solidFill>
                <a:latin typeface="Consolas" panose="020B0609020204030204" pitchFamily="49" charset="0"/>
                <a:sym typeface="+mn-ea"/>
              </a:rPr>
              <a:t>0</a:t>
            </a:r>
            <a:r>
              <a:rPr lang="en-US" altLang="zh-CN" dirty="0">
                <a:solidFill>
                  <a:srgbClr val="ABB2BF"/>
                </a:solidFill>
                <a:latin typeface="Consolas" panose="020B0609020204030204" pitchFamily="49" charset="0"/>
                <a:sym typeface="+mn-ea"/>
              </a:rPr>
              <a:t>);</a:t>
            </a:r>
            <a:endParaRPr lang="en-US" altLang="zh-CN" dirty="0">
              <a:solidFill>
                <a:srgbClr val="ABB2BF"/>
              </a:solidFill>
              <a:latin typeface="Consolas" panose="020B0609020204030204" pitchFamily="49" charset="0"/>
            </a:endParaRPr>
          </a:p>
          <a:p>
            <a:endParaRPr lang="en-US" altLang="zh-CN" dirty="0">
              <a:solidFill>
                <a:srgbClr val="E06C75"/>
              </a:solidFill>
              <a:latin typeface="Consolas" panose="020B0609020204030204" pitchFamily="49" charset="0"/>
            </a:endParaRPr>
          </a:p>
          <a:p>
            <a:r>
              <a:rPr lang="en-US" altLang="zh-CN" dirty="0">
                <a:solidFill>
                  <a:srgbClr val="E06C75"/>
                </a:solidFill>
                <a:latin typeface="Consolas" panose="020B0609020204030204" pitchFamily="49" charset="0"/>
              </a:rPr>
              <a:t>console</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log</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a:t>
            </a:r>
            <a:r>
              <a:rPr lang="en-US" altLang="zh-CN" dirty="0">
                <a:solidFill>
                  <a:srgbClr val="98C379"/>
                </a:solidFill>
                <a:latin typeface="Consolas" panose="020B0609020204030204" pitchFamily="49" charset="0"/>
                <a:sym typeface="+mn-ea"/>
              </a:rPr>
              <a:t>script end</a:t>
            </a:r>
            <a:r>
              <a:rPr lang="en-US" altLang="zh-CN" dirty="0">
                <a:solidFill>
                  <a:srgbClr val="98C379"/>
                </a:solidFill>
                <a:latin typeface="Consolas" panose="020B0609020204030204" pitchFamily="49" charset="0"/>
              </a:rPr>
              <a:t>'</a:t>
            </a:r>
            <a:r>
              <a:rPr lang="en-US" altLang="zh-CN" dirty="0">
                <a:solidFill>
                  <a:srgbClr val="ABB2BF"/>
                </a:solidFill>
                <a:latin typeface="Consolas" panose="020B0609020204030204" pitchFamily="49" charset="0"/>
              </a:rPr>
              <a:t>);</a:t>
            </a:r>
            <a:endParaRPr lang="en-US" altLang="zh-CN" b="0" dirty="0">
              <a:solidFill>
                <a:srgbClr val="ABB2BF"/>
              </a:solidFill>
              <a:effectLst/>
              <a:latin typeface="Consolas" panose="020B0609020204030204" pitchFamily="49" charset="0"/>
            </a:endParaRPr>
          </a:p>
        </p:txBody>
      </p:sp>
      <p:sp>
        <p:nvSpPr>
          <p:cNvPr id="6" name="矩形 5"/>
          <p:cNvSpPr/>
          <p:nvPr/>
        </p:nvSpPr>
        <p:spPr>
          <a:xfrm>
            <a:off x="5158740" y="1316990"/>
            <a:ext cx="6567170" cy="2999740"/>
          </a:xfrm>
          <a:prstGeom prst="rect">
            <a:avLst/>
          </a:prstGeom>
        </p:spPr>
        <p:txBody>
          <a:bodyPr wrap="square">
            <a:spAutoFit/>
          </a:bodyPr>
          <a:lstStyle/>
          <a:p>
            <a:pPr marL="342900" indent="-342900">
              <a:lnSpc>
                <a:spcPct val="150000"/>
              </a:lnSpc>
              <a:buFont typeface="+mj-lt"/>
              <a:buAutoNum type="arabicPeriod"/>
            </a:pPr>
            <a:r>
              <a:rPr lang="zh-CN" dirty="0">
                <a:solidFill>
                  <a:schemeClr val="bg1"/>
                </a:solidFill>
                <a:latin typeface="微软雅黑" panose="020B0503020204020204" pitchFamily="34" charset="-122"/>
                <a:ea typeface="微软雅黑" panose="020B0503020204020204" pitchFamily="34" charset="-122"/>
                <a:sym typeface="+mn-ea"/>
              </a:rPr>
              <a:t>开始</a:t>
            </a:r>
            <a:endParaRPr lang="zh-CN" altLang="en-US" dirty="0" smtClean="0">
              <a:solidFill>
                <a:schemeClr val="bg1"/>
              </a:solidFill>
              <a:latin typeface="微软雅黑" panose="020B0503020204020204" pitchFamily="34" charset="-122"/>
              <a:ea typeface="微软雅黑" panose="020B0503020204020204" pitchFamily="34" charset="-122"/>
              <a:sym typeface="+mn-ea"/>
            </a:endParaRPr>
          </a:p>
          <a:p>
            <a:pPr marL="342900" indent="-342900">
              <a:lnSpc>
                <a:spcPct val="150000"/>
              </a:lnSpc>
              <a:buFont typeface="+mj-lt"/>
              <a:buAutoNum type="arabicPeriod"/>
            </a:pPr>
            <a:r>
              <a:rPr lang="zh-CN" altLang="en-US" dirty="0">
                <a:solidFill>
                  <a:schemeClr val="bg1"/>
                </a:solidFill>
                <a:latin typeface="微软雅黑" panose="020B0503020204020204" pitchFamily="34" charset="-122"/>
                <a:ea typeface="微软雅黑" panose="020B0503020204020204" pitchFamily="34" charset="-122"/>
                <a:sym typeface="+mn-ea"/>
              </a:rPr>
              <a:t>遇到同步任务</a:t>
            </a:r>
            <a:r>
              <a:rPr lang="en-US" altLang="zh-CN" dirty="0">
                <a:solidFill>
                  <a:schemeClr val="bg1"/>
                </a:solidFill>
                <a:latin typeface="微软雅黑" panose="020B0503020204020204" pitchFamily="34" charset="-122"/>
                <a:ea typeface="微软雅黑" panose="020B0503020204020204" pitchFamily="34" charset="-122"/>
                <a:sym typeface="+mn-ea"/>
              </a:rPr>
              <a:t>console</a:t>
            </a:r>
            <a:r>
              <a:rPr lang="zh-CN" altLang="en-US" dirty="0">
                <a:solidFill>
                  <a:schemeClr val="bg1"/>
                </a:solidFill>
                <a:latin typeface="微软雅黑" panose="020B0503020204020204" pitchFamily="34" charset="-122"/>
                <a:ea typeface="微软雅黑" panose="020B0503020204020204" pitchFamily="34" charset="-122"/>
                <a:sym typeface="+mn-ea"/>
              </a:rPr>
              <a:t>，输出</a:t>
            </a:r>
            <a:r>
              <a:rPr lang="en-US" altLang="zh-CN" dirty="0">
                <a:solidFill>
                  <a:schemeClr val="bg1"/>
                </a:solidFill>
                <a:latin typeface="微软雅黑" panose="020B0503020204020204" pitchFamily="34" charset="-122"/>
                <a:ea typeface="微软雅黑" panose="020B0503020204020204" pitchFamily="34" charset="-122"/>
                <a:sym typeface="+mn-ea"/>
              </a:rPr>
              <a:t> script start</a:t>
            </a:r>
            <a:endParaRPr lang="en-US" altLang="zh-CN" dirty="0">
              <a:solidFill>
                <a:schemeClr val="bg1"/>
              </a:solidFill>
              <a:latin typeface="微软雅黑" panose="020B0503020204020204" pitchFamily="34" charset="-122"/>
              <a:ea typeface="微软雅黑" panose="020B0503020204020204" pitchFamily="34" charset="-122"/>
              <a:sym typeface="+mn-ea"/>
            </a:endParaRPr>
          </a:p>
          <a:p>
            <a:pPr marL="342900" indent="-342900">
              <a:lnSpc>
                <a:spcPct val="150000"/>
              </a:lnSpc>
              <a:buFont typeface="+mj-lt"/>
              <a:buAutoNum type="arabicPeriod"/>
            </a:pPr>
            <a:r>
              <a:rPr lang="zh-CN" altLang="en-US" dirty="0" smtClean="0">
                <a:solidFill>
                  <a:schemeClr val="bg1"/>
                </a:solidFill>
                <a:latin typeface="微软雅黑" panose="020B0503020204020204" pitchFamily="34" charset="-122"/>
                <a:ea typeface="微软雅黑" panose="020B0503020204020204" pitchFamily="34" charset="-122"/>
                <a:sym typeface="+mn-ea"/>
              </a:rPr>
              <a:t>遇到 </a:t>
            </a:r>
            <a:r>
              <a:rPr lang="en-US" altLang="zh-CN" dirty="0" err="1" smtClean="0">
                <a:solidFill>
                  <a:schemeClr val="bg1"/>
                </a:solidFill>
                <a:latin typeface="微软雅黑" panose="020B0503020204020204" pitchFamily="34" charset="-122"/>
                <a:ea typeface="微软雅黑" panose="020B0503020204020204" pitchFamily="34" charset="-122"/>
                <a:sym typeface="+mn-ea"/>
              </a:rPr>
              <a:t>setTimeout</a:t>
            </a:r>
            <a:r>
              <a:rPr lang="zh-CN" altLang="en-US" dirty="0" smtClean="0">
                <a:solidFill>
                  <a:schemeClr val="bg1"/>
                </a:solidFill>
                <a:latin typeface="微软雅黑" panose="020B0503020204020204" pitchFamily="34" charset="-122"/>
                <a:ea typeface="微软雅黑" panose="020B0503020204020204" pitchFamily="34" charset="-122"/>
                <a:sym typeface="+mn-ea"/>
              </a:rPr>
              <a:t>，推入任务</a:t>
            </a:r>
            <a:r>
              <a:rPr lang="zh-CN" altLang="en-US" dirty="0">
                <a:solidFill>
                  <a:schemeClr val="bg1"/>
                </a:solidFill>
                <a:latin typeface="微软雅黑" panose="020B0503020204020204" pitchFamily="34" charset="-122"/>
                <a:ea typeface="微软雅黑" panose="020B0503020204020204" pitchFamily="34" charset="-122"/>
                <a:sym typeface="+mn-ea"/>
              </a:rPr>
              <a:t>队列</a:t>
            </a:r>
            <a:endParaRPr lang="zh-CN" altLang="en-US" dirty="0">
              <a:solidFill>
                <a:schemeClr val="bg1"/>
              </a:solidFill>
              <a:latin typeface="微软雅黑" panose="020B0503020204020204" pitchFamily="34" charset="-122"/>
              <a:ea typeface="微软雅黑" panose="020B0503020204020204" pitchFamily="34" charset="-122"/>
            </a:endParaRPr>
          </a:p>
          <a:p>
            <a:pPr marL="342900" indent="-342900">
              <a:lnSpc>
                <a:spcPct val="150000"/>
              </a:lnSpc>
              <a:buFont typeface="+mj-lt"/>
              <a:buAutoNum type="arabicPeriod"/>
            </a:pPr>
            <a:r>
              <a:rPr lang="zh-CN" altLang="en-US" dirty="0">
                <a:solidFill>
                  <a:schemeClr val="bg1"/>
                </a:solidFill>
                <a:latin typeface="微软雅黑" panose="020B0503020204020204" pitchFamily="34" charset="-122"/>
                <a:ea typeface="微软雅黑" panose="020B0503020204020204" pitchFamily="34" charset="-122"/>
                <a:sym typeface="+mn-ea"/>
              </a:rPr>
              <a:t>遇到同</a:t>
            </a:r>
            <a:r>
              <a:rPr lang="zh-CN" altLang="en-US" dirty="0">
                <a:solidFill>
                  <a:schemeClr val="bg1"/>
                </a:solidFill>
                <a:latin typeface="微软雅黑" panose="020B0503020204020204" pitchFamily="34" charset="-122"/>
                <a:ea typeface="微软雅黑" panose="020B0503020204020204" pitchFamily="34" charset="-122"/>
                <a:sym typeface="+mn-ea"/>
              </a:rPr>
              <a:t>步任务</a:t>
            </a:r>
            <a:r>
              <a:rPr lang="en-US" altLang="zh-CN" dirty="0">
                <a:solidFill>
                  <a:schemeClr val="bg1"/>
                </a:solidFill>
                <a:latin typeface="微软雅黑" panose="020B0503020204020204" pitchFamily="34" charset="-122"/>
                <a:ea typeface="微软雅黑" panose="020B0503020204020204" pitchFamily="34" charset="-122"/>
                <a:sym typeface="+mn-ea"/>
              </a:rPr>
              <a:t>console</a:t>
            </a:r>
            <a:r>
              <a:rPr lang="zh-CN" altLang="en-US" dirty="0">
                <a:solidFill>
                  <a:schemeClr val="bg1"/>
                </a:solidFill>
                <a:latin typeface="微软雅黑" panose="020B0503020204020204" pitchFamily="34" charset="-122"/>
                <a:ea typeface="微软雅黑" panose="020B0503020204020204" pitchFamily="34" charset="-122"/>
                <a:sym typeface="+mn-ea"/>
              </a:rPr>
              <a:t>，输出</a:t>
            </a:r>
            <a:r>
              <a:rPr lang="en-US" altLang="zh-CN" dirty="0">
                <a:solidFill>
                  <a:schemeClr val="bg1"/>
                </a:solidFill>
                <a:latin typeface="微软雅黑" panose="020B0503020204020204" pitchFamily="34" charset="-122"/>
                <a:ea typeface="微软雅黑" panose="020B0503020204020204" pitchFamily="34" charset="-122"/>
                <a:sym typeface="+mn-ea"/>
              </a:rPr>
              <a:t> script end</a:t>
            </a:r>
            <a:endParaRPr lang="en-US" altLang="zh-CN" dirty="0">
              <a:solidFill>
                <a:schemeClr val="bg1"/>
              </a:solidFill>
              <a:latin typeface="微软雅黑" panose="020B0503020204020204" pitchFamily="34" charset="-122"/>
              <a:ea typeface="微软雅黑" panose="020B0503020204020204" pitchFamily="34" charset="-122"/>
              <a:sym typeface="+mn-ea"/>
            </a:endParaRPr>
          </a:p>
          <a:p>
            <a:pPr marL="342900" indent="-342900">
              <a:lnSpc>
                <a:spcPct val="150000"/>
              </a:lnSpc>
              <a:buFont typeface="+mj-lt"/>
              <a:buAutoNum type="arabicPeriod"/>
            </a:pPr>
            <a:r>
              <a:rPr lang="zh-CN" altLang="en-US" dirty="0">
                <a:solidFill>
                  <a:schemeClr val="bg1"/>
                </a:solidFill>
                <a:latin typeface="微软雅黑" panose="020B0503020204020204" pitchFamily="34" charset="-122"/>
                <a:ea typeface="微软雅黑" panose="020B0503020204020204" pitchFamily="34" charset="-122"/>
              </a:rPr>
              <a:t>主线程</a:t>
            </a:r>
            <a:r>
              <a:rPr lang="zh-CN" altLang="en-US" dirty="0">
                <a:solidFill>
                  <a:schemeClr val="bg1"/>
                </a:solidFill>
                <a:latin typeface="微软雅黑" panose="020B0503020204020204" pitchFamily="34" charset="-122"/>
                <a:ea typeface="微软雅黑" panose="020B0503020204020204" pitchFamily="34" charset="-122"/>
              </a:rPr>
              <a:t>任务第一次完成</a:t>
            </a:r>
            <a:endParaRPr lang="zh-CN" altLang="en-US" dirty="0">
              <a:solidFill>
                <a:schemeClr val="bg1"/>
              </a:solidFill>
              <a:latin typeface="微软雅黑" panose="020B0503020204020204" pitchFamily="34" charset="-122"/>
              <a:ea typeface="微软雅黑" panose="020B0503020204020204" pitchFamily="34" charset="-122"/>
            </a:endParaRPr>
          </a:p>
          <a:p>
            <a:pPr marL="342900" indent="-342900">
              <a:lnSpc>
                <a:spcPct val="150000"/>
              </a:lnSpc>
              <a:buFont typeface="+mj-lt"/>
              <a:buAutoNum type="arabicPeriod"/>
            </a:pPr>
            <a:r>
              <a:rPr lang="zh-CN" dirty="0">
                <a:solidFill>
                  <a:schemeClr val="bg1"/>
                </a:solidFill>
                <a:latin typeface="微软雅黑" panose="020B0503020204020204" pitchFamily="34" charset="-122"/>
                <a:ea typeface="微软雅黑" panose="020B0503020204020204" pitchFamily="34" charset="-122"/>
              </a:rPr>
              <a:t>查询</a:t>
            </a:r>
            <a:r>
              <a:rPr lang="zh-CN" altLang="en-US" dirty="0">
                <a:solidFill>
                  <a:schemeClr val="bg1"/>
                </a:solidFill>
                <a:latin typeface="微软雅黑" panose="020B0503020204020204" pitchFamily="34" charset="-122"/>
                <a:ea typeface="微软雅黑" panose="020B0503020204020204" pitchFamily="34" charset="-122"/>
                <a:sym typeface="+mn-ea"/>
              </a:rPr>
              <a:t>事件队列，执行</a:t>
            </a:r>
            <a:r>
              <a:rPr lang="en-US" altLang="zh-CN" dirty="0">
                <a:solidFill>
                  <a:schemeClr val="bg1"/>
                </a:solidFill>
                <a:latin typeface="微软雅黑" panose="020B0503020204020204" pitchFamily="34" charset="-122"/>
                <a:ea typeface="微软雅黑" panose="020B0503020204020204" pitchFamily="34" charset="-122"/>
                <a:sym typeface="+mn-ea"/>
              </a:rPr>
              <a:t> </a:t>
            </a:r>
            <a:r>
              <a:rPr lang="en-US" altLang="zh-CN" dirty="0">
                <a:solidFill>
                  <a:schemeClr val="bg1"/>
                </a:solidFill>
                <a:latin typeface="微软雅黑" panose="020B0503020204020204" pitchFamily="34" charset="-122"/>
                <a:ea typeface="微软雅黑" panose="020B0503020204020204" pitchFamily="34" charset="-122"/>
                <a:sym typeface="+mn-ea"/>
              </a:rPr>
              <a:t>setTimeout</a:t>
            </a:r>
            <a:r>
              <a:rPr lang="zh-CN" altLang="en-US" dirty="0">
                <a:solidFill>
                  <a:schemeClr val="bg1"/>
                </a:solidFill>
                <a:latin typeface="微软雅黑" panose="020B0503020204020204" pitchFamily="34" charset="-122"/>
                <a:ea typeface="微软雅黑" panose="020B0503020204020204" pitchFamily="34" charset="-122"/>
                <a:sym typeface="+mn-ea"/>
              </a:rPr>
              <a:t>，输出</a:t>
            </a:r>
            <a:r>
              <a:rPr lang="en-US" altLang="zh-CN" dirty="0">
                <a:solidFill>
                  <a:schemeClr val="bg1"/>
                </a:solidFill>
                <a:latin typeface="微软雅黑" panose="020B0503020204020204" pitchFamily="34" charset="-122"/>
                <a:ea typeface="微软雅黑" panose="020B0503020204020204" pitchFamily="34" charset="-122"/>
                <a:sym typeface="+mn-ea"/>
              </a:rPr>
              <a:t> setTimeout</a:t>
            </a:r>
            <a:endParaRPr lang="zh-CN" altLang="en-US" dirty="0">
              <a:solidFill>
                <a:schemeClr val="bg1"/>
              </a:solidFill>
              <a:latin typeface="微软雅黑" panose="020B0503020204020204" pitchFamily="34" charset="-122"/>
              <a:ea typeface="微软雅黑" panose="020B0503020204020204" pitchFamily="34" charset="-122"/>
            </a:endParaRPr>
          </a:p>
          <a:p>
            <a:pPr marL="342900" indent="-342900">
              <a:lnSpc>
                <a:spcPct val="150000"/>
              </a:lnSpc>
              <a:buFont typeface="+mj-lt"/>
              <a:buAutoNum type="arabicPeriod"/>
            </a:pPr>
            <a:r>
              <a:rPr lang="zh-CN" dirty="0">
                <a:solidFill>
                  <a:schemeClr val="bg1"/>
                </a:solidFill>
                <a:latin typeface="微软雅黑" panose="020B0503020204020204" pitchFamily="34" charset="-122"/>
                <a:ea typeface="微软雅黑" panose="020B0503020204020204" pitchFamily="34" charset="-122"/>
              </a:rPr>
              <a:t>结束</a:t>
            </a:r>
            <a:endParaRPr lang="zh-CN"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250" fill="hold"/>
                                        <p:tgtEl>
                                          <p:spTgt spid="6"/>
                                        </p:tgtEl>
                                        <p:attrNameLst>
                                          <p:attrName>ppt_x</p:attrName>
                                        </p:attrNameLst>
                                      </p:cBhvr>
                                      <p:tavLst>
                                        <p:tav tm="0">
                                          <p:val>
                                            <p:strVal val="1+#ppt_w/2"/>
                                          </p:val>
                                        </p:tav>
                                        <p:tav tm="100000">
                                          <p:val>
                                            <p:strVal val="#ppt_x"/>
                                          </p:val>
                                        </p:tav>
                                      </p:tavLst>
                                    </p:anim>
                                    <p:anim calcmode="lin" valueType="num">
                                      <p:cBhvr additive="base">
                                        <p:cTn id="8" dur="25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事件循环机制</a:t>
            </a:r>
            <a:endParaRPr lang="zh-CN" altLang="en-US" dirty="0"/>
          </a:p>
        </p:txBody>
      </p:sp>
      <p:pic>
        <p:nvPicPr>
          <p:cNvPr id="5" name="内容占位符 4"/>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557439" y="1119790"/>
            <a:ext cx="6166584" cy="5165725"/>
          </a:xfrm>
        </p:spPr>
      </p:pic>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事件循环机制</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
        <p:nvSpPr>
          <p:cNvPr id="5" name="矩形 4"/>
          <p:cNvSpPr/>
          <p:nvPr/>
        </p:nvSpPr>
        <p:spPr>
          <a:xfrm>
            <a:off x="557439" y="1243320"/>
            <a:ext cx="4171315" cy="3969385"/>
          </a:xfrm>
          <a:prstGeom prst="rect">
            <a:avLst/>
          </a:prstGeom>
        </p:spPr>
        <p:txBody>
          <a:bodyPr wrap="square">
            <a:spAutoFit/>
          </a:bodyPr>
          <a:lstStyle/>
          <a:p>
            <a:r>
              <a:rPr lang="en-US" altLang="zh-CN" dirty="0">
                <a:solidFill>
                  <a:srgbClr val="E06C75"/>
                </a:solidFill>
                <a:latin typeface="Consolas" panose="020B0609020204030204" pitchFamily="49" charset="0"/>
                <a:sym typeface="+mn-ea"/>
              </a:rPr>
              <a:t>console</a:t>
            </a:r>
            <a:r>
              <a:rPr lang="en-US" altLang="zh-CN" dirty="0">
                <a:solidFill>
                  <a:srgbClr val="ABB2BF"/>
                </a:solidFill>
                <a:latin typeface="Consolas" panose="020B0609020204030204" pitchFamily="49" charset="0"/>
                <a:sym typeface="+mn-ea"/>
              </a:rPr>
              <a:t>.</a:t>
            </a:r>
            <a:r>
              <a:rPr lang="en-US" altLang="zh-CN" dirty="0">
                <a:solidFill>
                  <a:srgbClr val="61AFEF"/>
                </a:solidFill>
                <a:latin typeface="Consolas" panose="020B0609020204030204" pitchFamily="49" charset="0"/>
                <a:sym typeface="+mn-ea"/>
              </a:rPr>
              <a:t>log</a:t>
            </a:r>
            <a:r>
              <a:rPr lang="en-US" altLang="zh-CN" dirty="0">
                <a:solidFill>
                  <a:srgbClr val="ABB2BF"/>
                </a:solidFill>
                <a:latin typeface="Consolas" panose="020B0609020204030204" pitchFamily="49" charset="0"/>
                <a:sym typeface="+mn-ea"/>
              </a:rPr>
              <a:t>(</a:t>
            </a:r>
            <a:r>
              <a:rPr lang="en-US" altLang="zh-CN" dirty="0">
                <a:solidFill>
                  <a:srgbClr val="98C379"/>
                </a:solidFill>
                <a:latin typeface="Consolas" panose="020B0609020204030204" pitchFamily="49" charset="0"/>
                <a:sym typeface="+mn-ea"/>
              </a:rPr>
              <a:t>'script start'</a:t>
            </a:r>
            <a:r>
              <a:rPr lang="en-US" altLang="zh-CN" dirty="0">
                <a:solidFill>
                  <a:srgbClr val="ABB2BF"/>
                </a:solidFill>
                <a:latin typeface="Consolas" panose="020B0609020204030204" pitchFamily="49" charset="0"/>
                <a:sym typeface="+mn-ea"/>
              </a:rPr>
              <a:t>);</a:t>
            </a:r>
            <a:endParaRPr lang="en-US" altLang="zh-CN" b="0" dirty="0">
              <a:solidFill>
                <a:srgbClr val="ABB2BF"/>
              </a:solidFill>
              <a:effectLst/>
              <a:latin typeface="Consolas" panose="020B0609020204030204" pitchFamily="49" charset="0"/>
            </a:endParaRPr>
          </a:p>
          <a:p>
            <a:endParaRPr lang="en-US" altLang="zh-CN" dirty="0" err="1">
              <a:solidFill>
                <a:srgbClr val="61AFEF"/>
              </a:solidFill>
              <a:latin typeface="Consolas" panose="020B0609020204030204" pitchFamily="49" charset="0"/>
            </a:endParaRPr>
          </a:p>
          <a:p>
            <a:r>
              <a:rPr lang="en-US" altLang="zh-CN" dirty="0" err="1">
                <a:solidFill>
                  <a:srgbClr val="61AFEF"/>
                </a:solidFill>
                <a:latin typeface="Consolas" panose="020B0609020204030204" pitchFamily="49" charset="0"/>
              </a:rPr>
              <a:t>setTimeout</a:t>
            </a:r>
            <a:r>
              <a:rPr lang="en-US" altLang="zh-CN" dirty="0">
                <a:solidFill>
                  <a:srgbClr val="ABB2BF"/>
                </a:solidFill>
                <a:latin typeface="Consolas" panose="020B0609020204030204" pitchFamily="49" charset="0"/>
              </a:rPr>
              <a:t>(</a:t>
            </a:r>
            <a:r>
              <a:rPr lang="en-US" altLang="zh-CN" dirty="0">
                <a:solidFill>
                  <a:srgbClr val="C678DD"/>
                </a:solidFill>
                <a:latin typeface="Consolas" panose="020B0609020204030204" pitchFamily="49" charset="0"/>
              </a:rPr>
              <a:t>function</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console</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log</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a:t>
            </a:r>
            <a:r>
              <a:rPr lang="en-US" altLang="zh-CN" dirty="0" err="1">
                <a:solidFill>
                  <a:srgbClr val="98C379"/>
                </a:solidFill>
                <a:latin typeface="Consolas" panose="020B0609020204030204" pitchFamily="49" charset="0"/>
              </a:rPr>
              <a:t>setTimeout</a:t>
            </a:r>
            <a:r>
              <a:rPr lang="en-US" altLang="zh-CN" dirty="0">
                <a:solidFill>
                  <a:srgbClr val="98C379"/>
                </a:solidFill>
                <a:latin typeface="Consolas" panose="020B0609020204030204" pitchFamily="49" charset="0"/>
              </a:rPr>
              <a:t>'</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0</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br>
              <a:rPr lang="en-US" altLang="zh-CN" dirty="0">
                <a:solidFill>
                  <a:srgbClr val="ABB2BF"/>
                </a:solidFill>
                <a:latin typeface="Consolas" panose="020B0609020204030204" pitchFamily="49" charset="0"/>
              </a:rPr>
            </a:br>
            <a:r>
              <a:rPr lang="en-US" altLang="zh-CN" dirty="0">
                <a:solidFill>
                  <a:srgbClr val="C678DD"/>
                </a:solidFill>
                <a:latin typeface="Consolas" panose="020B0609020204030204" pitchFamily="49" charset="0"/>
              </a:rPr>
              <a:t>new</a:t>
            </a:r>
            <a:r>
              <a:rPr lang="en-US" altLang="zh-CN" dirty="0">
                <a:solidFill>
                  <a:srgbClr val="ABB2BF"/>
                </a:solidFill>
                <a:latin typeface="Consolas" panose="020B0609020204030204" pitchFamily="49" charset="0"/>
              </a:rPr>
              <a:t> </a:t>
            </a:r>
            <a:r>
              <a:rPr lang="en-US" altLang="zh-CN" dirty="0">
                <a:solidFill>
                  <a:srgbClr val="E5C07B"/>
                </a:solidFill>
                <a:latin typeface="Consolas" panose="020B0609020204030204" pitchFamily="49" charset="0"/>
              </a:rPr>
              <a:t>Promise</a:t>
            </a:r>
            <a:r>
              <a:rPr lang="en-US" altLang="zh-CN" dirty="0">
                <a:solidFill>
                  <a:srgbClr val="ABB2BF"/>
                </a:solidFill>
                <a:latin typeface="Consolas" panose="020B0609020204030204" pitchFamily="49" charset="0"/>
              </a:rPr>
              <a:t>(</a:t>
            </a:r>
            <a:r>
              <a:rPr lang="en-US" altLang="zh-CN" dirty="0">
                <a:solidFill>
                  <a:srgbClr val="C678DD"/>
                </a:solidFill>
                <a:latin typeface="Consolas" panose="020B0609020204030204" pitchFamily="49" charset="0"/>
              </a:rPr>
              <a:t>function</a:t>
            </a:r>
            <a:r>
              <a:rPr lang="en-US" altLang="zh-CN" dirty="0">
                <a:solidFill>
                  <a:srgbClr val="ABB2BF"/>
                </a:solidFill>
                <a:latin typeface="Consolas" panose="020B0609020204030204" pitchFamily="49" charset="0"/>
              </a:rPr>
              <a:t> (</a:t>
            </a:r>
            <a:r>
              <a:rPr lang="en-US" altLang="zh-CN" i="1" dirty="0">
                <a:solidFill>
                  <a:srgbClr val="E06C75"/>
                </a:solidFill>
                <a:latin typeface="Consolas" panose="020B0609020204030204" pitchFamily="49" charset="0"/>
              </a:rPr>
              <a:t>resolve</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console</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log</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'promise'</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i="1" dirty="0">
                <a:solidFill>
                  <a:srgbClr val="E06C75"/>
                </a:solidFill>
                <a:latin typeface="Consolas" panose="020B0609020204030204" pitchFamily="49" charset="0"/>
              </a:rPr>
              <a:t>resolve</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then</a:t>
            </a:r>
            <a:r>
              <a:rPr lang="en-US" altLang="zh-CN" dirty="0">
                <a:solidFill>
                  <a:srgbClr val="ABB2BF"/>
                </a:solidFill>
                <a:latin typeface="Consolas" panose="020B0609020204030204" pitchFamily="49" charset="0"/>
              </a:rPr>
              <a:t>(</a:t>
            </a:r>
            <a:r>
              <a:rPr lang="en-US" altLang="zh-CN" dirty="0">
                <a:solidFill>
                  <a:srgbClr val="C678DD"/>
                </a:solidFill>
                <a:latin typeface="Consolas" panose="020B0609020204030204" pitchFamily="49" charset="0"/>
              </a:rPr>
              <a:t>function</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console</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log</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'then'</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br>
              <a:rPr lang="en-US" altLang="zh-CN" dirty="0">
                <a:solidFill>
                  <a:srgbClr val="ABB2BF"/>
                </a:solidFill>
                <a:latin typeface="Consolas" panose="020B0609020204030204" pitchFamily="49" charset="0"/>
              </a:rPr>
            </a:br>
            <a:r>
              <a:rPr lang="en-US" altLang="zh-CN" dirty="0">
                <a:solidFill>
                  <a:srgbClr val="E06C75"/>
                </a:solidFill>
                <a:latin typeface="Consolas" panose="020B0609020204030204" pitchFamily="49" charset="0"/>
              </a:rPr>
              <a:t>console</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log</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a:t>
            </a:r>
            <a:r>
              <a:rPr lang="en-US" altLang="zh-CN" dirty="0">
                <a:solidFill>
                  <a:srgbClr val="98C379"/>
                </a:solidFill>
                <a:latin typeface="Consolas" panose="020B0609020204030204" pitchFamily="49" charset="0"/>
                <a:sym typeface="+mn-ea"/>
              </a:rPr>
              <a:t>script end</a:t>
            </a:r>
            <a:r>
              <a:rPr lang="en-US" altLang="zh-CN" dirty="0">
                <a:solidFill>
                  <a:srgbClr val="98C379"/>
                </a:solidFill>
                <a:latin typeface="Consolas" panose="020B0609020204030204" pitchFamily="49" charset="0"/>
              </a:rPr>
              <a:t>'</a:t>
            </a:r>
            <a:r>
              <a:rPr lang="en-US" altLang="zh-CN" dirty="0">
                <a:solidFill>
                  <a:srgbClr val="ABB2BF"/>
                </a:solidFill>
                <a:latin typeface="Consolas" panose="020B0609020204030204" pitchFamily="49" charset="0"/>
              </a:rPr>
              <a:t>);</a:t>
            </a:r>
            <a:endParaRPr lang="en-US" altLang="zh-CN" b="0" dirty="0">
              <a:solidFill>
                <a:srgbClr val="ABB2BF"/>
              </a:solidFill>
              <a:effectLst/>
              <a:latin typeface="Consolas" panose="020B0609020204030204" pitchFamily="49" charset="0"/>
            </a:endParaRPr>
          </a:p>
        </p:txBody>
      </p:sp>
      <p:sp>
        <p:nvSpPr>
          <p:cNvPr id="7" name="矩形 6"/>
          <p:cNvSpPr/>
          <p:nvPr/>
        </p:nvSpPr>
        <p:spPr>
          <a:xfrm>
            <a:off x="4834164" y="1243493"/>
            <a:ext cx="7193280" cy="4246245"/>
          </a:xfrm>
          <a:prstGeom prst="rect">
            <a:avLst/>
          </a:prstGeom>
        </p:spPr>
        <p:txBody>
          <a:bodyPr wrap="square">
            <a:spAutoFit/>
          </a:bodyPr>
          <a:lstStyle/>
          <a:p>
            <a:pPr marL="342900" indent="-342900">
              <a:lnSpc>
                <a:spcPct val="150000"/>
              </a:lnSpc>
              <a:buFont typeface="+mj-lt"/>
              <a:buAutoNum type="arabicPeriod"/>
            </a:pPr>
            <a:r>
              <a:rPr lang="zh-CN" altLang="en-US" dirty="0">
                <a:solidFill>
                  <a:schemeClr val="bg1"/>
                </a:solidFill>
                <a:latin typeface="微软雅黑" panose="020B0503020204020204" pitchFamily="34" charset="-122"/>
                <a:ea typeface="微软雅黑" panose="020B0503020204020204" pitchFamily="34" charset="-122"/>
              </a:rPr>
              <a:t>开始</a:t>
            </a:r>
            <a:endParaRPr lang="zh-CN" altLang="en-US" dirty="0" smtClean="0">
              <a:solidFill>
                <a:schemeClr val="bg1"/>
              </a:solidFill>
              <a:latin typeface="微软雅黑" panose="020B0503020204020204" pitchFamily="34" charset="-122"/>
              <a:ea typeface="微软雅黑" panose="020B0503020204020204" pitchFamily="34" charset="-122"/>
            </a:endParaRPr>
          </a:p>
          <a:p>
            <a:pPr marL="342900" indent="-342900">
              <a:lnSpc>
                <a:spcPct val="150000"/>
              </a:lnSpc>
              <a:buFont typeface="+mj-lt"/>
              <a:buAutoNum type="arabicPeriod"/>
            </a:pPr>
            <a:r>
              <a:rPr lang="zh-CN" altLang="en-US" dirty="0">
                <a:solidFill>
                  <a:schemeClr val="bg1"/>
                </a:solidFill>
                <a:latin typeface="微软雅黑" panose="020B0503020204020204" pitchFamily="34" charset="-122"/>
                <a:ea typeface="微软雅黑" panose="020B0503020204020204" pitchFamily="34" charset="-122"/>
              </a:rPr>
              <a:t>遇到</a:t>
            </a:r>
            <a:r>
              <a:rPr lang="en-US" altLang="zh-CN" dirty="0">
                <a:solidFill>
                  <a:schemeClr val="bg1"/>
                </a:solidFill>
                <a:latin typeface="微软雅黑" panose="020B0503020204020204" pitchFamily="34" charset="-122"/>
                <a:ea typeface="微软雅黑" panose="020B0503020204020204" pitchFamily="34" charset="-122"/>
              </a:rPr>
              <a:t> console</a:t>
            </a:r>
            <a:r>
              <a:rPr lang="zh-CN" altLang="en-US" dirty="0">
                <a:solidFill>
                  <a:schemeClr val="bg1"/>
                </a:solidFill>
                <a:latin typeface="微软雅黑" panose="020B0503020204020204" pitchFamily="34" charset="-122"/>
                <a:ea typeface="微软雅黑" panose="020B0503020204020204" pitchFamily="34" charset="-122"/>
              </a:rPr>
              <a:t>，输出</a:t>
            </a:r>
            <a:r>
              <a:rPr lang="en-US" altLang="zh-CN" dirty="0">
                <a:solidFill>
                  <a:schemeClr val="bg1"/>
                </a:solidFill>
                <a:latin typeface="微软雅黑" panose="020B0503020204020204" pitchFamily="34" charset="-122"/>
                <a:ea typeface="微软雅黑" panose="020B0503020204020204" pitchFamily="34" charset="-122"/>
              </a:rPr>
              <a:t> script start</a:t>
            </a:r>
            <a:endParaRPr lang="zh-CN" altLang="en-US" dirty="0">
              <a:solidFill>
                <a:schemeClr val="bg1"/>
              </a:solidFill>
              <a:latin typeface="微软雅黑" panose="020B0503020204020204" pitchFamily="34" charset="-122"/>
              <a:ea typeface="微软雅黑" panose="020B0503020204020204" pitchFamily="34" charset="-122"/>
            </a:endParaRPr>
          </a:p>
          <a:p>
            <a:pPr marL="342900" indent="-342900">
              <a:lnSpc>
                <a:spcPct val="150000"/>
              </a:lnSpc>
              <a:buFont typeface="+mj-lt"/>
              <a:buAutoNum type="arabicPeriod"/>
            </a:pPr>
            <a:r>
              <a:rPr lang="zh-CN" altLang="en-US" dirty="0" smtClean="0">
                <a:solidFill>
                  <a:schemeClr val="bg1"/>
                </a:solidFill>
                <a:latin typeface="微软雅黑" panose="020B0503020204020204" pitchFamily="34" charset="-122"/>
                <a:ea typeface="微软雅黑" panose="020B0503020204020204" pitchFamily="34" charset="-122"/>
              </a:rPr>
              <a:t>遇到 </a:t>
            </a:r>
            <a:r>
              <a:rPr lang="en-US" altLang="zh-CN" dirty="0" err="1" smtClean="0">
                <a:solidFill>
                  <a:schemeClr val="bg1"/>
                </a:solidFill>
                <a:latin typeface="微软雅黑" panose="020B0503020204020204" pitchFamily="34" charset="-122"/>
                <a:ea typeface="微软雅黑" panose="020B0503020204020204" pitchFamily="34" charset="-122"/>
              </a:rPr>
              <a:t>setTimeout</a:t>
            </a:r>
            <a:r>
              <a:rPr lang="zh-CN" altLang="en-US" dirty="0" smtClean="0">
                <a:solidFill>
                  <a:schemeClr val="bg1"/>
                </a:solidFill>
                <a:latin typeface="微软雅黑" panose="020B0503020204020204" pitchFamily="34" charset="-122"/>
                <a:ea typeface="微软雅黑" panose="020B0503020204020204" pitchFamily="34" charset="-122"/>
              </a:rPr>
              <a:t>，推入</a:t>
            </a:r>
            <a:r>
              <a:rPr lang="zh-CN" altLang="en-US" dirty="0">
                <a:solidFill>
                  <a:schemeClr val="bg1"/>
                </a:solidFill>
                <a:latin typeface="微软雅黑" panose="020B0503020204020204" pitchFamily="34" charset="-122"/>
                <a:ea typeface="微软雅黑" panose="020B0503020204020204" pitchFamily="34" charset="-122"/>
              </a:rPr>
              <a:t>宏任务</a:t>
            </a:r>
            <a:r>
              <a:rPr lang="zh-CN" altLang="en-US" dirty="0">
                <a:solidFill>
                  <a:schemeClr val="bg1"/>
                </a:solidFill>
                <a:latin typeface="微软雅黑" panose="020B0503020204020204" pitchFamily="34" charset="-122"/>
                <a:ea typeface="微软雅黑" panose="020B0503020204020204" pitchFamily="34" charset="-122"/>
                <a:sym typeface="+mn-ea"/>
              </a:rPr>
              <a:t>事件队列</a:t>
            </a:r>
            <a:endParaRPr lang="en-US" altLang="zh-CN" dirty="0" smtClean="0">
              <a:solidFill>
                <a:schemeClr val="bg1"/>
              </a:solidFill>
              <a:latin typeface="微软雅黑" panose="020B0503020204020204" pitchFamily="34" charset="-122"/>
              <a:ea typeface="微软雅黑" panose="020B0503020204020204" pitchFamily="34" charset="-122"/>
            </a:endParaRPr>
          </a:p>
          <a:p>
            <a:pPr marL="342900" indent="-342900">
              <a:lnSpc>
                <a:spcPct val="150000"/>
              </a:lnSpc>
              <a:buFont typeface="+mj-lt"/>
              <a:buAutoNum type="arabicPeriod"/>
            </a:pPr>
            <a:r>
              <a:rPr lang="zh-CN" altLang="en-US" dirty="0" smtClean="0">
                <a:solidFill>
                  <a:schemeClr val="bg1"/>
                </a:solidFill>
                <a:latin typeface="微软雅黑" panose="020B0503020204020204" pitchFamily="34" charset="-122"/>
                <a:ea typeface="微软雅黑" panose="020B0503020204020204" pitchFamily="34" charset="-122"/>
              </a:rPr>
              <a:t>遇到</a:t>
            </a:r>
            <a:r>
              <a:rPr lang="en-US" altLang="zh-CN" dirty="0" smtClean="0">
                <a:solidFill>
                  <a:schemeClr val="bg1"/>
                </a:solidFill>
                <a:latin typeface="微软雅黑" panose="020B0503020204020204" pitchFamily="34" charset="-122"/>
                <a:ea typeface="微软雅黑" panose="020B0503020204020204" pitchFamily="34" charset="-122"/>
              </a:rPr>
              <a:t> Promise</a:t>
            </a:r>
            <a:r>
              <a:rPr lang="zh-CN" altLang="en-US" dirty="0">
                <a:solidFill>
                  <a:schemeClr val="bg1"/>
                </a:solidFill>
                <a:latin typeface="微软雅黑" panose="020B0503020204020204" pitchFamily="34" charset="-122"/>
                <a:ea typeface="微软雅黑" panose="020B0503020204020204" pitchFamily="34" charset="-122"/>
              </a:rPr>
              <a:t>，</a:t>
            </a:r>
            <a:r>
              <a:rPr lang="en-US" altLang="zh-CN" dirty="0">
                <a:solidFill>
                  <a:schemeClr val="bg1"/>
                </a:solidFill>
                <a:latin typeface="微软雅黑" panose="020B0503020204020204" pitchFamily="34" charset="-122"/>
                <a:ea typeface="微软雅黑" panose="020B0503020204020204" pitchFamily="34" charset="-122"/>
              </a:rPr>
              <a:t>new Promise </a:t>
            </a:r>
            <a:r>
              <a:rPr lang="zh-CN" altLang="en-US" dirty="0">
                <a:solidFill>
                  <a:schemeClr val="bg1"/>
                </a:solidFill>
                <a:latin typeface="微软雅黑" panose="020B0503020204020204" pitchFamily="34" charset="-122"/>
                <a:ea typeface="微软雅黑" panose="020B0503020204020204" pitchFamily="34" charset="-122"/>
              </a:rPr>
              <a:t>立即执行，输出</a:t>
            </a:r>
            <a:r>
              <a:rPr lang="en-US" altLang="zh-CN" dirty="0">
                <a:solidFill>
                  <a:schemeClr val="bg1"/>
                </a:solidFill>
                <a:latin typeface="微软雅黑" panose="020B0503020204020204" pitchFamily="34" charset="-122"/>
                <a:ea typeface="微软雅黑" panose="020B0503020204020204" pitchFamily="34" charset="-122"/>
              </a:rPr>
              <a:t> promise</a:t>
            </a:r>
            <a:endParaRPr lang="zh-CN" altLang="en-US" dirty="0">
              <a:solidFill>
                <a:schemeClr val="bg1"/>
              </a:solidFill>
              <a:latin typeface="微软雅黑" panose="020B0503020204020204" pitchFamily="34" charset="-122"/>
              <a:ea typeface="微软雅黑" panose="020B0503020204020204" pitchFamily="34" charset="-122"/>
              <a:sym typeface="+mn-ea"/>
            </a:endParaRPr>
          </a:p>
          <a:p>
            <a:pPr marL="342900" indent="-342900">
              <a:lnSpc>
                <a:spcPct val="150000"/>
              </a:lnSpc>
              <a:buFont typeface="+mj-lt"/>
              <a:buAutoNum type="arabicPeriod"/>
            </a:pPr>
            <a:r>
              <a:rPr lang="zh-CN" altLang="en-US" dirty="0">
                <a:solidFill>
                  <a:schemeClr val="bg1"/>
                </a:solidFill>
                <a:latin typeface="微软雅黑" panose="020B0503020204020204" pitchFamily="34" charset="-122"/>
                <a:ea typeface="微软雅黑" panose="020B0503020204020204" pitchFamily="34" charset="-122"/>
              </a:rPr>
              <a:t>其</a:t>
            </a:r>
            <a:r>
              <a:rPr lang="en-US" altLang="zh-CN" dirty="0">
                <a:solidFill>
                  <a:schemeClr val="bg1"/>
                </a:solidFill>
                <a:latin typeface="微软雅黑" panose="020B0503020204020204" pitchFamily="34" charset="-122"/>
                <a:ea typeface="微软雅黑" panose="020B0503020204020204" pitchFamily="34" charset="-122"/>
              </a:rPr>
              <a:t> then </a:t>
            </a:r>
            <a:r>
              <a:rPr lang="zh-CN" altLang="en-US" dirty="0">
                <a:solidFill>
                  <a:schemeClr val="bg1"/>
                </a:solidFill>
                <a:latin typeface="微软雅黑" panose="020B0503020204020204" pitchFamily="34" charset="-122"/>
                <a:ea typeface="微软雅黑" panose="020B0503020204020204" pitchFamily="34" charset="-122"/>
              </a:rPr>
              <a:t>函数</a:t>
            </a:r>
            <a:r>
              <a:rPr lang="zh-CN" altLang="en-US" dirty="0">
                <a:solidFill>
                  <a:schemeClr val="bg1"/>
                </a:solidFill>
                <a:latin typeface="微软雅黑" panose="020B0503020204020204" pitchFamily="34" charset="-122"/>
                <a:ea typeface="微软雅黑" panose="020B0503020204020204" pitchFamily="34" charset="-122"/>
              </a:rPr>
              <a:t>推入微任务事件队列</a:t>
            </a:r>
            <a:endParaRPr lang="zh-CN" altLang="en-US" dirty="0">
              <a:solidFill>
                <a:schemeClr val="bg1"/>
              </a:solidFill>
              <a:latin typeface="微软雅黑" panose="020B0503020204020204" pitchFamily="34" charset="-122"/>
              <a:ea typeface="微软雅黑" panose="020B0503020204020204" pitchFamily="34" charset="-122"/>
            </a:endParaRPr>
          </a:p>
          <a:p>
            <a:pPr marL="342900" indent="-342900">
              <a:lnSpc>
                <a:spcPct val="150000"/>
              </a:lnSpc>
              <a:buFont typeface="+mj-lt"/>
              <a:buAutoNum type="arabicPeriod"/>
            </a:pPr>
            <a:r>
              <a:rPr lang="zh-CN" altLang="en-US" dirty="0">
                <a:solidFill>
                  <a:schemeClr val="bg1"/>
                </a:solidFill>
                <a:latin typeface="微软雅黑" panose="020B0503020204020204" pitchFamily="34" charset="-122"/>
                <a:ea typeface="微软雅黑" panose="020B0503020204020204" pitchFamily="34" charset="-122"/>
              </a:rPr>
              <a:t>遇到</a:t>
            </a:r>
            <a:r>
              <a:rPr lang="en-US" altLang="zh-CN" dirty="0">
                <a:solidFill>
                  <a:schemeClr val="bg1"/>
                </a:solidFill>
                <a:latin typeface="微软雅黑" panose="020B0503020204020204" pitchFamily="34" charset="-122"/>
                <a:ea typeface="微软雅黑" panose="020B0503020204020204" pitchFamily="34" charset="-122"/>
              </a:rPr>
              <a:t> console.log</a:t>
            </a:r>
            <a:r>
              <a:rPr lang="zh-CN" altLang="en-US" dirty="0">
                <a:solidFill>
                  <a:schemeClr val="bg1"/>
                </a:solidFill>
                <a:latin typeface="微软雅黑" panose="020B0503020204020204" pitchFamily="34" charset="-122"/>
                <a:ea typeface="微软雅黑" panose="020B0503020204020204" pitchFamily="34" charset="-122"/>
              </a:rPr>
              <a:t>，输出</a:t>
            </a:r>
            <a:r>
              <a:rPr lang="en-US" altLang="zh-CN" dirty="0">
                <a:solidFill>
                  <a:schemeClr val="bg1"/>
                </a:solidFill>
                <a:latin typeface="微软雅黑" panose="020B0503020204020204" pitchFamily="34" charset="-122"/>
                <a:ea typeface="微软雅黑" panose="020B0503020204020204" pitchFamily="34" charset="-122"/>
              </a:rPr>
              <a:t> script end</a:t>
            </a:r>
            <a:endParaRPr lang="zh-CN" altLang="en-US" dirty="0">
              <a:solidFill>
                <a:schemeClr val="bg1"/>
              </a:solidFill>
              <a:latin typeface="微软雅黑" panose="020B0503020204020204" pitchFamily="34" charset="-122"/>
              <a:ea typeface="微软雅黑" panose="020B0503020204020204" pitchFamily="34" charset="-122"/>
            </a:endParaRPr>
          </a:p>
          <a:p>
            <a:pPr marL="342900" indent="-342900">
              <a:lnSpc>
                <a:spcPct val="150000"/>
              </a:lnSpc>
              <a:buFont typeface="+mj-lt"/>
              <a:buAutoNum type="arabicPeriod"/>
            </a:pPr>
            <a:r>
              <a:rPr lang="zh-CN" altLang="en-US" dirty="0">
                <a:solidFill>
                  <a:schemeClr val="bg1"/>
                </a:solidFill>
                <a:latin typeface="微软雅黑" panose="020B0503020204020204" pitchFamily="34" charset="-122"/>
                <a:ea typeface="微软雅黑" panose="020B0503020204020204" pitchFamily="34" charset="-122"/>
                <a:sym typeface="+mn-ea"/>
              </a:rPr>
              <a:t>主线程第一次完成</a:t>
            </a:r>
            <a:endParaRPr lang="zh-CN" altLang="en-US" dirty="0" smtClean="0">
              <a:solidFill>
                <a:schemeClr val="bg1"/>
              </a:solidFill>
              <a:latin typeface="微软雅黑" panose="020B0503020204020204" pitchFamily="34" charset="-122"/>
              <a:ea typeface="微软雅黑" panose="020B0503020204020204" pitchFamily="34" charset="-122"/>
            </a:endParaRPr>
          </a:p>
          <a:p>
            <a:pPr marL="342900" indent="-342900">
              <a:lnSpc>
                <a:spcPct val="150000"/>
              </a:lnSpc>
              <a:buFont typeface="+mj-lt"/>
              <a:buAutoNum type="arabicPeriod"/>
            </a:pPr>
            <a:r>
              <a:rPr lang="zh-CN" altLang="en-US" dirty="0" smtClean="0">
                <a:solidFill>
                  <a:schemeClr val="bg1"/>
                </a:solidFill>
                <a:latin typeface="微软雅黑" panose="020B0503020204020204" pitchFamily="34" charset="-122"/>
                <a:ea typeface="微软雅黑" panose="020B0503020204020204" pitchFamily="34" charset="-122"/>
              </a:rPr>
              <a:t>查询</a:t>
            </a:r>
            <a:r>
              <a:rPr lang="zh-CN" altLang="en-US" dirty="0">
                <a:solidFill>
                  <a:schemeClr val="bg1"/>
                </a:solidFill>
                <a:latin typeface="微软雅黑" panose="020B0503020204020204" pitchFamily="34" charset="-122"/>
                <a:ea typeface="微软雅黑" panose="020B0503020204020204" pitchFamily="34" charset="-122"/>
              </a:rPr>
              <a:t>微</a:t>
            </a:r>
            <a:r>
              <a:rPr lang="zh-CN" altLang="en-US" dirty="0" smtClean="0">
                <a:solidFill>
                  <a:schemeClr val="bg1"/>
                </a:solidFill>
                <a:latin typeface="微软雅黑" panose="020B0503020204020204" pitchFamily="34" charset="-122"/>
                <a:ea typeface="微软雅黑" panose="020B0503020204020204" pitchFamily="34" charset="-122"/>
              </a:rPr>
              <a:t>任务，执行</a:t>
            </a:r>
            <a:r>
              <a:rPr lang="en-US" altLang="zh-CN" dirty="0" smtClean="0">
                <a:solidFill>
                  <a:schemeClr val="bg1"/>
                </a:solidFill>
                <a:latin typeface="微软雅黑" panose="020B0503020204020204" pitchFamily="34" charset="-122"/>
                <a:ea typeface="微软雅黑" panose="020B0503020204020204" pitchFamily="34" charset="-122"/>
              </a:rPr>
              <a:t> then</a:t>
            </a:r>
            <a:r>
              <a:rPr lang="zh-CN" altLang="en-US" dirty="0" smtClean="0">
                <a:solidFill>
                  <a:schemeClr val="bg1"/>
                </a:solidFill>
                <a:latin typeface="微软雅黑" panose="020B0503020204020204" pitchFamily="34" charset="-122"/>
                <a:ea typeface="微软雅黑" panose="020B0503020204020204" pitchFamily="34" charset="-122"/>
              </a:rPr>
              <a:t>，</a:t>
            </a:r>
            <a:r>
              <a:rPr lang="zh-CN" altLang="en-US" dirty="0">
                <a:solidFill>
                  <a:schemeClr val="bg1"/>
                </a:solidFill>
                <a:latin typeface="微软雅黑" panose="020B0503020204020204" pitchFamily="34" charset="-122"/>
                <a:ea typeface="微软雅黑" panose="020B0503020204020204" pitchFamily="34" charset="-122"/>
                <a:sym typeface="+mn-ea"/>
              </a:rPr>
              <a:t>输出</a:t>
            </a:r>
            <a:r>
              <a:rPr lang="en-US" altLang="zh-CN" dirty="0">
                <a:solidFill>
                  <a:schemeClr val="bg1"/>
                </a:solidFill>
                <a:latin typeface="微软雅黑" panose="020B0503020204020204" pitchFamily="34" charset="-122"/>
                <a:ea typeface="微软雅黑" panose="020B0503020204020204" pitchFamily="34" charset="-122"/>
                <a:sym typeface="+mn-ea"/>
              </a:rPr>
              <a:t> then</a:t>
            </a:r>
            <a:r>
              <a:rPr lang="zh-CN" altLang="en-US" i="1" dirty="0">
                <a:solidFill>
                  <a:schemeClr val="bg1"/>
                </a:solidFill>
                <a:latin typeface="微软雅黑" panose="020B0503020204020204" pitchFamily="34" charset="-122"/>
                <a:ea typeface="微软雅黑" panose="020B0503020204020204" pitchFamily="34" charset="-122"/>
                <a:sym typeface="+mn-ea"/>
              </a:rPr>
              <a:t>（</a:t>
            </a:r>
            <a:r>
              <a:rPr lang="zh-CN" altLang="en-US" i="1" dirty="0">
                <a:solidFill>
                  <a:schemeClr val="bg1"/>
                </a:solidFill>
                <a:latin typeface="微软雅黑" panose="020B0503020204020204" pitchFamily="34" charset="-122"/>
                <a:ea typeface="微软雅黑" panose="020B0503020204020204" pitchFamily="34" charset="-122"/>
                <a:sym typeface="+mn-ea"/>
              </a:rPr>
              <a:t>全部执行）</a:t>
            </a:r>
            <a:endParaRPr lang="zh-CN" altLang="en-US" dirty="0" smtClean="0">
              <a:solidFill>
                <a:schemeClr val="bg1"/>
              </a:solidFill>
              <a:latin typeface="微软雅黑" panose="020B0503020204020204" pitchFamily="34" charset="-122"/>
              <a:ea typeface="微软雅黑" panose="020B0503020204020204" pitchFamily="34" charset="-122"/>
            </a:endParaRPr>
          </a:p>
          <a:p>
            <a:pPr marL="342900" indent="-342900">
              <a:lnSpc>
                <a:spcPct val="150000"/>
              </a:lnSpc>
              <a:buFont typeface="+mj-lt"/>
              <a:buAutoNum type="arabicPeriod"/>
            </a:pPr>
            <a:r>
              <a:rPr lang="zh-CN" altLang="en-US" dirty="0" smtClean="0">
                <a:solidFill>
                  <a:schemeClr val="bg1"/>
                </a:solidFill>
                <a:latin typeface="微软雅黑" panose="020B0503020204020204" pitchFamily="34" charset="-122"/>
                <a:ea typeface="微软雅黑" panose="020B0503020204020204" pitchFamily="34" charset="-122"/>
                <a:sym typeface="+mn-ea"/>
              </a:rPr>
              <a:t>查询宏任务，执行</a:t>
            </a:r>
            <a:r>
              <a:rPr lang="en-US" altLang="zh-CN" dirty="0" smtClean="0">
                <a:solidFill>
                  <a:schemeClr val="bg1"/>
                </a:solidFill>
                <a:latin typeface="微软雅黑" panose="020B0503020204020204" pitchFamily="34" charset="-122"/>
                <a:ea typeface="微软雅黑" panose="020B0503020204020204" pitchFamily="34" charset="-122"/>
                <a:sym typeface="+mn-ea"/>
              </a:rPr>
              <a:t> </a:t>
            </a:r>
            <a:r>
              <a:rPr lang="en-US" altLang="zh-CN" dirty="0" err="1" smtClean="0">
                <a:solidFill>
                  <a:schemeClr val="bg1"/>
                </a:solidFill>
                <a:latin typeface="微软雅黑" panose="020B0503020204020204" pitchFamily="34" charset="-122"/>
                <a:ea typeface="微软雅黑" panose="020B0503020204020204" pitchFamily="34" charset="-122"/>
                <a:sym typeface="+mn-ea"/>
              </a:rPr>
              <a:t>setTimeout</a:t>
            </a:r>
            <a:r>
              <a:rPr lang="zh-CN" altLang="en-US" dirty="0" smtClean="0">
                <a:solidFill>
                  <a:schemeClr val="bg1"/>
                </a:solidFill>
                <a:latin typeface="微软雅黑" panose="020B0503020204020204" pitchFamily="34" charset="-122"/>
                <a:ea typeface="微软雅黑" panose="020B0503020204020204" pitchFamily="34" charset="-122"/>
                <a:sym typeface="+mn-ea"/>
              </a:rPr>
              <a:t>，</a:t>
            </a:r>
            <a:r>
              <a:rPr lang="zh-CN" altLang="en-US" dirty="0">
                <a:solidFill>
                  <a:schemeClr val="bg1"/>
                </a:solidFill>
                <a:latin typeface="微软雅黑" panose="020B0503020204020204" pitchFamily="34" charset="-122"/>
                <a:ea typeface="微软雅黑" panose="020B0503020204020204" pitchFamily="34" charset="-122"/>
                <a:sym typeface="+mn-ea"/>
              </a:rPr>
              <a:t>输出</a:t>
            </a:r>
            <a:r>
              <a:rPr lang="en-US" altLang="zh-CN" dirty="0">
                <a:solidFill>
                  <a:schemeClr val="bg1"/>
                </a:solidFill>
                <a:latin typeface="微软雅黑" panose="020B0503020204020204" pitchFamily="34" charset="-122"/>
                <a:ea typeface="微软雅黑" panose="020B0503020204020204" pitchFamily="34" charset="-122"/>
                <a:sym typeface="+mn-ea"/>
              </a:rPr>
              <a:t> </a:t>
            </a:r>
            <a:r>
              <a:rPr lang="en-US" altLang="zh-CN" dirty="0" err="1" smtClean="0">
                <a:solidFill>
                  <a:schemeClr val="bg1"/>
                </a:solidFill>
                <a:latin typeface="微软雅黑" panose="020B0503020204020204" pitchFamily="34" charset="-122"/>
                <a:ea typeface="微软雅黑" panose="020B0503020204020204" pitchFamily="34" charset="-122"/>
                <a:sym typeface="+mn-ea"/>
              </a:rPr>
              <a:t>setTimeout</a:t>
            </a:r>
            <a:endParaRPr lang="zh-CN" altLang="en-US" dirty="0">
              <a:solidFill>
                <a:schemeClr val="bg1"/>
              </a:solidFill>
              <a:latin typeface="微软雅黑" panose="020B0503020204020204" pitchFamily="34" charset="-122"/>
              <a:ea typeface="微软雅黑" panose="020B0503020204020204" pitchFamily="34" charset="-122"/>
              <a:sym typeface="+mn-ea"/>
            </a:endParaRPr>
          </a:p>
          <a:p>
            <a:pPr marL="342900" indent="-342900">
              <a:lnSpc>
                <a:spcPct val="150000"/>
              </a:lnSpc>
              <a:buFont typeface="+mj-lt"/>
              <a:buAutoNum type="arabicPeriod"/>
            </a:pPr>
            <a:r>
              <a:rPr lang="zh-CN" altLang="en-US" dirty="0" smtClean="0">
                <a:solidFill>
                  <a:schemeClr val="bg1"/>
                </a:solidFill>
                <a:latin typeface="微软雅黑" panose="020B0503020204020204" pitchFamily="34" charset="-122"/>
                <a:ea typeface="微软雅黑" panose="020B0503020204020204" pitchFamily="34" charset="-122"/>
              </a:rPr>
              <a:t>结束</a:t>
            </a:r>
            <a:endParaRPr lang="zh-CN" altLang="en-US"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250" fill="hold"/>
                                        <p:tgtEl>
                                          <p:spTgt spid="7"/>
                                        </p:tgtEl>
                                        <p:attrNameLst>
                                          <p:attrName>ppt_x</p:attrName>
                                        </p:attrNameLst>
                                      </p:cBhvr>
                                      <p:tavLst>
                                        <p:tav tm="0">
                                          <p:val>
                                            <p:strVal val="1+#ppt_w/2"/>
                                          </p:val>
                                        </p:tav>
                                        <p:tav tm="100000">
                                          <p:val>
                                            <p:strVal val="#ppt_x"/>
                                          </p:val>
                                        </p:tav>
                                      </p:tavLst>
                                    </p:anim>
                                    <p:anim calcmode="lin" valueType="num">
                                      <p:cBhvr additive="base">
                                        <p:cTn id="8" dur="25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zh-CN" altLang="en-US" dirty="0">
                <a:sym typeface="+mn-ea"/>
              </a:rPr>
              <a:t>事件循环机制</a:t>
            </a:r>
            <a:endParaRPr lang="zh-CN" altLang="en-US"/>
          </a:p>
        </p:txBody>
      </p:sp>
      <p:sp>
        <p:nvSpPr>
          <p:cNvPr id="4" name="内容占位符 3"/>
          <p:cNvSpPr>
            <a:spLocks noGrp="1"/>
          </p:cNvSpPr>
          <p:nvPr>
            <p:ph idx="1"/>
          </p:nvPr>
        </p:nvSpPr>
        <p:spPr/>
        <p:txBody>
          <a:bodyPr/>
          <a:p>
            <a:r>
              <a:rPr lang="zh-CN" altLang="en-US"/>
              <a:t>为什么需要</a:t>
            </a:r>
            <a:r>
              <a:rPr lang="en-US" altLang="zh-CN"/>
              <a:t>(</a:t>
            </a:r>
            <a:r>
              <a:rPr lang="zh-CN" altLang="en-US"/>
              <a:t>要有</a:t>
            </a:r>
            <a:r>
              <a:rPr lang="en-US" altLang="zh-CN"/>
              <a:t>)</a:t>
            </a:r>
            <a:r>
              <a:rPr lang="zh-CN" altLang="en-US"/>
              <a:t>微任务？</a:t>
            </a:r>
            <a:endParaRPr lang="zh-CN" altLang="en-US"/>
          </a:p>
        </p:txBody>
      </p:sp>
      <p:sp>
        <p:nvSpPr>
          <p:cNvPr id="2" name="灯片编号占位符 1"/>
          <p:cNvSpPr>
            <a:spLocks noGrp="1"/>
          </p:cNvSpPr>
          <p:nvPr>
            <p:ph type="sldNum" sz="quarter" idx="12"/>
          </p:nvPr>
        </p:nvSpPr>
        <p:spPr/>
        <p:txBody>
          <a:bodyPr/>
          <a:p>
            <a:fld id="{E323C7C4-206D-4B97-BD8E-F05986C6CFC1}" type="slidenum">
              <a:rPr lang="en-US" altLang="en-US" smtClean="0"/>
            </a:fld>
            <a:endParaRPr lang="en-US"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zh-CN" altLang="en-US" dirty="0">
                <a:sym typeface="+mn-ea"/>
              </a:rPr>
              <a:t>事件循环机制</a:t>
            </a:r>
            <a:endParaRPr lang="zh-CN" altLang="en-US"/>
          </a:p>
        </p:txBody>
      </p:sp>
      <p:sp>
        <p:nvSpPr>
          <p:cNvPr id="2" name="灯片编号占位符 1"/>
          <p:cNvSpPr>
            <a:spLocks noGrp="1"/>
          </p:cNvSpPr>
          <p:nvPr>
            <p:ph type="sldNum" sz="quarter" idx="12"/>
          </p:nvPr>
        </p:nvSpPr>
        <p:spPr/>
        <p:txBody>
          <a:bodyPr/>
          <a:p>
            <a:fld id="{E323C7C4-206D-4B97-BD8E-F05986C6CFC1}" type="slidenum">
              <a:rPr lang="en-US" altLang="en-US" smtClean="0"/>
            </a:fld>
            <a:endParaRPr lang="en-US" altLang="en-US"/>
          </a:p>
        </p:txBody>
      </p:sp>
      <p:grpSp>
        <p:nvGrpSpPr>
          <p:cNvPr id="20" name="组合 19"/>
          <p:cNvGrpSpPr/>
          <p:nvPr/>
        </p:nvGrpSpPr>
        <p:grpSpPr>
          <a:xfrm>
            <a:off x="627380" y="1553210"/>
            <a:ext cx="10789285" cy="4263390"/>
            <a:chOff x="1133" y="2802"/>
            <a:chExt cx="16991" cy="6714"/>
          </a:xfrm>
        </p:grpSpPr>
        <p:grpSp>
          <p:nvGrpSpPr>
            <p:cNvPr id="6" name="组合 5"/>
            <p:cNvGrpSpPr/>
            <p:nvPr/>
          </p:nvGrpSpPr>
          <p:grpSpPr>
            <a:xfrm>
              <a:off x="2441" y="2814"/>
              <a:ext cx="4549" cy="1308"/>
              <a:chOff x="712" y="3162"/>
              <a:chExt cx="4549" cy="1308"/>
            </a:xfrm>
          </p:grpSpPr>
          <p:sp>
            <p:nvSpPr>
              <p:cNvPr id="54" name="文本框 53"/>
              <p:cNvSpPr txBox="1"/>
              <p:nvPr/>
            </p:nvSpPr>
            <p:spPr>
              <a:xfrm>
                <a:off x="712" y="3854"/>
                <a:ext cx="4549" cy="616"/>
              </a:xfrm>
              <a:prstGeom prst="rect">
                <a:avLst/>
              </a:prstGeom>
              <a:noFill/>
            </p:spPr>
            <p:txBody>
              <a:bodyPr wrap="square">
                <a:spAutoFit/>
              </a:bodyPr>
              <a:p>
                <a:pPr algn="r">
                  <a:lnSpc>
                    <a:spcPct val="130000"/>
                  </a:lnSpc>
                </a:pPr>
                <a:r>
                  <a:rPr lang="zh-CN" altLang="en-US" sz="1400" dirty="0">
                    <a:solidFill>
                      <a:schemeClr val="bg1"/>
                    </a:solidFill>
                    <a:latin typeface="微软雅黑" panose="020B0503020204020204" pitchFamily="34" charset="-122"/>
                    <a:ea typeface="微软雅黑" panose="020B0503020204020204" pitchFamily="34" charset="-122"/>
                  </a:rPr>
                  <a:t>微任务的优先级高于宏任务</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55" name="文本框 54"/>
              <p:cNvSpPr txBox="1"/>
              <p:nvPr/>
            </p:nvSpPr>
            <p:spPr>
              <a:xfrm>
                <a:off x="817" y="3162"/>
                <a:ext cx="4444" cy="469"/>
              </a:xfrm>
              <a:prstGeom prst="rect">
                <a:avLst/>
              </a:prstGeom>
              <a:noFill/>
            </p:spPr>
            <p:txBody>
              <a:bodyPr wrap="square">
                <a:spAutoFit/>
              </a:bodyPr>
              <a:p>
                <a:pPr algn="r">
                  <a:lnSpc>
                    <a:spcPct val="120000"/>
                  </a:lnSpc>
                </a:pPr>
                <a:r>
                  <a:rPr lang="en-US" altLang="zh-CN" sz="2400" b="1" dirty="0">
                    <a:solidFill>
                      <a:schemeClr val="bg1"/>
                    </a:solidFill>
                    <a:latin typeface="微软雅黑" panose="020B0503020204020204" pitchFamily="34" charset="-122"/>
                    <a:ea typeface="微软雅黑" panose="020B0503020204020204" pitchFamily="34" charset="-122"/>
                  </a:rPr>
                  <a:t>更高的执行优先级</a:t>
                </a:r>
                <a:endParaRPr lang="en-US" altLang="zh-CN" sz="2400" b="1" dirty="0">
                  <a:solidFill>
                    <a:schemeClr val="bg1"/>
                  </a:solidFill>
                  <a:latin typeface="微软雅黑" panose="020B0503020204020204" pitchFamily="34" charset="-122"/>
                  <a:ea typeface="微软雅黑" panose="020B0503020204020204" pitchFamily="34" charset="-122"/>
                </a:endParaRPr>
              </a:p>
            </p:txBody>
          </p:sp>
        </p:grpSp>
        <p:grpSp>
          <p:nvGrpSpPr>
            <p:cNvPr id="9" name="组合 8"/>
            <p:cNvGrpSpPr/>
            <p:nvPr/>
          </p:nvGrpSpPr>
          <p:grpSpPr>
            <a:xfrm>
              <a:off x="1133" y="5206"/>
              <a:ext cx="4549" cy="2697"/>
              <a:chOff x="712" y="5322"/>
              <a:chExt cx="4549" cy="2697"/>
            </a:xfrm>
          </p:grpSpPr>
          <p:sp>
            <p:nvSpPr>
              <p:cNvPr id="57" name="文本框 56"/>
              <p:cNvSpPr txBox="1"/>
              <p:nvPr/>
            </p:nvSpPr>
            <p:spPr>
              <a:xfrm>
                <a:off x="712" y="6014"/>
                <a:ext cx="4549" cy="2005"/>
              </a:xfrm>
              <a:prstGeom prst="rect">
                <a:avLst/>
              </a:prstGeom>
              <a:noFill/>
            </p:spPr>
            <p:txBody>
              <a:bodyPr wrap="square">
                <a:spAutoFit/>
              </a:bodyPr>
              <a:p>
                <a:pPr algn="r">
                  <a:lnSpc>
                    <a:spcPct val="130000"/>
                  </a:lnSpc>
                </a:pPr>
                <a:r>
                  <a:rPr lang="zh-CN" altLang="en-US" sz="1400" dirty="0">
                    <a:solidFill>
                      <a:schemeClr val="bg1"/>
                    </a:solidFill>
                    <a:latin typeface="微软雅黑" panose="020B0503020204020204" pitchFamily="34" charset="-122"/>
                    <a:ea typeface="微软雅黑" panose="020B0503020204020204" pitchFamily="34" charset="-122"/>
                  </a:rPr>
                  <a:t>不会触发新的事件循环，而是在当前主线程的同步任务执行完毕后立即执行</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58" name="文本框 57"/>
              <p:cNvSpPr txBox="1"/>
              <p:nvPr/>
            </p:nvSpPr>
            <p:spPr>
              <a:xfrm>
                <a:off x="1344" y="5322"/>
                <a:ext cx="3917" cy="829"/>
              </a:xfrm>
              <a:prstGeom prst="rect">
                <a:avLst/>
              </a:prstGeom>
              <a:noFill/>
            </p:spPr>
            <p:txBody>
              <a:bodyPr wrap="square">
                <a:spAutoFit/>
              </a:bodyPr>
              <a:p>
                <a:pPr algn="r">
                  <a:lnSpc>
                    <a:spcPct val="120000"/>
                  </a:lnSpc>
                </a:pPr>
                <a:r>
                  <a:rPr lang="zh-CN" altLang="en-US" sz="2400" b="1" dirty="0">
                    <a:solidFill>
                      <a:schemeClr val="bg1"/>
                    </a:solidFill>
                    <a:latin typeface="微软雅黑" panose="020B0503020204020204" pitchFamily="34" charset="-122"/>
                    <a:ea typeface="微软雅黑" panose="020B0503020204020204" pitchFamily="34" charset="-122"/>
                  </a:rPr>
                  <a:t>不触发事件循环</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grpSp>
          <p:nvGrpSpPr>
            <p:cNvPr id="11" name="组合 10"/>
            <p:cNvGrpSpPr/>
            <p:nvPr/>
          </p:nvGrpSpPr>
          <p:grpSpPr>
            <a:xfrm>
              <a:off x="1992" y="7800"/>
              <a:ext cx="5055" cy="1716"/>
              <a:chOff x="712" y="7662"/>
              <a:chExt cx="4549" cy="1716"/>
            </a:xfrm>
          </p:grpSpPr>
          <p:sp>
            <p:nvSpPr>
              <p:cNvPr id="5" name="文本框 4"/>
              <p:cNvSpPr txBox="1"/>
              <p:nvPr/>
            </p:nvSpPr>
            <p:spPr>
              <a:xfrm>
                <a:off x="712" y="8354"/>
                <a:ext cx="4549" cy="1024"/>
              </a:xfrm>
              <a:prstGeom prst="rect">
                <a:avLst/>
              </a:prstGeom>
              <a:noFill/>
            </p:spPr>
            <p:txBody>
              <a:bodyPr wrap="square">
                <a:spAutoFit/>
              </a:bodyPr>
              <a:p>
                <a:pPr algn="r">
                  <a:lnSpc>
                    <a:spcPct val="130000"/>
                  </a:lnSpc>
                </a:pPr>
                <a:r>
                  <a:rPr lang="zh-CN" altLang="en-US" sz="1400" dirty="0">
                    <a:solidFill>
                      <a:schemeClr val="bg1"/>
                    </a:solidFill>
                    <a:latin typeface="微软雅黑" panose="020B0503020204020204" pitchFamily="34" charset="-122"/>
                    <a:ea typeface="微软雅黑" panose="020B0503020204020204" pitchFamily="34" charset="-122"/>
                  </a:rPr>
                  <a:t>微任务在主线程同步任务后立即执行，它们可以更快地获得执行机会</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1555" y="7662"/>
                <a:ext cx="3706" cy="841"/>
              </a:xfrm>
              <a:prstGeom prst="rect">
                <a:avLst/>
              </a:prstGeom>
              <a:noFill/>
            </p:spPr>
            <p:txBody>
              <a:bodyPr wrap="square">
                <a:spAutoFit/>
              </a:bodyPr>
              <a:p>
                <a:pPr algn="r">
                  <a:lnSpc>
                    <a:spcPct val="120000"/>
                  </a:lnSpc>
                </a:pPr>
                <a:r>
                  <a:rPr lang="zh-CN" altLang="en-US" sz="2400" b="1" dirty="0">
                    <a:solidFill>
                      <a:schemeClr val="bg1"/>
                    </a:solidFill>
                    <a:latin typeface="微软雅黑" panose="020B0503020204020204" pitchFamily="34" charset="-122"/>
                    <a:ea typeface="微软雅黑" panose="020B0503020204020204" pitchFamily="34" charset="-122"/>
                  </a:rPr>
                  <a:t>更好的性能优化</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grpSp>
          <p:nvGrpSpPr>
            <p:cNvPr id="12" name="组合 11"/>
            <p:cNvGrpSpPr/>
            <p:nvPr/>
          </p:nvGrpSpPr>
          <p:grpSpPr>
            <a:xfrm>
              <a:off x="12256" y="2802"/>
              <a:ext cx="4549" cy="1308"/>
              <a:chOff x="712" y="3162"/>
              <a:chExt cx="4549" cy="1308"/>
            </a:xfrm>
          </p:grpSpPr>
          <p:sp>
            <p:nvSpPr>
              <p:cNvPr id="14" name="文本框 13"/>
              <p:cNvSpPr txBox="1"/>
              <p:nvPr/>
            </p:nvSpPr>
            <p:spPr>
              <a:xfrm>
                <a:off x="712" y="3854"/>
                <a:ext cx="4549" cy="616"/>
              </a:xfrm>
              <a:prstGeom prst="rect">
                <a:avLst/>
              </a:prstGeom>
              <a:noFill/>
            </p:spPr>
            <p:txBody>
              <a:bodyPr wrap="square">
                <a:spAutoFit/>
              </a:bodyPr>
              <a:p>
                <a:pPr algn="l">
                  <a:lnSpc>
                    <a:spcPct val="130000"/>
                  </a:lnSpc>
                </a:pPr>
                <a:r>
                  <a:rPr lang="zh-CN" altLang="en-US" sz="1400" dirty="0">
                    <a:solidFill>
                      <a:schemeClr val="bg1"/>
                    </a:solidFill>
                    <a:latin typeface="微软雅黑" panose="020B0503020204020204" pitchFamily="34" charset="-122"/>
                    <a:ea typeface="微软雅黑" panose="020B0503020204020204" pitchFamily="34" charset="-122"/>
                  </a:rPr>
                  <a:t>更精确地控制异步代码的执行顺序</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8" name="文本框 17"/>
              <p:cNvSpPr txBox="1"/>
              <p:nvPr/>
            </p:nvSpPr>
            <p:spPr>
              <a:xfrm>
                <a:off x="712" y="3162"/>
                <a:ext cx="4320" cy="469"/>
              </a:xfrm>
              <a:prstGeom prst="rect">
                <a:avLst/>
              </a:prstGeom>
              <a:noFill/>
            </p:spPr>
            <p:txBody>
              <a:bodyPr wrap="square">
                <a:spAutoFit/>
              </a:bodyPr>
              <a:p>
                <a:pPr algn="l">
                  <a:lnSpc>
                    <a:spcPct val="120000"/>
                  </a:lnSpc>
                </a:pPr>
                <a:r>
                  <a:rPr lang="zh-CN" altLang="en-US" sz="2400" b="1" dirty="0">
                    <a:solidFill>
                      <a:schemeClr val="bg1"/>
                    </a:solidFill>
                    <a:latin typeface="微软雅黑" panose="020B0503020204020204" pitchFamily="34" charset="-122"/>
                    <a:ea typeface="微软雅黑" panose="020B0503020204020204" pitchFamily="34" charset="-122"/>
                  </a:rPr>
                  <a:t>控制执行顺序</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grpSp>
          <p:nvGrpSpPr>
            <p:cNvPr id="36" name="组合 35"/>
            <p:cNvGrpSpPr/>
            <p:nvPr/>
          </p:nvGrpSpPr>
          <p:grpSpPr>
            <a:xfrm>
              <a:off x="13430" y="5203"/>
              <a:ext cx="4694" cy="1716"/>
              <a:chOff x="712" y="3162"/>
              <a:chExt cx="4694" cy="1716"/>
            </a:xfrm>
          </p:grpSpPr>
          <p:sp>
            <p:nvSpPr>
              <p:cNvPr id="37" name="文本框 36"/>
              <p:cNvSpPr txBox="1"/>
              <p:nvPr/>
            </p:nvSpPr>
            <p:spPr>
              <a:xfrm>
                <a:off x="712" y="3854"/>
                <a:ext cx="4549" cy="1024"/>
              </a:xfrm>
              <a:prstGeom prst="rect">
                <a:avLst/>
              </a:prstGeom>
              <a:noFill/>
            </p:spPr>
            <p:txBody>
              <a:bodyPr wrap="square">
                <a:spAutoFit/>
              </a:bodyPr>
              <a:p>
                <a:pPr algn="l">
                  <a:lnSpc>
                    <a:spcPct val="130000"/>
                  </a:lnSpc>
                </a:pPr>
                <a:r>
                  <a:rPr lang="zh-CN" altLang="en-US" sz="1400" dirty="0">
                    <a:solidFill>
                      <a:schemeClr val="bg1"/>
                    </a:solidFill>
                    <a:latin typeface="微软雅黑" panose="020B0503020204020204" pitchFamily="34" charset="-122"/>
                    <a:ea typeface="微软雅黑" panose="020B0503020204020204" pitchFamily="34" charset="-122"/>
                  </a:rPr>
                  <a:t>在不阻塞UI线程的情况下，执行复杂的异步操作</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38" name="文本框 37"/>
              <p:cNvSpPr txBox="1"/>
              <p:nvPr/>
            </p:nvSpPr>
            <p:spPr>
              <a:xfrm>
                <a:off x="712" y="3162"/>
                <a:ext cx="4694" cy="829"/>
              </a:xfrm>
              <a:prstGeom prst="rect">
                <a:avLst/>
              </a:prstGeom>
              <a:noFill/>
            </p:spPr>
            <p:txBody>
              <a:bodyPr wrap="square">
                <a:spAutoFit/>
              </a:bodyPr>
              <a:p>
                <a:pPr algn="l">
                  <a:lnSpc>
                    <a:spcPct val="120000"/>
                  </a:lnSpc>
                </a:pPr>
                <a:r>
                  <a:rPr lang="zh-CN" altLang="en-US" sz="2400" b="1" dirty="0">
                    <a:solidFill>
                      <a:schemeClr val="bg1"/>
                    </a:solidFill>
                    <a:latin typeface="微软雅黑" panose="020B0503020204020204" pitchFamily="34" charset="-122"/>
                    <a:ea typeface="微软雅黑" panose="020B0503020204020204" pitchFamily="34" charset="-122"/>
                  </a:rPr>
                  <a:t>支持复杂的异步模型</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grpSp>
          <p:nvGrpSpPr>
            <p:cNvPr id="40" name="组合 39"/>
            <p:cNvGrpSpPr/>
            <p:nvPr/>
          </p:nvGrpSpPr>
          <p:grpSpPr>
            <a:xfrm>
              <a:off x="12286" y="7946"/>
              <a:ext cx="4549" cy="1308"/>
              <a:chOff x="712" y="3162"/>
              <a:chExt cx="4549" cy="1308"/>
            </a:xfrm>
          </p:grpSpPr>
          <p:sp>
            <p:nvSpPr>
              <p:cNvPr id="41" name="文本框 40"/>
              <p:cNvSpPr txBox="1"/>
              <p:nvPr/>
            </p:nvSpPr>
            <p:spPr>
              <a:xfrm>
                <a:off x="712" y="3854"/>
                <a:ext cx="4549" cy="616"/>
              </a:xfrm>
              <a:prstGeom prst="rect">
                <a:avLst/>
              </a:prstGeom>
              <a:noFill/>
            </p:spPr>
            <p:txBody>
              <a:bodyPr wrap="square">
                <a:spAutoFit/>
              </a:bodyPr>
              <a:p>
                <a:pPr algn="l">
                  <a:lnSpc>
                    <a:spcPct val="130000"/>
                  </a:lnSpc>
                </a:pPr>
                <a:r>
                  <a:rPr lang="zh-CN" altLang="en-US" sz="1400" dirty="0">
                    <a:solidFill>
                      <a:schemeClr val="bg1"/>
                    </a:solidFill>
                    <a:latin typeface="微软雅黑" panose="020B0503020204020204" pitchFamily="34" charset="-122"/>
                    <a:ea typeface="微软雅黑" panose="020B0503020204020204" pitchFamily="34" charset="-122"/>
                  </a:rPr>
                  <a:t>允许指定操作可以尽快得到执行</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42" name="文本框 41"/>
              <p:cNvSpPr txBox="1"/>
              <p:nvPr/>
            </p:nvSpPr>
            <p:spPr>
              <a:xfrm>
                <a:off x="712" y="3162"/>
                <a:ext cx="3160" cy="841"/>
              </a:xfrm>
              <a:prstGeom prst="rect">
                <a:avLst/>
              </a:prstGeom>
              <a:noFill/>
            </p:spPr>
            <p:txBody>
              <a:bodyPr wrap="square">
                <a:spAutoFit/>
              </a:bodyPr>
              <a:p>
                <a:pPr algn="l">
                  <a:lnSpc>
                    <a:spcPct val="120000"/>
                  </a:lnSpc>
                </a:pPr>
                <a:r>
                  <a:rPr lang="zh-CN" altLang="en-US" sz="2400" b="1" dirty="0">
                    <a:solidFill>
                      <a:schemeClr val="bg1"/>
                    </a:solidFill>
                    <a:latin typeface="微软雅黑" panose="020B0503020204020204" pitchFamily="34" charset="-122"/>
                    <a:ea typeface="微软雅黑" panose="020B0503020204020204" pitchFamily="34" charset="-122"/>
                  </a:rPr>
                  <a:t>插队需求</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grpSp>
          <p:nvGrpSpPr>
            <p:cNvPr id="47" name="组合 46"/>
            <p:cNvGrpSpPr/>
            <p:nvPr/>
          </p:nvGrpSpPr>
          <p:grpSpPr>
            <a:xfrm>
              <a:off x="5720" y="3291"/>
              <a:ext cx="7598" cy="5331"/>
              <a:chOff x="5720" y="3291"/>
              <a:chExt cx="7598" cy="5331"/>
            </a:xfrm>
          </p:grpSpPr>
          <p:sp>
            <p:nvSpPr>
              <p:cNvPr id="8" name="六边形 7"/>
              <p:cNvSpPr/>
              <p:nvPr/>
            </p:nvSpPr>
            <p:spPr>
              <a:xfrm rot="1800000">
                <a:off x="6857" y="3570"/>
                <a:ext cx="5487" cy="4759"/>
              </a:xfrm>
              <a:prstGeom prst="hexagon">
                <a:avLst>
                  <a:gd name="adj" fmla="val 28849"/>
                  <a:gd name="vf" fmla="val 115470"/>
                </a:avLst>
              </a:prstGeom>
              <a:noFill/>
              <a:ln w="79375">
                <a:solidFill>
                  <a:srgbClr val="0283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nvGrpSpPr>
              <p:cNvPr id="13" name="组合 12"/>
              <p:cNvGrpSpPr/>
              <p:nvPr/>
            </p:nvGrpSpPr>
            <p:grpSpPr>
              <a:xfrm>
                <a:off x="7045" y="3292"/>
                <a:ext cx="1498" cy="456"/>
                <a:chOff x="6757" y="2743"/>
                <a:chExt cx="1498" cy="456"/>
              </a:xfrm>
            </p:grpSpPr>
            <p:cxnSp>
              <p:nvCxnSpPr>
                <p:cNvPr id="15" name="直接连接符 14"/>
                <p:cNvCxnSpPr/>
                <p:nvPr/>
              </p:nvCxnSpPr>
              <p:spPr>
                <a:xfrm flipH="1" flipV="1">
                  <a:off x="7605" y="2823"/>
                  <a:ext cx="650" cy="376"/>
                </a:xfrm>
                <a:prstGeom prst="line">
                  <a:avLst/>
                </a:prstGeom>
                <a:ln w="25400" cmpd="sng">
                  <a:solidFill>
                    <a:srgbClr val="0283CA"/>
                  </a:solidFill>
                  <a:prstDash val="sysDash"/>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6870" y="2823"/>
                  <a:ext cx="735" cy="0"/>
                </a:xfrm>
                <a:prstGeom prst="line">
                  <a:avLst/>
                </a:prstGeom>
                <a:ln w="25400" cmpd="sng">
                  <a:solidFill>
                    <a:srgbClr val="0283CA"/>
                  </a:solidFill>
                  <a:prstDash val="sysDash"/>
                </a:ln>
              </p:spPr>
              <p:style>
                <a:lnRef idx="1">
                  <a:schemeClr val="accent1"/>
                </a:lnRef>
                <a:fillRef idx="0">
                  <a:schemeClr val="accent1"/>
                </a:fillRef>
                <a:effectRef idx="0">
                  <a:schemeClr val="accent1"/>
                </a:effectRef>
                <a:fontRef idx="minor">
                  <a:schemeClr val="tx1"/>
                </a:fontRef>
              </p:style>
            </p:cxnSp>
            <p:sp>
              <p:nvSpPr>
                <p:cNvPr id="17" name="椭圆 16"/>
                <p:cNvSpPr/>
                <p:nvPr/>
              </p:nvSpPr>
              <p:spPr>
                <a:xfrm>
                  <a:off x="6757" y="2743"/>
                  <a:ext cx="170" cy="170"/>
                </a:xfrm>
                <a:prstGeom prst="ellipse">
                  <a:avLst/>
                </a:prstGeom>
                <a:solidFill>
                  <a:schemeClr val="bg1"/>
                </a:solidFill>
                <a:ln w="38100">
                  <a:solidFill>
                    <a:srgbClr val="0283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35" name="组合 34"/>
              <p:cNvGrpSpPr/>
              <p:nvPr/>
            </p:nvGrpSpPr>
            <p:grpSpPr>
              <a:xfrm>
                <a:off x="5720" y="5870"/>
                <a:ext cx="1582" cy="170"/>
                <a:chOff x="5432" y="5321"/>
                <a:chExt cx="1582" cy="170"/>
              </a:xfrm>
            </p:grpSpPr>
            <p:cxnSp>
              <p:nvCxnSpPr>
                <p:cNvPr id="32" name="直接连接符 31"/>
                <p:cNvCxnSpPr/>
                <p:nvPr/>
              </p:nvCxnSpPr>
              <p:spPr>
                <a:xfrm>
                  <a:off x="5636" y="5401"/>
                  <a:ext cx="1378" cy="0"/>
                </a:xfrm>
                <a:prstGeom prst="line">
                  <a:avLst/>
                </a:prstGeom>
                <a:ln w="25400" cmpd="sng">
                  <a:solidFill>
                    <a:srgbClr val="0283CA"/>
                  </a:solidFill>
                  <a:prstDash val="sysDash"/>
                </a:ln>
              </p:spPr>
              <p:style>
                <a:lnRef idx="1">
                  <a:schemeClr val="accent1"/>
                </a:lnRef>
                <a:fillRef idx="0">
                  <a:schemeClr val="accent1"/>
                </a:fillRef>
                <a:effectRef idx="0">
                  <a:schemeClr val="accent1"/>
                </a:effectRef>
                <a:fontRef idx="minor">
                  <a:schemeClr val="tx1"/>
                </a:fontRef>
              </p:style>
            </p:cxnSp>
            <p:sp>
              <p:nvSpPr>
                <p:cNvPr id="22" name="椭圆 21"/>
                <p:cNvSpPr/>
                <p:nvPr/>
              </p:nvSpPr>
              <p:spPr>
                <a:xfrm>
                  <a:off x="5432" y="5321"/>
                  <a:ext cx="170" cy="170"/>
                </a:xfrm>
                <a:prstGeom prst="ellipse">
                  <a:avLst/>
                </a:prstGeom>
                <a:solidFill>
                  <a:schemeClr val="bg1"/>
                </a:solidFill>
                <a:ln w="38100">
                  <a:solidFill>
                    <a:srgbClr val="0283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23" name="组合 22"/>
              <p:cNvGrpSpPr/>
              <p:nvPr/>
            </p:nvGrpSpPr>
            <p:grpSpPr>
              <a:xfrm flipV="1">
                <a:off x="7112" y="8157"/>
                <a:ext cx="1431" cy="465"/>
                <a:chOff x="6824" y="2734"/>
                <a:chExt cx="1431" cy="465"/>
              </a:xfrm>
            </p:grpSpPr>
            <p:cxnSp>
              <p:nvCxnSpPr>
                <p:cNvPr id="25" name="直接连接符 24"/>
                <p:cNvCxnSpPr/>
                <p:nvPr/>
              </p:nvCxnSpPr>
              <p:spPr>
                <a:xfrm flipH="1" flipV="1">
                  <a:off x="7605" y="2823"/>
                  <a:ext cx="650" cy="376"/>
                </a:xfrm>
                <a:prstGeom prst="line">
                  <a:avLst/>
                </a:prstGeom>
                <a:ln w="25400" cmpd="sng">
                  <a:solidFill>
                    <a:srgbClr val="0283CA"/>
                  </a:solidFill>
                  <a:prstDash val="sysDash"/>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6870" y="2823"/>
                  <a:ext cx="735" cy="0"/>
                </a:xfrm>
                <a:prstGeom prst="line">
                  <a:avLst/>
                </a:prstGeom>
                <a:ln w="25400" cmpd="sng">
                  <a:solidFill>
                    <a:srgbClr val="0283CA"/>
                  </a:solidFill>
                  <a:prstDash val="sysDash"/>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6824" y="2734"/>
                  <a:ext cx="170" cy="170"/>
                </a:xfrm>
                <a:prstGeom prst="ellipse">
                  <a:avLst/>
                </a:prstGeom>
                <a:solidFill>
                  <a:schemeClr val="bg1"/>
                </a:solidFill>
                <a:ln w="38100">
                  <a:solidFill>
                    <a:srgbClr val="0283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49" name="组合 48"/>
              <p:cNvGrpSpPr/>
              <p:nvPr/>
            </p:nvGrpSpPr>
            <p:grpSpPr>
              <a:xfrm flipH="1">
                <a:off x="10636" y="3291"/>
                <a:ext cx="1555" cy="456"/>
                <a:chOff x="6700" y="2743"/>
                <a:chExt cx="1555" cy="456"/>
              </a:xfrm>
            </p:grpSpPr>
            <p:cxnSp>
              <p:nvCxnSpPr>
                <p:cNvPr id="51" name="直接连接符 50"/>
                <p:cNvCxnSpPr/>
                <p:nvPr/>
              </p:nvCxnSpPr>
              <p:spPr>
                <a:xfrm flipH="1" flipV="1">
                  <a:off x="7605" y="2823"/>
                  <a:ext cx="650" cy="376"/>
                </a:xfrm>
                <a:prstGeom prst="line">
                  <a:avLst/>
                </a:prstGeom>
                <a:ln w="25400" cmpd="sng">
                  <a:solidFill>
                    <a:srgbClr val="0283CA"/>
                  </a:solidFill>
                  <a:prstDash val="sysDash"/>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a:off x="6870" y="2823"/>
                  <a:ext cx="735" cy="0"/>
                </a:xfrm>
                <a:prstGeom prst="line">
                  <a:avLst/>
                </a:prstGeom>
                <a:ln w="25400" cmpd="sng">
                  <a:solidFill>
                    <a:srgbClr val="0283CA"/>
                  </a:solidFill>
                  <a:prstDash val="sysDash"/>
                </a:ln>
              </p:spPr>
              <p:style>
                <a:lnRef idx="1">
                  <a:schemeClr val="accent1"/>
                </a:lnRef>
                <a:fillRef idx="0">
                  <a:schemeClr val="accent1"/>
                </a:fillRef>
                <a:effectRef idx="0">
                  <a:schemeClr val="accent1"/>
                </a:effectRef>
                <a:fontRef idx="minor">
                  <a:schemeClr val="tx1"/>
                </a:fontRef>
              </p:style>
            </p:cxnSp>
            <p:sp>
              <p:nvSpPr>
                <p:cNvPr id="60" name="椭圆 59"/>
                <p:cNvSpPr/>
                <p:nvPr/>
              </p:nvSpPr>
              <p:spPr>
                <a:xfrm>
                  <a:off x="6700" y="2743"/>
                  <a:ext cx="170" cy="170"/>
                </a:xfrm>
                <a:prstGeom prst="ellipse">
                  <a:avLst/>
                </a:prstGeom>
                <a:solidFill>
                  <a:schemeClr val="bg1"/>
                </a:solidFill>
                <a:ln w="38100">
                  <a:solidFill>
                    <a:srgbClr val="0283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61" name="组合 60"/>
              <p:cNvGrpSpPr/>
              <p:nvPr/>
            </p:nvGrpSpPr>
            <p:grpSpPr>
              <a:xfrm flipH="1">
                <a:off x="11937" y="5869"/>
                <a:ext cx="1381" cy="170"/>
                <a:chOff x="5573" y="5321"/>
                <a:chExt cx="1381" cy="170"/>
              </a:xfrm>
            </p:grpSpPr>
            <p:cxnSp>
              <p:nvCxnSpPr>
                <p:cNvPr id="63" name="直接连接符 62"/>
                <p:cNvCxnSpPr/>
                <p:nvPr/>
              </p:nvCxnSpPr>
              <p:spPr>
                <a:xfrm>
                  <a:off x="5576" y="5401"/>
                  <a:ext cx="1378" cy="0"/>
                </a:xfrm>
                <a:prstGeom prst="line">
                  <a:avLst/>
                </a:prstGeom>
                <a:ln w="25400" cmpd="sng">
                  <a:solidFill>
                    <a:srgbClr val="0283CA"/>
                  </a:solidFill>
                  <a:prstDash val="sysDash"/>
                </a:ln>
              </p:spPr>
              <p:style>
                <a:lnRef idx="1">
                  <a:schemeClr val="accent1"/>
                </a:lnRef>
                <a:fillRef idx="0">
                  <a:schemeClr val="accent1"/>
                </a:fillRef>
                <a:effectRef idx="0">
                  <a:schemeClr val="accent1"/>
                </a:effectRef>
                <a:fontRef idx="minor">
                  <a:schemeClr val="tx1"/>
                </a:fontRef>
              </p:style>
            </p:cxnSp>
            <p:sp>
              <p:nvSpPr>
                <p:cNvPr id="64" name="椭圆 63"/>
                <p:cNvSpPr/>
                <p:nvPr/>
              </p:nvSpPr>
              <p:spPr>
                <a:xfrm>
                  <a:off x="5573" y="5321"/>
                  <a:ext cx="170" cy="170"/>
                </a:xfrm>
                <a:prstGeom prst="ellipse">
                  <a:avLst/>
                </a:prstGeom>
                <a:solidFill>
                  <a:schemeClr val="bg1"/>
                </a:solidFill>
                <a:ln w="38100">
                  <a:solidFill>
                    <a:srgbClr val="0283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65" name="组合 64"/>
              <p:cNvGrpSpPr/>
              <p:nvPr/>
            </p:nvGrpSpPr>
            <p:grpSpPr>
              <a:xfrm flipH="1" flipV="1">
                <a:off x="10636" y="8156"/>
                <a:ext cx="1555" cy="465"/>
                <a:chOff x="6700" y="2734"/>
                <a:chExt cx="1555" cy="465"/>
              </a:xfrm>
            </p:grpSpPr>
            <p:cxnSp>
              <p:nvCxnSpPr>
                <p:cNvPr id="67" name="直接连接符 66"/>
                <p:cNvCxnSpPr/>
                <p:nvPr/>
              </p:nvCxnSpPr>
              <p:spPr>
                <a:xfrm flipH="1" flipV="1">
                  <a:off x="7605" y="2823"/>
                  <a:ext cx="650" cy="376"/>
                </a:xfrm>
                <a:prstGeom prst="line">
                  <a:avLst/>
                </a:prstGeom>
                <a:ln w="25400" cmpd="sng">
                  <a:solidFill>
                    <a:srgbClr val="0283CA"/>
                  </a:solidFill>
                  <a:prstDash val="sysDash"/>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6870" y="2823"/>
                  <a:ext cx="735" cy="0"/>
                </a:xfrm>
                <a:prstGeom prst="line">
                  <a:avLst/>
                </a:prstGeom>
                <a:ln w="25400" cmpd="sng">
                  <a:solidFill>
                    <a:srgbClr val="0283CA"/>
                  </a:solidFill>
                  <a:prstDash val="sysDash"/>
                </a:ln>
              </p:spPr>
              <p:style>
                <a:lnRef idx="1">
                  <a:schemeClr val="accent1"/>
                </a:lnRef>
                <a:fillRef idx="0">
                  <a:schemeClr val="accent1"/>
                </a:fillRef>
                <a:effectRef idx="0">
                  <a:schemeClr val="accent1"/>
                </a:effectRef>
                <a:fontRef idx="minor">
                  <a:schemeClr val="tx1"/>
                </a:fontRef>
              </p:style>
            </p:cxnSp>
            <p:sp>
              <p:nvSpPr>
                <p:cNvPr id="69" name="椭圆 68"/>
                <p:cNvSpPr/>
                <p:nvPr/>
              </p:nvSpPr>
              <p:spPr>
                <a:xfrm>
                  <a:off x="6700" y="2734"/>
                  <a:ext cx="170" cy="170"/>
                </a:xfrm>
                <a:prstGeom prst="ellipse">
                  <a:avLst/>
                </a:prstGeom>
                <a:solidFill>
                  <a:schemeClr val="bg1"/>
                </a:solidFill>
                <a:ln w="38100">
                  <a:solidFill>
                    <a:srgbClr val="0283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45" name="文本框 44"/>
              <p:cNvSpPr txBox="1"/>
              <p:nvPr/>
            </p:nvSpPr>
            <p:spPr>
              <a:xfrm>
                <a:off x="8417" y="6275"/>
                <a:ext cx="2388" cy="919"/>
              </a:xfrm>
              <a:prstGeom prst="rect">
                <a:avLst/>
              </a:prstGeom>
              <a:noFill/>
            </p:spPr>
            <p:txBody>
              <a:bodyPr wrap="none" rtlCol="0">
                <a:spAutoFit/>
              </a:bodyPr>
              <a:p>
                <a:pPr algn="ctr"/>
                <a:r>
                  <a:rPr lang="zh-CN" altLang="en-US" sz="3200" b="1" spc="300" dirty="0">
                    <a:solidFill>
                      <a:schemeClr val="bg1"/>
                    </a:solidFill>
                    <a:latin typeface="微软雅黑" panose="020B0503020204020204" pitchFamily="34" charset="-122"/>
                    <a:ea typeface="微软雅黑" panose="020B0503020204020204" pitchFamily="34" charset="-122"/>
                    <a:cs typeface="阿里巴巴普惠体" panose="00020600040101010101" charset="-122"/>
                    <a:sym typeface="阿里巴巴普惠体" panose="00020600040101010101" charset="-122"/>
                  </a:rPr>
                  <a:t>微任务</a:t>
                </a:r>
                <a:endParaRPr lang="zh-CN" altLang="en-US" sz="3200" b="1" spc="300" dirty="0">
                  <a:solidFill>
                    <a:schemeClr val="bg1"/>
                  </a:solidFill>
                  <a:latin typeface="微软雅黑" panose="020B0503020204020204" pitchFamily="34" charset="-122"/>
                  <a:ea typeface="微软雅黑" panose="020B0503020204020204" pitchFamily="34" charset="-122"/>
                  <a:cs typeface="阿里巴巴普惠体" panose="00020600040101010101" charset="-122"/>
                  <a:sym typeface="阿里巴巴普惠体" panose="00020600040101010101" charset="-122"/>
                </a:endParaRPr>
              </a:p>
            </p:txBody>
          </p:sp>
        </p:grpSp>
        <p:pic>
          <p:nvPicPr>
            <p:cNvPr id="19" name="图片 18" descr="任务进程"/>
            <p:cNvPicPr>
              <a:picLocks noChangeAspect="1"/>
            </p:cNvPicPr>
            <p:nvPr/>
          </p:nvPicPr>
          <p:blipFill>
            <a:blip r:embed="rId1"/>
            <a:stretch>
              <a:fillRect/>
            </a:stretch>
          </p:blipFill>
          <p:spPr>
            <a:xfrm>
              <a:off x="8878" y="4629"/>
              <a:ext cx="1433" cy="1433"/>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文本框 27"/>
          <p:cNvSpPr txBox="1"/>
          <p:nvPr/>
        </p:nvSpPr>
        <p:spPr>
          <a:xfrm>
            <a:off x="-315135" y="2045900"/>
            <a:ext cx="4761223" cy="923330"/>
          </a:xfrm>
          <a:prstGeom prst="rect">
            <a:avLst/>
          </a:prstGeom>
          <a:noFill/>
        </p:spPr>
        <p:txBody>
          <a:bodyPr wrap="square" rtlCol="0">
            <a:spAutoFit/>
            <a:scene3d>
              <a:camera prst="orthographicFront"/>
              <a:lightRig rig="threePt" dir="t"/>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5400" b="1" i="1" noProof="0" dirty="0">
                <a:gradFill flip="none" rotWithShape="1">
                  <a:gsLst>
                    <a:gs pos="65000">
                      <a:srgbClr val="0283CA"/>
                    </a:gs>
                    <a:gs pos="33000">
                      <a:srgbClr val="1FBFE1"/>
                    </a:gs>
                  </a:gsLst>
                  <a:lin ang="5400000" scaled="1"/>
                  <a:tileRect/>
                </a:gradFill>
                <a:latin typeface="Source Han Serif SC" panose="02020400000000000000" pitchFamily="18" charset="-122"/>
                <a:ea typeface="Source Han Serif SC" panose="02020400000000000000" pitchFamily="18" charset="-122"/>
                <a:sym typeface="Source Han Serif SC" panose="02020400000000000000" pitchFamily="18" charset="-122"/>
              </a:rPr>
              <a:t>c</a:t>
            </a:r>
            <a:r>
              <a:rPr kumimoji="0" lang="en-US" altLang="zh-CN" sz="3600" b="1" i="1" u="none" strike="noStrike" kern="1200" cap="none" spc="0" normalizeH="0" baseline="0" noProof="0" dirty="0">
                <a:ln>
                  <a:noFill/>
                </a:ln>
                <a:gradFill flip="none" rotWithShape="1">
                  <a:gsLst>
                    <a:gs pos="65000">
                      <a:srgbClr val="0283CA"/>
                    </a:gs>
                    <a:gs pos="33000">
                      <a:srgbClr val="1FBFE1"/>
                    </a:gs>
                  </a:gsLst>
                  <a:lin ang="5400000" scaled="1"/>
                  <a:tileRect/>
                </a:gradFill>
                <a:effectLst/>
                <a:uLnTx/>
                <a:uFillTx/>
                <a:latin typeface="Source Han Serif SC" panose="02020400000000000000" pitchFamily="18" charset="-122"/>
                <a:ea typeface="Source Han Serif SC" panose="02020400000000000000" pitchFamily="18" charset="-122"/>
                <a:sym typeface="Source Han Serif SC" panose="02020400000000000000" pitchFamily="18" charset="-122"/>
              </a:rPr>
              <a:t>ONTENTS</a:t>
            </a:r>
            <a:endParaRPr kumimoji="0" lang="zh-CN" altLang="en-US" sz="3600" b="1" i="1" u="none" strike="noStrike" kern="1200" cap="none" spc="0" normalizeH="0" baseline="0" noProof="0" dirty="0">
              <a:ln>
                <a:noFill/>
              </a:ln>
              <a:gradFill flip="none" rotWithShape="1">
                <a:gsLst>
                  <a:gs pos="65000">
                    <a:srgbClr val="0283CA"/>
                  </a:gs>
                  <a:gs pos="33000">
                    <a:srgbClr val="1FBFE1"/>
                  </a:gs>
                </a:gsLst>
                <a:lin ang="5400000" scaled="1"/>
                <a:tileRect/>
              </a:gradFill>
              <a:effectLst/>
              <a:uLnTx/>
              <a:uFillTx/>
              <a:latin typeface="Source Han Serif SC" panose="02020400000000000000" pitchFamily="18" charset="-122"/>
              <a:ea typeface="Source Han Serif SC" panose="02020400000000000000" pitchFamily="18" charset="-122"/>
              <a:sym typeface="Source Han Serif SC" panose="02020400000000000000" pitchFamily="18" charset="-122"/>
            </a:endParaRPr>
          </a:p>
        </p:txBody>
      </p:sp>
      <p:sp>
        <p:nvSpPr>
          <p:cNvPr id="37" name="文本框 36"/>
          <p:cNvSpPr txBox="1"/>
          <p:nvPr/>
        </p:nvSpPr>
        <p:spPr>
          <a:xfrm>
            <a:off x="1908473" y="1454588"/>
            <a:ext cx="1664992" cy="923330"/>
          </a:xfrm>
          <a:prstGeom prst="rect">
            <a:avLst/>
          </a:prstGeom>
          <a:noFill/>
        </p:spPr>
        <p:txBody>
          <a:bodyPr wrap="square" rtlCol="0">
            <a:spAutoFit/>
            <a:scene3d>
              <a:camera prst="orthographicFront"/>
              <a:lightRig rig="threePt" dir="t"/>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5400" b="1" i="1" dirty="0">
                <a:gradFill flip="none" rotWithShape="1">
                  <a:gsLst>
                    <a:gs pos="58000">
                      <a:srgbClr val="0283CA"/>
                    </a:gs>
                    <a:gs pos="25000">
                      <a:srgbClr val="1FBFE1"/>
                    </a:gs>
                  </a:gsLst>
                  <a:lin ang="5400000" scaled="1"/>
                  <a:tileRect/>
                </a:gradFill>
                <a:latin typeface="Source Han Serif SC" panose="02020400000000000000" pitchFamily="18" charset="-122"/>
                <a:ea typeface="Source Han Serif SC" panose="02020400000000000000" pitchFamily="18" charset="-122"/>
                <a:sym typeface="Source Han Serif SC" panose="02020400000000000000" pitchFamily="18" charset="-122"/>
              </a:rPr>
              <a:t>目录</a:t>
            </a:r>
            <a:endParaRPr kumimoji="0" lang="zh-CN" altLang="en-US" sz="3600" b="1" i="1" u="none" strike="noStrike" kern="1200" cap="none" spc="0" normalizeH="0" baseline="0" noProof="0" dirty="0">
              <a:ln>
                <a:noFill/>
              </a:ln>
              <a:gradFill flip="none" rotWithShape="1">
                <a:gsLst>
                  <a:gs pos="58000">
                    <a:srgbClr val="0283CA"/>
                  </a:gs>
                  <a:gs pos="25000">
                    <a:srgbClr val="1FBFE1"/>
                  </a:gs>
                </a:gsLst>
                <a:lin ang="5400000" scaled="1"/>
                <a:tileRect/>
              </a:gradFill>
              <a:effectLst/>
              <a:uLnTx/>
              <a:uFillTx/>
              <a:latin typeface="Source Han Serif SC" panose="02020400000000000000" pitchFamily="18" charset="-122"/>
              <a:ea typeface="Source Han Serif SC" panose="02020400000000000000" pitchFamily="18" charset="-122"/>
              <a:sym typeface="Source Han Serif SC" panose="02020400000000000000" pitchFamily="18" charset="-122"/>
            </a:endParaRPr>
          </a:p>
        </p:txBody>
      </p:sp>
      <p:sp>
        <p:nvSpPr>
          <p:cNvPr id="16" name="平行四边形 15"/>
          <p:cNvSpPr/>
          <p:nvPr>
            <p:custDataLst>
              <p:tags r:id="rId1"/>
            </p:custDataLst>
          </p:nvPr>
        </p:nvSpPr>
        <p:spPr>
          <a:xfrm>
            <a:off x="5388878" y="1414926"/>
            <a:ext cx="5512802" cy="606291"/>
          </a:xfrm>
          <a:prstGeom prst="parallelogram">
            <a:avLst>
              <a:gd name="adj" fmla="val 0"/>
            </a:avLst>
          </a:prstGeom>
          <a:gradFill>
            <a:gsLst>
              <a:gs pos="22000">
                <a:srgbClr val="DD69B4">
                  <a:alpha val="15000"/>
                </a:srgbClr>
              </a:gs>
              <a:gs pos="100000">
                <a:srgbClr val="0054FF"/>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JS</a:t>
            </a:r>
            <a:r>
              <a:rPr lang="zh-CN" altLang="en-US"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核心概念</a:t>
            </a:r>
            <a:endParaRPr lang="zh-CN" altLang="en-US"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endParaRPr>
          </a:p>
        </p:txBody>
      </p:sp>
      <p:sp>
        <p:nvSpPr>
          <p:cNvPr id="24" name="平行四边形 23"/>
          <p:cNvSpPr/>
          <p:nvPr>
            <p:custDataLst>
              <p:tags r:id="rId2"/>
            </p:custDataLst>
          </p:nvPr>
        </p:nvSpPr>
        <p:spPr>
          <a:xfrm>
            <a:off x="4324023" y="1414927"/>
            <a:ext cx="709708" cy="606291"/>
          </a:xfrm>
          <a:prstGeom prst="parallelogram">
            <a:avLst>
              <a:gd name="adj" fmla="val 0"/>
            </a:avLst>
          </a:prstGeom>
          <a:gradFill>
            <a:gsLst>
              <a:gs pos="22000">
                <a:srgbClr val="DD69B4">
                  <a:alpha val="15000"/>
                </a:srgbClr>
              </a:gs>
              <a:gs pos="100000">
                <a:srgbClr val="0054FF"/>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smtClean="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1</a:t>
            </a:r>
            <a:endParaRPr lang="zh-CN" altLang="en-US"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endParaRPr>
          </a:p>
        </p:txBody>
      </p:sp>
      <p:sp>
        <p:nvSpPr>
          <p:cNvPr id="31" name="平行四边形 30"/>
          <p:cNvSpPr/>
          <p:nvPr>
            <p:custDataLst>
              <p:tags r:id="rId3"/>
            </p:custDataLst>
          </p:nvPr>
        </p:nvSpPr>
        <p:spPr>
          <a:xfrm>
            <a:off x="5409198" y="2481726"/>
            <a:ext cx="5512802" cy="606291"/>
          </a:xfrm>
          <a:prstGeom prst="parallelogram">
            <a:avLst>
              <a:gd name="adj" fmla="val 0"/>
            </a:avLst>
          </a:prstGeom>
          <a:gradFill>
            <a:gsLst>
              <a:gs pos="22000">
                <a:srgbClr val="DD69B4"/>
              </a:gs>
              <a:gs pos="100000">
                <a:srgbClr val="0054FF"/>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JS</a:t>
            </a:r>
            <a:r>
              <a:rPr lang="zh-CN" altLang="en-US"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设计模式</a:t>
            </a:r>
            <a:endParaRPr lang="zh-CN" altLang="en-US"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endParaRPr>
          </a:p>
        </p:txBody>
      </p:sp>
      <p:sp>
        <p:nvSpPr>
          <p:cNvPr id="32" name="平行四边形 31"/>
          <p:cNvSpPr/>
          <p:nvPr>
            <p:custDataLst>
              <p:tags r:id="rId4"/>
            </p:custDataLst>
          </p:nvPr>
        </p:nvSpPr>
        <p:spPr>
          <a:xfrm>
            <a:off x="4324023" y="2481727"/>
            <a:ext cx="709708" cy="606291"/>
          </a:xfrm>
          <a:prstGeom prst="parallelogram">
            <a:avLst>
              <a:gd name="adj" fmla="val 0"/>
            </a:avLst>
          </a:prstGeom>
          <a:gradFill>
            <a:gsLst>
              <a:gs pos="22000">
                <a:srgbClr val="DD69B4"/>
              </a:gs>
              <a:gs pos="100000">
                <a:srgbClr val="0054FF"/>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2</a:t>
            </a:r>
            <a:endParaRPr lang="en-US" altLang="zh-CN"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endParaRPr>
          </a:p>
        </p:txBody>
      </p:sp>
      <p:sp>
        <p:nvSpPr>
          <p:cNvPr id="10" name="平行四边形 9"/>
          <p:cNvSpPr/>
          <p:nvPr>
            <p:custDataLst>
              <p:tags r:id="rId5"/>
            </p:custDataLst>
          </p:nvPr>
        </p:nvSpPr>
        <p:spPr>
          <a:xfrm>
            <a:off x="5409198" y="3528206"/>
            <a:ext cx="5512802" cy="606291"/>
          </a:xfrm>
          <a:prstGeom prst="parallelogram">
            <a:avLst>
              <a:gd name="adj" fmla="val 0"/>
            </a:avLst>
          </a:prstGeom>
          <a:gradFill>
            <a:gsLst>
              <a:gs pos="22000">
                <a:srgbClr val="DD69B4">
                  <a:alpha val="15000"/>
                </a:srgbClr>
              </a:gs>
              <a:gs pos="100000">
                <a:srgbClr val="0054FF"/>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dirty="0" smtClean="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课程回归</a:t>
            </a:r>
            <a:endParaRPr lang="zh-CN" altLang="en-US"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endParaRPr>
          </a:p>
        </p:txBody>
      </p:sp>
      <p:sp>
        <p:nvSpPr>
          <p:cNvPr id="11" name="平行四边形 10"/>
          <p:cNvSpPr/>
          <p:nvPr>
            <p:custDataLst>
              <p:tags r:id="rId6"/>
            </p:custDataLst>
          </p:nvPr>
        </p:nvSpPr>
        <p:spPr>
          <a:xfrm>
            <a:off x="4344343" y="3548527"/>
            <a:ext cx="709708" cy="606291"/>
          </a:xfrm>
          <a:prstGeom prst="parallelogram">
            <a:avLst>
              <a:gd name="adj" fmla="val 0"/>
            </a:avLst>
          </a:prstGeom>
          <a:gradFill>
            <a:gsLst>
              <a:gs pos="22000">
                <a:srgbClr val="DD69B4">
                  <a:alpha val="15000"/>
                </a:srgbClr>
              </a:gs>
              <a:gs pos="100000">
                <a:srgbClr val="0054FF"/>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3</a:t>
            </a:r>
            <a:endParaRPr lang="zh-CN" altLang="en-US"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设计模式</a:t>
            </a:r>
            <a:endParaRPr lang="zh-CN" altLang="en-US" dirty="0"/>
          </a:p>
        </p:txBody>
      </p:sp>
      <p:sp>
        <p:nvSpPr>
          <p:cNvPr id="3" name="内容占位符 2"/>
          <p:cNvSpPr>
            <a:spLocks noGrp="1"/>
          </p:cNvSpPr>
          <p:nvPr>
            <p:ph idx="1"/>
          </p:nvPr>
        </p:nvSpPr>
        <p:spPr/>
        <p:txBody>
          <a:bodyPr/>
          <a:lstStyle/>
          <a:p>
            <a:r>
              <a:rPr lang="zh-CN" altLang="en-US" sz="2000" dirty="0" smtClean="0"/>
              <a:t>什么是设计模式</a:t>
            </a:r>
            <a:endParaRPr lang="en-US" altLang="zh-CN" sz="2000" dirty="0" smtClean="0"/>
          </a:p>
          <a:p>
            <a:pPr lvl="1"/>
            <a:r>
              <a:rPr lang="zh-CN" altLang="en-US" sz="1600" dirty="0" smtClean="0"/>
              <a:t>在</a:t>
            </a:r>
            <a:r>
              <a:rPr lang="zh-CN" altLang="en-US" sz="1600" dirty="0"/>
              <a:t>面向对象软件设计过程中针对特定问题的简洁而优雅的</a:t>
            </a:r>
            <a:r>
              <a:rPr lang="zh-CN" altLang="en-US" sz="1600" dirty="0" smtClean="0"/>
              <a:t>解决方案</a:t>
            </a:r>
            <a:endParaRPr lang="zh-CN" altLang="en-US" sz="1600" dirty="0"/>
          </a:p>
          <a:p>
            <a:pPr lvl="1"/>
            <a:r>
              <a:rPr lang="zh-CN" altLang="en-US" sz="1600" dirty="0"/>
              <a:t>通俗一点说，设计模式是在某种场合下对某个问题的一种解决</a:t>
            </a:r>
            <a:r>
              <a:rPr lang="zh-CN" altLang="en-US" sz="1600" dirty="0" smtClean="0"/>
              <a:t>方案</a:t>
            </a:r>
            <a:endParaRPr lang="en-US" altLang="zh-CN" sz="1600" dirty="0"/>
          </a:p>
          <a:p>
            <a:endParaRPr lang="en-US" altLang="zh-CN" sz="2000" dirty="0" smtClean="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设计原则</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
        <p:nvSpPr>
          <p:cNvPr id="5" name="矩形 4"/>
          <p:cNvSpPr/>
          <p:nvPr/>
        </p:nvSpPr>
        <p:spPr>
          <a:xfrm>
            <a:off x="557439" y="1353785"/>
            <a:ext cx="2292639" cy="553555"/>
          </a:xfrm>
          <a:prstGeom prst="rect">
            <a:avLst/>
          </a:prstGeom>
          <a:solidFill>
            <a:srgbClr val="0283CA"/>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单一职责（</a:t>
            </a:r>
            <a:r>
              <a:rPr lang="en-US" altLang="zh-CN" dirty="0" smtClean="0"/>
              <a:t>SRP</a:t>
            </a:r>
            <a:r>
              <a:rPr lang="zh-CN" altLang="en-US" dirty="0" smtClean="0"/>
              <a:t>）</a:t>
            </a:r>
            <a:endParaRPr lang="zh-CN" altLang="en-US" dirty="0"/>
          </a:p>
        </p:txBody>
      </p:sp>
      <p:sp>
        <p:nvSpPr>
          <p:cNvPr id="3" name="矩形 2"/>
          <p:cNvSpPr/>
          <p:nvPr/>
        </p:nvSpPr>
        <p:spPr>
          <a:xfrm>
            <a:off x="3648754" y="2795136"/>
            <a:ext cx="8072189" cy="1198880"/>
          </a:xfrm>
          <a:prstGeom prst="rect">
            <a:avLst/>
          </a:prstGeom>
        </p:spPr>
        <p:txBody>
          <a:bodyPr wrap="square">
            <a:spAutoFit/>
          </a:bodyPr>
          <a:lstStyle/>
          <a:p>
            <a:r>
              <a:rPr lang="zh-CN" altLang="en-US" dirty="0" smtClean="0">
                <a:solidFill>
                  <a:schemeClr val="bg1"/>
                </a:solidFill>
                <a:latin typeface="微软雅黑" panose="020B0503020204020204" pitchFamily="34" charset="-122"/>
                <a:ea typeface="微软雅黑" panose="020B0503020204020204" pitchFamily="34" charset="-122"/>
              </a:rPr>
              <a:t>一</a:t>
            </a:r>
            <a:r>
              <a:rPr lang="zh-CN" altLang="en-US" dirty="0">
                <a:solidFill>
                  <a:schemeClr val="bg1"/>
                </a:solidFill>
                <a:latin typeface="微软雅黑" panose="020B0503020204020204" pitchFamily="34" charset="-122"/>
                <a:ea typeface="微软雅黑" panose="020B0503020204020204" pitchFamily="34" charset="-122"/>
              </a:rPr>
              <a:t>个软件实体</a:t>
            </a:r>
            <a:r>
              <a:rPr lang="zh-CN" altLang="en-US" dirty="0" smtClean="0">
                <a:solidFill>
                  <a:schemeClr val="bg1"/>
                </a:solidFill>
                <a:latin typeface="微软雅黑" panose="020B0503020204020204" pitchFamily="34" charset="-122"/>
                <a:ea typeface="微软雅黑" panose="020B0503020204020204" pitchFamily="34" charset="-122"/>
              </a:rPr>
              <a:t>应当尽可能</a:t>
            </a:r>
            <a:r>
              <a:rPr lang="zh-CN" altLang="en-US" dirty="0">
                <a:solidFill>
                  <a:schemeClr val="bg1"/>
                </a:solidFill>
                <a:latin typeface="微软雅黑" panose="020B0503020204020204" pitchFamily="34" charset="-122"/>
                <a:ea typeface="微软雅黑" panose="020B0503020204020204" pitchFamily="34" charset="-122"/>
              </a:rPr>
              <a:t>少地与其他实体发生</a:t>
            </a:r>
            <a:r>
              <a:rPr lang="zh-CN" altLang="en-US" dirty="0" smtClean="0">
                <a:solidFill>
                  <a:schemeClr val="bg1"/>
                </a:solidFill>
                <a:latin typeface="微软雅黑" panose="020B0503020204020204" pitchFamily="34" charset="-122"/>
                <a:ea typeface="微软雅黑" panose="020B0503020204020204" pitchFamily="34" charset="-122"/>
              </a:rPr>
              <a:t>相互作用，应当</a:t>
            </a:r>
            <a:r>
              <a:rPr lang="zh-CN" altLang="en-US" dirty="0">
                <a:solidFill>
                  <a:schemeClr val="bg1"/>
                </a:solidFill>
                <a:latin typeface="微软雅黑" panose="020B0503020204020204" pitchFamily="34" charset="-122"/>
                <a:ea typeface="微软雅黑" panose="020B0503020204020204" pitchFamily="34" charset="-122"/>
              </a:rPr>
              <a:t>尽量减少对象之间的交互</a:t>
            </a:r>
            <a:endParaRPr lang="en-US" altLang="zh-CN" dirty="0" smtClean="0">
              <a:solidFill>
                <a:schemeClr val="bg1"/>
              </a:solidFill>
              <a:latin typeface="微软雅黑" panose="020B0503020204020204" pitchFamily="34" charset="-122"/>
              <a:ea typeface="微软雅黑" panose="020B0503020204020204" pitchFamily="34" charset="-122"/>
            </a:endParaRPr>
          </a:p>
          <a:p>
            <a:r>
              <a:rPr lang="zh-CN" altLang="en-US" dirty="0" smtClean="0">
                <a:solidFill>
                  <a:schemeClr val="bg1"/>
                </a:solidFill>
                <a:latin typeface="微软雅黑" panose="020B0503020204020204" pitchFamily="34" charset="-122"/>
                <a:ea typeface="微软雅黑" panose="020B0503020204020204" pitchFamily="34" charset="-122"/>
              </a:rPr>
              <a:t>如果</a:t>
            </a:r>
            <a:r>
              <a:rPr lang="zh-CN" altLang="en-US" dirty="0">
                <a:solidFill>
                  <a:schemeClr val="bg1"/>
                </a:solidFill>
                <a:latin typeface="微软雅黑" panose="020B0503020204020204" pitchFamily="34" charset="-122"/>
                <a:ea typeface="微软雅黑" panose="020B0503020204020204" pitchFamily="34" charset="-122"/>
              </a:rPr>
              <a:t>两个对象之间不必彼此直接通信，那么这两个对象就不要发生直接</a:t>
            </a:r>
            <a:r>
              <a:rPr lang="zh-CN" altLang="en-US" dirty="0" smtClean="0">
                <a:solidFill>
                  <a:schemeClr val="bg1"/>
                </a:solidFill>
                <a:latin typeface="微软雅黑" panose="020B0503020204020204" pitchFamily="34" charset="-122"/>
                <a:ea typeface="微软雅黑" panose="020B0503020204020204" pitchFamily="34" charset="-122"/>
              </a:rPr>
              <a:t>的相互联系，可以</a:t>
            </a:r>
            <a:r>
              <a:rPr lang="zh-CN" altLang="en-US" dirty="0">
                <a:solidFill>
                  <a:schemeClr val="bg1"/>
                </a:solidFill>
                <a:latin typeface="微软雅黑" panose="020B0503020204020204" pitchFamily="34" charset="-122"/>
                <a:ea typeface="微软雅黑" panose="020B0503020204020204" pitchFamily="34" charset="-122"/>
              </a:rPr>
              <a:t>转交给第三方进行</a:t>
            </a:r>
            <a:r>
              <a:rPr lang="zh-CN" altLang="en-US" dirty="0" smtClean="0">
                <a:solidFill>
                  <a:schemeClr val="bg1"/>
                </a:solidFill>
                <a:latin typeface="微软雅黑" panose="020B0503020204020204" pitchFamily="34" charset="-122"/>
                <a:ea typeface="微软雅黑" panose="020B0503020204020204" pitchFamily="34" charset="-122"/>
              </a:rPr>
              <a:t>处理</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6" name="矩形 5"/>
          <p:cNvSpPr/>
          <p:nvPr/>
        </p:nvSpPr>
        <p:spPr>
          <a:xfrm>
            <a:off x="557439" y="3026226"/>
            <a:ext cx="2292639" cy="553555"/>
          </a:xfrm>
          <a:prstGeom prst="rect">
            <a:avLst/>
          </a:prstGeom>
          <a:solidFill>
            <a:srgbClr val="0283CA"/>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最少知识（</a:t>
            </a:r>
            <a:r>
              <a:rPr lang="en-US" altLang="zh-CN" dirty="0" smtClean="0"/>
              <a:t>LKP</a:t>
            </a:r>
            <a:r>
              <a:rPr lang="zh-CN" altLang="en-US" dirty="0" smtClean="0"/>
              <a:t>）</a:t>
            </a:r>
            <a:endParaRPr lang="zh-CN" altLang="en-US" dirty="0"/>
          </a:p>
        </p:txBody>
      </p:sp>
      <p:sp>
        <p:nvSpPr>
          <p:cNvPr id="7" name="矩形 6"/>
          <p:cNvSpPr/>
          <p:nvPr/>
        </p:nvSpPr>
        <p:spPr>
          <a:xfrm>
            <a:off x="557439" y="4698668"/>
            <a:ext cx="2292639" cy="553555"/>
          </a:xfrm>
          <a:prstGeom prst="rect">
            <a:avLst/>
          </a:prstGeom>
          <a:solidFill>
            <a:srgbClr val="0283CA"/>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开放</a:t>
            </a:r>
            <a:r>
              <a:rPr lang="en-US" altLang="zh-CN" dirty="0" smtClean="0"/>
              <a:t>-</a:t>
            </a:r>
            <a:r>
              <a:rPr lang="zh-CN" altLang="en-US" dirty="0" smtClean="0"/>
              <a:t>封闭（</a:t>
            </a:r>
            <a:r>
              <a:rPr lang="en-US" altLang="zh-CN" dirty="0" smtClean="0"/>
              <a:t>OCP</a:t>
            </a:r>
            <a:r>
              <a:rPr lang="zh-CN" altLang="en-US" dirty="0" smtClean="0"/>
              <a:t>）</a:t>
            </a:r>
            <a:endParaRPr lang="zh-CN" altLang="en-US" dirty="0"/>
          </a:p>
        </p:txBody>
      </p:sp>
      <p:sp>
        <p:nvSpPr>
          <p:cNvPr id="8" name="矩形 7"/>
          <p:cNvSpPr/>
          <p:nvPr/>
        </p:nvSpPr>
        <p:spPr>
          <a:xfrm>
            <a:off x="3648755" y="1169276"/>
            <a:ext cx="8072189" cy="922020"/>
          </a:xfrm>
          <a:prstGeom prst="rect">
            <a:avLst/>
          </a:prstGeom>
        </p:spPr>
        <p:txBody>
          <a:bodyPr wrap="square">
            <a:spAutoFit/>
          </a:bodyPr>
          <a:lstStyle/>
          <a:p>
            <a:r>
              <a:rPr lang="zh-CN" altLang="en-US" dirty="0" smtClean="0">
                <a:solidFill>
                  <a:schemeClr val="bg1"/>
                </a:solidFill>
                <a:latin typeface="微软雅黑" panose="020B0503020204020204" pitchFamily="34" charset="-122"/>
                <a:ea typeface="微软雅黑" panose="020B0503020204020204" pitchFamily="34" charset="-122"/>
              </a:rPr>
              <a:t>一</a:t>
            </a:r>
            <a:r>
              <a:rPr lang="zh-CN" altLang="en-US" dirty="0">
                <a:solidFill>
                  <a:schemeClr val="bg1"/>
                </a:solidFill>
                <a:latin typeface="微软雅黑" panose="020B0503020204020204" pitchFamily="34" charset="-122"/>
                <a:ea typeface="微软雅黑" panose="020B0503020204020204" pitchFamily="34" charset="-122"/>
              </a:rPr>
              <a:t>个对象或方法只做一件事情</a:t>
            </a:r>
            <a:endParaRPr lang="en-US" altLang="zh-CN" dirty="0" smtClean="0">
              <a:solidFill>
                <a:schemeClr val="bg1"/>
              </a:solidFill>
              <a:latin typeface="微软雅黑" panose="020B0503020204020204" pitchFamily="34" charset="-122"/>
              <a:ea typeface="微软雅黑" panose="020B0503020204020204" pitchFamily="34" charset="-122"/>
            </a:endParaRPr>
          </a:p>
          <a:p>
            <a:r>
              <a:rPr lang="zh-CN" altLang="en-US" dirty="0" smtClean="0">
                <a:solidFill>
                  <a:schemeClr val="bg1"/>
                </a:solidFill>
                <a:latin typeface="微软雅黑" panose="020B0503020204020204" pitchFamily="34" charset="-122"/>
                <a:ea typeface="微软雅黑" panose="020B0503020204020204" pitchFamily="34" charset="-122"/>
              </a:rPr>
              <a:t>如果</a:t>
            </a:r>
            <a:r>
              <a:rPr lang="zh-CN" altLang="en-US" dirty="0">
                <a:solidFill>
                  <a:schemeClr val="bg1"/>
                </a:solidFill>
                <a:latin typeface="微软雅黑" panose="020B0503020204020204" pitchFamily="34" charset="-122"/>
                <a:ea typeface="微软雅黑" panose="020B0503020204020204" pitchFamily="34" charset="-122"/>
              </a:rPr>
              <a:t>一个方法承担了过多的职责，那么在需求的变迁过程中，需要改写这个方法的可能性就越</a:t>
            </a:r>
            <a:r>
              <a:rPr lang="zh-CN" altLang="en-US" dirty="0" smtClean="0">
                <a:solidFill>
                  <a:schemeClr val="bg1"/>
                </a:solidFill>
                <a:latin typeface="微软雅黑" panose="020B0503020204020204" pitchFamily="34" charset="-122"/>
                <a:ea typeface="微软雅黑" panose="020B0503020204020204" pitchFamily="34" charset="-122"/>
              </a:rPr>
              <a:t>大</a:t>
            </a:r>
            <a:r>
              <a:rPr lang="zh-CN" altLang="en-US" dirty="0">
                <a:solidFill>
                  <a:schemeClr val="bg1"/>
                </a:solidFill>
                <a:latin typeface="微软雅黑" panose="020B0503020204020204" pitchFamily="34" charset="-122"/>
                <a:ea typeface="微软雅黑" panose="020B0503020204020204" pitchFamily="34" charset="-122"/>
              </a:rPr>
              <a:t>，</a:t>
            </a:r>
            <a:r>
              <a:rPr lang="zh-CN" altLang="en-US" dirty="0" smtClean="0">
                <a:solidFill>
                  <a:schemeClr val="bg1"/>
                </a:solidFill>
                <a:latin typeface="微软雅黑" panose="020B0503020204020204" pitchFamily="34" charset="-122"/>
                <a:ea typeface="微软雅黑" panose="020B0503020204020204" pitchFamily="34" charset="-122"/>
              </a:rPr>
              <a:t>应该</a:t>
            </a:r>
            <a:r>
              <a:rPr lang="zh-CN" altLang="en-US" dirty="0">
                <a:solidFill>
                  <a:schemeClr val="bg1"/>
                </a:solidFill>
                <a:latin typeface="微软雅黑" panose="020B0503020204020204" pitchFamily="34" charset="-122"/>
                <a:ea typeface="微软雅黑" panose="020B0503020204020204" pitchFamily="34" charset="-122"/>
              </a:rPr>
              <a:t>把对象或方法划分</a:t>
            </a:r>
            <a:r>
              <a:rPr lang="zh-CN" altLang="en-US" dirty="0" smtClean="0">
                <a:solidFill>
                  <a:schemeClr val="bg1"/>
                </a:solidFill>
                <a:latin typeface="微软雅黑" panose="020B0503020204020204" pitchFamily="34" charset="-122"/>
                <a:ea typeface="微软雅黑" panose="020B0503020204020204" pitchFamily="34" charset="-122"/>
              </a:rPr>
              <a:t>成更小</a:t>
            </a:r>
            <a:r>
              <a:rPr lang="zh-CN" altLang="en-US" dirty="0">
                <a:solidFill>
                  <a:schemeClr val="bg1"/>
                </a:solidFill>
                <a:latin typeface="微软雅黑" panose="020B0503020204020204" pitchFamily="34" charset="-122"/>
                <a:ea typeface="微软雅黑" panose="020B0503020204020204" pitchFamily="34" charset="-122"/>
              </a:rPr>
              <a:t>的</a:t>
            </a:r>
            <a:r>
              <a:rPr lang="zh-CN" altLang="en-US" dirty="0" smtClean="0">
                <a:solidFill>
                  <a:schemeClr val="bg1"/>
                </a:solidFill>
                <a:latin typeface="微软雅黑" panose="020B0503020204020204" pitchFamily="34" charset="-122"/>
                <a:ea typeface="微软雅黑" panose="020B0503020204020204" pitchFamily="34" charset="-122"/>
              </a:rPr>
              <a:t>粒度</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9" name="矩形 8"/>
          <p:cNvSpPr/>
          <p:nvPr/>
        </p:nvSpPr>
        <p:spPr>
          <a:xfrm>
            <a:off x="3648753" y="4697995"/>
            <a:ext cx="8072189" cy="923330"/>
          </a:xfrm>
          <a:prstGeom prst="rect">
            <a:avLst/>
          </a:prstGeom>
        </p:spPr>
        <p:txBody>
          <a:bodyPr wrap="square">
            <a:spAutoFit/>
          </a:bodyPr>
          <a:lstStyle/>
          <a:p>
            <a:r>
              <a:rPr lang="zh-CN" altLang="en-US" dirty="0" smtClean="0">
                <a:solidFill>
                  <a:schemeClr val="bg1"/>
                </a:solidFill>
                <a:latin typeface="微软雅黑" panose="020B0503020204020204" pitchFamily="34" charset="-122"/>
                <a:ea typeface="微软雅黑" panose="020B0503020204020204" pitchFamily="34" charset="-122"/>
              </a:rPr>
              <a:t>软件</a:t>
            </a:r>
            <a:r>
              <a:rPr lang="zh-CN" altLang="en-US" dirty="0">
                <a:solidFill>
                  <a:schemeClr val="bg1"/>
                </a:solidFill>
                <a:latin typeface="微软雅黑" panose="020B0503020204020204" pitchFamily="34" charset="-122"/>
                <a:ea typeface="微软雅黑" panose="020B0503020204020204" pitchFamily="34" charset="-122"/>
              </a:rPr>
              <a:t>实体（类、模块、函数）等应该是</a:t>
            </a:r>
            <a:r>
              <a:rPr lang="zh-CN" altLang="en-US" dirty="0" smtClean="0">
                <a:solidFill>
                  <a:schemeClr val="bg1"/>
                </a:solidFill>
                <a:latin typeface="微软雅黑" panose="020B0503020204020204" pitchFamily="34" charset="-122"/>
                <a:ea typeface="微软雅黑" panose="020B0503020204020204" pitchFamily="34" charset="-122"/>
              </a:rPr>
              <a:t>可以扩展的，但是</a:t>
            </a:r>
            <a:r>
              <a:rPr lang="zh-CN" altLang="en-US" dirty="0">
                <a:solidFill>
                  <a:schemeClr val="bg1"/>
                </a:solidFill>
                <a:latin typeface="微软雅黑" panose="020B0503020204020204" pitchFamily="34" charset="-122"/>
                <a:ea typeface="微软雅黑" panose="020B0503020204020204" pitchFamily="34" charset="-122"/>
              </a:rPr>
              <a:t>不可修改</a:t>
            </a:r>
            <a:endParaRPr lang="zh-CN" altLang="en-US" dirty="0">
              <a:solidFill>
                <a:schemeClr val="bg1"/>
              </a:solidFill>
              <a:latin typeface="微软雅黑" panose="020B0503020204020204" pitchFamily="34" charset="-122"/>
              <a:ea typeface="微软雅黑" panose="020B0503020204020204" pitchFamily="34" charset="-122"/>
            </a:endParaRPr>
          </a:p>
          <a:p>
            <a:r>
              <a:rPr lang="zh-CN" altLang="en-US" dirty="0" smtClean="0">
                <a:solidFill>
                  <a:schemeClr val="bg1"/>
                </a:solidFill>
                <a:latin typeface="微软雅黑" panose="020B0503020204020204" pitchFamily="34" charset="-122"/>
                <a:ea typeface="微软雅黑" panose="020B0503020204020204" pitchFamily="34" charset="-122"/>
              </a:rPr>
              <a:t>当</a:t>
            </a:r>
            <a:r>
              <a:rPr lang="zh-CN" altLang="en-US" dirty="0">
                <a:solidFill>
                  <a:schemeClr val="bg1"/>
                </a:solidFill>
                <a:latin typeface="微软雅黑" panose="020B0503020204020204" pitchFamily="34" charset="-122"/>
                <a:ea typeface="微软雅黑" panose="020B0503020204020204" pitchFamily="34" charset="-122"/>
              </a:rPr>
              <a:t>需要改变一个程序的功能或者给这个程序增加新功能的时候，可以使用增加代码的方式，尽量避免改动程序的源代码，防止影响原系统的稳定</a:t>
            </a:r>
            <a:endParaRPr lang="zh-CN" altLang="en-US"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策略模式</a:t>
            </a:r>
            <a:endParaRPr lang="zh-CN" altLang="en-US" dirty="0"/>
          </a:p>
        </p:txBody>
      </p:sp>
      <p:sp>
        <p:nvSpPr>
          <p:cNvPr id="3" name="内容占位符 2"/>
          <p:cNvSpPr>
            <a:spLocks noGrp="1"/>
          </p:cNvSpPr>
          <p:nvPr>
            <p:ph idx="1"/>
          </p:nvPr>
        </p:nvSpPr>
        <p:spPr/>
        <p:txBody>
          <a:bodyPr/>
          <a:lstStyle/>
          <a:p>
            <a:r>
              <a:rPr lang="zh-CN" altLang="en-US" dirty="0" smtClean="0"/>
              <a:t>定义</a:t>
            </a:r>
            <a:r>
              <a:rPr lang="zh-CN" altLang="en-US" dirty="0"/>
              <a:t>一系列的算法，把它们一个个封装起来，并且使它们可以相互替换。</a:t>
            </a:r>
            <a:endParaRPr lang="en-US" altLang="zh-CN" dirty="0" smtClean="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策略模式 </a:t>
            </a:r>
            <a:r>
              <a:rPr lang="en-US" altLang="zh-CN" dirty="0" smtClean="0"/>
              <a:t>– </a:t>
            </a:r>
            <a:r>
              <a:rPr lang="zh-CN" altLang="en-US" dirty="0" smtClean="0"/>
              <a:t>计算奖金</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
        <p:nvSpPr>
          <p:cNvPr id="5" name="内容占位符 4"/>
          <p:cNvSpPr>
            <a:spLocks noGrp="1"/>
          </p:cNvSpPr>
          <p:nvPr>
            <p:ph idx="1"/>
          </p:nvPr>
        </p:nvSpPr>
        <p:spPr/>
        <p:txBody>
          <a:bodyPr/>
          <a:lstStyle/>
          <a:p>
            <a:r>
              <a:rPr lang="zh-CN" altLang="en-US" dirty="0"/>
              <a:t>某</a:t>
            </a:r>
            <a:r>
              <a:rPr lang="zh-CN" altLang="en-US" dirty="0" smtClean="0"/>
              <a:t>公司</a:t>
            </a:r>
            <a:r>
              <a:rPr lang="zh-CN" altLang="en-US" dirty="0"/>
              <a:t>的年终奖是根据员工的</a:t>
            </a:r>
            <a:r>
              <a:rPr lang="zh-CN" altLang="en-US" dirty="0" smtClean="0"/>
              <a:t>工资和</a:t>
            </a:r>
            <a:r>
              <a:rPr lang="zh-CN" altLang="en-US" dirty="0"/>
              <a:t>年底</a:t>
            </a:r>
            <a:r>
              <a:rPr lang="zh-CN" altLang="en-US" dirty="0" smtClean="0"/>
              <a:t>绩效综合情况</a:t>
            </a:r>
            <a:r>
              <a:rPr lang="zh-CN" altLang="en-US" dirty="0"/>
              <a:t>来发放的</a:t>
            </a:r>
            <a:r>
              <a:rPr lang="zh-CN" altLang="en-US" dirty="0" smtClean="0"/>
              <a:t>。例如，</a:t>
            </a:r>
            <a:endParaRPr lang="en-US" altLang="zh-CN" dirty="0" smtClean="0"/>
          </a:p>
          <a:p>
            <a:pPr lvl="1"/>
            <a:r>
              <a:rPr lang="zh-CN" altLang="en-US" dirty="0" smtClean="0"/>
              <a:t>绩效为 </a:t>
            </a:r>
            <a:r>
              <a:rPr lang="en-US" altLang="zh-CN" dirty="0" smtClean="0"/>
              <a:t>A </a:t>
            </a:r>
            <a:r>
              <a:rPr lang="zh-CN" altLang="en-US" dirty="0"/>
              <a:t>的人</a:t>
            </a:r>
            <a:r>
              <a:rPr lang="zh-CN" altLang="en-US" dirty="0" smtClean="0"/>
              <a:t>年终奖有 </a:t>
            </a:r>
            <a:r>
              <a:rPr lang="en-US" altLang="zh-CN" dirty="0" smtClean="0"/>
              <a:t>5 </a:t>
            </a:r>
            <a:r>
              <a:rPr lang="zh-CN" altLang="en-US" dirty="0" smtClean="0"/>
              <a:t>倍月工资</a:t>
            </a:r>
            <a:endParaRPr lang="en-US" altLang="zh-CN" dirty="0" smtClean="0"/>
          </a:p>
          <a:p>
            <a:pPr lvl="1"/>
            <a:r>
              <a:rPr lang="zh-CN" altLang="en-US" dirty="0" smtClean="0"/>
              <a:t>绩效为 </a:t>
            </a:r>
            <a:r>
              <a:rPr lang="en-US" altLang="zh-CN" dirty="0" smtClean="0"/>
              <a:t>B </a:t>
            </a:r>
            <a:r>
              <a:rPr lang="zh-CN" altLang="en-US" dirty="0"/>
              <a:t>的人年终奖</a:t>
            </a:r>
            <a:r>
              <a:rPr lang="zh-CN" altLang="en-US" dirty="0" smtClean="0"/>
              <a:t>有 </a:t>
            </a:r>
            <a:r>
              <a:rPr lang="en-US" altLang="zh-CN" dirty="0" smtClean="0"/>
              <a:t>3 </a:t>
            </a:r>
            <a:r>
              <a:rPr lang="zh-CN" altLang="en-US" dirty="0"/>
              <a:t>倍月工资</a:t>
            </a:r>
            <a:endParaRPr lang="en-US" altLang="zh-CN" dirty="0" smtClean="0"/>
          </a:p>
          <a:p>
            <a:pPr lvl="1"/>
            <a:r>
              <a:rPr lang="zh-CN" altLang="en-US" dirty="0" smtClean="0"/>
              <a:t>绩效为 </a:t>
            </a:r>
            <a:r>
              <a:rPr lang="en-US" altLang="zh-CN" dirty="0" smtClean="0"/>
              <a:t>C </a:t>
            </a:r>
            <a:r>
              <a:rPr lang="zh-CN" altLang="en-US" dirty="0"/>
              <a:t>的人年终奖</a:t>
            </a:r>
            <a:r>
              <a:rPr lang="zh-CN" altLang="en-US" dirty="0" smtClean="0"/>
              <a:t>是 </a:t>
            </a:r>
            <a:r>
              <a:rPr lang="en-US" altLang="zh-CN" dirty="0" smtClean="0"/>
              <a:t>2 </a:t>
            </a:r>
            <a:r>
              <a:rPr lang="zh-CN" altLang="en-US" dirty="0"/>
              <a:t>倍月工资</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策略模式 </a:t>
            </a:r>
            <a:r>
              <a:rPr lang="en-US" altLang="zh-CN" dirty="0" smtClean="0"/>
              <a:t>– </a:t>
            </a:r>
            <a:r>
              <a:rPr lang="zh-CN" altLang="en-US" dirty="0" smtClean="0"/>
              <a:t>计算奖金</a:t>
            </a:r>
            <a:endParaRPr lang="zh-CN" altLang="en-US" dirty="0"/>
          </a:p>
        </p:txBody>
      </p:sp>
      <p:sp>
        <p:nvSpPr>
          <p:cNvPr id="3" name="内容占位符 2"/>
          <p:cNvSpPr>
            <a:spLocks noGrp="1"/>
          </p:cNvSpPr>
          <p:nvPr>
            <p:ph idx="1"/>
          </p:nvPr>
        </p:nvSpPr>
        <p:spPr>
          <a:xfrm>
            <a:off x="557530" y="1130300"/>
            <a:ext cx="11161395" cy="610235"/>
          </a:xfrm>
        </p:spPr>
        <p:txBody>
          <a:bodyPr/>
          <a:lstStyle/>
          <a:p>
            <a:r>
              <a:rPr lang="zh-CN" altLang="en-US" dirty="0" smtClean="0"/>
              <a:t>我们来实现一下：</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
        <p:nvSpPr>
          <p:cNvPr id="7" name="矩形 6"/>
          <p:cNvSpPr/>
          <p:nvPr/>
        </p:nvSpPr>
        <p:spPr>
          <a:xfrm>
            <a:off x="557530" y="1739900"/>
            <a:ext cx="7636510" cy="4556760"/>
          </a:xfrm>
          <a:prstGeom prst="rect">
            <a:avLst/>
          </a:prstGeom>
        </p:spPr>
        <p:txBody>
          <a:bodyPr wrap="square">
            <a:noAutofit/>
          </a:bodyPr>
          <a:p>
            <a:pPr>
              <a:lnSpc>
                <a:spcPct val="105000"/>
              </a:lnSpc>
              <a:spcBef>
                <a:spcPts val="0"/>
              </a:spcBef>
              <a:spcAft>
                <a:spcPts val="0"/>
              </a:spcAft>
            </a:pPr>
            <a:r>
              <a:rPr lang="en-US" altLang="zh-CN" dirty="0" err="1">
                <a:solidFill>
                  <a:srgbClr val="C665A5"/>
                </a:solidFill>
                <a:latin typeface="Consolas" panose="020B0609020204030204" pitchFamily="49" charset="0"/>
              </a:rPr>
              <a:t>var</a:t>
            </a:r>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calculateBonus </a:t>
            </a:r>
            <a:r>
              <a:rPr lang="en-US" altLang="zh-CN" dirty="0">
                <a:solidFill>
                  <a:srgbClr val="ABB2BF"/>
                </a:solidFill>
                <a:latin typeface="Consolas" panose="020B0609020204030204" pitchFamily="49" charset="0"/>
              </a:rPr>
              <a:t>= </a:t>
            </a:r>
            <a:r>
              <a:rPr lang="en-US" altLang="zh-CN" dirty="0">
                <a:solidFill>
                  <a:srgbClr val="C665A5"/>
                </a:solidFill>
                <a:latin typeface="Consolas" panose="020B0609020204030204" pitchFamily="49" charset="0"/>
              </a:rPr>
              <a:t>function </a:t>
            </a:r>
            <a:r>
              <a:rPr lang="en-US" altLang="zh-CN" dirty="0">
                <a:solidFill>
                  <a:srgbClr val="ABB2BF"/>
                </a:solidFill>
                <a:latin typeface="Consolas" panose="020B0609020204030204" pitchFamily="49" charset="0"/>
              </a:rPr>
              <a:t>(</a:t>
            </a:r>
            <a:r>
              <a:rPr lang="en-US" altLang="zh-CN" dirty="0">
                <a:solidFill>
                  <a:srgbClr val="E06C75"/>
                </a:solidFill>
                <a:latin typeface="Consolas" panose="020B0609020204030204" pitchFamily="49" charset="0"/>
              </a:rPr>
              <a:t>level, salary</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pPr>
              <a:lnSpc>
                <a:spcPct val="105000"/>
              </a:lnSpc>
              <a:spcBef>
                <a:spcPts val="0"/>
              </a:spcBef>
              <a:spcAft>
                <a:spcPts val="0"/>
              </a:spcAft>
            </a:pPr>
            <a:r>
              <a:rPr lang="en-US" altLang="zh-CN" dirty="0">
                <a:solidFill>
                  <a:srgbClr val="ABB2BF"/>
                </a:solidFill>
                <a:latin typeface="Consolas" panose="020B0609020204030204" pitchFamily="49" charset="0"/>
              </a:rPr>
              <a:t>  </a:t>
            </a:r>
            <a:r>
              <a:rPr lang="en-US" altLang="zh-CN" dirty="0">
                <a:solidFill>
                  <a:srgbClr val="C665A5"/>
                </a:solidFill>
                <a:latin typeface="Consolas" panose="020B0609020204030204" pitchFamily="49" charset="0"/>
              </a:rPr>
              <a:t>var </a:t>
            </a:r>
            <a:r>
              <a:rPr lang="en-US" altLang="zh-CN" dirty="0">
                <a:solidFill>
                  <a:srgbClr val="E06C75"/>
                </a:solidFill>
                <a:latin typeface="Consolas" panose="020B0609020204030204" pitchFamily="49" charset="0"/>
              </a:rPr>
              <a:t>bonus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C99766"/>
                </a:solidFill>
                <a:latin typeface="Consolas" panose="020B0609020204030204" pitchFamily="49" charset="0"/>
              </a:rPr>
              <a:t>0</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pPr indent="0" fontAlgn="auto">
              <a:lnSpc>
                <a:spcPts val="1500"/>
              </a:lnSpc>
              <a:spcBef>
                <a:spcPts val="0"/>
              </a:spcBef>
              <a:spcAft>
                <a:spcPts val="0"/>
              </a:spcAft>
            </a:pPr>
            <a:endParaRPr lang="en-US" altLang="zh-CN" dirty="0">
              <a:solidFill>
                <a:srgbClr val="ABB2BF"/>
              </a:solidFill>
              <a:latin typeface="Consolas" panose="020B0609020204030204" pitchFamily="49" charset="0"/>
            </a:endParaRPr>
          </a:p>
          <a:p>
            <a:pPr>
              <a:lnSpc>
                <a:spcPct val="105000"/>
              </a:lnSpc>
              <a:spcBef>
                <a:spcPts val="0"/>
              </a:spcBef>
              <a:spcAft>
                <a:spcPts val="0"/>
              </a:spcAft>
            </a:pPr>
            <a:r>
              <a:rPr lang="en-US" altLang="zh-CN" dirty="0">
                <a:solidFill>
                  <a:srgbClr val="ABB2BF"/>
                </a:solidFill>
                <a:latin typeface="Consolas" panose="020B0609020204030204" pitchFamily="49" charset="0"/>
              </a:rPr>
              <a:t>  </a:t>
            </a:r>
            <a:r>
              <a:rPr lang="en-US" altLang="zh-CN" dirty="0">
                <a:solidFill>
                  <a:srgbClr val="C665A5"/>
                </a:solidFill>
                <a:latin typeface="Consolas" panose="020B0609020204030204" pitchFamily="49" charset="0"/>
              </a:rPr>
              <a:t>if </a:t>
            </a:r>
            <a:r>
              <a:rPr lang="en-US" altLang="zh-CN" dirty="0">
                <a:solidFill>
                  <a:srgbClr val="ABB2BF"/>
                </a:solidFill>
                <a:latin typeface="Consolas" panose="020B0609020204030204" pitchFamily="49" charset="0"/>
              </a:rPr>
              <a:t>(</a:t>
            </a:r>
            <a:r>
              <a:rPr lang="en-US" altLang="zh-CN" dirty="0">
                <a:solidFill>
                  <a:srgbClr val="E06C75"/>
                </a:solidFill>
                <a:latin typeface="Consolas" panose="020B0609020204030204" pitchFamily="49" charset="0"/>
              </a:rPr>
              <a:t>level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98C379"/>
                </a:solidFill>
                <a:latin typeface="Consolas" panose="020B0609020204030204" pitchFamily="49" charset="0"/>
              </a:rPr>
              <a:t>'A'</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pPr>
              <a:lnSpc>
                <a:spcPct val="105000"/>
              </a:lnSpc>
              <a:spcBef>
                <a:spcPts val="0"/>
              </a:spcBef>
              <a:spcAft>
                <a:spcPts val="0"/>
              </a:spcAft>
            </a:pPr>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bonus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salary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C99766"/>
                </a:solidFill>
                <a:latin typeface="Consolas" panose="020B0609020204030204" pitchFamily="49" charset="0"/>
              </a:rPr>
              <a:t>5</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pPr>
              <a:lnSpc>
                <a:spcPct val="105000"/>
              </a:lnSpc>
              <a:spcBef>
                <a:spcPts val="0"/>
              </a:spcBef>
              <a:spcAft>
                <a:spcPts val="0"/>
              </a:spcAft>
            </a:pPr>
            <a:r>
              <a:rPr lang="en-US" altLang="zh-CN" dirty="0">
                <a:solidFill>
                  <a:srgbClr val="ABB2BF"/>
                </a:solidFill>
                <a:latin typeface="Consolas" panose="020B0609020204030204" pitchFamily="49" charset="0"/>
              </a:rPr>
              <a:t>  } </a:t>
            </a:r>
            <a:r>
              <a:rPr lang="en-US" altLang="zh-CN" dirty="0">
                <a:solidFill>
                  <a:srgbClr val="C665A5"/>
                </a:solidFill>
                <a:latin typeface="Consolas" panose="020B0609020204030204" pitchFamily="49" charset="0"/>
              </a:rPr>
              <a:t>else if</a:t>
            </a:r>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level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98C379"/>
                </a:solidFill>
                <a:latin typeface="Consolas" panose="020B0609020204030204" pitchFamily="49" charset="0"/>
              </a:rPr>
              <a:t>'B'</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pPr>
              <a:lnSpc>
                <a:spcPct val="105000"/>
              </a:lnSpc>
              <a:spcBef>
                <a:spcPts val="0"/>
              </a:spcBef>
              <a:spcAft>
                <a:spcPts val="0"/>
              </a:spcAft>
            </a:pPr>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bonus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salary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C99766"/>
                </a:solidFill>
                <a:latin typeface="Consolas" panose="020B0609020204030204" pitchFamily="49" charset="0"/>
              </a:rPr>
              <a:t>3</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pPr>
              <a:lnSpc>
                <a:spcPct val="105000"/>
              </a:lnSpc>
              <a:spcBef>
                <a:spcPts val="0"/>
              </a:spcBef>
              <a:spcAft>
                <a:spcPts val="0"/>
              </a:spcAft>
            </a:pPr>
            <a:r>
              <a:rPr lang="en-US" altLang="zh-CN" dirty="0">
                <a:solidFill>
                  <a:srgbClr val="ABB2BF"/>
                </a:solidFill>
                <a:latin typeface="Consolas" panose="020B0609020204030204" pitchFamily="49" charset="0"/>
              </a:rPr>
              <a:t>  } </a:t>
            </a:r>
            <a:r>
              <a:rPr lang="en-US" altLang="zh-CN" dirty="0">
                <a:solidFill>
                  <a:srgbClr val="C665A5"/>
                </a:solidFill>
                <a:latin typeface="Consolas" panose="020B0609020204030204" pitchFamily="49" charset="0"/>
              </a:rPr>
              <a:t>else if</a:t>
            </a:r>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level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98C379"/>
                </a:solidFill>
                <a:latin typeface="Consolas" panose="020B0609020204030204" pitchFamily="49" charset="0"/>
              </a:rPr>
              <a:t>'C'</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pPr>
              <a:lnSpc>
                <a:spcPct val="105000"/>
              </a:lnSpc>
              <a:spcBef>
                <a:spcPts val="0"/>
              </a:spcBef>
              <a:spcAft>
                <a:spcPts val="0"/>
              </a:spcAft>
            </a:pPr>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bonus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salary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C99766"/>
                </a:solidFill>
                <a:latin typeface="Consolas" panose="020B0609020204030204" pitchFamily="49" charset="0"/>
              </a:rPr>
              <a:t>2</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pPr>
              <a:lnSpc>
                <a:spcPct val="105000"/>
              </a:lnSpc>
              <a:spcBef>
                <a:spcPts val="0"/>
              </a:spcBef>
              <a:spcAft>
                <a:spcPts val="0"/>
              </a:spcAft>
            </a:pP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pPr indent="0" fontAlgn="auto">
              <a:lnSpc>
                <a:spcPts val="1500"/>
              </a:lnSpc>
              <a:spcBef>
                <a:spcPts val="0"/>
              </a:spcBef>
              <a:spcAft>
                <a:spcPts val="0"/>
              </a:spcAft>
            </a:pPr>
            <a:endParaRPr lang="en-US" altLang="zh-CN" dirty="0">
              <a:solidFill>
                <a:srgbClr val="ABB2BF"/>
              </a:solidFill>
              <a:latin typeface="Consolas" panose="020B0609020204030204" pitchFamily="49" charset="0"/>
            </a:endParaRPr>
          </a:p>
          <a:p>
            <a:pPr>
              <a:lnSpc>
                <a:spcPct val="105000"/>
              </a:lnSpc>
              <a:spcBef>
                <a:spcPts val="0"/>
              </a:spcBef>
              <a:spcAft>
                <a:spcPts val="0"/>
              </a:spcAft>
            </a:pPr>
            <a:r>
              <a:rPr lang="en-US" altLang="zh-CN" dirty="0">
                <a:solidFill>
                  <a:srgbClr val="ABB2BF"/>
                </a:solidFill>
                <a:latin typeface="Consolas" panose="020B0609020204030204" pitchFamily="49" charset="0"/>
              </a:rPr>
              <a:t>  </a:t>
            </a:r>
            <a:r>
              <a:rPr lang="en-US" altLang="zh-CN" dirty="0">
                <a:solidFill>
                  <a:srgbClr val="C665A5"/>
                </a:solidFill>
                <a:latin typeface="Consolas" panose="020B0609020204030204" pitchFamily="49" charset="0"/>
              </a:rPr>
              <a:t>return </a:t>
            </a:r>
            <a:r>
              <a:rPr lang="en-US" altLang="zh-CN" dirty="0">
                <a:solidFill>
                  <a:srgbClr val="E06C75"/>
                </a:solidFill>
                <a:latin typeface="Consolas" panose="020B0609020204030204" pitchFamily="49" charset="0"/>
                <a:sym typeface="+mn-ea"/>
              </a:rPr>
              <a:t>bonus</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pPr>
              <a:lnSpc>
                <a:spcPct val="105000"/>
              </a:lnSpc>
              <a:spcBef>
                <a:spcPts val="0"/>
              </a:spcBef>
              <a:spcAft>
                <a:spcPts val="0"/>
              </a:spcAft>
            </a:pP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pPr indent="0" fontAlgn="auto">
              <a:lnSpc>
                <a:spcPts val="1500"/>
              </a:lnSpc>
              <a:spcBef>
                <a:spcPts val="0"/>
              </a:spcBef>
              <a:spcAft>
                <a:spcPts val="0"/>
              </a:spcAft>
            </a:pPr>
            <a:endParaRPr lang="en-US" altLang="zh-CN" dirty="0">
              <a:solidFill>
                <a:srgbClr val="ABB2BF"/>
              </a:solidFill>
              <a:latin typeface="Consolas" panose="020B0609020204030204" pitchFamily="49" charset="0"/>
            </a:endParaRPr>
          </a:p>
          <a:p>
            <a:pPr>
              <a:lnSpc>
                <a:spcPct val="105000"/>
              </a:lnSpc>
              <a:spcBef>
                <a:spcPts val="0"/>
              </a:spcBef>
              <a:spcAft>
                <a:spcPts val="0"/>
              </a:spcAft>
            </a:pPr>
            <a:r>
              <a:rPr lang="en-US" altLang="zh-CN" dirty="0">
                <a:solidFill>
                  <a:srgbClr val="E06C75"/>
                </a:solidFill>
                <a:latin typeface="Consolas" panose="020B0609020204030204" pitchFamily="49" charset="0"/>
              </a:rPr>
              <a:t>console</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log</a:t>
            </a:r>
            <a:r>
              <a:rPr lang="en-US" altLang="zh-CN" dirty="0">
                <a:solidFill>
                  <a:srgbClr val="ABB2BF"/>
                </a:solidFill>
                <a:latin typeface="Consolas" panose="020B0609020204030204" pitchFamily="49" charset="0"/>
              </a:rPr>
              <a:t>(</a:t>
            </a:r>
            <a:r>
              <a:rPr lang="en-US" altLang="zh-CN" dirty="0" err="1">
                <a:solidFill>
                  <a:srgbClr val="E06C75"/>
                </a:solidFill>
                <a:latin typeface="Consolas" panose="020B0609020204030204" pitchFamily="49" charset="0"/>
              </a:rPr>
              <a:t>calculateBonus</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'A'</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10000</a:t>
            </a:r>
            <a:r>
              <a:rPr lang="en-US" altLang="zh-CN" dirty="0">
                <a:solidFill>
                  <a:srgbClr val="ABB2BF"/>
                </a:solidFill>
                <a:latin typeface="Consolas" panose="020B0609020204030204" pitchFamily="49" charset="0"/>
              </a:rPr>
              <a:t>)); </a:t>
            </a:r>
            <a:r>
              <a:rPr lang="en-US" altLang="zh-CN" i="1" dirty="0">
                <a:solidFill>
                  <a:srgbClr val="7F848E"/>
                </a:solidFill>
                <a:latin typeface="Consolas" panose="020B0609020204030204" pitchFamily="49" charset="0"/>
              </a:rPr>
              <a:t>// </a:t>
            </a:r>
            <a:r>
              <a:rPr lang="zh-CN" altLang="en-US" i="1" dirty="0">
                <a:solidFill>
                  <a:srgbClr val="7F848E"/>
                </a:solidFill>
                <a:latin typeface="Consolas" panose="020B0609020204030204" pitchFamily="49" charset="0"/>
              </a:rPr>
              <a:t>输出：</a:t>
            </a:r>
            <a:r>
              <a:rPr lang="en-US" altLang="zh-CN" i="1" dirty="0">
                <a:solidFill>
                  <a:srgbClr val="7F848E"/>
                </a:solidFill>
                <a:latin typeface="Consolas" panose="020B0609020204030204" pitchFamily="49" charset="0"/>
              </a:rPr>
              <a:t>50000</a:t>
            </a:r>
            <a:endParaRPr lang="zh-CN" altLang="en-US" dirty="0">
              <a:solidFill>
                <a:srgbClr val="ABB2BF"/>
              </a:solidFill>
              <a:latin typeface="Consolas" panose="020B0609020204030204" pitchFamily="49" charset="0"/>
            </a:endParaRPr>
          </a:p>
          <a:p>
            <a:pPr>
              <a:lnSpc>
                <a:spcPct val="105000"/>
              </a:lnSpc>
              <a:spcBef>
                <a:spcPts val="0"/>
              </a:spcBef>
              <a:spcAft>
                <a:spcPts val="0"/>
              </a:spcAft>
            </a:pPr>
            <a:r>
              <a:rPr lang="en-US" altLang="zh-CN" dirty="0">
                <a:solidFill>
                  <a:srgbClr val="E06C75"/>
                </a:solidFill>
                <a:latin typeface="Consolas" panose="020B0609020204030204" pitchFamily="49" charset="0"/>
              </a:rPr>
              <a:t>console</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log</a:t>
            </a:r>
            <a:r>
              <a:rPr lang="en-US" altLang="zh-CN" dirty="0">
                <a:solidFill>
                  <a:srgbClr val="ABB2BF"/>
                </a:solidFill>
                <a:latin typeface="Consolas" panose="020B0609020204030204" pitchFamily="49" charset="0"/>
              </a:rPr>
              <a:t>(</a:t>
            </a:r>
            <a:r>
              <a:rPr lang="en-US" altLang="zh-CN" dirty="0" err="1">
                <a:solidFill>
                  <a:srgbClr val="E06C75"/>
                </a:solidFill>
                <a:latin typeface="Consolas" panose="020B0609020204030204" pitchFamily="49" charset="0"/>
              </a:rPr>
              <a:t>calculateBonus</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'B'</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8000</a:t>
            </a:r>
            <a:r>
              <a:rPr lang="en-US" altLang="zh-CN" dirty="0">
                <a:solidFill>
                  <a:srgbClr val="ABB2BF"/>
                </a:solidFill>
                <a:latin typeface="Consolas" panose="020B0609020204030204" pitchFamily="49" charset="0"/>
              </a:rPr>
              <a:t>)); </a:t>
            </a:r>
            <a:r>
              <a:rPr lang="en-US" altLang="zh-CN" i="1" dirty="0">
                <a:solidFill>
                  <a:srgbClr val="7F848E"/>
                </a:solidFill>
                <a:latin typeface="Consolas" panose="020B0609020204030204" pitchFamily="49" charset="0"/>
              </a:rPr>
              <a:t>// </a:t>
            </a:r>
            <a:r>
              <a:rPr lang="zh-CN" altLang="en-US" i="1" dirty="0">
                <a:solidFill>
                  <a:srgbClr val="7F848E"/>
                </a:solidFill>
                <a:latin typeface="Consolas" panose="020B0609020204030204" pitchFamily="49" charset="0"/>
              </a:rPr>
              <a:t>输出：</a:t>
            </a:r>
            <a:r>
              <a:rPr lang="en-US" altLang="zh-CN" i="1" dirty="0">
                <a:solidFill>
                  <a:srgbClr val="7F848E"/>
                </a:solidFill>
                <a:latin typeface="Consolas" panose="020B0609020204030204" pitchFamily="49" charset="0"/>
              </a:rPr>
              <a:t>24000</a:t>
            </a:r>
            <a:endParaRPr lang="zh-CN" altLang="en-US" b="0" dirty="0">
              <a:solidFill>
                <a:srgbClr val="ABB2BF"/>
              </a:solidFill>
              <a:effectLst/>
              <a:latin typeface="Consolas" panose="020B0609020204030204" pitchFamily="49"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策略模式 </a:t>
            </a:r>
            <a:r>
              <a:rPr lang="en-US" altLang="zh-CN" dirty="0"/>
              <a:t>– </a:t>
            </a:r>
            <a:r>
              <a:rPr lang="zh-CN" altLang="en-US" dirty="0"/>
              <a:t>计算奖金</a:t>
            </a:r>
            <a:endParaRPr lang="zh-CN" altLang="en-US" dirty="0"/>
          </a:p>
        </p:txBody>
      </p:sp>
      <p:sp>
        <p:nvSpPr>
          <p:cNvPr id="3" name="内容占位符 2"/>
          <p:cNvSpPr>
            <a:spLocks noGrp="1"/>
          </p:cNvSpPr>
          <p:nvPr>
            <p:ph idx="1"/>
          </p:nvPr>
        </p:nvSpPr>
        <p:spPr/>
        <p:txBody>
          <a:bodyPr/>
          <a:lstStyle/>
          <a:p>
            <a:r>
              <a:rPr lang="zh-CN" altLang="en-US" dirty="0" smtClean="0">
                <a:latin typeface="Consolas" panose="020B0609020204030204" pitchFamily="49" charset="0"/>
              </a:rPr>
              <a:t>缺点：</a:t>
            </a:r>
            <a:endParaRPr lang="en-US" altLang="zh-CN" dirty="0" smtClean="0">
              <a:latin typeface="Consolas" panose="020B0609020204030204" pitchFamily="49" charset="0"/>
            </a:endParaRPr>
          </a:p>
          <a:p>
            <a:pPr lvl="1"/>
            <a:r>
              <a:rPr lang="zh-CN" altLang="en-US" dirty="0" smtClean="0">
                <a:latin typeface="Consolas" panose="020B0609020204030204" pitchFamily="49" charset="0"/>
              </a:rPr>
              <a:t>十分庞大，包含很多 </a:t>
            </a:r>
            <a:r>
              <a:rPr lang="en-US" altLang="zh-CN" dirty="0" smtClean="0">
                <a:latin typeface="Consolas" panose="020B0609020204030204" pitchFamily="49" charset="0"/>
              </a:rPr>
              <a:t>if-else </a:t>
            </a:r>
            <a:r>
              <a:rPr lang="zh-CN" altLang="en-US" dirty="0" smtClean="0">
                <a:latin typeface="Consolas" panose="020B0609020204030204" pitchFamily="49" charset="0"/>
              </a:rPr>
              <a:t>语句</a:t>
            </a:r>
            <a:endParaRPr lang="en-US" altLang="zh-CN" dirty="0" smtClean="0">
              <a:latin typeface="Consolas" panose="020B0609020204030204" pitchFamily="49" charset="0"/>
            </a:endParaRPr>
          </a:p>
          <a:p>
            <a:pPr lvl="1"/>
            <a:r>
              <a:rPr lang="zh-CN" altLang="en-US" dirty="0" smtClean="0">
                <a:latin typeface="Consolas" panose="020B0609020204030204" pitchFamily="49" charset="0"/>
              </a:rPr>
              <a:t>缺乏弹性，如需要增加 </a:t>
            </a:r>
            <a:r>
              <a:rPr lang="en-US" altLang="zh-CN" dirty="0" smtClean="0">
                <a:latin typeface="Consolas" panose="020B0609020204030204" pitchFamily="49" charset="0"/>
              </a:rPr>
              <a:t>S</a:t>
            </a:r>
            <a:r>
              <a:rPr lang="zh-CN" altLang="en-US" dirty="0" smtClean="0">
                <a:latin typeface="Consolas" panose="020B0609020204030204" pitchFamily="49" charset="0"/>
              </a:rPr>
              <a:t>、</a:t>
            </a:r>
            <a:r>
              <a:rPr lang="en-US" altLang="zh-CN" dirty="0" smtClean="0">
                <a:latin typeface="Consolas" panose="020B0609020204030204" pitchFamily="49" charset="0"/>
              </a:rPr>
              <a:t>D </a:t>
            </a:r>
            <a:r>
              <a:rPr lang="zh-CN" altLang="en-US" dirty="0" smtClean="0">
                <a:latin typeface="Consolas" panose="020B0609020204030204" pitchFamily="49" charset="0"/>
              </a:rPr>
              <a:t>等级绩效，需要更改函数内部逻辑，违反了</a:t>
            </a:r>
            <a:r>
              <a:rPr lang="zh-CN" altLang="en-US" dirty="0" smtClean="0"/>
              <a:t>开放</a:t>
            </a:r>
            <a:r>
              <a:rPr lang="en-US" altLang="zh-CN" dirty="0" smtClean="0"/>
              <a:t>-</a:t>
            </a:r>
            <a:r>
              <a:rPr lang="zh-CN" altLang="en-US" dirty="0" smtClean="0"/>
              <a:t>封闭原则</a:t>
            </a:r>
            <a:endParaRPr lang="en-US" altLang="zh-CN" dirty="0" smtClean="0"/>
          </a:p>
          <a:p>
            <a:pPr lvl="1"/>
            <a:r>
              <a:rPr lang="zh-CN" altLang="en-US" dirty="0" smtClean="0"/>
              <a:t>可复用性差</a:t>
            </a:r>
            <a:endParaRPr lang="en-US" altLang="zh-CN" dirty="0" smtClean="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策略模式 </a:t>
            </a:r>
            <a:r>
              <a:rPr lang="en-US" altLang="zh-CN" dirty="0"/>
              <a:t>– </a:t>
            </a:r>
            <a:r>
              <a:rPr lang="zh-CN" altLang="en-US" dirty="0"/>
              <a:t>计算</a:t>
            </a:r>
            <a:r>
              <a:rPr lang="zh-CN" altLang="en-US" dirty="0" smtClean="0"/>
              <a:t>奖金</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
        <p:nvSpPr>
          <p:cNvPr id="5" name="矩形 4"/>
          <p:cNvSpPr/>
          <p:nvPr/>
        </p:nvSpPr>
        <p:spPr>
          <a:xfrm>
            <a:off x="557439" y="1740837"/>
            <a:ext cx="7743879" cy="4524315"/>
          </a:xfrm>
          <a:prstGeom prst="rect">
            <a:avLst/>
          </a:prstGeom>
        </p:spPr>
        <p:txBody>
          <a:bodyPr wrap="square">
            <a:spAutoFit/>
          </a:bodyPr>
          <a:lstStyle/>
          <a:p>
            <a:r>
              <a:rPr lang="en-US" altLang="zh-CN" dirty="0" err="1">
                <a:solidFill>
                  <a:srgbClr val="C678DD"/>
                </a:solidFill>
                <a:latin typeface="Consolas" panose="020B0609020204030204" pitchFamily="49" charset="0"/>
              </a:rPr>
              <a:t>var</a:t>
            </a:r>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strategies</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a:solidFill>
                  <a:srgbClr val="61AFEF"/>
                </a:solidFill>
                <a:latin typeface="Consolas" panose="020B0609020204030204" pitchFamily="49" charset="0"/>
              </a:rPr>
              <a:t>A</a:t>
            </a:r>
            <a:r>
              <a:rPr lang="en-US" altLang="zh-CN" dirty="0">
                <a:solidFill>
                  <a:srgbClr val="ABB2BF"/>
                </a:solidFill>
                <a:latin typeface="Consolas" panose="020B0609020204030204" pitchFamily="49" charset="0"/>
              </a:rPr>
              <a:t>: </a:t>
            </a:r>
            <a:r>
              <a:rPr lang="en-US" altLang="zh-CN" dirty="0">
                <a:solidFill>
                  <a:srgbClr val="C678DD"/>
                </a:solidFill>
                <a:latin typeface="Consolas" panose="020B0609020204030204" pitchFamily="49" charset="0"/>
              </a:rPr>
              <a:t>function</a:t>
            </a:r>
            <a:r>
              <a:rPr lang="en-US" altLang="zh-CN" dirty="0">
                <a:solidFill>
                  <a:srgbClr val="ABB2BF"/>
                </a:solidFill>
                <a:latin typeface="Consolas" panose="020B0609020204030204" pitchFamily="49" charset="0"/>
              </a:rPr>
              <a:t> (</a:t>
            </a:r>
            <a:r>
              <a:rPr lang="en-US" altLang="zh-CN" i="1" dirty="0">
                <a:solidFill>
                  <a:srgbClr val="E06C75"/>
                </a:solidFill>
                <a:latin typeface="Consolas" panose="020B0609020204030204" pitchFamily="49" charset="0"/>
              </a:rPr>
              <a:t>salary</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a:solidFill>
                  <a:srgbClr val="C678DD"/>
                </a:solidFill>
                <a:latin typeface="Consolas" panose="020B0609020204030204" pitchFamily="49" charset="0"/>
              </a:rPr>
              <a:t>return</a:t>
            </a:r>
            <a:r>
              <a:rPr lang="en-US" altLang="zh-CN" dirty="0">
                <a:solidFill>
                  <a:srgbClr val="ABB2BF"/>
                </a:solidFill>
                <a:latin typeface="Consolas" panose="020B0609020204030204" pitchFamily="49" charset="0"/>
              </a:rPr>
              <a:t> </a:t>
            </a:r>
            <a:r>
              <a:rPr lang="en-US" altLang="zh-CN" i="1" dirty="0">
                <a:solidFill>
                  <a:srgbClr val="E06C75"/>
                </a:solidFill>
                <a:latin typeface="Consolas" panose="020B0609020204030204" pitchFamily="49" charset="0"/>
              </a:rPr>
              <a:t>salary</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5</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a:solidFill>
                  <a:srgbClr val="61AFEF"/>
                </a:solidFill>
                <a:latin typeface="Consolas" panose="020B0609020204030204" pitchFamily="49" charset="0"/>
              </a:rPr>
              <a:t>B</a:t>
            </a:r>
            <a:r>
              <a:rPr lang="en-US" altLang="zh-CN" dirty="0">
                <a:solidFill>
                  <a:srgbClr val="ABB2BF"/>
                </a:solidFill>
                <a:latin typeface="Consolas" panose="020B0609020204030204" pitchFamily="49" charset="0"/>
              </a:rPr>
              <a:t>: </a:t>
            </a:r>
            <a:r>
              <a:rPr lang="en-US" altLang="zh-CN" dirty="0">
                <a:solidFill>
                  <a:srgbClr val="C678DD"/>
                </a:solidFill>
                <a:latin typeface="Consolas" panose="020B0609020204030204" pitchFamily="49" charset="0"/>
              </a:rPr>
              <a:t>function</a:t>
            </a:r>
            <a:r>
              <a:rPr lang="en-US" altLang="zh-CN" dirty="0">
                <a:solidFill>
                  <a:srgbClr val="ABB2BF"/>
                </a:solidFill>
                <a:latin typeface="Consolas" panose="020B0609020204030204" pitchFamily="49" charset="0"/>
              </a:rPr>
              <a:t> (</a:t>
            </a:r>
            <a:r>
              <a:rPr lang="en-US" altLang="zh-CN" i="1" dirty="0">
                <a:solidFill>
                  <a:srgbClr val="E06C75"/>
                </a:solidFill>
                <a:latin typeface="Consolas" panose="020B0609020204030204" pitchFamily="49" charset="0"/>
              </a:rPr>
              <a:t>salary</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a:solidFill>
                  <a:srgbClr val="C678DD"/>
                </a:solidFill>
                <a:latin typeface="Consolas" panose="020B0609020204030204" pitchFamily="49" charset="0"/>
              </a:rPr>
              <a:t>return</a:t>
            </a:r>
            <a:r>
              <a:rPr lang="en-US" altLang="zh-CN" dirty="0">
                <a:solidFill>
                  <a:srgbClr val="ABB2BF"/>
                </a:solidFill>
                <a:latin typeface="Consolas" panose="020B0609020204030204" pitchFamily="49" charset="0"/>
              </a:rPr>
              <a:t> </a:t>
            </a:r>
            <a:r>
              <a:rPr lang="en-US" altLang="zh-CN" i="1" dirty="0">
                <a:solidFill>
                  <a:srgbClr val="E06C75"/>
                </a:solidFill>
                <a:latin typeface="Consolas" panose="020B0609020204030204" pitchFamily="49" charset="0"/>
              </a:rPr>
              <a:t>salary</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3</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a:solidFill>
                  <a:srgbClr val="61AFEF"/>
                </a:solidFill>
                <a:latin typeface="Consolas" panose="020B0609020204030204" pitchFamily="49" charset="0"/>
              </a:rPr>
              <a:t>C</a:t>
            </a:r>
            <a:r>
              <a:rPr lang="en-US" altLang="zh-CN" dirty="0">
                <a:solidFill>
                  <a:srgbClr val="ABB2BF"/>
                </a:solidFill>
                <a:latin typeface="Consolas" panose="020B0609020204030204" pitchFamily="49" charset="0"/>
              </a:rPr>
              <a:t>: </a:t>
            </a:r>
            <a:r>
              <a:rPr lang="en-US" altLang="zh-CN" dirty="0">
                <a:solidFill>
                  <a:srgbClr val="C678DD"/>
                </a:solidFill>
                <a:latin typeface="Consolas" panose="020B0609020204030204" pitchFamily="49" charset="0"/>
              </a:rPr>
              <a:t>function</a:t>
            </a:r>
            <a:r>
              <a:rPr lang="en-US" altLang="zh-CN" dirty="0">
                <a:solidFill>
                  <a:srgbClr val="ABB2BF"/>
                </a:solidFill>
                <a:latin typeface="Consolas" panose="020B0609020204030204" pitchFamily="49" charset="0"/>
              </a:rPr>
              <a:t> (</a:t>
            </a:r>
            <a:r>
              <a:rPr lang="en-US" altLang="zh-CN" i="1" dirty="0">
                <a:solidFill>
                  <a:srgbClr val="E06C75"/>
                </a:solidFill>
                <a:latin typeface="Consolas" panose="020B0609020204030204" pitchFamily="49" charset="0"/>
              </a:rPr>
              <a:t>salary</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a:solidFill>
                  <a:srgbClr val="C678DD"/>
                </a:solidFill>
                <a:latin typeface="Consolas" panose="020B0609020204030204" pitchFamily="49" charset="0"/>
              </a:rPr>
              <a:t>return</a:t>
            </a:r>
            <a:r>
              <a:rPr lang="en-US" altLang="zh-CN" dirty="0">
                <a:solidFill>
                  <a:srgbClr val="ABB2BF"/>
                </a:solidFill>
                <a:latin typeface="Consolas" panose="020B0609020204030204" pitchFamily="49" charset="0"/>
              </a:rPr>
              <a:t> </a:t>
            </a:r>
            <a:r>
              <a:rPr lang="en-US" altLang="zh-CN" i="1" dirty="0">
                <a:solidFill>
                  <a:srgbClr val="E06C75"/>
                </a:solidFill>
                <a:latin typeface="Consolas" panose="020B0609020204030204" pitchFamily="49" charset="0"/>
              </a:rPr>
              <a:t>salary</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2</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err="1">
                <a:solidFill>
                  <a:srgbClr val="C678DD"/>
                </a:solidFill>
                <a:latin typeface="Consolas" panose="020B0609020204030204" pitchFamily="49" charset="0"/>
              </a:rPr>
              <a:t>var</a:t>
            </a:r>
            <a:r>
              <a:rPr lang="en-US" altLang="zh-CN" dirty="0">
                <a:solidFill>
                  <a:srgbClr val="ABB2BF"/>
                </a:solidFill>
                <a:latin typeface="Consolas" panose="020B0609020204030204" pitchFamily="49" charset="0"/>
              </a:rPr>
              <a:t> </a:t>
            </a:r>
            <a:r>
              <a:rPr lang="en-US" altLang="zh-CN" dirty="0" err="1">
                <a:solidFill>
                  <a:srgbClr val="E06C75"/>
                </a:solidFill>
                <a:latin typeface="Consolas" panose="020B0609020204030204" pitchFamily="49" charset="0"/>
              </a:rPr>
              <a:t>calculateBonus</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C678DD"/>
                </a:solidFill>
                <a:latin typeface="Consolas" panose="020B0609020204030204" pitchFamily="49" charset="0"/>
              </a:rPr>
              <a:t>function</a:t>
            </a:r>
            <a:r>
              <a:rPr lang="en-US" altLang="zh-CN" dirty="0">
                <a:solidFill>
                  <a:srgbClr val="ABB2BF"/>
                </a:solidFill>
                <a:latin typeface="Consolas" panose="020B0609020204030204" pitchFamily="49" charset="0"/>
              </a:rPr>
              <a:t> (</a:t>
            </a:r>
            <a:r>
              <a:rPr lang="en-US" altLang="zh-CN" i="1" dirty="0">
                <a:solidFill>
                  <a:srgbClr val="E06C75"/>
                </a:solidFill>
                <a:latin typeface="Consolas" panose="020B0609020204030204" pitchFamily="49" charset="0"/>
              </a:rPr>
              <a:t>level</a:t>
            </a:r>
            <a:r>
              <a:rPr lang="en-US" altLang="zh-CN" dirty="0">
                <a:solidFill>
                  <a:srgbClr val="ABB2BF"/>
                </a:solidFill>
                <a:latin typeface="Consolas" panose="020B0609020204030204" pitchFamily="49" charset="0"/>
              </a:rPr>
              <a:t>, </a:t>
            </a:r>
            <a:r>
              <a:rPr lang="en-US" altLang="zh-CN" i="1" dirty="0">
                <a:solidFill>
                  <a:srgbClr val="E06C75"/>
                </a:solidFill>
                <a:latin typeface="Consolas" panose="020B0609020204030204" pitchFamily="49" charset="0"/>
              </a:rPr>
              <a:t>salary</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a:solidFill>
                  <a:srgbClr val="C678DD"/>
                </a:solidFill>
                <a:latin typeface="Consolas" panose="020B0609020204030204" pitchFamily="49" charset="0"/>
              </a:rPr>
              <a:t>return</a:t>
            </a:r>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strategies</a:t>
            </a:r>
            <a:r>
              <a:rPr lang="en-US" altLang="zh-CN" dirty="0">
                <a:solidFill>
                  <a:srgbClr val="ABB2BF"/>
                </a:solidFill>
                <a:latin typeface="Consolas" panose="020B0609020204030204" pitchFamily="49" charset="0"/>
              </a:rPr>
              <a:t>[</a:t>
            </a:r>
            <a:r>
              <a:rPr lang="en-US" altLang="zh-CN" i="1" dirty="0">
                <a:solidFill>
                  <a:srgbClr val="E06C75"/>
                </a:solidFill>
                <a:latin typeface="Consolas" panose="020B0609020204030204" pitchFamily="49" charset="0"/>
              </a:rPr>
              <a:t>level</a:t>
            </a:r>
            <a:r>
              <a:rPr lang="en-US" altLang="zh-CN" dirty="0">
                <a:solidFill>
                  <a:srgbClr val="ABB2BF"/>
                </a:solidFill>
                <a:latin typeface="Consolas" panose="020B0609020204030204" pitchFamily="49" charset="0"/>
              </a:rPr>
              <a:t>](</a:t>
            </a:r>
            <a:r>
              <a:rPr lang="en-US" altLang="zh-CN" i="1" dirty="0">
                <a:solidFill>
                  <a:srgbClr val="E06C75"/>
                </a:solidFill>
                <a:latin typeface="Consolas" panose="020B0609020204030204" pitchFamily="49" charset="0"/>
              </a:rPr>
              <a:t>salary</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E06C75"/>
                </a:solidFill>
                <a:latin typeface="Consolas" panose="020B0609020204030204" pitchFamily="49" charset="0"/>
              </a:rPr>
              <a:t>console</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log</a:t>
            </a:r>
            <a:r>
              <a:rPr lang="en-US" altLang="zh-CN" dirty="0">
                <a:solidFill>
                  <a:srgbClr val="ABB2BF"/>
                </a:solidFill>
                <a:latin typeface="Consolas" panose="020B0609020204030204" pitchFamily="49" charset="0"/>
              </a:rPr>
              <a:t>(</a:t>
            </a:r>
            <a:r>
              <a:rPr lang="en-US" altLang="zh-CN" dirty="0" err="1">
                <a:solidFill>
                  <a:srgbClr val="E06C75"/>
                </a:solidFill>
                <a:latin typeface="Consolas" panose="020B0609020204030204" pitchFamily="49" charset="0"/>
              </a:rPr>
              <a:t>calculateBonus</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'A'</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10000</a:t>
            </a:r>
            <a:r>
              <a:rPr lang="en-US" altLang="zh-CN" dirty="0">
                <a:solidFill>
                  <a:srgbClr val="ABB2BF"/>
                </a:solidFill>
                <a:latin typeface="Consolas" panose="020B0609020204030204" pitchFamily="49" charset="0"/>
              </a:rPr>
              <a:t>)); </a:t>
            </a:r>
            <a:r>
              <a:rPr lang="en-US" altLang="zh-CN" i="1" dirty="0">
                <a:solidFill>
                  <a:srgbClr val="7F848E"/>
                </a:solidFill>
                <a:latin typeface="Consolas" panose="020B0609020204030204" pitchFamily="49" charset="0"/>
              </a:rPr>
              <a:t>// </a:t>
            </a:r>
            <a:r>
              <a:rPr lang="zh-CN" altLang="en-US" i="1" dirty="0">
                <a:solidFill>
                  <a:srgbClr val="7F848E"/>
                </a:solidFill>
                <a:latin typeface="Consolas" panose="020B0609020204030204" pitchFamily="49" charset="0"/>
              </a:rPr>
              <a:t>输出：</a:t>
            </a:r>
            <a:r>
              <a:rPr lang="en-US" altLang="zh-CN" i="1" dirty="0">
                <a:solidFill>
                  <a:srgbClr val="7F848E"/>
                </a:solidFill>
                <a:latin typeface="Consolas" panose="020B0609020204030204" pitchFamily="49" charset="0"/>
              </a:rPr>
              <a:t>80000</a:t>
            </a:r>
            <a:endParaRPr lang="zh-CN" altLang="en-US" dirty="0">
              <a:solidFill>
                <a:srgbClr val="ABB2BF"/>
              </a:solidFill>
              <a:latin typeface="Consolas" panose="020B0609020204030204" pitchFamily="49" charset="0"/>
            </a:endParaRPr>
          </a:p>
          <a:p>
            <a:r>
              <a:rPr lang="en-US" altLang="zh-CN" dirty="0">
                <a:solidFill>
                  <a:srgbClr val="E06C75"/>
                </a:solidFill>
                <a:latin typeface="Consolas" panose="020B0609020204030204" pitchFamily="49" charset="0"/>
              </a:rPr>
              <a:t>console</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log</a:t>
            </a:r>
            <a:r>
              <a:rPr lang="en-US" altLang="zh-CN" dirty="0">
                <a:solidFill>
                  <a:srgbClr val="ABB2BF"/>
                </a:solidFill>
                <a:latin typeface="Consolas" panose="020B0609020204030204" pitchFamily="49" charset="0"/>
              </a:rPr>
              <a:t>(</a:t>
            </a:r>
            <a:r>
              <a:rPr lang="en-US" altLang="zh-CN" dirty="0" err="1">
                <a:solidFill>
                  <a:srgbClr val="E06C75"/>
                </a:solidFill>
                <a:latin typeface="Consolas" panose="020B0609020204030204" pitchFamily="49" charset="0"/>
              </a:rPr>
              <a:t>calculateBonus</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'B'</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8000</a:t>
            </a:r>
            <a:r>
              <a:rPr lang="en-US" altLang="zh-CN" dirty="0">
                <a:solidFill>
                  <a:srgbClr val="ABB2BF"/>
                </a:solidFill>
                <a:latin typeface="Consolas" panose="020B0609020204030204" pitchFamily="49" charset="0"/>
              </a:rPr>
              <a:t>)); </a:t>
            </a:r>
            <a:r>
              <a:rPr lang="en-US" altLang="zh-CN" i="1" dirty="0">
                <a:solidFill>
                  <a:srgbClr val="7F848E"/>
                </a:solidFill>
                <a:latin typeface="Consolas" panose="020B0609020204030204" pitchFamily="49" charset="0"/>
              </a:rPr>
              <a:t>// </a:t>
            </a:r>
            <a:r>
              <a:rPr lang="zh-CN" altLang="en-US" i="1" dirty="0">
                <a:solidFill>
                  <a:srgbClr val="7F848E"/>
                </a:solidFill>
                <a:latin typeface="Consolas" panose="020B0609020204030204" pitchFamily="49" charset="0"/>
              </a:rPr>
              <a:t>输出：</a:t>
            </a:r>
            <a:r>
              <a:rPr lang="en-US" altLang="zh-CN" i="1" dirty="0">
                <a:solidFill>
                  <a:srgbClr val="7F848E"/>
                </a:solidFill>
                <a:latin typeface="Consolas" panose="020B0609020204030204" pitchFamily="49" charset="0"/>
              </a:rPr>
              <a:t>30000</a:t>
            </a:r>
            <a:endParaRPr lang="zh-CN" altLang="en-US" b="0" dirty="0">
              <a:solidFill>
                <a:srgbClr val="ABB2BF"/>
              </a:solidFill>
              <a:effectLst/>
              <a:latin typeface="Consolas" panose="020B0609020204030204" pitchFamily="49" charset="0"/>
            </a:endParaRPr>
          </a:p>
        </p:txBody>
      </p:sp>
      <p:sp>
        <p:nvSpPr>
          <p:cNvPr id="3" name="内容占位符 2"/>
          <p:cNvSpPr>
            <a:spLocks noGrp="1"/>
          </p:cNvSpPr>
          <p:nvPr>
            <p:ph idx="1"/>
          </p:nvPr>
        </p:nvSpPr>
        <p:spPr>
          <a:xfrm>
            <a:off x="557530" y="1130300"/>
            <a:ext cx="11161395" cy="610235"/>
          </a:xfrm>
        </p:spPr>
        <p:txBody>
          <a:bodyPr/>
          <a:p>
            <a:r>
              <a:rPr lang="zh-CN" altLang="en-US" dirty="0" smtClean="0"/>
              <a:t>使用策略重构：</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策略模式 </a:t>
            </a:r>
            <a:r>
              <a:rPr lang="en-US" altLang="zh-CN" dirty="0"/>
              <a:t>– </a:t>
            </a:r>
            <a:r>
              <a:rPr lang="zh-CN" altLang="en-US" dirty="0"/>
              <a:t>实践</a:t>
            </a:r>
            <a:endParaRPr lang="zh-CN" altLang="en-US" dirty="0"/>
          </a:p>
        </p:txBody>
      </p:sp>
      <p:sp>
        <p:nvSpPr>
          <p:cNvPr id="3" name="内容占位符 2"/>
          <p:cNvSpPr>
            <a:spLocks noGrp="1"/>
          </p:cNvSpPr>
          <p:nvPr>
            <p:ph idx="1"/>
          </p:nvPr>
        </p:nvSpPr>
        <p:spPr/>
        <p:txBody>
          <a:bodyPr>
            <a:normAutofit/>
          </a:bodyPr>
          <a:lstStyle/>
          <a:p>
            <a:r>
              <a:rPr lang="zh-CN" altLang="en-US" dirty="0" smtClean="0"/>
              <a:t>优点</a:t>
            </a:r>
            <a:endParaRPr lang="en-US" altLang="zh-CN" dirty="0"/>
          </a:p>
          <a:p>
            <a:pPr lvl="1"/>
            <a:r>
              <a:rPr lang="zh-CN" altLang="en-US" dirty="0" smtClean="0"/>
              <a:t>有效</a:t>
            </a:r>
            <a:r>
              <a:rPr lang="zh-CN" altLang="en-US" dirty="0"/>
              <a:t>地</a:t>
            </a:r>
            <a:r>
              <a:rPr lang="zh-CN" altLang="en-US" dirty="0" smtClean="0"/>
              <a:t>避免了多重</a:t>
            </a:r>
            <a:r>
              <a:rPr lang="zh-CN" altLang="en-US" dirty="0"/>
              <a:t>条件选择</a:t>
            </a:r>
            <a:r>
              <a:rPr lang="zh-CN" altLang="en-US" dirty="0" smtClean="0"/>
              <a:t>语句</a:t>
            </a:r>
            <a:endParaRPr lang="en-US" altLang="zh-CN" dirty="0" smtClean="0"/>
          </a:p>
          <a:p>
            <a:pPr lvl="1"/>
            <a:r>
              <a:rPr lang="zh-CN" altLang="en-US" dirty="0" smtClean="0"/>
              <a:t>独立封装的 </a:t>
            </a:r>
            <a:r>
              <a:rPr lang="en-US" altLang="zh-CN" dirty="0" smtClean="0"/>
              <a:t>strategy </a:t>
            </a:r>
            <a:r>
              <a:rPr lang="zh-CN" altLang="en-US" dirty="0" smtClean="0"/>
              <a:t>，易于</a:t>
            </a:r>
            <a:r>
              <a:rPr lang="zh-CN" altLang="en-US" dirty="0"/>
              <a:t>切换，易于理解，易于</a:t>
            </a:r>
            <a:r>
              <a:rPr lang="zh-CN" altLang="en-US" dirty="0" smtClean="0"/>
              <a:t>扩展</a:t>
            </a:r>
            <a:endParaRPr lang="zh-CN" altLang="en-US" dirty="0"/>
          </a:p>
          <a:p>
            <a:pPr lvl="1"/>
            <a:r>
              <a:rPr lang="zh-CN" altLang="en-US" dirty="0" smtClean="0"/>
              <a:t>高可复用性</a:t>
            </a:r>
            <a:endParaRPr lang="en-US" altLang="zh-CN" dirty="0" smtClean="0"/>
          </a:p>
          <a:p>
            <a:endParaRPr lang="en-US" altLang="zh-CN" dirty="0" smtClean="0"/>
          </a:p>
          <a:p>
            <a:r>
              <a:rPr lang="zh-CN" altLang="en-US" dirty="0"/>
              <a:t>缺点</a:t>
            </a:r>
            <a:endParaRPr lang="en-US" altLang="zh-CN" dirty="0"/>
          </a:p>
          <a:p>
            <a:pPr lvl="1"/>
            <a:r>
              <a:rPr lang="zh-CN" altLang="en-US" dirty="0" smtClean="0"/>
              <a:t>增加了许多</a:t>
            </a:r>
            <a:r>
              <a:rPr lang="zh-CN" altLang="en-US" dirty="0"/>
              <a:t>策略类或者策略</a:t>
            </a:r>
            <a:r>
              <a:rPr lang="zh-CN" altLang="en-US" dirty="0" smtClean="0"/>
              <a:t>对象</a:t>
            </a:r>
            <a:endParaRPr lang="en-US" altLang="zh-CN" dirty="0" smtClean="0"/>
          </a:p>
          <a:p>
            <a:pPr lvl="1"/>
            <a:r>
              <a:rPr lang="zh-CN" altLang="en-US" dirty="0"/>
              <a:t>需要</a:t>
            </a:r>
            <a:r>
              <a:rPr lang="zh-CN" altLang="en-US" dirty="0" smtClean="0"/>
              <a:t>了解</a:t>
            </a:r>
            <a:r>
              <a:rPr lang="zh-CN" altLang="en-US" dirty="0"/>
              <a:t>所有</a:t>
            </a:r>
            <a:r>
              <a:rPr lang="zh-CN" altLang="en-US" dirty="0" smtClean="0"/>
              <a:t>的策略</a:t>
            </a:r>
            <a:endParaRPr lang="en-US" altLang="zh-CN" dirty="0" smtClean="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发布</a:t>
            </a:r>
            <a:r>
              <a:rPr lang="en-US" altLang="zh-CN" dirty="0" smtClean="0"/>
              <a:t>-</a:t>
            </a:r>
            <a:r>
              <a:rPr lang="zh-CN" altLang="en-US" dirty="0" smtClean="0"/>
              <a:t>订阅模式</a:t>
            </a:r>
            <a:endParaRPr lang="zh-CN" altLang="en-US" dirty="0"/>
          </a:p>
        </p:txBody>
      </p:sp>
      <p:sp>
        <p:nvSpPr>
          <p:cNvPr id="3" name="内容占位符 2"/>
          <p:cNvSpPr>
            <a:spLocks noGrp="1"/>
          </p:cNvSpPr>
          <p:nvPr>
            <p:ph idx="1"/>
          </p:nvPr>
        </p:nvSpPr>
        <p:spPr/>
        <p:txBody>
          <a:bodyPr/>
          <a:lstStyle/>
          <a:p>
            <a:r>
              <a:rPr lang="zh-CN" altLang="en-US" dirty="0" smtClean="0"/>
              <a:t>概念</a:t>
            </a:r>
            <a:endParaRPr lang="zh-CN" altLang="en-US" dirty="0" smtClean="0"/>
          </a:p>
          <a:p>
            <a:pPr lvl="1"/>
            <a:r>
              <a:rPr lang="zh-CN" altLang="en-US" dirty="0"/>
              <a:t>消息型设计模式</a:t>
            </a:r>
            <a:endParaRPr lang="zh-CN" altLang="en-US" dirty="0"/>
          </a:p>
          <a:p>
            <a:pPr lvl="1"/>
            <a:r>
              <a:rPr lang="zh-CN" altLang="en-US" dirty="0"/>
              <a:t>它定义了一个调度中心，维护一个订阅者列表，当有新的消息时，它会遍历这个列表，将消息发送给所有订阅者</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发布</a:t>
            </a:r>
            <a:r>
              <a:rPr lang="en-US" altLang="zh-CN" dirty="0" smtClean="0"/>
              <a:t>-</a:t>
            </a:r>
            <a:r>
              <a:rPr lang="zh-CN" altLang="en-US" dirty="0" smtClean="0"/>
              <a:t>订阅模式 </a:t>
            </a:r>
            <a:r>
              <a:rPr lang="en-US" altLang="zh-CN" dirty="0" smtClean="0"/>
              <a:t>- </a:t>
            </a:r>
            <a:r>
              <a:rPr lang="zh-CN" altLang="en-US" dirty="0"/>
              <a:t>事件绑定</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
        <p:nvSpPr>
          <p:cNvPr id="5" name="内容占位符 4"/>
          <p:cNvSpPr>
            <a:spLocks noGrp="1"/>
          </p:cNvSpPr>
          <p:nvPr>
            <p:ph idx="1"/>
          </p:nvPr>
        </p:nvSpPr>
        <p:spPr/>
        <p:txBody>
          <a:bodyPr/>
          <a:lstStyle/>
          <a:p>
            <a:r>
              <a:rPr lang="zh-CN" altLang="en-US" dirty="0" smtClean="0"/>
              <a:t>订阅 点击 事件</a:t>
            </a:r>
            <a:endParaRPr lang="zh-CN" altLang="en-US" dirty="0"/>
          </a:p>
        </p:txBody>
      </p:sp>
      <p:sp>
        <p:nvSpPr>
          <p:cNvPr id="3" name="矩形 2"/>
          <p:cNvSpPr/>
          <p:nvPr/>
        </p:nvSpPr>
        <p:spPr>
          <a:xfrm>
            <a:off x="557439" y="1796999"/>
            <a:ext cx="7270377" cy="2031325"/>
          </a:xfrm>
          <a:prstGeom prst="rect">
            <a:avLst/>
          </a:prstGeom>
        </p:spPr>
        <p:txBody>
          <a:bodyPr wrap="square">
            <a:spAutoFit/>
          </a:bodyPr>
          <a:lstStyle/>
          <a:p>
            <a:r>
              <a:rPr lang="en-US" altLang="zh-CN" dirty="0" err="1">
                <a:solidFill>
                  <a:srgbClr val="E06C75"/>
                </a:solidFill>
                <a:latin typeface="Consolas" panose="020B0609020204030204" pitchFamily="49" charset="0"/>
              </a:rPr>
              <a:t>document</a:t>
            </a:r>
            <a:r>
              <a:rPr lang="en-US" altLang="zh-CN" dirty="0" err="1">
                <a:solidFill>
                  <a:srgbClr val="ABB2BF"/>
                </a:solidFill>
                <a:latin typeface="Consolas" panose="020B0609020204030204" pitchFamily="49" charset="0"/>
              </a:rPr>
              <a:t>.</a:t>
            </a:r>
            <a:r>
              <a:rPr lang="en-US" altLang="zh-CN" dirty="0" err="1">
                <a:solidFill>
                  <a:srgbClr val="E06C75"/>
                </a:solidFill>
                <a:latin typeface="Consolas" panose="020B0609020204030204" pitchFamily="49" charset="0"/>
              </a:rPr>
              <a:t>body</a:t>
            </a:r>
            <a:r>
              <a:rPr lang="en-US" altLang="zh-CN" dirty="0" err="1">
                <a:solidFill>
                  <a:srgbClr val="ABB2BF"/>
                </a:solidFill>
                <a:latin typeface="Consolas" panose="020B0609020204030204" pitchFamily="49" charset="0"/>
              </a:rPr>
              <a:t>.</a:t>
            </a:r>
            <a:r>
              <a:rPr lang="en-US" altLang="zh-CN" dirty="0" err="1">
                <a:solidFill>
                  <a:srgbClr val="61AFEF"/>
                </a:solidFill>
                <a:latin typeface="Consolas" panose="020B0609020204030204" pitchFamily="49" charset="0"/>
              </a:rPr>
              <a:t>addEventListener</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'click'</a:t>
            </a:r>
            <a:r>
              <a:rPr lang="en-US" altLang="zh-CN" dirty="0">
                <a:solidFill>
                  <a:srgbClr val="ABB2BF"/>
                </a:solidFill>
                <a:latin typeface="Consolas" panose="020B0609020204030204" pitchFamily="49" charset="0"/>
              </a:rPr>
              <a:t>, </a:t>
            </a:r>
            <a:r>
              <a:rPr lang="en-US" altLang="zh-CN" dirty="0">
                <a:solidFill>
                  <a:srgbClr val="C678DD"/>
                </a:solidFill>
                <a:latin typeface="Consolas" panose="020B0609020204030204" pitchFamily="49" charset="0"/>
              </a:rPr>
              <a:t>function</a:t>
            </a:r>
            <a:r>
              <a:rPr lang="en-US" altLang="zh-CN" dirty="0">
                <a:solidFill>
                  <a:srgbClr val="ABB2BF"/>
                </a:solidFill>
                <a:latin typeface="Consolas" panose="020B0609020204030204" pitchFamily="49" charset="0"/>
              </a:rPr>
              <a:t> ()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console</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log</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'click happened'</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 </a:t>
            </a:r>
            <a:r>
              <a:rPr lang="en-US" altLang="zh-CN" dirty="0">
                <a:solidFill>
                  <a:srgbClr val="D19A66"/>
                </a:solidFill>
                <a:latin typeface="Consolas" panose="020B0609020204030204" pitchFamily="49" charset="0"/>
              </a:rPr>
              <a:t>false</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br>
              <a:rPr lang="en-US" altLang="zh-CN" dirty="0">
                <a:solidFill>
                  <a:srgbClr val="ABB2BF"/>
                </a:solidFill>
                <a:latin typeface="Consolas" panose="020B0609020204030204" pitchFamily="49" charset="0"/>
              </a:rPr>
            </a:br>
            <a:r>
              <a:rPr lang="en-US" altLang="zh-CN" i="1" dirty="0">
                <a:solidFill>
                  <a:srgbClr val="7F848E"/>
                </a:solidFill>
                <a:latin typeface="Consolas" panose="020B0609020204030204" pitchFamily="49" charset="0"/>
              </a:rPr>
              <a:t>// </a:t>
            </a:r>
            <a:r>
              <a:rPr lang="zh-CN" altLang="en-US" i="1" dirty="0">
                <a:solidFill>
                  <a:srgbClr val="7F848E"/>
                </a:solidFill>
                <a:latin typeface="Consolas" panose="020B0609020204030204" pitchFamily="49" charset="0"/>
              </a:rPr>
              <a:t>模拟用户点击</a:t>
            </a:r>
            <a:endParaRPr lang="zh-CN" altLang="en-US" dirty="0">
              <a:solidFill>
                <a:srgbClr val="ABB2BF"/>
              </a:solidFill>
              <a:latin typeface="Consolas" panose="020B0609020204030204" pitchFamily="49" charset="0"/>
            </a:endParaRPr>
          </a:p>
          <a:p>
            <a:r>
              <a:rPr lang="en-US" altLang="zh-CN" dirty="0" err="1">
                <a:solidFill>
                  <a:srgbClr val="E06C75"/>
                </a:solidFill>
                <a:latin typeface="Consolas" panose="020B0609020204030204" pitchFamily="49" charset="0"/>
              </a:rPr>
              <a:t>document</a:t>
            </a:r>
            <a:r>
              <a:rPr lang="en-US" altLang="zh-CN" dirty="0" err="1">
                <a:solidFill>
                  <a:srgbClr val="ABB2BF"/>
                </a:solidFill>
                <a:latin typeface="Consolas" panose="020B0609020204030204" pitchFamily="49" charset="0"/>
              </a:rPr>
              <a:t>.</a:t>
            </a:r>
            <a:r>
              <a:rPr lang="en-US" altLang="zh-CN" dirty="0" err="1">
                <a:solidFill>
                  <a:srgbClr val="E06C75"/>
                </a:solidFill>
                <a:latin typeface="Consolas" panose="020B0609020204030204" pitchFamily="49" charset="0"/>
              </a:rPr>
              <a:t>body</a:t>
            </a:r>
            <a:r>
              <a:rPr lang="en-US" altLang="zh-CN" dirty="0" err="1">
                <a:solidFill>
                  <a:srgbClr val="ABB2BF"/>
                </a:solidFill>
                <a:latin typeface="Consolas" panose="020B0609020204030204" pitchFamily="49" charset="0"/>
              </a:rPr>
              <a:t>.</a:t>
            </a:r>
            <a:r>
              <a:rPr lang="en-US" altLang="zh-CN" dirty="0" err="1">
                <a:solidFill>
                  <a:srgbClr val="61AFEF"/>
                </a:solidFill>
                <a:latin typeface="Consolas" panose="020B0609020204030204" pitchFamily="49" charset="0"/>
              </a:rPr>
              <a:t>click</a:t>
            </a:r>
            <a:r>
              <a:rPr lang="en-US" altLang="zh-CN" dirty="0">
                <a:solidFill>
                  <a:srgbClr val="ABB2BF"/>
                </a:solidFill>
                <a:latin typeface="Consolas" panose="020B0609020204030204" pitchFamily="49" charset="0"/>
              </a:rPr>
              <a:t>();</a:t>
            </a:r>
            <a:endParaRPr lang="en-US" altLang="zh-CN" b="0" dirty="0">
              <a:solidFill>
                <a:srgbClr val="ABB2BF"/>
              </a:solidFill>
              <a:effectLst/>
              <a:latin typeface="Consolas" panose="020B0609020204030204" pitchFamily="49"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发布</a:t>
            </a:r>
            <a:r>
              <a:rPr lang="en-US" altLang="zh-CN" dirty="0" smtClean="0"/>
              <a:t>-</a:t>
            </a:r>
            <a:r>
              <a:rPr lang="zh-CN" altLang="en-US" dirty="0" smtClean="0"/>
              <a:t>订阅模式 </a:t>
            </a:r>
            <a:r>
              <a:rPr lang="en-US" altLang="zh-CN" dirty="0" smtClean="0"/>
              <a:t>- </a:t>
            </a:r>
            <a:r>
              <a:rPr lang="zh-CN" altLang="en-US" dirty="0" smtClean="0"/>
              <a:t>事件</a:t>
            </a:r>
            <a:r>
              <a:rPr lang="zh-CN" altLang="en-US" dirty="0"/>
              <a:t>绑定</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
        <p:nvSpPr>
          <p:cNvPr id="5" name="内容占位符 4"/>
          <p:cNvSpPr>
            <a:spLocks noGrp="1"/>
          </p:cNvSpPr>
          <p:nvPr>
            <p:ph idx="1"/>
          </p:nvPr>
        </p:nvSpPr>
        <p:spPr/>
        <p:txBody>
          <a:bodyPr/>
          <a:lstStyle/>
          <a:p>
            <a:r>
              <a:rPr lang="zh-CN" altLang="en-US" dirty="0" smtClean="0"/>
              <a:t>可以随意增加或者删除事件（订阅者）</a:t>
            </a:r>
            <a:endParaRPr lang="zh-CN" altLang="en-US" dirty="0"/>
          </a:p>
        </p:txBody>
      </p:sp>
      <p:sp>
        <p:nvSpPr>
          <p:cNvPr id="3" name="矩形 2"/>
          <p:cNvSpPr/>
          <p:nvPr/>
        </p:nvSpPr>
        <p:spPr>
          <a:xfrm>
            <a:off x="557439" y="1859340"/>
            <a:ext cx="7636302" cy="2585323"/>
          </a:xfrm>
          <a:prstGeom prst="rect">
            <a:avLst/>
          </a:prstGeom>
        </p:spPr>
        <p:txBody>
          <a:bodyPr wrap="square">
            <a:spAutoFit/>
          </a:bodyPr>
          <a:lstStyle/>
          <a:p>
            <a:r>
              <a:rPr lang="en-US" altLang="zh-CN" dirty="0" err="1">
                <a:solidFill>
                  <a:srgbClr val="E06C75"/>
                </a:solidFill>
                <a:latin typeface="Consolas" panose="020B0609020204030204" pitchFamily="49" charset="0"/>
              </a:rPr>
              <a:t>document</a:t>
            </a:r>
            <a:r>
              <a:rPr lang="en-US" altLang="zh-CN" dirty="0" err="1">
                <a:solidFill>
                  <a:srgbClr val="ABB2BF"/>
                </a:solidFill>
                <a:latin typeface="Consolas" panose="020B0609020204030204" pitchFamily="49" charset="0"/>
              </a:rPr>
              <a:t>.</a:t>
            </a:r>
            <a:r>
              <a:rPr lang="en-US" altLang="zh-CN" dirty="0" err="1">
                <a:solidFill>
                  <a:srgbClr val="E06C75"/>
                </a:solidFill>
                <a:latin typeface="Consolas" panose="020B0609020204030204" pitchFamily="49" charset="0"/>
              </a:rPr>
              <a:t>body</a:t>
            </a:r>
            <a:r>
              <a:rPr lang="en-US" altLang="zh-CN" dirty="0" err="1">
                <a:solidFill>
                  <a:srgbClr val="ABB2BF"/>
                </a:solidFill>
                <a:latin typeface="Consolas" panose="020B0609020204030204" pitchFamily="49" charset="0"/>
              </a:rPr>
              <a:t>.</a:t>
            </a:r>
            <a:r>
              <a:rPr lang="en-US" altLang="zh-CN" dirty="0" err="1">
                <a:solidFill>
                  <a:srgbClr val="61AFEF"/>
                </a:solidFill>
                <a:latin typeface="Consolas" panose="020B0609020204030204" pitchFamily="49" charset="0"/>
              </a:rPr>
              <a:t>addEventListener</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'click'</a:t>
            </a:r>
            <a:r>
              <a:rPr lang="en-US" altLang="zh-CN" dirty="0">
                <a:solidFill>
                  <a:srgbClr val="ABB2BF"/>
                </a:solidFill>
                <a:latin typeface="Consolas" panose="020B0609020204030204" pitchFamily="49" charset="0"/>
              </a:rPr>
              <a:t>, </a:t>
            </a:r>
            <a:r>
              <a:rPr lang="en-US" altLang="zh-CN" dirty="0">
                <a:solidFill>
                  <a:srgbClr val="C678DD"/>
                </a:solidFill>
                <a:latin typeface="Consolas" panose="020B0609020204030204" pitchFamily="49" charset="0"/>
              </a:rPr>
              <a:t>function</a:t>
            </a:r>
            <a:r>
              <a:rPr lang="en-US" altLang="zh-CN" dirty="0">
                <a:solidFill>
                  <a:srgbClr val="ABB2BF"/>
                </a:solidFill>
                <a:latin typeface="Consolas" panose="020B0609020204030204" pitchFamily="49" charset="0"/>
              </a:rPr>
              <a:t> ()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console</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log</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'click happened 2 times'</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 </a:t>
            </a:r>
            <a:r>
              <a:rPr lang="en-US" altLang="zh-CN" dirty="0">
                <a:solidFill>
                  <a:srgbClr val="D19A66"/>
                </a:solidFill>
                <a:latin typeface="Consolas" panose="020B0609020204030204" pitchFamily="49" charset="0"/>
              </a:rPr>
              <a:t>false</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br>
              <a:rPr lang="en-US" altLang="zh-CN" dirty="0">
                <a:solidFill>
                  <a:srgbClr val="ABB2BF"/>
                </a:solidFill>
                <a:latin typeface="Consolas" panose="020B0609020204030204" pitchFamily="49" charset="0"/>
              </a:rPr>
            </a:br>
            <a:r>
              <a:rPr lang="en-US" altLang="zh-CN" dirty="0" err="1">
                <a:solidFill>
                  <a:srgbClr val="E06C75"/>
                </a:solidFill>
                <a:latin typeface="Consolas" panose="020B0609020204030204" pitchFamily="49" charset="0"/>
              </a:rPr>
              <a:t>document</a:t>
            </a:r>
            <a:r>
              <a:rPr lang="en-US" altLang="zh-CN" dirty="0" err="1">
                <a:solidFill>
                  <a:srgbClr val="ABB2BF"/>
                </a:solidFill>
                <a:latin typeface="Consolas" panose="020B0609020204030204" pitchFamily="49" charset="0"/>
              </a:rPr>
              <a:t>.</a:t>
            </a:r>
            <a:r>
              <a:rPr lang="en-US" altLang="zh-CN" dirty="0" err="1">
                <a:solidFill>
                  <a:srgbClr val="E06C75"/>
                </a:solidFill>
                <a:latin typeface="Consolas" panose="020B0609020204030204" pitchFamily="49" charset="0"/>
              </a:rPr>
              <a:t>body</a:t>
            </a:r>
            <a:r>
              <a:rPr lang="en-US" altLang="zh-CN" dirty="0" err="1">
                <a:solidFill>
                  <a:srgbClr val="ABB2BF"/>
                </a:solidFill>
                <a:latin typeface="Consolas" panose="020B0609020204030204" pitchFamily="49" charset="0"/>
              </a:rPr>
              <a:t>.</a:t>
            </a:r>
            <a:r>
              <a:rPr lang="en-US" altLang="zh-CN" dirty="0" err="1">
                <a:solidFill>
                  <a:srgbClr val="61AFEF"/>
                </a:solidFill>
                <a:latin typeface="Consolas" panose="020B0609020204030204" pitchFamily="49" charset="0"/>
              </a:rPr>
              <a:t>addEventListener</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'click'</a:t>
            </a:r>
            <a:r>
              <a:rPr lang="en-US" altLang="zh-CN" dirty="0">
                <a:solidFill>
                  <a:srgbClr val="ABB2BF"/>
                </a:solidFill>
                <a:latin typeface="Consolas" panose="020B0609020204030204" pitchFamily="49" charset="0"/>
              </a:rPr>
              <a:t>, </a:t>
            </a:r>
            <a:r>
              <a:rPr lang="en-US" altLang="zh-CN" dirty="0">
                <a:solidFill>
                  <a:srgbClr val="C678DD"/>
                </a:solidFill>
                <a:latin typeface="Consolas" panose="020B0609020204030204" pitchFamily="49" charset="0"/>
              </a:rPr>
              <a:t>function</a:t>
            </a:r>
            <a:r>
              <a:rPr lang="en-US" altLang="zh-CN" dirty="0">
                <a:solidFill>
                  <a:srgbClr val="ABB2BF"/>
                </a:solidFill>
                <a:latin typeface="Consolas" panose="020B0609020204030204" pitchFamily="49" charset="0"/>
              </a:rPr>
              <a:t> ()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console</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log</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'click happened 3 times'</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 </a:t>
            </a:r>
            <a:r>
              <a:rPr lang="en-US" altLang="zh-CN" dirty="0">
                <a:solidFill>
                  <a:srgbClr val="D19A66"/>
                </a:solidFill>
                <a:latin typeface="Consolas" panose="020B0609020204030204" pitchFamily="49" charset="0"/>
              </a:rPr>
              <a:t>false</a:t>
            </a:r>
            <a:endParaRPr lang="en-US" altLang="zh-CN" dirty="0">
              <a:solidFill>
                <a:srgbClr val="ABB2BF"/>
              </a:solidFill>
              <a:latin typeface="Consolas" panose="020B0609020204030204" pitchFamily="49" charset="0"/>
            </a:endParaRPr>
          </a:p>
          <a:p>
            <a:r>
              <a:rPr lang="en-US" altLang="zh-CN" dirty="0" smtClean="0">
                <a:solidFill>
                  <a:srgbClr val="ABB2BF"/>
                </a:solidFill>
                <a:latin typeface="Consolas" panose="020B0609020204030204" pitchFamily="49" charset="0"/>
              </a:rPr>
              <a:t>)</a:t>
            </a:r>
            <a:r>
              <a:rPr lang="en-US" altLang="zh-CN" dirty="0">
                <a:solidFill>
                  <a:srgbClr val="ABB2BF"/>
                </a:solidFill>
                <a:latin typeface="Consolas" panose="020B0609020204030204" pitchFamily="49" charset="0"/>
              </a:rPr>
              <a:t>;</a:t>
            </a:r>
            <a:endParaRPr lang="en-US" altLang="zh-CN" dirty="0" smtClean="0">
              <a:solidFill>
                <a:srgbClr val="ABB2BF"/>
              </a:solidFill>
              <a:latin typeface="Consolas" panose="020B0609020204030204" pitchFamily="49"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发布</a:t>
            </a:r>
            <a:r>
              <a:rPr lang="en-US" altLang="zh-CN" dirty="0" smtClean="0"/>
              <a:t>-</a:t>
            </a:r>
            <a:r>
              <a:rPr lang="zh-CN" altLang="en-US" dirty="0" smtClean="0"/>
              <a:t>订阅模式</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
        <p:nvSpPr>
          <p:cNvPr id="5" name="内容占位符 4"/>
          <p:cNvSpPr>
            <a:spLocks noGrp="1"/>
          </p:cNvSpPr>
          <p:nvPr>
            <p:ph idx="1"/>
          </p:nvPr>
        </p:nvSpPr>
        <p:spPr/>
        <p:txBody>
          <a:bodyPr>
            <a:normAutofit/>
          </a:bodyPr>
          <a:lstStyle/>
          <a:p>
            <a:r>
              <a:rPr lang="zh-CN" altLang="en-US" dirty="0"/>
              <a:t>买房子</a:t>
            </a:r>
            <a:endParaRPr lang="en-US" altLang="zh-CN" dirty="0"/>
          </a:p>
          <a:p>
            <a:pPr lvl="1"/>
            <a:r>
              <a:rPr lang="zh-CN" altLang="en-US" dirty="0" smtClean="0"/>
              <a:t>小明看上了</a:t>
            </a:r>
            <a:r>
              <a:rPr lang="zh-CN" altLang="en-US" dirty="0"/>
              <a:t>一套房子，到了售楼</a:t>
            </a:r>
            <a:r>
              <a:rPr lang="zh-CN" altLang="en-US" dirty="0" smtClean="0"/>
              <a:t>处才知道，首开早已售罄，但售楼</a:t>
            </a:r>
            <a:r>
              <a:rPr lang="en-US" altLang="zh-CN" dirty="0" smtClean="0"/>
              <a:t>MM</a:t>
            </a:r>
            <a:r>
              <a:rPr lang="zh-CN" altLang="en-US" dirty="0"/>
              <a:t>告诉小明</a:t>
            </a:r>
            <a:r>
              <a:rPr lang="zh-CN" altLang="en-US" dirty="0" smtClean="0"/>
              <a:t>，二期推出，但</a:t>
            </a:r>
            <a:r>
              <a:rPr lang="zh-CN" altLang="en-US" dirty="0"/>
              <a:t>到底是什么时候，目前还没有人能够</a:t>
            </a:r>
            <a:r>
              <a:rPr lang="zh-CN" altLang="en-US" dirty="0" smtClean="0"/>
              <a:t>知道；</a:t>
            </a:r>
            <a:endParaRPr lang="zh-CN" altLang="en-US" dirty="0"/>
          </a:p>
          <a:p>
            <a:pPr lvl="1"/>
            <a:r>
              <a:rPr lang="zh-CN" altLang="en-US" dirty="0"/>
              <a:t>于是小明记下了售楼处的电话，以后每天都会打电话过去</a:t>
            </a:r>
            <a:r>
              <a:rPr lang="zh-CN" altLang="en-US" dirty="0" smtClean="0"/>
              <a:t>询问；</a:t>
            </a:r>
            <a:endParaRPr lang="en-US" altLang="zh-CN" dirty="0" smtClean="0"/>
          </a:p>
          <a:p>
            <a:pPr lvl="1"/>
            <a:r>
              <a:rPr lang="zh-CN" altLang="en-US" dirty="0" smtClean="0"/>
              <a:t>除了</a:t>
            </a:r>
            <a:r>
              <a:rPr lang="zh-CN" altLang="en-US" dirty="0"/>
              <a:t>小明，还有小红、小强、小龙也会每天向售楼处咨询这个</a:t>
            </a:r>
            <a:r>
              <a:rPr lang="zh-CN" altLang="en-US" dirty="0" smtClean="0"/>
              <a:t>问题；</a:t>
            </a:r>
            <a:endParaRPr lang="en-US" altLang="zh-CN" dirty="0" smtClean="0"/>
          </a:p>
          <a:p>
            <a:pPr lvl="1"/>
            <a:r>
              <a:rPr lang="zh-CN" altLang="en-US" dirty="0" smtClean="0"/>
              <a:t>一个星期</a:t>
            </a:r>
            <a:r>
              <a:rPr lang="zh-CN" altLang="en-US" dirty="0"/>
              <a:t>过后，售楼</a:t>
            </a:r>
            <a:r>
              <a:rPr lang="en-US" altLang="zh-CN" dirty="0" smtClean="0"/>
              <a:t>MM</a:t>
            </a:r>
            <a:r>
              <a:rPr lang="zh-CN" altLang="en-US" dirty="0" smtClean="0"/>
              <a:t>决定</a:t>
            </a:r>
            <a:r>
              <a:rPr lang="zh-CN" altLang="en-US" dirty="0"/>
              <a:t>辞职，因为厌倦了每天回答</a:t>
            </a:r>
            <a:r>
              <a:rPr lang="en-US" altLang="zh-CN" dirty="0"/>
              <a:t>1000 </a:t>
            </a:r>
            <a:r>
              <a:rPr lang="zh-CN" altLang="en-US" dirty="0"/>
              <a:t>个相同内容的电话</a:t>
            </a:r>
            <a:r>
              <a:rPr lang="zh-CN" altLang="en-US" dirty="0" smtClean="0"/>
              <a:t>。</a:t>
            </a:r>
            <a:endParaRPr lang="en-US" altLang="zh-CN" dirty="0" smtClean="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发布</a:t>
            </a:r>
            <a:r>
              <a:rPr lang="en-US" altLang="zh-CN" dirty="0" smtClean="0"/>
              <a:t>-</a:t>
            </a:r>
            <a:r>
              <a:rPr lang="zh-CN" altLang="en-US" dirty="0" smtClean="0"/>
              <a:t>订阅模式</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
        <p:nvSpPr>
          <p:cNvPr id="5" name="内容占位符 4"/>
          <p:cNvSpPr>
            <a:spLocks noGrp="1"/>
          </p:cNvSpPr>
          <p:nvPr>
            <p:ph idx="1"/>
          </p:nvPr>
        </p:nvSpPr>
        <p:spPr/>
        <p:txBody>
          <a:bodyPr>
            <a:normAutofit/>
          </a:bodyPr>
          <a:lstStyle/>
          <a:p>
            <a:pPr lvl="0"/>
            <a:r>
              <a:rPr lang="zh-CN" altLang="en-US" dirty="0">
                <a:sym typeface="+mn-ea"/>
              </a:rPr>
              <a:t>买房子（</a:t>
            </a:r>
            <a:r>
              <a:rPr lang="zh-CN" altLang="en-US" dirty="0">
                <a:sym typeface="+mn-ea"/>
              </a:rPr>
              <a:t>优化后）</a:t>
            </a:r>
            <a:endParaRPr lang="en-US" altLang="zh-CN" dirty="0">
              <a:sym typeface="+mn-ea"/>
            </a:endParaRPr>
          </a:p>
          <a:p>
            <a:pPr lvl="1"/>
            <a:r>
              <a:rPr lang="zh-CN" altLang="en-US" dirty="0" smtClean="0"/>
              <a:t>小</a:t>
            </a:r>
            <a:r>
              <a:rPr lang="zh-CN" altLang="en-US" dirty="0"/>
              <a:t>明离开之前，把电话号码留</a:t>
            </a:r>
            <a:r>
              <a:rPr lang="zh-CN" altLang="en-US" dirty="0" smtClean="0"/>
              <a:t>在了</a:t>
            </a:r>
            <a:r>
              <a:rPr lang="zh-CN" altLang="en-US" dirty="0"/>
              <a:t>售楼</a:t>
            </a:r>
            <a:r>
              <a:rPr lang="zh-CN" altLang="en-US" dirty="0" smtClean="0"/>
              <a:t>处；</a:t>
            </a:r>
            <a:endParaRPr lang="en-US" altLang="zh-CN" dirty="0" smtClean="0"/>
          </a:p>
          <a:p>
            <a:pPr lvl="1"/>
            <a:r>
              <a:rPr lang="zh-CN" altLang="en-US" dirty="0" smtClean="0"/>
              <a:t>售楼</a:t>
            </a:r>
            <a:r>
              <a:rPr lang="en-US" altLang="zh-CN" dirty="0" smtClean="0"/>
              <a:t>MM</a:t>
            </a:r>
            <a:r>
              <a:rPr lang="zh-CN" altLang="en-US" dirty="0" smtClean="0"/>
              <a:t>答应</a:t>
            </a:r>
            <a:r>
              <a:rPr lang="zh-CN" altLang="en-US" dirty="0"/>
              <a:t>他</a:t>
            </a:r>
            <a:r>
              <a:rPr lang="zh-CN" altLang="en-US" dirty="0" smtClean="0"/>
              <a:t>，有消息就马上通知</a:t>
            </a:r>
            <a:r>
              <a:rPr lang="zh-CN" altLang="en-US" dirty="0"/>
              <a:t>小</a:t>
            </a:r>
            <a:r>
              <a:rPr lang="zh-CN" altLang="en-US" dirty="0" smtClean="0"/>
              <a:t>明；</a:t>
            </a:r>
            <a:endParaRPr lang="en-US" altLang="zh-CN" dirty="0" smtClean="0"/>
          </a:p>
          <a:p>
            <a:pPr lvl="1"/>
            <a:r>
              <a:rPr lang="zh-CN" altLang="en-US" dirty="0" smtClean="0"/>
              <a:t>小</a:t>
            </a:r>
            <a:r>
              <a:rPr lang="zh-CN" altLang="en-US" dirty="0"/>
              <a:t>红、小强和小龙也是</a:t>
            </a:r>
            <a:r>
              <a:rPr lang="zh-CN" altLang="en-US" dirty="0" smtClean="0"/>
              <a:t>一样</a:t>
            </a:r>
            <a:r>
              <a:rPr lang="zh-CN" altLang="en-US" dirty="0"/>
              <a:t>，他们的电话号码都被记在售楼处的花名册</a:t>
            </a:r>
            <a:r>
              <a:rPr lang="zh-CN" altLang="en-US" dirty="0" smtClean="0"/>
              <a:t>上；</a:t>
            </a:r>
            <a:endParaRPr lang="en-US" altLang="zh-CN" dirty="0" smtClean="0"/>
          </a:p>
          <a:p>
            <a:pPr lvl="1"/>
            <a:r>
              <a:rPr lang="zh-CN" altLang="en-US" dirty="0"/>
              <a:t>有</a:t>
            </a:r>
            <a:r>
              <a:rPr lang="zh-CN" altLang="en-US" dirty="0" smtClean="0"/>
              <a:t>消息时，根据花名册上的</a:t>
            </a:r>
            <a:r>
              <a:rPr lang="zh-CN" altLang="en-US" dirty="0"/>
              <a:t>电话号码，依次发送一条短信来通知他们。</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25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250" fill="hold"/>
                                        <p:tgtEl>
                                          <p:spTgt spid="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 calcmode="lin" valueType="num">
                                      <p:cBhvr additive="base">
                                        <p:cTn id="11" dur="25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2" dur="250" fill="hold"/>
                                        <p:tgtEl>
                                          <p:spTgt spid="5">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 calcmode="lin" valueType="num">
                                      <p:cBhvr additive="base">
                                        <p:cTn id="15" dur="25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6" dur="250" fill="hold"/>
                                        <p:tgtEl>
                                          <p:spTgt spid="5">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anim calcmode="lin" valueType="num">
                                      <p:cBhvr additive="base">
                                        <p:cTn id="19" dur="25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0" dur="250" fill="hold"/>
                                        <p:tgtEl>
                                          <p:spTgt spid="5">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anim calcmode="lin" valueType="num">
                                      <p:cBhvr additive="base">
                                        <p:cTn id="23" dur="25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4" dur="25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发布</a:t>
            </a:r>
            <a:r>
              <a:rPr lang="en-US" altLang="zh-CN" dirty="0"/>
              <a:t>-</a:t>
            </a:r>
            <a:r>
              <a:rPr lang="zh-CN" altLang="en-US" dirty="0"/>
              <a:t>订阅模式</a:t>
            </a:r>
            <a:r>
              <a:rPr lang="en-US" altLang="zh-CN" dirty="0" smtClean="0"/>
              <a:t>- </a:t>
            </a:r>
            <a:r>
              <a:rPr lang="zh-CN" altLang="en-US" dirty="0" smtClean="0"/>
              <a:t>实现</a:t>
            </a:r>
            <a:endParaRPr lang="zh-CN" altLang="en-US" dirty="0"/>
          </a:p>
        </p:txBody>
      </p:sp>
      <p:sp>
        <p:nvSpPr>
          <p:cNvPr id="7" name="内容占位符 6"/>
          <p:cNvSpPr>
            <a:spLocks noGrp="1"/>
          </p:cNvSpPr>
          <p:nvPr>
            <p:ph idx="1"/>
          </p:nvPr>
        </p:nvSpPr>
        <p:spPr/>
        <p:txBody>
          <a:bodyPr/>
          <a:lstStyle/>
          <a:p>
            <a:r>
              <a:rPr lang="zh-CN" altLang="en-US" dirty="0" smtClean="0"/>
              <a:t>我们用编码来实现一下买房子：</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
        <p:nvSpPr>
          <p:cNvPr id="3" name="矩形 2"/>
          <p:cNvSpPr/>
          <p:nvPr/>
        </p:nvSpPr>
        <p:spPr>
          <a:xfrm>
            <a:off x="557439" y="1866501"/>
            <a:ext cx="7489281" cy="3970318"/>
          </a:xfrm>
          <a:prstGeom prst="rect">
            <a:avLst/>
          </a:prstGeom>
        </p:spPr>
        <p:txBody>
          <a:bodyPr wrap="square">
            <a:spAutoFit/>
          </a:bodyPr>
          <a:lstStyle/>
          <a:p>
            <a:r>
              <a:rPr lang="en-US" altLang="zh-CN" i="1" dirty="0">
                <a:solidFill>
                  <a:srgbClr val="7F848E"/>
                </a:solidFill>
                <a:latin typeface="Consolas" panose="020B0609020204030204" pitchFamily="49" charset="0"/>
              </a:rPr>
              <a:t>// </a:t>
            </a:r>
            <a:r>
              <a:rPr lang="zh-CN" altLang="en-US" i="1" dirty="0">
                <a:solidFill>
                  <a:srgbClr val="7F848E"/>
                </a:solidFill>
                <a:latin typeface="Consolas" panose="020B0609020204030204" pitchFamily="49" charset="0"/>
              </a:rPr>
              <a:t>售楼部</a:t>
            </a:r>
            <a:endParaRPr lang="zh-CN" altLang="en-US" dirty="0">
              <a:solidFill>
                <a:srgbClr val="ABB2BF"/>
              </a:solidFill>
              <a:latin typeface="Consolas" panose="020B0609020204030204" pitchFamily="49" charset="0"/>
            </a:endParaRPr>
          </a:p>
          <a:p>
            <a:r>
              <a:rPr lang="en-US" altLang="zh-CN" dirty="0" err="1" smtClean="0">
                <a:solidFill>
                  <a:srgbClr val="C678DD"/>
                </a:solidFill>
                <a:latin typeface="Consolas" panose="020B0609020204030204" pitchFamily="49" charset="0"/>
              </a:rPr>
              <a:t>const</a:t>
            </a:r>
            <a:r>
              <a:rPr lang="en-US" altLang="zh-CN" dirty="0">
                <a:solidFill>
                  <a:srgbClr val="ABB2BF"/>
                </a:solidFill>
                <a:latin typeface="Consolas" panose="020B0609020204030204" pitchFamily="49" charset="0"/>
              </a:rPr>
              <a:t> </a:t>
            </a:r>
            <a:r>
              <a:rPr lang="en-US" altLang="zh-CN" dirty="0" err="1">
                <a:solidFill>
                  <a:srgbClr val="E5C07B"/>
                </a:solidFill>
                <a:latin typeface="Consolas" panose="020B0609020204030204" pitchFamily="49" charset="0"/>
              </a:rPr>
              <a:t>PubSub</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C678DD"/>
                </a:solidFill>
                <a:latin typeface="Consolas" panose="020B0609020204030204" pitchFamily="49" charset="0"/>
              </a:rPr>
              <a:t>function</a:t>
            </a:r>
            <a:r>
              <a:rPr lang="en-US" altLang="zh-CN" dirty="0">
                <a:solidFill>
                  <a:srgbClr val="ABB2BF"/>
                </a:solidFill>
                <a:latin typeface="Consolas" panose="020B0609020204030204" pitchFamily="49" charset="0"/>
              </a:rPr>
              <a:t> ()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a:solidFill>
                  <a:srgbClr val="C678DD"/>
                </a:solidFill>
                <a:latin typeface="Consolas" panose="020B0609020204030204" pitchFamily="49" charset="0"/>
              </a:rPr>
              <a:t>let</a:t>
            </a:r>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events</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a:solidFill>
                  <a:srgbClr val="C678DD"/>
                </a:solidFill>
                <a:latin typeface="Consolas" panose="020B0609020204030204" pitchFamily="49" charset="0"/>
              </a:rPr>
              <a:t>return</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i="1" dirty="0">
                <a:solidFill>
                  <a:srgbClr val="7F848E"/>
                </a:solidFill>
                <a:latin typeface="Consolas" panose="020B0609020204030204" pitchFamily="49" charset="0"/>
              </a:rPr>
              <a:t>// </a:t>
            </a:r>
            <a:r>
              <a:rPr lang="zh-CN" altLang="en-US" i="1" dirty="0">
                <a:solidFill>
                  <a:srgbClr val="7F848E"/>
                </a:solidFill>
                <a:latin typeface="Consolas" panose="020B0609020204030204" pitchFamily="49" charset="0"/>
              </a:rPr>
              <a:t>订阅</a:t>
            </a:r>
            <a:endParaRPr lang="zh-CN" altLang="en-US" dirty="0">
              <a:solidFill>
                <a:srgbClr val="ABB2BF"/>
              </a:solidFill>
              <a:latin typeface="Consolas" panose="020B0609020204030204" pitchFamily="49" charset="0"/>
            </a:endParaRPr>
          </a:p>
          <a:p>
            <a:r>
              <a:rPr lang="zh-CN" altLang="en-US" dirty="0">
                <a:solidFill>
                  <a:srgbClr val="ABB2BF"/>
                </a:solidFill>
                <a:latin typeface="Consolas" panose="020B0609020204030204" pitchFamily="49" charset="0"/>
              </a:rPr>
              <a:t>    </a:t>
            </a:r>
            <a:r>
              <a:rPr lang="en-US" altLang="zh-CN" dirty="0">
                <a:solidFill>
                  <a:srgbClr val="61AFEF"/>
                </a:solidFill>
                <a:latin typeface="Consolas" panose="020B0609020204030204" pitchFamily="49" charset="0"/>
              </a:rPr>
              <a:t>on</a:t>
            </a:r>
            <a:r>
              <a:rPr lang="en-US" altLang="zh-CN" dirty="0">
                <a:solidFill>
                  <a:srgbClr val="ABB2BF"/>
                </a:solidFill>
                <a:latin typeface="Consolas" panose="020B0609020204030204" pitchFamily="49" charset="0"/>
              </a:rPr>
              <a:t>: </a:t>
            </a:r>
            <a:r>
              <a:rPr lang="en-US" altLang="zh-CN" dirty="0">
                <a:solidFill>
                  <a:srgbClr val="C678DD"/>
                </a:solidFill>
                <a:latin typeface="Consolas" panose="020B0609020204030204" pitchFamily="49" charset="0"/>
              </a:rPr>
              <a:t>function</a:t>
            </a:r>
            <a:r>
              <a:rPr lang="en-US" altLang="zh-CN" dirty="0">
                <a:solidFill>
                  <a:srgbClr val="ABB2BF"/>
                </a:solidFill>
                <a:latin typeface="Consolas" panose="020B0609020204030204" pitchFamily="49" charset="0"/>
              </a:rPr>
              <a:t> (</a:t>
            </a:r>
            <a:r>
              <a:rPr lang="en-US" altLang="zh-CN" i="1" dirty="0">
                <a:solidFill>
                  <a:srgbClr val="E06C75"/>
                </a:solidFill>
                <a:latin typeface="Consolas" panose="020B0609020204030204" pitchFamily="49" charset="0"/>
              </a:rPr>
              <a:t>type</a:t>
            </a:r>
            <a:r>
              <a:rPr lang="en-US" altLang="zh-CN" dirty="0">
                <a:solidFill>
                  <a:srgbClr val="ABB2BF"/>
                </a:solidFill>
                <a:latin typeface="Consolas" panose="020B0609020204030204" pitchFamily="49" charset="0"/>
              </a:rPr>
              <a:t>, </a:t>
            </a:r>
            <a:r>
              <a:rPr lang="en-US" altLang="zh-CN" i="1" dirty="0" err="1">
                <a:solidFill>
                  <a:srgbClr val="E06C75"/>
                </a:solidFill>
                <a:latin typeface="Consolas" panose="020B0609020204030204" pitchFamily="49" charset="0"/>
              </a:rPr>
              <a:t>fn</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events</a:t>
            </a:r>
            <a:r>
              <a:rPr lang="en-US" altLang="zh-CN" dirty="0">
                <a:solidFill>
                  <a:srgbClr val="ABB2BF"/>
                </a:solidFill>
                <a:latin typeface="Consolas" panose="020B0609020204030204" pitchFamily="49" charset="0"/>
              </a:rPr>
              <a:t>[</a:t>
            </a:r>
            <a:r>
              <a:rPr lang="en-US" altLang="zh-CN" i="1" dirty="0">
                <a:solidFill>
                  <a:srgbClr val="E06C75"/>
                </a:solidFill>
                <a:latin typeface="Consolas" panose="020B0609020204030204" pitchFamily="49" charset="0"/>
              </a:rPr>
              <a:t>type</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events</a:t>
            </a:r>
            <a:r>
              <a:rPr lang="en-US" altLang="zh-CN" dirty="0">
                <a:solidFill>
                  <a:srgbClr val="ABB2BF"/>
                </a:solidFill>
                <a:latin typeface="Consolas" panose="020B0609020204030204" pitchFamily="49" charset="0"/>
              </a:rPr>
              <a:t>[</a:t>
            </a:r>
            <a:r>
              <a:rPr lang="en-US" altLang="zh-CN" i="1" dirty="0">
                <a:solidFill>
                  <a:srgbClr val="E06C75"/>
                </a:solidFill>
                <a:latin typeface="Consolas" panose="020B0609020204030204" pitchFamily="49" charset="0"/>
              </a:rPr>
              <a:t>type</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61AFEF"/>
                </a:solidFill>
                <a:latin typeface="Consolas" panose="020B0609020204030204" pitchFamily="49" charset="0"/>
              </a:rPr>
              <a:t>push</a:t>
            </a:r>
            <a:r>
              <a:rPr lang="en-US" altLang="zh-CN" dirty="0">
                <a:solidFill>
                  <a:srgbClr val="ABB2BF"/>
                </a:solidFill>
                <a:latin typeface="Consolas" panose="020B0609020204030204" pitchFamily="49" charset="0"/>
              </a:rPr>
              <a:t>(</a:t>
            </a:r>
            <a:r>
              <a:rPr lang="en-US" altLang="zh-CN" i="1" dirty="0" err="1">
                <a:solidFill>
                  <a:srgbClr val="E06C75"/>
                </a:solidFill>
                <a:latin typeface="Consolas" panose="020B0609020204030204" pitchFamily="49" charset="0"/>
              </a:rPr>
              <a:t>fn</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i="1" dirty="0">
                <a:solidFill>
                  <a:srgbClr val="7F848E"/>
                </a:solidFill>
                <a:latin typeface="Consolas" panose="020B0609020204030204" pitchFamily="49" charset="0"/>
              </a:rPr>
              <a:t>// </a:t>
            </a:r>
            <a:r>
              <a:rPr lang="zh-CN" altLang="en-US" i="1" dirty="0">
                <a:solidFill>
                  <a:srgbClr val="7F848E"/>
                </a:solidFill>
                <a:latin typeface="Consolas" panose="020B0609020204030204" pitchFamily="49" charset="0"/>
              </a:rPr>
              <a:t>发布</a:t>
            </a:r>
            <a:endParaRPr lang="zh-CN" altLang="en-US" dirty="0">
              <a:solidFill>
                <a:srgbClr val="ABB2BF"/>
              </a:solidFill>
              <a:latin typeface="Consolas" panose="020B0609020204030204" pitchFamily="49" charset="0"/>
            </a:endParaRPr>
          </a:p>
          <a:p>
            <a:r>
              <a:rPr lang="zh-CN" altLang="en-US" dirty="0">
                <a:solidFill>
                  <a:srgbClr val="ABB2BF"/>
                </a:solidFill>
                <a:latin typeface="Consolas" panose="020B0609020204030204" pitchFamily="49" charset="0"/>
              </a:rPr>
              <a:t>    </a:t>
            </a:r>
            <a:r>
              <a:rPr lang="en-US" altLang="zh-CN" dirty="0">
                <a:solidFill>
                  <a:srgbClr val="61AFEF"/>
                </a:solidFill>
                <a:latin typeface="Consolas" panose="020B0609020204030204" pitchFamily="49" charset="0"/>
              </a:rPr>
              <a:t>emit</a:t>
            </a:r>
            <a:r>
              <a:rPr lang="en-US" altLang="zh-CN" dirty="0">
                <a:solidFill>
                  <a:srgbClr val="ABB2BF"/>
                </a:solidFill>
                <a:latin typeface="Consolas" panose="020B0609020204030204" pitchFamily="49" charset="0"/>
              </a:rPr>
              <a:t>: </a:t>
            </a:r>
            <a:r>
              <a:rPr lang="en-US" altLang="zh-CN" dirty="0">
                <a:solidFill>
                  <a:srgbClr val="C678DD"/>
                </a:solidFill>
                <a:latin typeface="Consolas" panose="020B0609020204030204" pitchFamily="49" charset="0"/>
              </a:rPr>
              <a:t>function</a:t>
            </a:r>
            <a:r>
              <a:rPr lang="en-US" altLang="zh-CN" dirty="0">
                <a:solidFill>
                  <a:srgbClr val="ABB2BF"/>
                </a:solidFill>
                <a:latin typeface="Consolas" panose="020B0609020204030204" pitchFamily="49" charset="0"/>
              </a:rPr>
              <a:t> (</a:t>
            </a:r>
            <a:r>
              <a:rPr lang="en-US" altLang="zh-CN" i="1" dirty="0">
                <a:solidFill>
                  <a:srgbClr val="E06C75"/>
                </a:solidFill>
                <a:latin typeface="Consolas" panose="020B0609020204030204" pitchFamily="49" charset="0"/>
              </a:rPr>
              <a:t>type</a:t>
            </a:r>
            <a:r>
              <a:rPr lang="en-US" altLang="zh-CN" dirty="0">
                <a:solidFill>
                  <a:srgbClr val="ABB2BF"/>
                </a:solidFill>
                <a:latin typeface="Consolas" panose="020B0609020204030204" pitchFamily="49" charset="0"/>
              </a:rPr>
              <a:t>, ...</a:t>
            </a:r>
            <a:r>
              <a:rPr lang="en-US" altLang="zh-CN" i="1" dirty="0" err="1">
                <a:solidFill>
                  <a:srgbClr val="E06C75"/>
                </a:solidFill>
                <a:latin typeface="Consolas" panose="020B0609020204030204" pitchFamily="49" charset="0"/>
              </a:rPr>
              <a:t>args</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events</a:t>
            </a:r>
            <a:r>
              <a:rPr lang="en-US" altLang="zh-CN" dirty="0">
                <a:solidFill>
                  <a:srgbClr val="ABB2BF"/>
                </a:solidFill>
                <a:latin typeface="Consolas" panose="020B0609020204030204" pitchFamily="49" charset="0"/>
              </a:rPr>
              <a:t>[</a:t>
            </a:r>
            <a:r>
              <a:rPr lang="en-US" altLang="zh-CN" i="1" dirty="0">
                <a:solidFill>
                  <a:srgbClr val="E06C75"/>
                </a:solidFill>
                <a:latin typeface="Consolas" panose="020B0609020204030204" pitchFamily="49" charset="0"/>
              </a:rPr>
              <a:t>type</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err="1">
                <a:solidFill>
                  <a:srgbClr val="61AFEF"/>
                </a:solidFill>
                <a:latin typeface="Consolas" panose="020B0609020204030204" pitchFamily="49" charset="0"/>
              </a:rPr>
              <a:t>forEach</a:t>
            </a:r>
            <a:r>
              <a:rPr lang="en-US" altLang="zh-CN" dirty="0">
                <a:solidFill>
                  <a:srgbClr val="ABB2BF"/>
                </a:solidFill>
                <a:latin typeface="Consolas" panose="020B0609020204030204" pitchFamily="49" charset="0"/>
              </a:rPr>
              <a:t>(</a:t>
            </a:r>
            <a:r>
              <a:rPr lang="en-US" altLang="zh-CN" i="1" dirty="0" err="1">
                <a:solidFill>
                  <a:srgbClr val="E06C75"/>
                </a:solidFill>
                <a:latin typeface="Consolas" panose="020B0609020204030204" pitchFamily="49" charset="0"/>
              </a:rPr>
              <a:t>fn</a:t>
            </a:r>
            <a:r>
              <a:rPr lang="en-US" altLang="zh-CN" dirty="0">
                <a:solidFill>
                  <a:srgbClr val="ABB2BF"/>
                </a:solidFill>
                <a:latin typeface="Consolas" panose="020B0609020204030204" pitchFamily="49" charset="0"/>
              </a:rPr>
              <a:t> </a:t>
            </a:r>
            <a:r>
              <a:rPr lang="en-US" altLang="zh-CN" dirty="0">
                <a:solidFill>
                  <a:srgbClr val="C678DD"/>
                </a:solidFill>
                <a:latin typeface="Consolas" panose="020B0609020204030204" pitchFamily="49" charset="0"/>
              </a:rPr>
              <a:t>=&gt;</a:t>
            </a:r>
            <a:r>
              <a:rPr lang="en-US" altLang="zh-CN" dirty="0">
                <a:solidFill>
                  <a:srgbClr val="ABB2BF"/>
                </a:solidFill>
                <a:latin typeface="Consolas" panose="020B0609020204030204" pitchFamily="49" charset="0"/>
              </a:rPr>
              <a:t> </a:t>
            </a:r>
            <a:r>
              <a:rPr lang="en-US" altLang="zh-CN" i="1" dirty="0" err="1">
                <a:solidFill>
                  <a:srgbClr val="E06C75"/>
                </a:solidFill>
                <a:latin typeface="Consolas" panose="020B0609020204030204" pitchFamily="49" charset="0"/>
              </a:rPr>
              <a:t>fn</a:t>
            </a:r>
            <a:r>
              <a:rPr lang="en-US" altLang="zh-CN" dirty="0">
                <a:solidFill>
                  <a:srgbClr val="ABB2BF"/>
                </a:solidFill>
                <a:latin typeface="Consolas" panose="020B0609020204030204" pitchFamily="49" charset="0"/>
              </a:rPr>
              <a:t>(...</a:t>
            </a:r>
            <a:r>
              <a:rPr lang="en-US" altLang="zh-CN" i="1" dirty="0" err="1">
                <a:solidFill>
                  <a:srgbClr val="E06C75"/>
                </a:solidFill>
                <a:latin typeface="Consolas" panose="020B0609020204030204" pitchFamily="49" charset="0"/>
              </a:rPr>
              <a:t>args</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a:t>
            </a:r>
            <a:endParaRPr lang="en-US" altLang="zh-CN" b="0" dirty="0">
              <a:solidFill>
                <a:srgbClr val="ABB2BF"/>
              </a:solidFill>
              <a:effectLst/>
              <a:latin typeface="Consolas" panose="020B0609020204030204" pitchFamily="49"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发布</a:t>
            </a:r>
            <a:r>
              <a:rPr lang="en-US" altLang="zh-CN" dirty="0"/>
              <a:t>-</a:t>
            </a:r>
            <a:r>
              <a:rPr lang="zh-CN" altLang="en-US" dirty="0"/>
              <a:t>订阅模式</a:t>
            </a:r>
            <a:r>
              <a:rPr lang="en-US" altLang="zh-CN" dirty="0" smtClean="0"/>
              <a:t>- </a:t>
            </a:r>
            <a:r>
              <a:rPr lang="zh-CN" altLang="en-US" dirty="0" smtClean="0"/>
              <a:t>实现</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
        <p:nvSpPr>
          <p:cNvPr id="5" name="矩形 4"/>
          <p:cNvSpPr/>
          <p:nvPr/>
        </p:nvSpPr>
        <p:spPr>
          <a:xfrm>
            <a:off x="557439" y="1469780"/>
            <a:ext cx="5653790" cy="2030095"/>
          </a:xfrm>
          <a:prstGeom prst="rect">
            <a:avLst/>
          </a:prstGeom>
        </p:spPr>
        <p:txBody>
          <a:bodyPr wrap="square">
            <a:spAutoFit/>
          </a:bodyPr>
          <a:lstStyle/>
          <a:p>
            <a:r>
              <a:rPr lang="en-US" altLang="zh-CN" i="1" dirty="0">
                <a:solidFill>
                  <a:srgbClr val="7F848E"/>
                </a:solidFill>
                <a:latin typeface="Consolas" panose="020B0609020204030204" pitchFamily="49" charset="0"/>
              </a:rPr>
              <a:t>// </a:t>
            </a:r>
            <a:r>
              <a:rPr lang="zh-CN" altLang="en-US" i="1" dirty="0">
                <a:solidFill>
                  <a:srgbClr val="7F848E"/>
                </a:solidFill>
                <a:latin typeface="Consolas" panose="020B0609020204030204" pitchFamily="49" charset="0"/>
              </a:rPr>
              <a:t>任何</a:t>
            </a:r>
            <a:r>
              <a:rPr lang="zh-CN" altLang="en-US" i="1" dirty="0" smtClean="0">
                <a:solidFill>
                  <a:srgbClr val="7F848E"/>
                </a:solidFill>
                <a:latin typeface="Consolas" panose="020B0609020204030204" pitchFamily="49" charset="0"/>
              </a:rPr>
              <a:t>人都可以订阅梦想家</a:t>
            </a:r>
            <a:endParaRPr lang="zh-CN" altLang="en-US" i="1" dirty="0" smtClean="0">
              <a:solidFill>
                <a:srgbClr val="7F848E"/>
              </a:solidFill>
              <a:latin typeface="Consolas" panose="020B0609020204030204" pitchFamily="49" charset="0"/>
            </a:endParaRPr>
          </a:p>
          <a:p>
            <a:r>
              <a:rPr lang="en-US" altLang="zh-CN" dirty="0" err="1" smtClean="0">
                <a:solidFill>
                  <a:srgbClr val="E5C07B"/>
                </a:solidFill>
                <a:latin typeface="Consolas" panose="020B0609020204030204" pitchFamily="49" charset="0"/>
              </a:rPr>
              <a:t>PubSub</a:t>
            </a:r>
            <a:r>
              <a:rPr lang="en-US" altLang="zh-CN" dirty="0" err="1" smtClean="0">
                <a:solidFill>
                  <a:srgbClr val="ABB2BF"/>
                </a:solidFill>
                <a:latin typeface="Consolas" panose="020B0609020204030204" pitchFamily="49" charset="0"/>
              </a:rPr>
              <a:t>.</a:t>
            </a:r>
            <a:r>
              <a:rPr lang="en-US" altLang="zh-CN" dirty="0" err="1" smtClean="0">
                <a:solidFill>
                  <a:srgbClr val="61AFEF"/>
                </a:solidFill>
                <a:latin typeface="Consolas" panose="020B0609020204030204" pitchFamily="49" charset="0"/>
              </a:rPr>
              <a:t>on</a:t>
            </a:r>
            <a:r>
              <a:rPr lang="en-US" altLang="zh-CN" dirty="0">
                <a:solidFill>
                  <a:srgbClr val="ABB2BF"/>
                </a:solidFill>
                <a:latin typeface="Consolas" panose="020B0609020204030204" pitchFamily="49" charset="0"/>
              </a:rPr>
              <a:t>(</a:t>
            </a:r>
            <a:r>
              <a:rPr lang="en-US" altLang="zh-CN" dirty="0" smtClean="0">
                <a:solidFill>
                  <a:srgbClr val="98C379"/>
                </a:solidFill>
                <a:latin typeface="Consolas" panose="020B0609020204030204" pitchFamily="49" charset="0"/>
              </a:rPr>
              <a:t>'</a:t>
            </a:r>
            <a:r>
              <a:rPr lang="en-US" altLang="zh-CN" dirty="0" err="1" smtClean="0">
                <a:solidFill>
                  <a:srgbClr val="98C379"/>
                </a:solidFill>
                <a:latin typeface="Consolas" panose="020B0609020204030204" pitchFamily="49" charset="0"/>
              </a:rPr>
              <a:t>XmDreamHouse</a:t>
            </a:r>
            <a:r>
              <a:rPr lang="en-US" altLang="zh-CN" dirty="0" smtClean="0">
                <a:solidFill>
                  <a:srgbClr val="98C379"/>
                </a:solidFill>
                <a:latin typeface="Consolas" panose="020B0609020204030204" pitchFamily="49" charset="0"/>
              </a:rPr>
              <a:t>'</a:t>
            </a:r>
            <a:r>
              <a:rPr lang="en-US" altLang="zh-CN" dirty="0" smtClean="0">
                <a:solidFill>
                  <a:srgbClr val="ABB2BF"/>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C678DD"/>
                </a:solidFill>
                <a:latin typeface="Consolas" panose="020B0609020204030204" pitchFamily="49" charset="0"/>
              </a:rPr>
              <a:t>function</a:t>
            </a:r>
            <a:r>
              <a:rPr lang="en-US" altLang="zh-CN" dirty="0">
                <a:solidFill>
                  <a:srgbClr val="ABB2BF"/>
                </a:solidFill>
                <a:latin typeface="Consolas" panose="020B0609020204030204" pitchFamily="49" charset="0"/>
              </a:rPr>
              <a:t>(</a:t>
            </a:r>
            <a:r>
              <a:rPr lang="en-US" altLang="zh-CN" i="1" dirty="0">
                <a:solidFill>
                  <a:srgbClr val="E06C75"/>
                </a:solidFill>
                <a:latin typeface="Consolas" panose="020B0609020204030204" pitchFamily="49" charset="0"/>
              </a:rPr>
              <a:t>data</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console</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log</a:t>
            </a:r>
            <a:r>
              <a:rPr lang="en-US" altLang="zh-CN" dirty="0" smtClean="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a:t>
            </a:r>
            <a:r>
              <a:rPr lang="zh-CN" altLang="en-US" dirty="0" smtClean="0">
                <a:solidFill>
                  <a:srgbClr val="98C379"/>
                </a:solidFill>
                <a:latin typeface="Consolas" panose="020B0609020204030204" pitchFamily="49" charset="0"/>
              </a:rPr>
              <a:t>小明</a:t>
            </a:r>
            <a:r>
              <a:rPr lang="zh-CN" altLang="en-US" dirty="0">
                <a:solidFill>
                  <a:srgbClr val="98C379"/>
                </a:solidFill>
                <a:latin typeface="Consolas" panose="020B0609020204030204" pitchFamily="49" charset="0"/>
              </a:rPr>
              <a:t>梦想家的</a:t>
            </a:r>
            <a:r>
              <a:rPr lang="zh-CN" altLang="en-US" dirty="0" smtClean="0">
                <a:solidFill>
                  <a:srgbClr val="98C379"/>
                </a:solidFill>
                <a:latin typeface="Consolas" panose="020B0609020204030204" pitchFamily="49" charset="0"/>
              </a:rPr>
              <a:t>价格</a:t>
            </a:r>
            <a:r>
              <a:rPr lang="zh-CN" altLang="en-US" dirty="0">
                <a:solidFill>
                  <a:srgbClr val="98C379"/>
                </a:solidFill>
                <a:latin typeface="Consolas" panose="020B0609020204030204" pitchFamily="49" charset="0"/>
              </a:rPr>
              <a:t>是：</a:t>
            </a:r>
            <a:r>
              <a:rPr lang="en-US" altLang="zh-CN" dirty="0">
                <a:solidFill>
                  <a:srgbClr val="98C379"/>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i="1" dirty="0">
                <a:solidFill>
                  <a:srgbClr val="E06C75"/>
                </a:solidFill>
                <a:latin typeface="Consolas" panose="020B0609020204030204" pitchFamily="49" charset="0"/>
              </a:rPr>
              <a:t>data</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smtClean="0">
                <a:solidFill>
                  <a:srgbClr val="ABB2BF"/>
                </a:solidFill>
                <a:latin typeface="Consolas" panose="020B0609020204030204" pitchFamily="49" charset="0"/>
              </a:rPr>
              <a:t>});</a:t>
            </a:r>
            <a:br>
              <a:rPr lang="en-US" altLang="zh-CN" dirty="0">
                <a:solidFill>
                  <a:srgbClr val="ABB2BF"/>
                </a:solidFill>
                <a:latin typeface="Consolas" panose="020B0609020204030204" pitchFamily="49" charset="0"/>
              </a:rPr>
            </a:br>
            <a:r>
              <a:rPr lang="en-US" altLang="zh-CN" dirty="0" err="1">
                <a:solidFill>
                  <a:srgbClr val="E5C07B"/>
                </a:solidFill>
                <a:latin typeface="Consolas" panose="020B0609020204030204" pitchFamily="49" charset="0"/>
              </a:rPr>
              <a:t>PubSub</a:t>
            </a:r>
            <a:r>
              <a:rPr lang="en-US" altLang="zh-CN" dirty="0" err="1">
                <a:solidFill>
                  <a:srgbClr val="ABB2BF"/>
                </a:solidFill>
                <a:latin typeface="Consolas" panose="020B0609020204030204" pitchFamily="49" charset="0"/>
              </a:rPr>
              <a:t>.</a:t>
            </a:r>
            <a:r>
              <a:rPr lang="en-US" altLang="zh-CN" dirty="0" err="1">
                <a:solidFill>
                  <a:srgbClr val="61AFEF"/>
                </a:solidFill>
                <a:latin typeface="Consolas" panose="020B0609020204030204" pitchFamily="49" charset="0"/>
              </a:rPr>
              <a:t>on</a:t>
            </a:r>
            <a:r>
              <a:rPr lang="en-US" altLang="zh-CN" dirty="0">
                <a:solidFill>
                  <a:srgbClr val="ABB2BF"/>
                </a:solidFill>
                <a:latin typeface="Consolas" panose="020B0609020204030204" pitchFamily="49" charset="0"/>
              </a:rPr>
              <a:t>(</a:t>
            </a:r>
            <a:r>
              <a:rPr lang="en-US" altLang="zh-CN" dirty="0" smtClean="0">
                <a:solidFill>
                  <a:srgbClr val="98C379"/>
                </a:solidFill>
                <a:latin typeface="Consolas" panose="020B0609020204030204" pitchFamily="49" charset="0"/>
              </a:rPr>
              <a:t>'</a:t>
            </a:r>
            <a:r>
              <a:rPr lang="en-US" altLang="zh-CN" dirty="0" err="1" smtClean="0">
                <a:solidFill>
                  <a:srgbClr val="98C379"/>
                </a:solidFill>
                <a:latin typeface="Consolas" panose="020B0609020204030204" pitchFamily="49" charset="0"/>
              </a:rPr>
              <a:t>XhDreamHouse</a:t>
            </a:r>
            <a:r>
              <a:rPr lang="en-US" altLang="zh-CN" dirty="0">
                <a:solidFill>
                  <a:srgbClr val="98C379"/>
                </a:solidFill>
                <a:latin typeface="Consolas" panose="020B0609020204030204" pitchFamily="49" charset="0"/>
              </a:rPr>
              <a:t>'</a:t>
            </a:r>
            <a:r>
              <a:rPr lang="en-US" altLang="zh-CN" dirty="0" smtClean="0">
                <a:solidFill>
                  <a:srgbClr val="ABB2BF"/>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C678DD"/>
                </a:solidFill>
                <a:latin typeface="Consolas" panose="020B0609020204030204" pitchFamily="49" charset="0"/>
              </a:rPr>
              <a:t>function</a:t>
            </a:r>
            <a:r>
              <a:rPr lang="en-US" altLang="zh-CN" dirty="0">
                <a:solidFill>
                  <a:srgbClr val="ABB2BF"/>
                </a:solidFill>
                <a:latin typeface="Consolas" panose="020B0609020204030204" pitchFamily="49" charset="0"/>
              </a:rPr>
              <a:t>(</a:t>
            </a:r>
            <a:r>
              <a:rPr lang="en-US" altLang="zh-CN" i="1" dirty="0">
                <a:solidFill>
                  <a:srgbClr val="E06C75"/>
                </a:solidFill>
                <a:latin typeface="Consolas" panose="020B0609020204030204" pitchFamily="49" charset="0"/>
              </a:rPr>
              <a:t>data</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console</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log</a:t>
            </a:r>
            <a:r>
              <a:rPr lang="en-US" altLang="zh-CN" dirty="0" smtClean="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a:t>
            </a:r>
            <a:r>
              <a:rPr lang="zh-CN" altLang="en-US" dirty="0" smtClean="0">
                <a:solidFill>
                  <a:srgbClr val="98C379"/>
                </a:solidFill>
                <a:latin typeface="Consolas" panose="020B0609020204030204" pitchFamily="49" charset="0"/>
              </a:rPr>
              <a:t>小红梦想家</a:t>
            </a:r>
            <a:r>
              <a:rPr lang="zh-CN" altLang="en-US" dirty="0" smtClean="0">
                <a:solidFill>
                  <a:srgbClr val="98C379"/>
                </a:solidFill>
                <a:latin typeface="Consolas" panose="020B0609020204030204" pitchFamily="49" charset="0"/>
              </a:rPr>
              <a:t>的价格</a:t>
            </a:r>
            <a:r>
              <a:rPr lang="zh-CN" altLang="en-US" dirty="0">
                <a:solidFill>
                  <a:srgbClr val="98C379"/>
                </a:solidFill>
                <a:latin typeface="Consolas" panose="020B0609020204030204" pitchFamily="49" charset="0"/>
              </a:rPr>
              <a:t>是：</a:t>
            </a:r>
            <a:r>
              <a:rPr lang="en-US" altLang="zh-CN" dirty="0">
                <a:solidFill>
                  <a:srgbClr val="98C379"/>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i="1" dirty="0">
                <a:solidFill>
                  <a:srgbClr val="E06C75"/>
                </a:solidFill>
                <a:latin typeface="Consolas" panose="020B0609020204030204" pitchFamily="49" charset="0"/>
              </a:rPr>
              <a:t>data</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smtClean="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p:txBody>
      </p:sp>
      <p:sp>
        <p:nvSpPr>
          <p:cNvPr id="6" name="矩形 5"/>
          <p:cNvSpPr/>
          <p:nvPr/>
        </p:nvSpPr>
        <p:spPr>
          <a:xfrm>
            <a:off x="557439" y="4042970"/>
            <a:ext cx="5351930" cy="1753235"/>
          </a:xfrm>
          <a:prstGeom prst="rect">
            <a:avLst/>
          </a:prstGeom>
        </p:spPr>
        <p:txBody>
          <a:bodyPr wrap="square">
            <a:spAutoFit/>
          </a:bodyPr>
          <a:lstStyle/>
          <a:p>
            <a:r>
              <a:rPr lang="en-US" altLang="zh-CN" i="1" dirty="0">
                <a:solidFill>
                  <a:srgbClr val="7F848E"/>
                </a:solidFill>
                <a:latin typeface="Consolas" panose="020B0609020204030204" pitchFamily="49" charset="0"/>
              </a:rPr>
              <a:t>// </a:t>
            </a:r>
            <a:r>
              <a:rPr lang="zh-CN" altLang="en-US" i="1" dirty="0" smtClean="0">
                <a:solidFill>
                  <a:srgbClr val="7F848E"/>
                </a:solidFill>
                <a:latin typeface="Consolas" panose="020B0609020204030204" pitchFamily="49" charset="0"/>
              </a:rPr>
              <a:t>某天价格确定了</a:t>
            </a:r>
            <a:r>
              <a:rPr lang="zh-CN" altLang="en-US" i="1" dirty="0">
                <a:solidFill>
                  <a:srgbClr val="7F848E"/>
                </a:solidFill>
                <a:latin typeface="Consolas" panose="020B0609020204030204" pitchFamily="49" charset="0"/>
              </a:rPr>
              <a:t> 推送价格</a:t>
            </a:r>
            <a:endParaRPr lang="zh-CN" altLang="en-US" i="1" dirty="0">
              <a:solidFill>
                <a:srgbClr val="7F848E"/>
              </a:solidFill>
              <a:latin typeface="Consolas" panose="020B0609020204030204" pitchFamily="49" charset="0"/>
            </a:endParaRPr>
          </a:p>
          <a:p>
            <a:r>
              <a:rPr lang="en-US" altLang="zh-CN" i="1" dirty="0">
                <a:solidFill>
                  <a:srgbClr val="7F848E"/>
                </a:solidFill>
                <a:latin typeface="Consolas" panose="020B0609020204030204" pitchFamily="49" charset="0"/>
                <a:sym typeface="+mn-ea"/>
              </a:rPr>
              <a:t>// 个性化</a:t>
            </a:r>
            <a:r>
              <a:rPr lang="zh-CN" altLang="en-US" i="1" dirty="0">
                <a:solidFill>
                  <a:srgbClr val="7F848E"/>
                </a:solidFill>
                <a:latin typeface="Consolas" panose="020B0609020204030204" pitchFamily="49" charset="0"/>
                <a:sym typeface="+mn-ea"/>
              </a:rPr>
              <a:t>推送</a:t>
            </a:r>
            <a:endParaRPr lang="zh-CN" altLang="en-US" dirty="0">
              <a:solidFill>
                <a:srgbClr val="ABB2BF"/>
              </a:solidFill>
              <a:latin typeface="Consolas" panose="020B0609020204030204" pitchFamily="49" charset="0"/>
            </a:endParaRPr>
          </a:p>
          <a:p>
            <a:r>
              <a:rPr lang="en-US" altLang="zh-CN" dirty="0" err="1">
                <a:solidFill>
                  <a:srgbClr val="61AFEF"/>
                </a:solidFill>
                <a:latin typeface="Consolas" panose="020B0609020204030204" pitchFamily="49" charset="0"/>
              </a:rPr>
              <a:t>setTimeout</a:t>
            </a:r>
            <a:r>
              <a:rPr lang="en-US" altLang="zh-CN" dirty="0">
                <a:solidFill>
                  <a:srgbClr val="ABB2BF"/>
                </a:solidFill>
                <a:latin typeface="Consolas" panose="020B0609020204030204" pitchFamily="49" charset="0"/>
              </a:rPr>
              <a:t>(() </a:t>
            </a:r>
            <a:r>
              <a:rPr lang="en-US" altLang="zh-CN" dirty="0">
                <a:solidFill>
                  <a:srgbClr val="C678DD"/>
                </a:solidFill>
                <a:latin typeface="Consolas" panose="020B0609020204030204" pitchFamily="49" charset="0"/>
              </a:rPr>
              <a:t>=&gt;</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err="1">
                <a:solidFill>
                  <a:srgbClr val="E5C07B"/>
                </a:solidFill>
                <a:latin typeface="Consolas" panose="020B0609020204030204" pitchFamily="49" charset="0"/>
              </a:rPr>
              <a:t>PubSub</a:t>
            </a:r>
            <a:r>
              <a:rPr lang="en-US" altLang="zh-CN" dirty="0" err="1">
                <a:solidFill>
                  <a:srgbClr val="ABB2BF"/>
                </a:solidFill>
                <a:latin typeface="Consolas" panose="020B0609020204030204" pitchFamily="49" charset="0"/>
              </a:rPr>
              <a:t>.</a:t>
            </a:r>
            <a:r>
              <a:rPr lang="en-US" altLang="zh-CN" dirty="0" err="1">
                <a:solidFill>
                  <a:srgbClr val="61AFEF"/>
                </a:solidFill>
                <a:latin typeface="Consolas" panose="020B0609020204030204" pitchFamily="49" charset="0"/>
              </a:rPr>
              <a:t>emit</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a:t>
            </a:r>
            <a:r>
              <a:rPr lang="en-US" altLang="zh-CN" dirty="0" err="1">
                <a:solidFill>
                  <a:srgbClr val="98C379"/>
                </a:solidFill>
                <a:latin typeface="Consolas" panose="020B0609020204030204" pitchFamily="49" charset="0"/>
              </a:rPr>
              <a:t>XmDreamHouse</a:t>
            </a:r>
            <a:r>
              <a:rPr lang="en-US" altLang="zh-CN" dirty="0">
                <a:solidFill>
                  <a:srgbClr val="98C379"/>
                </a:solidFill>
                <a:latin typeface="Consolas" panose="020B0609020204030204" pitchFamily="49" charset="0"/>
              </a:rPr>
              <a:t>'</a:t>
            </a:r>
            <a:r>
              <a:rPr lang="en-US" altLang="zh-CN" dirty="0" smtClean="0">
                <a:solidFill>
                  <a:srgbClr val="ABB2BF"/>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10000</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err="1">
                <a:solidFill>
                  <a:srgbClr val="E5C07B"/>
                </a:solidFill>
                <a:latin typeface="Consolas" panose="020B0609020204030204" pitchFamily="49" charset="0"/>
              </a:rPr>
              <a:t>PubSub</a:t>
            </a:r>
            <a:r>
              <a:rPr lang="en-US" altLang="zh-CN" dirty="0" err="1">
                <a:solidFill>
                  <a:srgbClr val="ABB2BF"/>
                </a:solidFill>
                <a:latin typeface="Consolas" panose="020B0609020204030204" pitchFamily="49" charset="0"/>
              </a:rPr>
              <a:t>.</a:t>
            </a:r>
            <a:r>
              <a:rPr lang="en-US" altLang="zh-CN" dirty="0" err="1">
                <a:solidFill>
                  <a:srgbClr val="61AFEF"/>
                </a:solidFill>
                <a:latin typeface="Consolas" panose="020B0609020204030204" pitchFamily="49" charset="0"/>
              </a:rPr>
              <a:t>emit</a:t>
            </a:r>
            <a:r>
              <a:rPr lang="en-US" altLang="zh-CN" dirty="0">
                <a:solidFill>
                  <a:srgbClr val="ABB2BF"/>
                </a:solidFill>
                <a:latin typeface="Consolas" panose="020B0609020204030204" pitchFamily="49" charset="0"/>
              </a:rPr>
              <a:t>(</a:t>
            </a:r>
            <a:r>
              <a:rPr lang="en-US" altLang="zh-CN" dirty="0" smtClean="0">
                <a:solidFill>
                  <a:srgbClr val="98C379"/>
                </a:solidFill>
                <a:latin typeface="Consolas" panose="020B0609020204030204" pitchFamily="49" charset="0"/>
              </a:rPr>
              <a:t>'</a:t>
            </a:r>
            <a:r>
              <a:rPr lang="en-US" altLang="zh-CN" dirty="0" err="1" smtClean="0">
                <a:solidFill>
                  <a:srgbClr val="98C379"/>
                </a:solidFill>
                <a:latin typeface="Consolas" panose="020B0609020204030204" pitchFamily="49" charset="0"/>
              </a:rPr>
              <a:t>XhDreamHouse</a:t>
            </a:r>
            <a:r>
              <a:rPr lang="en-US" altLang="zh-CN" dirty="0" smtClean="0">
                <a:solidFill>
                  <a:srgbClr val="98C379"/>
                </a:solidFill>
                <a:latin typeface="Consolas" panose="020B0609020204030204" pitchFamily="49" charset="0"/>
              </a:rPr>
              <a:t>'</a:t>
            </a:r>
            <a:r>
              <a:rPr lang="en-US" altLang="zh-CN" dirty="0" smtClean="0">
                <a:solidFill>
                  <a:srgbClr val="ABB2BF"/>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12000</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3000</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发布</a:t>
            </a:r>
            <a:r>
              <a:rPr lang="en-US" altLang="zh-CN" dirty="0" smtClean="0"/>
              <a:t>-</a:t>
            </a:r>
            <a:r>
              <a:rPr lang="zh-CN" altLang="en-US" dirty="0" smtClean="0"/>
              <a:t>订阅模式</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
        <p:nvSpPr>
          <p:cNvPr id="5" name="内容占位符 4"/>
          <p:cNvSpPr>
            <a:spLocks noGrp="1"/>
          </p:cNvSpPr>
          <p:nvPr>
            <p:ph idx="1"/>
          </p:nvPr>
        </p:nvSpPr>
        <p:spPr/>
        <p:txBody>
          <a:bodyPr/>
          <a:lstStyle/>
          <a:p>
            <a:pPr>
              <a:lnSpc>
                <a:spcPct val="120000"/>
              </a:lnSpc>
            </a:pPr>
            <a:r>
              <a:rPr lang="zh-CN" altLang="en-US" dirty="0" smtClean="0"/>
              <a:t>优点</a:t>
            </a:r>
            <a:endParaRPr lang="en-US" altLang="zh-CN" dirty="0" smtClean="0"/>
          </a:p>
          <a:p>
            <a:pPr lvl="1">
              <a:lnSpc>
                <a:spcPct val="120000"/>
              </a:lnSpc>
            </a:pPr>
            <a:r>
              <a:rPr lang="zh-CN" altLang="en-US" dirty="0" smtClean="0"/>
              <a:t>在</a:t>
            </a:r>
            <a:r>
              <a:rPr lang="zh-CN" altLang="en-US" dirty="0"/>
              <a:t>合适的时间点，售楼</a:t>
            </a:r>
            <a:r>
              <a:rPr lang="zh-CN" altLang="en-US" dirty="0" smtClean="0"/>
              <a:t>处会通知购房者</a:t>
            </a:r>
            <a:endParaRPr lang="en-US" altLang="zh-CN" dirty="0" smtClean="0"/>
          </a:p>
          <a:p>
            <a:pPr lvl="2">
              <a:lnSpc>
                <a:spcPct val="120000"/>
              </a:lnSpc>
            </a:pPr>
            <a:r>
              <a:rPr lang="zh-CN" altLang="en-US" dirty="0"/>
              <a:t>购房者</a:t>
            </a:r>
            <a:r>
              <a:rPr lang="zh-CN" altLang="en-US" dirty="0" smtClean="0"/>
              <a:t>不需要天天</a:t>
            </a:r>
            <a:r>
              <a:rPr lang="zh-CN" altLang="en-US" dirty="0"/>
              <a:t>给售楼处打电话咨询开售</a:t>
            </a:r>
            <a:r>
              <a:rPr lang="zh-CN" altLang="en-US" dirty="0" smtClean="0"/>
              <a:t>时间</a:t>
            </a:r>
            <a:endParaRPr lang="en-US" altLang="zh-CN" dirty="0" smtClean="0"/>
          </a:p>
          <a:p>
            <a:pPr lvl="2">
              <a:lnSpc>
                <a:spcPct val="120000"/>
              </a:lnSpc>
            </a:pPr>
            <a:endParaRPr lang="zh-CN" altLang="en-US" dirty="0"/>
          </a:p>
          <a:p>
            <a:pPr lvl="1">
              <a:lnSpc>
                <a:spcPct val="120000"/>
              </a:lnSpc>
            </a:pPr>
            <a:r>
              <a:rPr lang="zh-CN" altLang="en-US" dirty="0"/>
              <a:t>购房者和售楼处之间不再强耦合在</a:t>
            </a:r>
            <a:r>
              <a:rPr lang="zh-CN" altLang="en-US" dirty="0" smtClean="0"/>
              <a:t>一起</a:t>
            </a:r>
            <a:endParaRPr lang="en-US" altLang="zh-CN" dirty="0" smtClean="0"/>
          </a:p>
          <a:p>
            <a:pPr lvl="2">
              <a:lnSpc>
                <a:spcPct val="120000"/>
              </a:lnSpc>
            </a:pPr>
            <a:r>
              <a:rPr lang="zh-CN" altLang="en-US" dirty="0" smtClean="0"/>
              <a:t>当</a:t>
            </a:r>
            <a:r>
              <a:rPr lang="zh-CN" altLang="en-US" dirty="0"/>
              <a:t>有新的购房者出现时，他只需把手机号码</a:t>
            </a:r>
            <a:r>
              <a:rPr lang="zh-CN" altLang="en-US" dirty="0" smtClean="0"/>
              <a:t>留在</a:t>
            </a:r>
            <a:r>
              <a:rPr lang="zh-CN" altLang="en-US" dirty="0"/>
              <a:t>售楼</a:t>
            </a:r>
            <a:r>
              <a:rPr lang="zh-CN" altLang="en-US" dirty="0" smtClean="0"/>
              <a:t>处</a:t>
            </a:r>
            <a:endParaRPr lang="en-US" altLang="zh-CN" dirty="0" smtClean="0"/>
          </a:p>
          <a:p>
            <a:pPr lvl="2">
              <a:lnSpc>
                <a:spcPct val="120000"/>
              </a:lnSpc>
            </a:pPr>
            <a:r>
              <a:rPr lang="zh-CN" altLang="en-US" dirty="0" smtClean="0"/>
              <a:t>售楼</a:t>
            </a:r>
            <a:r>
              <a:rPr lang="zh-CN" altLang="en-US" dirty="0"/>
              <a:t>处不关心购房者的情况，不管购房者是男是女</a:t>
            </a:r>
            <a:endParaRPr lang="en-US" altLang="zh-CN" dirty="0" smtClean="0"/>
          </a:p>
          <a:p>
            <a:pPr lvl="2">
              <a:lnSpc>
                <a:spcPct val="120000"/>
              </a:lnSpc>
            </a:pPr>
            <a:r>
              <a:rPr lang="zh-CN" altLang="en-US" dirty="0" smtClean="0"/>
              <a:t>售楼</a:t>
            </a:r>
            <a:r>
              <a:rPr lang="zh-CN" altLang="en-US" dirty="0"/>
              <a:t>处的任何变动也不会影响购买</a:t>
            </a:r>
            <a:r>
              <a:rPr lang="zh-CN" altLang="en-US" dirty="0" smtClean="0"/>
              <a:t>者</a:t>
            </a:r>
            <a:endParaRPr lang="en-US" altLang="zh-CN" dirty="0" smtClean="0"/>
          </a:p>
          <a:p>
            <a:pPr lvl="3">
              <a:lnSpc>
                <a:spcPct val="120000"/>
              </a:lnSpc>
            </a:pPr>
            <a:r>
              <a:rPr lang="zh-CN" altLang="en-US" dirty="0" smtClean="0"/>
              <a:t>比如售楼 </a:t>
            </a:r>
            <a:r>
              <a:rPr lang="en-US" altLang="zh-CN" dirty="0" smtClean="0"/>
              <a:t>MM </a:t>
            </a:r>
            <a:r>
              <a:rPr lang="zh-CN" altLang="en-US" dirty="0" smtClean="0"/>
              <a:t>离职</a:t>
            </a:r>
            <a:endParaRPr lang="en-US" altLang="zh-CN" dirty="0" smtClean="0"/>
          </a:p>
          <a:p>
            <a:pPr lvl="3">
              <a:lnSpc>
                <a:spcPct val="120000"/>
              </a:lnSpc>
            </a:pPr>
            <a:r>
              <a:rPr lang="zh-CN" altLang="en-US" dirty="0"/>
              <a:t>比如</a:t>
            </a:r>
            <a:r>
              <a:rPr lang="zh-CN" altLang="en-US" dirty="0" smtClean="0"/>
              <a:t>售楼</a:t>
            </a:r>
            <a:r>
              <a:rPr lang="zh-CN" altLang="en-US" dirty="0"/>
              <a:t>处从一楼搬到二</a:t>
            </a:r>
            <a:r>
              <a:rPr lang="zh-CN" altLang="en-US" dirty="0" smtClean="0"/>
              <a:t>楼</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观察者模式</a:t>
            </a:r>
            <a:endParaRPr lang="zh-CN" altLang="en-US" dirty="0"/>
          </a:p>
        </p:txBody>
      </p:sp>
      <p:sp>
        <p:nvSpPr>
          <p:cNvPr id="3" name="内容占位符 2"/>
          <p:cNvSpPr>
            <a:spLocks noGrp="1"/>
          </p:cNvSpPr>
          <p:nvPr>
            <p:ph idx="1"/>
          </p:nvPr>
        </p:nvSpPr>
        <p:spPr/>
        <p:txBody>
          <a:bodyPr/>
          <a:lstStyle/>
          <a:p>
            <a:r>
              <a:rPr lang="zh-CN" altLang="en-US" sz="2400" dirty="0">
                <a:sym typeface="+mn-ea"/>
              </a:rPr>
              <a:t>概念</a:t>
            </a:r>
            <a:endParaRPr lang="zh-CN" altLang="en-US" sz="2400" dirty="0">
              <a:sym typeface="+mn-ea"/>
            </a:endParaRPr>
          </a:p>
          <a:p>
            <a:pPr marL="457200" lvl="2"/>
            <a:r>
              <a:rPr lang="zh-CN" altLang="en-US" sz="2160" dirty="0">
                <a:sym typeface="+mn-ea"/>
              </a:rPr>
              <a:t>行为型设计模式，</a:t>
            </a:r>
            <a:endParaRPr lang="zh-CN" altLang="en-US" sz="2160" dirty="0">
              <a:sym typeface="+mn-ea"/>
            </a:endParaRPr>
          </a:p>
          <a:p>
            <a:pPr marL="457200" lvl="2"/>
            <a:r>
              <a:rPr lang="zh-CN" altLang="en-US" sz="2160" dirty="0">
                <a:sym typeface="+mn-ea"/>
              </a:rPr>
              <a:t>它定义了一种一对多的依赖关系，多个观察者对象</a:t>
            </a:r>
            <a:r>
              <a:rPr lang="zh-CN" altLang="en-US" sz="2160" dirty="0">
                <a:sym typeface="+mn-ea"/>
              </a:rPr>
              <a:t>同时监听一个主题对象，当主题对象发生变化时，会通知所有观察者对象</a:t>
            </a:r>
            <a:endParaRPr lang="en-US" altLang="zh-CN" dirty="0" smtClean="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观察者</a:t>
            </a:r>
            <a:r>
              <a:rPr lang="zh-CN" altLang="en-US" dirty="0" smtClean="0"/>
              <a:t>模式 </a:t>
            </a:r>
            <a:r>
              <a:rPr lang="en-US" altLang="zh-CN" dirty="0" smtClean="0"/>
              <a:t>– </a:t>
            </a:r>
            <a:r>
              <a:rPr lang="zh-CN" altLang="en-US" dirty="0" smtClean="0"/>
              <a:t>实现</a:t>
            </a:r>
            <a:endParaRPr lang="zh-CN" altLang="en-US" dirty="0"/>
          </a:p>
        </p:txBody>
      </p:sp>
      <p:sp>
        <p:nvSpPr>
          <p:cNvPr id="3" name="内容占位符 2"/>
          <p:cNvSpPr>
            <a:spLocks noGrp="1"/>
          </p:cNvSpPr>
          <p:nvPr>
            <p:ph idx="1"/>
          </p:nvPr>
        </p:nvSpPr>
        <p:spPr/>
        <p:txBody>
          <a:bodyPr/>
          <a:lstStyle/>
          <a:p>
            <a:r>
              <a:rPr lang="zh-CN" altLang="en-US" dirty="0"/>
              <a:t>假设有一家赏金猎人工会，猎人注册后，可以</a:t>
            </a:r>
            <a:r>
              <a:rPr lang="zh-CN" altLang="en-US" dirty="0" smtClean="0"/>
              <a:t>发布、</a:t>
            </a:r>
            <a:r>
              <a:rPr lang="zh-CN" altLang="en-US" dirty="0" smtClean="0"/>
              <a:t>订阅任务</a:t>
            </a:r>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
        <p:nvSpPr>
          <p:cNvPr id="5" name="矩形 4"/>
          <p:cNvSpPr/>
          <p:nvPr/>
        </p:nvSpPr>
        <p:spPr>
          <a:xfrm>
            <a:off x="557438" y="1759639"/>
            <a:ext cx="9701683" cy="4799965"/>
          </a:xfrm>
          <a:prstGeom prst="rect">
            <a:avLst/>
          </a:prstGeom>
        </p:spPr>
        <p:txBody>
          <a:bodyPr wrap="square">
            <a:spAutoFit/>
          </a:bodyPr>
          <a:lstStyle/>
          <a:p>
            <a:r>
              <a:rPr lang="en-US" altLang="zh-CN" dirty="0" smtClean="0">
                <a:solidFill>
                  <a:srgbClr val="C678DD"/>
                </a:solidFill>
                <a:latin typeface="Consolas" panose="020B0609020204030204" pitchFamily="49" charset="0"/>
              </a:rPr>
              <a:t>function</a:t>
            </a:r>
            <a:r>
              <a:rPr lang="en-US" altLang="zh-CN" dirty="0" smtClean="0">
                <a:solidFill>
                  <a:srgbClr val="ABB2BF"/>
                </a:solidFill>
                <a:latin typeface="Consolas" panose="020B0609020204030204" pitchFamily="49" charset="0"/>
              </a:rPr>
              <a:t> </a:t>
            </a:r>
            <a:r>
              <a:rPr lang="en-US" altLang="zh-CN" dirty="0" smtClean="0">
                <a:solidFill>
                  <a:srgbClr val="E5C07B"/>
                </a:solidFill>
                <a:latin typeface="Consolas" panose="020B0609020204030204" pitchFamily="49" charset="0"/>
              </a:rPr>
              <a:t>Hunter</a:t>
            </a:r>
            <a:r>
              <a:rPr lang="en-US" altLang="zh-CN" dirty="0" smtClean="0">
                <a:solidFill>
                  <a:srgbClr val="ABB2BF"/>
                </a:solidFill>
                <a:latin typeface="Consolas" panose="020B0609020204030204" pitchFamily="49" charset="0"/>
              </a:rPr>
              <a:t>(</a:t>
            </a:r>
            <a:r>
              <a:rPr lang="en-US" altLang="zh-CN" i="1" dirty="0" smtClean="0">
                <a:solidFill>
                  <a:srgbClr val="E06C75"/>
                </a:solidFill>
                <a:latin typeface="Consolas" panose="020B0609020204030204" pitchFamily="49" charset="0"/>
              </a:rPr>
              <a:t>name</a:t>
            </a:r>
            <a:r>
              <a:rPr lang="en-US" altLang="zh-CN" dirty="0" smtClean="0">
                <a:solidFill>
                  <a:srgbClr val="ABB2BF"/>
                </a:solidFill>
                <a:latin typeface="Consolas" panose="020B0609020204030204" pitchFamily="49" charset="0"/>
              </a:rPr>
              <a:t>, </a:t>
            </a:r>
            <a:r>
              <a:rPr lang="en-US" altLang="zh-CN" i="1" dirty="0" smtClean="0">
                <a:solidFill>
                  <a:srgbClr val="E06C75"/>
                </a:solidFill>
                <a:latin typeface="Consolas" panose="020B0609020204030204" pitchFamily="49" charset="0"/>
              </a:rPr>
              <a:t>level</a:t>
            </a:r>
            <a:r>
              <a:rPr lang="en-US" altLang="zh-CN" dirty="0" smtClean="0">
                <a:solidFill>
                  <a:srgbClr val="ABB2BF"/>
                </a:solidFill>
                <a:latin typeface="Consolas" panose="020B0609020204030204" pitchFamily="49" charset="0"/>
              </a:rPr>
              <a:t>) {</a:t>
            </a:r>
            <a:endParaRPr lang="en-US" altLang="zh-CN" dirty="0" smtClean="0">
              <a:solidFill>
                <a:srgbClr val="ABB2BF"/>
              </a:solidFill>
              <a:latin typeface="Consolas" panose="020B0609020204030204" pitchFamily="49" charset="0"/>
            </a:endParaRPr>
          </a:p>
          <a:p>
            <a:r>
              <a:rPr lang="en-US" altLang="zh-CN" dirty="0" smtClean="0">
                <a:solidFill>
                  <a:srgbClr val="ABB2BF"/>
                </a:solidFill>
                <a:latin typeface="Consolas" panose="020B0609020204030204" pitchFamily="49" charset="0"/>
              </a:rPr>
              <a:t>  </a:t>
            </a:r>
            <a:r>
              <a:rPr lang="en-US" altLang="zh-CN" dirty="0" smtClean="0">
                <a:solidFill>
                  <a:srgbClr val="E5C07B"/>
                </a:solidFill>
                <a:latin typeface="Consolas" panose="020B0609020204030204" pitchFamily="49" charset="0"/>
              </a:rPr>
              <a:t>this</a:t>
            </a:r>
            <a:r>
              <a:rPr lang="en-US" altLang="zh-CN" dirty="0" smtClean="0">
                <a:solidFill>
                  <a:srgbClr val="ABB2BF"/>
                </a:solidFill>
                <a:latin typeface="Consolas" panose="020B0609020204030204" pitchFamily="49" charset="0"/>
              </a:rPr>
              <a:t>.</a:t>
            </a:r>
            <a:r>
              <a:rPr lang="en-US" altLang="zh-CN" dirty="0" smtClean="0">
                <a:solidFill>
                  <a:srgbClr val="E06C75"/>
                </a:solidFill>
                <a:latin typeface="Consolas" panose="020B0609020204030204" pitchFamily="49" charset="0"/>
              </a:rPr>
              <a:t>name</a:t>
            </a:r>
            <a:r>
              <a:rPr lang="en-US" altLang="zh-CN" dirty="0" smtClean="0">
                <a:solidFill>
                  <a:srgbClr val="ABB2BF"/>
                </a:solidFill>
                <a:latin typeface="Consolas" panose="020B0609020204030204" pitchFamily="49" charset="0"/>
              </a:rPr>
              <a:t> </a:t>
            </a:r>
            <a:r>
              <a:rPr lang="en-US" altLang="zh-CN" dirty="0" smtClean="0">
                <a:solidFill>
                  <a:srgbClr val="56B6C2"/>
                </a:solidFill>
                <a:latin typeface="Consolas" panose="020B0609020204030204" pitchFamily="49" charset="0"/>
              </a:rPr>
              <a:t>=</a:t>
            </a:r>
            <a:r>
              <a:rPr lang="en-US" altLang="zh-CN" dirty="0" smtClean="0">
                <a:solidFill>
                  <a:srgbClr val="ABB2BF"/>
                </a:solidFill>
                <a:latin typeface="Consolas" panose="020B0609020204030204" pitchFamily="49" charset="0"/>
              </a:rPr>
              <a:t> </a:t>
            </a:r>
            <a:r>
              <a:rPr lang="en-US" altLang="zh-CN" i="1" dirty="0" smtClean="0">
                <a:solidFill>
                  <a:srgbClr val="E06C75"/>
                </a:solidFill>
                <a:latin typeface="Consolas" panose="020B0609020204030204" pitchFamily="49" charset="0"/>
              </a:rPr>
              <a:t>name</a:t>
            </a:r>
            <a:r>
              <a:rPr lang="en-US" altLang="zh-CN" dirty="0" smtClean="0">
                <a:solidFill>
                  <a:srgbClr val="ABB2BF"/>
                </a:solidFill>
                <a:latin typeface="Consolas" panose="020B0609020204030204" pitchFamily="49" charset="0"/>
              </a:rPr>
              <a:t>; //</a:t>
            </a:r>
            <a:r>
              <a:rPr lang="zh-CN" altLang="en-US" dirty="0" smtClean="0">
                <a:solidFill>
                  <a:srgbClr val="ABB2BF"/>
                </a:solidFill>
                <a:latin typeface="Consolas" panose="020B0609020204030204" pitchFamily="49" charset="0"/>
              </a:rPr>
              <a:t>名称</a:t>
            </a:r>
            <a:endParaRPr lang="en-US" altLang="zh-CN" dirty="0" smtClean="0">
              <a:solidFill>
                <a:srgbClr val="ABB2BF"/>
              </a:solidFill>
              <a:latin typeface="Consolas" panose="020B0609020204030204" pitchFamily="49" charset="0"/>
            </a:endParaRPr>
          </a:p>
          <a:p>
            <a:r>
              <a:rPr lang="en-US" altLang="zh-CN" dirty="0" smtClean="0">
                <a:solidFill>
                  <a:srgbClr val="ABB2BF"/>
                </a:solidFill>
                <a:latin typeface="Consolas" panose="020B0609020204030204" pitchFamily="49" charset="0"/>
              </a:rPr>
              <a:t>  </a:t>
            </a:r>
            <a:r>
              <a:rPr lang="en-US" altLang="zh-CN" dirty="0" err="1" smtClean="0">
                <a:solidFill>
                  <a:srgbClr val="E5C07B"/>
                </a:solidFill>
                <a:latin typeface="Consolas" panose="020B0609020204030204" pitchFamily="49" charset="0"/>
              </a:rPr>
              <a:t>this</a:t>
            </a:r>
            <a:r>
              <a:rPr lang="en-US" altLang="zh-CN" dirty="0" err="1" smtClean="0">
                <a:solidFill>
                  <a:srgbClr val="ABB2BF"/>
                </a:solidFill>
                <a:latin typeface="Consolas" panose="020B0609020204030204" pitchFamily="49" charset="0"/>
              </a:rPr>
              <a:t>.</a:t>
            </a:r>
            <a:r>
              <a:rPr lang="en-US" altLang="zh-CN" dirty="0" err="1" smtClean="0">
                <a:solidFill>
                  <a:srgbClr val="E06C75"/>
                </a:solidFill>
                <a:latin typeface="Consolas" panose="020B0609020204030204" pitchFamily="49" charset="0"/>
              </a:rPr>
              <a:t>level</a:t>
            </a:r>
            <a:r>
              <a:rPr lang="en-US" altLang="zh-CN" dirty="0" smtClean="0">
                <a:solidFill>
                  <a:srgbClr val="ABB2BF"/>
                </a:solidFill>
                <a:latin typeface="Consolas" panose="020B0609020204030204" pitchFamily="49" charset="0"/>
              </a:rPr>
              <a:t> </a:t>
            </a:r>
            <a:r>
              <a:rPr lang="en-US" altLang="zh-CN" dirty="0" smtClean="0">
                <a:solidFill>
                  <a:srgbClr val="56B6C2"/>
                </a:solidFill>
                <a:latin typeface="Consolas" panose="020B0609020204030204" pitchFamily="49" charset="0"/>
              </a:rPr>
              <a:t>=</a:t>
            </a:r>
            <a:r>
              <a:rPr lang="en-US" altLang="zh-CN" dirty="0" smtClean="0">
                <a:solidFill>
                  <a:srgbClr val="ABB2BF"/>
                </a:solidFill>
                <a:latin typeface="Consolas" panose="020B0609020204030204" pitchFamily="49" charset="0"/>
              </a:rPr>
              <a:t> </a:t>
            </a:r>
            <a:r>
              <a:rPr lang="en-US" altLang="zh-CN" i="1" dirty="0" smtClean="0">
                <a:solidFill>
                  <a:srgbClr val="E06C75"/>
                </a:solidFill>
                <a:latin typeface="Consolas" panose="020B0609020204030204" pitchFamily="49" charset="0"/>
              </a:rPr>
              <a:t>level</a:t>
            </a:r>
            <a:r>
              <a:rPr lang="en-US" altLang="zh-CN" dirty="0" smtClean="0">
                <a:solidFill>
                  <a:srgbClr val="ABB2BF"/>
                </a:solidFill>
                <a:latin typeface="Consolas" panose="020B0609020204030204" pitchFamily="49" charset="0"/>
              </a:rPr>
              <a:t>; //</a:t>
            </a:r>
            <a:r>
              <a:rPr lang="zh-CN" altLang="en-US" dirty="0" smtClean="0">
                <a:solidFill>
                  <a:srgbClr val="ABB2BF"/>
                </a:solidFill>
                <a:latin typeface="Consolas" panose="020B0609020204030204" pitchFamily="49" charset="0"/>
              </a:rPr>
              <a:t>等级</a:t>
            </a:r>
            <a:endParaRPr lang="en-US" altLang="zh-CN" dirty="0" smtClean="0">
              <a:solidFill>
                <a:srgbClr val="ABB2BF"/>
              </a:solidFill>
              <a:latin typeface="Consolas" panose="020B0609020204030204" pitchFamily="49" charset="0"/>
            </a:endParaRPr>
          </a:p>
          <a:p>
            <a:r>
              <a:rPr lang="en-US" altLang="zh-CN" dirty="0" smtClean="0">
                <a:solidFill>
                  <a:srgbClr val="ABB2BF"/>
                </a:solidFill>
                <a:latin typeface="Consolas" panose="020B0609020204030204" pitchFamily="49" charset="0"/>
              </a:rPr>
              <a:t>  </a:t>
            </a:r>
            <a:r>
              <a:rPr lang="en-US" altLang="zh-CN" dirty="0" err="1" smtClean="0">
                <a:solidFill>
                  <a:srgbClr val="E5C07B"/>
                </a:solidFill>
                <a:latin typeface="Consolas" panose="020B0609020204030204" pitchFamily="49" charset="0"/>
              </a:rPr>
              <a:t>this</a:t>
            </a:r>
            <a:r>
              <a:rPr lang="en-US" altLang="zh-CN" dirty="0" err="1" smtClean="0">
                <a:solidFill>
                  <a:srgbClr val="ABB2BF"/>
                </a:solidFill>
                <a:latin typeface="Consolas" panose="020B0609020204030204" pitchFamily="49" charset="0"/>
              </a:rPr>
              <a:t>.</a:t>
            </a:r>
            <a:r>
              <a:rPr lang="en-US" altLang="zh-CN" dirty="0" err="1" smtClean="0">
                <a:solidFill>
                  <a:srgbClr val="E06C75"/>
                </a:solidFill>
                <a:latin typeface="Consolas" panose="020B0609020204030204" pitchFamily="49" charset="0"/>
              </a:rPr>
              <a:t>list</a:t>
            </a:r>
            <a:r>
              <a:rPr lang="en-US" altLang="zh-CN" dirty="0" smtClean="0">
                <a:solidFill>
                  <a:srgbClr val="ABB2BF"/>
                </a:solidFill>
                <a:latin typeface="Consolas" panose="020B0609020204030204" pitchFamily="49" charset="0"/>
              </a:rPr>
              <a:t> </a:t>
            </a:r>
            <a:r>
              <a:rPr lang="en-US" altLang="zh-CN" dirty="0" smtClean="0">
                <a:solidFill>
                  <a:srgbClr val="56B6C2"/>
                </a:solidFill>
                <a:latin typeface="Consolas" panose="020B0609020204030204" pitchFamily="49" charset="0"/>
              </a:rPr>
              <a:t>=</a:t>
            </a:r>
            <a:r>
              <a:rPr lang="en-US" altLang="zh-CN" dirty="0" smtClean="0">
                <a:solidFill>
                  <a:srgbClr val="ABB2BF"/>
                </a:solidFill>
                <a:latin typeface="Consolas" panose="020B0609020204030204" pitchFamily="49" charset="0"/>
              </a:rPr>
              <a:t> []; //</a:t>
            </a:r>
            <a:r>
              <a:rPr lang="zh-CN" altLang="en-US" dirty="0" smtClean="0">
                <a:solidFill>
                  <a:srgbClr val="ABB2BF"/>
                </a:solidFill>
                <a:latin typeface="Consolas" panose="020B0609020204030204" pitchFamily="49" charset="0"/>
              </a:rPr>
              <a:t>任务列表</a:t>
            </a:r>
            <a:endParaRPr lang="en-US" altLang="zh-CN" dirty="0" smtClean="0">
              <a:solidFill>
                <a:srgbClr val="ABB2BF"/>
              </a:solidFill>
              <a:latin typeface="Consolas" panose="020B0609020204030204" pitchFamily="49" charset="0"/>
            </a:endParaRPr>
          </a:p>
          <a:p>
            <a:r>
              <a:rPr lang="en-US" altLang="zh-CN" dirty="0" smtClean="0">
                <a:solidFill>
                  <a:srgbClr val="ABB2BF"/>
                </a:solidFill>
                <a:latin typeface="Consolas" panose="020B0609020204030204" pitchFamily="49" charset="0"/>
              </a:rPr>
              <a:t>}</a:t>
            </a:r>
            <a:endParaRPr lang="en-US" altLang="zh-CN" dirty="0" smtClean="0">
              <a:solidFill>
                <a:srgbClr val="ABB2BF"/>
              </a:solidFill>
              <a:latin typeface="Consolas" panose="020B0609020204030204" pitchFamily="49" charset="0"/>
            </a:endParaRPr>
          </a:p>
          <a:p>
            <a:endParaRPr lang="en-US" altLang="zh-CN" dirty="0" smtClean="0">
              <a:solidFill>
                <a:srgbClr val="ABB2BF"/>
              </a:solidFill>
              <a:latin typeface="Consolas" panose="020B0609020204030204" pitchFamily="49" charset="0"/>
            </a:endParaRPr>
          </a:p>
          <a:p>
            <a:r>
              <a:rPr lang="en-US" altLang="zh-CN" dirty="0" err="1" smtClean="0">
                <a:solidFill>
                  <a:srgbClr val="E5C07B"/>
                </a:solidFill>
                <a:latin typeface="Consolas" panose="020B0609020204030204" pitchFamily="49" charset="0"/>
              </a:rPr>
              <a:t>Hunter</a:t>
            </a:r>
            <a:r>
              <a:rPr lang="en-US" altLang="zh-CN" dirty="0" err="1" smtClean="0">
                <a:solidFill>
                  <a:srgbClr val="ABB2BF"/>
                </a:solidFill>
                <a:latin typeface="Consolas" panose="020B0609020204030204" pitchFamily="49" charset="0"/>
              </a:rPr>
              <a:t>.</a:t>
            </a:r>
            <a:r>
              <a:rPr lang="en-US" altLang="zh-CN" dirty="0" err="1" smtClean="0">
                <a:solidFill>
                  <a:srgbClr val="E06C75"/>
                </a:solidFill>
                <a:latin typeface="Consolas" panose="020B0609020204030204" pitchFamily="49" charset="0"/>
              </a:rPr>
              <a:t>prototype</a:t>
            </a:r>
            <a:r>
              <a:rPr lang="en-US" altLang="zh-CN" dirty="0" err="1" smtClean="0">
                <a:solidFill>
                  <a:srgbClr val="ABB2BF"/>
                </a:solidFill>
                <a:latin typeface="Consolas" panose="020B0609020204030204" pitchFamily="49" charset="0"/>
              </a:rPr>
              <a:t>.</a:t>
            </a:r>
            <a:r>
              <a:rPr lang="en-US" altLang="zh-CN" dirty="0" err="1" smtClean="0">
                <a:solidFill>
                  <a:srgbClr val="61AFEF"/>
                </a:solidFill>
                <a:latin typeface="Consolas" panose="020B0609020204030204" pitchFamily="49" charset="0"/>
              </a:rPr>
              <a:t>publish</a:t>
            </a:r>
            <a:r>
              <a:rPr lang="en-US" altLang="zh-CN" dirty="0" smtClean="0">
                <a:solidFill>
                  <a:srgbClr val="ABB2BF"/>
                </a:solidFill>
                <a:latin typeface="Consolas" panose="020B0609020204030204" pitchFamily="49" charset="0"/>
              </a:rPr>
              <a:t> </a:t>
            </a:r>
            <a:r>
              <a:rPr lang="en-US" altLang="zh-CN" dirty="0" smtClean="0">
                <a:solidFill>
                  <a:srgbClr val="56B6C2"/>
                </a:solidFill>
                <a:latin typeface="Consolas" panose="020B0609020204030204" pitchFamily="49" charset="0"/>
              </a:rPr>
              <a:t>=</a:t>
            </a:r>
            <a:r>
              <a:rPr lang="en-US" altLang="zh-CN" dirty="0" smtClean="0">
                <a:solidFill>
                  <a:srgbClr val="ABB2BF"/>
                </a:solidFill>
                <a:latin typeface="Consolas" panose="020B0609020204030204" pitchFamily="49" charset="0"/>
              </a:rPr>
              <a:t> </a:t>
            </a:r>
            <a:r>
              <a:rPr lang="en-US" altLang="zh-CN" dirty="0" smtClean="0">
                <a:solidFill>
                  <a:srgbClr val="C678DD"/>
                </a:solidFill>
                <a:latin typeface="Consolas" panose="020B0609020204030204" pitchFamily="49" charset="0"/>
              </a:rPr>
              <a:t>function</a:t>
            </a:r>
            <a:r>
              <a:rPr lang="en-US" altLang="zh-CN" dirty="0" smtClean="0">
                <a:solidFill>
                  <a:srgbClr val="ABB2BF"/>
                </a:solidFill>
                <a:latin typeface="Consolas" panose="020B0609020204030204" pitchFamily="49" charset="0"/>
              </a:rPr>
              <a:t> (</a:t>
            </a:r>
            <a:r>
              <a:rPr lang="en-US" altLang="zh-CN" i="1" dirty="0" smtClean="0">
                <a:solidFill>
                  <a:srgbClr val="E06C75"/>
                </a:solidFill>
                <a:latin typeface="Consolas" panose="020B0609020204030204" pitchFamily="49" charset="0"/>
              </a:rPr>
              <a:t>money</a:t>
            </a:r>
            <a:r>
              <a:rPr lang="en-US" altLang="zh-CN" dirty="0" smtClean="0">
                <a:solidFill>
                  <a:srgbClr val="ABB2BF"/>
                </a:solidFill>
                <a:latin typeface="Consolas" panose="020B0609020204030204" pitchFamily="49" charset="0"/>
              </a:rPr>
              <a:t>) {</a:t>
            </a:r>
            <a:endParaRPr lang="en-US" altLang="zh-CN" dirty="0" smtClean="0">
              <a:solidFill>
                <a:srgbClr val="ABB2BF"/>
              </a:solidFill>
              <a:latin typeface="Consolas" panose="020B0609020204030204" pitchFamily="49" charset="0"/>
            </a:endParaRPr>
          </a:p>
          <a:p>
            <a:r>
              <a:rPr lang="en-US" altLang="zh-CN" dirty="0" smtClean="0">
                <a:solidFill>
                  <a:srgbClr val="ABB2BF"/>
                </a:solidFill>
                <a:latin typeface="Consolas" panose="020B0609020204030204" pitchFamily="49" charset="0"/>
              </a:rPr>
              <a:t>  </a:t>
            </a:r>
            <a:r>
              <a:rPr lang="en-US" altLang="zh-CN" dirty="0" err="1" smtClean="0">
                <a:solidFill>
                  <a:srgbClr val="E5C07B"/>
                </a:solidFill>
                <a:latin typeface="Consolas" panose="020B0609020204030204" pitchFamily="49" charset="0"/>
              </a:rPr>
              <a:t>this</a:t>
            </a:r>
            <a:r>
              <a:rPr lang="en-US" altLang="zh-CN" dirty="0" err="1" smtClean="0">
                <a:solidFill>
                  <a:srgbClr val="ABB2BF"/>
                </a:solidFill>
                <a:latin typeface="Consolas" panose="020B0609020204030204" pitchFamily="49" charset="0"/>
              </a:rPr>
              <a:t>.</a:t>
            </a:r>
            <a:r>
              <a:rPr lang="en-US" altLang="zh-CN" dirty="0" err="1" smtClean="0">
                <a:solidFill>
                  <a:srgbClr val="E06C75"/>
                </a:solidFill>
                <a:latin typeface="Consolas" panose="020B0609020204030204" pitchFamily="49" charset="0"/>
              </a:rPr>
              <a:t>list</a:t>
            </a:r>
            <a:r>
              <a:rPr lang="en-US" altLang="zh-CN" dirty="0" err="1" smtClean="0">
                <a:solidFill>
                  <a:srgbClr val="ABB2BF"/>
                </a:solidFill>
                <a:latin typeface="Consolas" panose="020B0609020204030204" pitchFamily="49" charset="0"/>
              </a:rPr>
              <a:t>.</a:t>
            </a:r>
            <a:r>
              <a:rPr lang="en-US" altLang="zh-CN" dirty="0" err="1" smtClean="0">
                <a:solidFill>
                  <a:srgbClr val="61AFEF"/>
                </a:solidFill>
                <a:latin typeface="Consolas" panose="020B0609020204030204" pitchFamily="49" charset="0"/>
              </a:rPr>
              <a:t>forEach</a:t>
            </a:r>
            <a:r>
              <a:rPr lang="en-US" altLang="zh-CN" dirty="0" smtClean="0">
                <a:solidFill>
                  <a:srgbClr val="ABB2BF"/>
                </a:solidFill>
                <a:latin typeface="Consolas" panose="020B0609020204030204" pitchFamily="49" charset="0"/>
              </a:rPr>
              <a:t>(</a:t>
            </a:r>
            <a:r>
              <a:rPr lang="en-US" altLang="zh-CN" dirty="0" smtClean="0">
                <a:solidFill>
                  <a:srgbClr val="C678DD"/>
                </a:solidFill>
                <a:latin typeface="Consolas" panose="020B0609020204030204" pitchFamily="49" charset="0"/>
              </a:rPr>
              <a:t>function</a:t>
            </a:r>
            <a:r>
              <a:rPr lang="en-US" altLang="zh-CN" dirty="0" smtClean="0">
                <a:solidFill>
                  <a:srgbClr val="ABB2BF"/>
                </a:solidFill>
                <a:latin typeface="Consolas" panose="020B0609020204030204" pitchFamily="49" charset="0"/>
              </a:rPr>
              <a:t> (</a:t>
            </a:r>
            <a:r>
              <a:rPr lang="en-US" altLang="zh-CN" i="1" dirty="0" smtClean="0">
                <a:solidFill>
                  <a:srgbClr val="E06C75"/>
                </a:solidFill>
                <a:latin typeface="Consolas" panose="020B0609020204030204" pitchFamily="49" charset="0"/>
              </a:rPr>
              <a:t>item</a:t>
            </a:r>
            <a:r>
              <a:rPr lang="en-US" altLang="zh-CN" dirty="0" smtClean="0">
                <a:solidFill>
                  <a:srgbClr val="ABB2BF"/>
                </a:solidFill>
                <a:latin typeface="Consolas" panose="020B0609020204030204" pitchFamily="49" charset="0"/>
              </a:rPr>
              <a:t>) {</a:t>
            </a:r>
            <a:endParaRPr lang="en-US" altLang="zh-CN" dirty="0" smtClean="0">
              <a:solidFill>
                <a:srgbClr val="ABB2BF"/>
              </a:solidFill>
              <a:latin typeface="Consolas" panose="020B0609020204030204" pitchFamily="49" charset="0"/>
            </a:endParaRPr>
          </a:p>
          <a:p>
            <a:r>
              <a:rPr lang="en-US" altLang="zh-CN" dirty="0" smtClean="0">
                <a:solidFill>
                  <a:srgbClr val="ABB2BF"/>
                </a:solidFill>
                <a:latin typeface="Consolas" panose="020B0609020204030204" pitchFamily="49" charset="0"/>
              </a:rPr>
              <a:t>    </a:t>
            </a:r>
            <a:r>
              <a:rPr lang="en-US" altLang="zh-CN" i="1" dirty="0" smtClean="0">
                <a:solidFill>
                  <a:srgbClr val="E06C75"/>
                </a:solidFill>
                <a:latin typeface="Consolas" panose="020B0609020204030204" pitchFamily="49" charset="0"/>
              </a:rPr>
              <a:t>item</a:t>
            </a:r>
            <a:r>
              <a:rPr lang="en-US" altLang="zh-CN" dirty="0" smtClean="0">
                <a:solidFill>
                  <a:srgbClr val="ABB2BF"/>
                </a:solidFill>
                <a:latin typeface="Consolas" panose="020B0609020204030204" pitchFamily="49" charset="0"/>
              </a:rPr>
              <a:t>(</a:t>
            </a:r>
            <a:r>
              <a:rPr lang="en-US" altLang="zh-CN" i="1" dirty="0" smtClean="0">
                <a:solidFill>
                  <a:srgbClr val="E06C75"/>
                </a:solidFill>
                <a:latin typeface="Consolas" panose="020B0609020204030204" pitchFamily="49" charset="0"/>
              </a:rPr>
              <a:t>money</a:t>
            </a:r>
            <a:r>
              <a:rPr lang="en-US" altLang="zh-CN" dirty="0" smtClean="0">
                <a:solidFill>
                  <a:srgbClr val="ABB2BF"/>
                </a:solidFill>
                <a:latin typeface="Consolas" panose="020B0609020204030204" pitchFamily="49" charset="0"/>
              </a:rPr>
              <a:t>);</a:t>
            </a:r>
            <a:endParaRPr lang="en-US" altLang="zh-CN" dirty="0" smtClean="0">
              <a:solidFill>
                <a:srgbClr val="ABB2BF"/>
              </a:solidFill>
              <a:latin typeface="Consolas" panose="020B0609020204030204" pitchFamily="49" charset="0"/>
            </a:endParaRPr>
          </a:p>
          <a:p>
            <a:r>
              <a:rPr lang="en-US" altLang="zh-CN" dirty="0" smtClean="0">
                <a:solidFill>
                  <a:srgbClr val="ABB2BF"/>
                </a:solidFill>
                <a:latin typeface="Consolas" panose="020B0609020204030204" pitchFamily="49" charset="0"/>
              </a:rPr>
              <a:t>  });</a:t>
            </a:r>
            <a:endParaRPr lang="en-US" altLang="zh-CN" dirty="0" smtClean="0">
              <a:solidFill>
                <a:srgbClr val="ABB2BF"/>
              </a:solidFill>
              <a:latin typeface="Consolas" panose="020B0609020204030204" pitchFamily="49" charset="0"/>
            </a:endParaRPr>
          </a:p>
          <a:p>
            <a:r>
              <a:rPr lang="en-US" altLang="zh-CN" dirty="0" smtClean="0">
                <a:solidFill>
                  <a:srgbClr val="ABB2BF"/>
                </a:solidFill>
                <a:latin typeface="Consolas" panose="020B0609020204030204" pitchFamily="49" charset="0"/>
                <a:sym typeface="+mn-ea"/>
              </a:rPr>
              <a:t>  </a:t>
            </a:r>
            <a:r>
              <a:rPr lang="en-US" altLang="zh-CN" dirty="0" smtClean="0">
                <a:solidFill>
                  <a:srgbClr val="E06C75"/>
                </a:solidFill>
                <a:latin typeface="Consolas" panose="020B0609020204030204" pitchFamily="49" charset="0"/>
                <a:sym typeface="+mn-ea"/>
              </a:rPr>
              <a:t>console</a:t>
            </a:r>
            <a:r>
              <a:rPr lang="en-US" altLang="zh-CN" dirty="0" smtClean="0">
                <a:solidFill>
                  <a:srgbClr val="ABB2BF"/>
                </a:solidFill>
                <a:latin typeface="Consolas" panose="020B0609020204030204" pitchFamily="49" charset="0"/>
                <a:sym typeface="+mn-ea"/>
              </a:rPr>
              <a:t>.</a:t>
            </a:r>
            <a:r>
              <a:rPr lang="en-US" altLang="zh-CN" dirty="0" smtClean="0">
                <a:solidFill>
                  <a:srgbClr val="61AFEF"/>
                </a:solidFill>
                <a:latin typeface="Consolas" panose="020B0609020204030204" pitchFamily="49" charset="0"/>
                <a:sym typeface="+mn-ea"/>
              </a:rPr>
              <a:t>log</a:t>
            </a:r>
            <a:r>
              <a:rPr lang="en-US" altLang="zh-CN" dirty="0" smtClean="0">
                <a:solidFill>
                  <a:srgbClr val="ABB2BF"/>
                </a:solidFill>
                <a:latin typeface="Consolas" panose="020B0609020204030204" pitchFamily="49" charset="0"/>
                <a:sym typeface="+mn-ea"/>
              </a:rPr>
              <a:t>(</a:t>
            </a:r>
            <a:r>
              <a:rPr lang="en-US" altLang="zh-CN" dirty="0" err="1" smtClean="0">
                <a:solidFill>
                  <a:srgbClr val="E5C07B"/>
                </a:solidFill>
                <a:latin typeface="Consolas" panose="020B0609020204030204" pitchFamily="49" charset="0"/>
                <a:sym typeface="+mn-ea"/>
              </a:rPr>
              <a:t>this</a:t>
            </a:r>
            <a:r>
              <a:rPr lang="en-US" altLang="zh-CN" dirty="0" err="1" smtClean="0">
                <a:solidFill>
                  <a:srgbClr val="ABB2BF"/>
                </a:solidFill>
                <a:latin typeface="Consolas" panose="020B0609020204030204" pitchFamily="49" charset="0"/>
                <a:sym typeface="+mn-ea"/>
              </a:rPr>
              <a:t>.</a:t>
            </a:r>
            <a:r>
              <a:rPr lang="en-US" altLang="zh-CN" dirty="0" err="1" smtClean="0">
                <a:solidFill>
                  <a:srgbClr val="E06C75"/>
                </a:solidFill>
                <a:latin typeface="Consolas" panose="020B0609020204030204" pitchFamily="49" charset="0"/>
                <a:sym typeface="+mn-ea"/>
              </a:rPr>
              <a:t>level</a:t>
            </a:r>
            <a:r>
              <a:rPr lang="en-US" altLang="zh-CN" dirty="0" smtClean="0">
                <a:solidFill>
                  <a:srgbClr val="ABB2BF"/>
                </a:solidFill>
                <a:latin typeface="Consolas" panose="020B0609020204030204" pitchFamily="49" charset="0"/>
                <a:sym typeface="+mn-ea"/>
              </a:rPr>
              <a:t> </a:t>
            </a:r>
            <a:r>
              <a:rPr lang="en-US" altLang="zh-CN" dirty="0" smtClean="0">
                <a:solidFill>
                  <a:srgbClr val="56B6C2"/>
                </a:solidFill>
                <a:latin typeface="Consolas" panose="020B0609020204030204" pitchFamily="49" charset="0"/>
                <a:sym typeface="+mn-ea"/>
              </a:rPr>
              <a:t>+</a:t>
            </a:r>
            <a:r>
              <a:rPr lang="en-US" altLang="zh-CN" dirty="0" smtClean="0">
                <a:solidFill>
                  <a:srgbClr val="ABB2BF"/>
                </a:solidFill>
                <a:latin typeface="Consolas" panose="020B0609020204030204" pitchFamily="49" charset="0"/>
                <a:sym typeface="+mn-ea"/>
              </a:rPr>
              <a:t> </a:t>
            </a:r>
            <a:r>
              <a:rPr lang="en-US" altLang="zh-CN" dirty="0" smtClean="0">
                <a:solidFill>
                  <a:srgbClr val="98C379"/>
                </a:solidFill>
                <a:latin typeface="Consolas" panose="020B0609020204030204" pitchFamily="49" charset="0"/>
                <a:sym typeface="+mn-ea"/>
              </a:rPr>
              <a:t>'</a:t>
            </a:r>
            <a:r>
              <a:rPr lang="zh-CN" altLang="en-US" dirty="0" smtClean="0">
                <a:solidFill>
                  <a:srgbClr val="98C379"/>
                </a:solidFill>
                <a:latin typeface="Consolas" panose="020B0609020204030204" pitchFamily="49" charset="0"/>
                <a:sym typeface="+mn-ea"/>
              </a:rPr>
              <a:t>猎人</a:t>
            </a:r>
            <a:r>
              <a:rPr lang="en-US" altLang="zh-CN" dirty="0" smtClean="0">
                <a:solidFill>
                  <a:srgbClr val="98C379"/>
                </a:solidFill>
                <a:latin typeface="Consolas" panose="020B0609020204030204" pitchFamily="49" charset="0"/>
                <a:sym typeface="+mn-ea"/>
              </a:rPr>
              <a:t>'</a:t>
            </a:r>
            <a:r>
              <a:rPr lang="zh-CN" altLang="en-US" dirty="0" smtClean="0">
                <a:solidFill>
                  <a:srgbClr val="ABB2BF"/>
                </a:solidFill>
                <a:latin typeface="Consolas" panose="020B0609020204030204" pitchFamily="49" charset="0"/>
                <a:sym typeface="+mn-ea"/>
              </a:rPr>
              <a:t> </a:t>
            </a:r>
            <a:r>
              <a:rPr lang="en-US" altLang="zh-CN" dirty="0" smtClean="0">
                <a:solidFill>
                  <a:srgbClr val="56B6C2"/>
                </a:solidFill>
                <a:latin typeface="Consolas" panose="020B0609020204030204" pitchFamily="49" charset="0"/>
                <a:sym typeface="+mn-ea"/>
              </a:rPr>
              <a:t>+</a:t>
            </a:r>
            <a:r>
              <a:rPr lang="zh-CN" altLang="en-US" dirty="0" smtClean="0">
                <a:solidFill>
                  <a:srgbClr val="ABB2BF"/>
                </a:solidFill>
                <a:latin typeface="Consolas" panose="020B0609020204030204" pitchFamily="49" charset="0"/>
                <a:sym typeface="+mn-ea"/>
              </a:rPr>
              <a:t> </a:t>
            </a:r>
            <a:r>
              <a:rPr lang="en-US" altLang="zh-CN" dirty="0" smtClean="0">
                <a:solidFill>
                  <a:srgbClr val="E5C07B"/>
                </a:solidFill>
                <a:latin typeface="Consolas" panose="020B0609020204030204" pitchFamily="49" charset="0"/>
                <a:sym typeface="+mn-ea"/>
              </a:rPr>
              <a:t>this</a:t>
            </a:r>
            <a:r>
              <a:rPr lang="en-US" altLang="zh-CN" dirty="0" smtClean="0">
                <a:solidFill>
                  <a:srgbClr val="ABB2BF"/>
                </a:solidFill>
                <a:latin typeface="Consolas" panose="020B0609020204030204" pitchFamily="49" charset="0"/>
                <a:sym typeface="+mn-ea"/>
              </a:rPr>
              <a:t>.</a:t>
            </a:r>
            <a:r>
              <a:rPr lang="en-US" altLang="zh-CN" dirty="0" smtClean="0">
                <a:solidFill>
                  <a:srgbClr val="E06C75"/>
                </a:solidFill>
                <a:latin typeface="Consolas" panose="020B0609020204030204" pitchFamily="49" charset="0"/>
                <a:sym typeface="+mn-ea"/>
              </a:rPr>
              <a:t>name</a:t>
            </a:r>
            <a:r>
              <a:rPr lang="en-US" altLang="zh-CN" dirty="0" smtClean="0">
                <a:solidFill>
                  <a:srgbClr val="ABB2BF"/>
                </a:solidFill>
                <a:latin typeface="Consolas" panose="020B0609020204030204" pitchFamily="49" charset="0"/>
                <a:sym typeface="+mn-ea"/>
              </a:rPr>
              <a:t> </a:t>
            </a:r>
            <a:r>
              <a:rPr lang="en-US" altLang="zh-CN" dirty="0" smtClean="0">
                <a:solidFill>
                  <a:srgbClr val="56B6C2"/>
                </a:solidFill>
                <a:latin typeface="Consolas" panose="020B0609020204030204" pitchFamily="49" charset="0"/>
                <a:sym typeface="+mn-ea"/>
              </a:rPr>
              <a:t>+</a:t>
            </a:r>
            <a:r>
              <a:rPr lang="en-US" altLang="zh-CN" dirty="0" smtClean="0">
                <a:solidFill>
                  <a:srgbClr val="ABB2BF"/>
                </a:solidFill>
                <a:latin typeface="Consolas" panose="020B0609020204030204" pitchFamily="49" charset="0"/>
                <a:sym typeface="+mn-ea"/>
              </a:rPr>
              <a:t> </a:t>
            </a:r>
            <a:r>
              <a:rPr lang="en-US" altLang="zh-CN" dirty="0" smtClean="0">
                <a:solidFill>
                  <a:srgbClr val="98C379"/>
                </a:solidFill>
                <a:latin typeface="Consolas" panose="020B0609020204030204" pitchFamily="49" charset="0"/>
                <a:sym typeface="+mn-ea"/>
              </a:rPr>
              <a:t>'</a:t>
            </a:r>
            <a:r>
              <a:rPr lang="zh-CN" altLang="en-US" dirty="0" smtClean="0">
                <a:solidFill>
                  <a:srgbClr val="98C379"/>
                </a:solidFill>
                <a:latin typeface="Consolas" panose="020B0609020204030204" pitchFamily="49" charset="0"/>
                <a:sym typeface="+mn-ea"/>
              </a:rPr>
              <a:t>寻求帮助</a:t>
            </a:r>
            <a:r>
              <a:rPr lang="en-US" altLang="zh-CN" dirty="0" smtClean="0">
                <a:solidFill>
                  <a:srgbClr val="98C379"/>
                </a:solidFill>
                <a:latin typeface="Consolas" panose="020B0609020204030204" pitchFamily="49" charset="0"/>
                <a:sym typeface="+mn-ea"/>
              </a:rPr>
              <a:t>'</a:t>
            </a:r>
            <a:r>
              <a:rPr lang="en-US" altLang="zh-CN" dirty="0" smtClean="0">
                <a:solidFill>
                  <a:srgbClr val="ABB2BF"/>
                </a:solidFill>
                <a:latin typeface="Consolas" panose="020B0609020204030204" pitchFamily="49" charset="0"/>
                <a:sym typeface="+mn-ea"/>
              </a:rPr>
              <a:t>);</a:t>
            </a:r>
            <a:endParaRPr lang="en-US" altLang="zh-CN" dirty="0" smtClean="0">
              <a:solidFill>
                <a:srgbClr val="ABB2BF"/>
              </a:solidFill>
              <a:latin typeface="Consolas" panose="020B0609020204030204" pitchFamily="49" charset="0"/>
            </a:endParaRPr>
          </a:p>
          <a:p>
            <a:r>
              <a:rPr lang="en-US" altLang="zh-CN" dirty="0" smtClean="0">
                <a:solidFill>
                  <a:srgbClr val="ABB2BF"/>
                </a:solidFill>
                <a:latin typeface="Consolas" panose="020B0609020204030204" pitchFamily="49" charset="0"/>
              </a:rPr>
              <a:t>};</a:t>
            </a:r>
            <a:endParaRPr lang="en-US" altLang="zh-CN" dirty="0" smtClean="0">
              <a:solidFill>
                <a:srgbClr val="ABB2BF"/>
              </a:solidFill>
              <a:latin typeface="Consolas" panose="020B0609020204030204" pitchFamily="49" charset="0"/>
            </a:endParaRPr>
          </a:p>
          <a:p>
            <a:endParaRPr lang="en-US" altLang="zh-CN" dirty="0" smtClean="0">
              <a:solidFill>
                <a:srgbClr val="ABB2BF"/>
              </a:solidFill>
              <a:latin typeface="Consolas" panose="020B0609020204030204" pitchFamily="49" charset="0"/>
            </a:endParaRPr>
          </a:p>
          <a:p>
            <a:r>
              <a:rPr lang="en-US" altLang="zh-CN" dirty="0" err="1" smtClean="0">
                <a:solidFill>
                  <a:srgbClr val="E5C07B"/>
                </a:solidFill>
                <a:latin typeface="Consolas" panose="020B0609020204030204" pitchFamily="49" charset="0"/>
              </a:rPr>
              <a:t>Hunter</a:t>
            </a:r>
            <a:r>
              <a:rPr lang="en-US" altLang="zh-CN" dirty="0" err="1" smtClean="0">
                <a:solidFill>
                  <a:srgbClr val="ABB2BF"/>
                </a:solidFill>
                <a:latin typeface="Consolas" panose="020B0609020204030204" pitchFamily="49" charset="0"/>
              </a:rPr>
              <a:t>.</a:t>
            </a:r>
            <a:r>
              <a:rPr lang="en-US" altLang="zh-CN" dirty="0" err="1" smtClean="0">
                <a:solidFill>
                  <a:srgbClr val="E06C75"/>
                </a:solidFill>
                <a:latin typeface="Consolas" panose="020B0609020204030204" pitchFamily="49" charset="0"/>
              </a:rPr>
              <a:t>prototype</a:t>
            </a:r>
            <a:r>
              <a:rPr lang="en-US" altLang="zh-CN" dirty="0" err="1" smtClean="0">
                <a:solidFill>
                  <a:srgbClr val="ABB2BF"/>
                </a:solidFill>
                <a:latin typeface="Consolas" panose="020B0609020204030204" pitchFamily="49" charset="0"/>
              </a:rPr>
              <a:t>.</a:t>
            </a:r>
            <a:r>
              <a:rPr lang="en-US" altLang="zh-CN" dirty="0" err="1" smtClean="0">
                <a:solidFill>
                  <a:srgbClr val="61AFEF"/>
                </a:solidFill>
                <a:latin typeface="Consolas" panose="020B0609020204030204" pitchFamily="49" charset="0"/>
              </a:rPr>
              <a:t>subscribe</a:t>
            </a:r>
            <a:r>
              <a:rPr lang="en-US" altLang="zh-CN" dirty="0" smtClean="0">
                <a:solidFill>
                  <a:srgbClr val="ABB2BF"/>
                </a:solidFill>
                <a:latin typeface="Consolas" panose="020B0609020204030204" pitchFamily="49" charset="0"/>
              </a:rPr>
              <a:t> </a:t>
            </a:r>
            <a:r>
              <a:rPr lang="en-US" altLang="zh-CN" dirty="0" smtClean="0">
                <a:solidFill>
                  <a:srgbClr val="56B6C2"/>
                </a:solidFill>
                <a:latin typeface="Consolas" panose="020B0609020204030204" pitchFamily="49" charset="0"/>
              </a:rPr>
              <a:t>=</a:t>
            </a:r>
            <a:r>
              <a:rPr lang="en-US" altLang="zh-CN" dirty="0" smtClean="0">
                <a:solidFill>
                  <a:srgbClr val="ABB2BF"/>
                </a:solidFill>
                <a:latin typeface="Consolas" panose="020B0609020204030204" pitchFamily="49" charset="0"/>
              </a:rPr>
              <a:t> </a:t>
            </a:r>
            <a:r>
              <a:rPr lang="en-US" altLang="zh-CN" dirty="0" smtClean="0">
                <a:solidFill>
                  <a:srgbClr val="C678DD"/>
                </a:solidFill>
                <a:latin typeface="Consolas" panose="020B0609020204030204" pitchFamily="49" charset="0"/>
              </a:rPr>
              <a:t>function</a:t>
            </a:r>
            <a:r>
              <a:rPr lang="en-US" altLang="zh-CN" dirty="0" smtClean="0">
                <a:solidFill>
                  <a:srgbClr val="ABB2BF"/>
                </a:solidFill>
                <a:latin typeface="Consolas" panose="020B0609020204030204" pitchFamily="49" charset="0"/>
              </a:rPr>
              <a:t> (</a:t>
            </a:r>
            <a:r>
              <a:rPr lang="en-US" altLang="zh-CN" i="1" dirty="0" smtClean="0">
                <a:solidFill>
                  <a:srgbClr val="E06C75"/>
                </a:solidFill>
                <a:latin typeface="Consolas" panose="020B0609020204030204" pitchFamily="49" charset="0"/>
              </a:rPr>
              <a:t>target</a:t>
            </a:r>
            <a:r>
              <a:rPr lang="en-US" altLang="zh-CN" dirty="0" smtClean="0">
                <a:solidFill>
                  <a:srgbClr val="ABB2BF"/>
                </a:solidFill>
                <a:latin typeface="Consolas" panose="020B0609020204030204" pitchFamily="49" charset="0"/>
              </a:rPr>
              <a:t>, </a:t>
            </a:r>
            <a:r>
              <a:rPr lang="en-US" altLang="zh-CN" i="1" dirty="0" err="1" smtClean="0">
                <a:solidFill>
                  <a:srgbClr val="E06C75"/>
                </a:solidFill>
                <a:latin typeface="Consolas" panose="020B0609020204030204" pitchFamily="49" charset="0"/>
              </a:rPr>
              <a:t>fn</a:t>
            </a:r>
            <a:r>
              <a:rPr lang="en-US" altLang="zh-CN" dirty="0" smtClean="0">
                <a:solidFill>
                  <a:srgbClr val="ABB2BF"/>
                </a:solidFill>
                <a:latin typeface="Consolas" panose="020B0609020204030204" pitchFamily="49" charset="0"/>
              </a:rPr>
              <a:t>) {</a:t>
            </a:r>
            <a:endParaRPr lang="en-US" altLang="zh-CN" dirty="0" smtClean="0">
              <a:solidFill>
                <a:srgbClr val="ABB2BF"/>
              </a:solidFill>
              <a:latin typeface="Consolas" panose="020B0609020204030204" pitchFamily="49" charset="0"/>
            </a:endParaRPr>
          </a:p>
          <a:p>
            <a:r>
              <a:rPr lang="en-US" altLang="zh-CN" dirty="0" smtClean="0">
                <a:solidFill>
                  <a:srgbClr val="ABB2BF"/>
                </a:solidFill>
                <a:latin typeface="Consolas" panose="020B0609020204030204" pitchFamily="49" charset="0"/>
              </a:rPr>
              <a:t>  </a:t>
            </a:r>
            <a:r>
              <a:rPr lang="en-US" altLang="zh-CN" i="1" dirty="0" smtClean="0">
                <a:solidFill>
                  <a:srgbClr val="E06C75"/>
                </a:solidFill>
                <a:latin typeface="Consolas" panose="020B0609020204030204" pitchFamily="49" charset="0"/>
                <a:sym typeface="+mn-ea"/>
              </a:rPr>
              <a:t>target</a:t>
            </a:r>
            <a:r>
              <a:rPr lang="en-US" altLang="zh-CN" dirty="0" err="1" smtClean="0">
                <a:solidFill>
                  <a:srgbClr val="ABB2BF"/>
                </a:solidFill>
                <a:latin typeface="Consolas" panose="020B0609020204030204" pitchFamily="49" charset="0"/>
              </a:rPr>
              <a:t>.</a:t>
            </a:r>
            <a:r>
              <a:rPr lang="en-US" altLang="zh-CN" dirty="0" err="1" smtClean="0">
                <a:solidFill>
                  <a:srgbClr val="E06C75"/>
                </a:solidFill>
                <a:latin typeface="Consolas" panose="020B0609020204030204" pitchFamily="49" charset="0"/>
              </a:rPr>
              <a:t>list</a:t>
            </a:r>
            <a:r>
              <a:rPr lang="en-US" altLang="zh-CN" dirty="0" err="1" smtClean="0">
                <a:solidFill>
                  <a:srgbClr val="ABB2BF"/>
                </a:solidFill>
                <a:latin typeface="Consolas" panose="020B0609020204030204" pitchFamily="49" charset="0"/>
              </a:rPr>
              <a:t>.</a:t>
            </a:r>
            <a:r>
              <a:rPr lang="en-US" altLang="zh-CN" dirty="0" err="1" smtClean="0">
                <a:solidFill>
                  <a:srgbClr val="61AFEF"/>
                </a:solidFill>
                <a:latin typeface="Consolas" panose="020B0609020204030204" pitchFamily="49" charset="0"/>
              </a:rPr>
              <a:t>push</a:t>
            </a:r>
            <a:r>
              <a:rPr lang="en-US" altLang="zh-CN" dirty="0" smtClean="0">
                <a:solidFill>
                  <a:srgbClr val="ABB2BF"/>
                </a:solidFill>
                <a:latin typeface="Consolas" panose="020B0609020204030204" pitchFamily="49" charset="0"/>
              </a:rPr>
              <a:t>(</a:t>
            </a:r>
            <a:r>
              <a:rPr lang="en-US" altLang="zh-CN" i="1" dirty="0" err="1" smtClean="0">
                <a:solidFill>
                  <a:srgbClr val="E06C75"/>
                </a:solidFill>
                <a:latin typeface="Consolas" panose="020B0609020204030204" pitchFamily="49" charset="0"/>
              </a:rPr>
              <a:t>fn</a:t>
            </a:r>
            <a:r>
              <a:rPr lang="en-US" altLang="zh-CN" dirty="0" smtClean="0">
                <a:solidFill>
                  <a:srgbClr val="ABB2BF"/>
                </a:solidFill>
                <a:latin typeface="Consolas" panose="020B0609020204030204" pitchFamily="49" charset="0"/>
              </a:rPr>
              <a:t>);</a:t>
            </a:r>
            <a:endParaRPr lang="en-US" altLang="zh-CN" dirty="0" smtClean="0">
              <a:solidFill>
                <a:srgbClr val="ABB2BF"/>
              </a:solidFill>
              <a:latin typeface="Consolas" panose="020B0609020204030204" pitchFamily="49" charset="0"/>
            </a:endParaRPr>
          </a:p>
          <a:p>
            <a:r>
              <a:rPr lang="en-US" altLang="zh-CN" dirty="0" smtClean="0">
                <a:solidFill>
                  <a:srgbClr val="ABB2BF"/>
                </a:solidFill>
                <a:latin typeface="Consolas" panose="020B0609020204030204" pitchFamily="49" charset="0"/>
              </a:rPr>
              <a:t>  </a:t>
            </a:r>
            <a:r>
              <a:rPr lang="en-US" altLang="zh-CN" dirty="0" smtClean="0">
                <a:solidFill>
                  <a:srgbClr val="E06C75"/>
                </a:solidFill>
                <a:latin typeface="Consolas" panose="020B0609020204030204" pitchFamily="49" charset="0"/>
                <a:sym typeface="+mn-ea"/>
              </a:rPr>
              <a:t>console</a:t>
            </a:r>
            <a:r>
              <a:rPr lang="en-US" altLang="zh-CN" dirty="0" smtClean="0">
                <a:solidFill>
                  <a:srgbClr val="ABB2BF"/>
                </a:solidFill>
                <a:latin typeface="Consolas" panose="020B0609020204030204" pitchFamily="49" charset="0"/>
                <a:sym typeface="+mn-ea"/>
              </a:rPr>
              <a:t>.</a:t>
            </a:r>
            <a:r>
              <a:rPr lang="en-US" altLang="zh-CN" dirty="0" smtClean="0">
                <a:solidFill>
                  <a:srgbClr val="61AFEF"/>
                </a:solidFill>
                <a:latin typeface="Consolas" panose="020B0609020204030204" pitchFamily="49" charset="0"/>
                <a:sym typeface="+mn-ea"/>
              </a:rPr>
              <a:t>log</a:t>
            </a:r>
            <a:r>
              <a:rPr lang="en-US" altLang="zh-CN" dirty="0" smtClean="0">
                <a:solidFill>
                  <a:srgbClr val="ABB2BF"/>
                </a:solidFill>
                <a:latin typeface="Consolas" panose="020B0609020204030204" pitchFamily="49" charset="0"/>
                <a:sym typeface="+mn-ea"/>
              </a:rPr>
              <a:t>(</a:t>
            </a:r>
            <a:r>
              <a:rPr lang="en-US" altLang="zh-CN" dirty="0" err="1" smtClean="0">
                <a:solidFill>
                  <a:srgbClr val="E5C07B"/>
                </a:solidFill>
                <a:latin typeface="Consolas" panose="020B0609020204030204" pitchFamily="49" charset="0"/>
                <a:sym typeface="+mn-ea"/>
              </a:rPr>
              <a:t>this</a:t>
            </a:r>
            <a:r>
              <a:rPr lang="en-US" altLang="zh-CN" dirty="0" err="1" smtClean="0">
                <a:solidFill>
                  <a:srgbClr val="ABB2BF"/>
                </a:solidFill>
                <a:latin typeface="Consolas" panose="020B0609020204030204" pitchFamily="49" charset="0"/>
                <a:sym typeface="+mn-ea"/>
              </a:rPr>
              <a:t>.</a:t>
            </a:r>
            <a:r>
              <a:rPr lang="en-US" altLang="zh-CN" dirty="0" err="1" smtClean="0">
                <a:solidFill>
                  <a:srgbClr val="E06C75"/>
                </a:solidFill>
                <a:latin typeface="Consolas" panose="020B0609020204030204" pitchFamily="49" charset="0"/>
                <a:sym typeface="+mn-ea"/>
              </a:rPr>
              <a:t>level</a:t>
            </a:r>
            <a:r>
              <a:rPr lang="en-US" altLang="zh-CN" dirty="0" smtClean="0">
                <a:solidFill>
                  <a:srgbClr val="ABB2BF"/>
                </a:solidFill>
                <a:latin typeface="Consolas" panose="020B0609020204030204" pitchFamily="49" charset="0"/>
                <a:sym typeface="+mn-ea"/>
              </a:rPr>
              <a:t> </a:t>
            </a:r>
            <a:r>
              <a:rPr lang="en-US" altLang="zh-CN" dirty="0" smtClean="0">
                <a:solidFill>
                  <a:srgbClr val="56B6C2"/>
                </a:solidFill>
                <a:latin typeface="Consolas" panose="020B0609020204030204" pitchFamily="49" charset="0"/>
                <a:sym typeface="+mn-ea"/>
              </a:rPr>
              <a:t>+</a:t>
            </a:r>
            <a:r>
              <a:rPr lang="en-US" altLang="zh-CN" dirty="0" smtClean="0">
                <a:solidFill>
                  <a:srgbClr val="ABB2BF"/>
                </a:solidFill>
                <a:latin typeface="Consolas" panose="020B0609020204030204" pitchFamily="49" charset="0"/>
                <a:sym typeface="+mn-ea"/>
              </a:rPr>
              <a:t> </a:t>
            </a:r>
            <a:r>
              <a:rPr lang="en-US" altLang="zh-CN" dirty="0" smtClean="0">
                <a:solidFill>
                  <a:srgbClr val="98C379"/>
                </a:solidFill>
                <a:latin typeface="Consolas" panose="020B0609020204030204" pitchFamily="49" charset="0"/>
                <a:sym typeface="+mn-ea"/>
              </a:rPr>
              <a:t>'</a:t>
            </a:r>
            <a:r>
              <a:rPr lang="zh-CN" altLang="en-US" dirty="0" smtClean="0">
                <a:solidFill>
                  <a:srgbClr val="98C379"/>
                </a:solidFill>
                <a:latin typeface="Consolas" panose="020B0609020204030204" pitchFamily="49" charset="0"/>
                <a:sym typeface="+mn-ea"/>
              </a:rPr>
              <a:t>猎人</a:t>
            </a:r>
            <a:r>
              <a:rPr lang="en-US" altLang="zh-CN" dirty="0" smtClean="0">
                <a:solidFill>
                  <a:srgbClr val="98C379"/>
                </a:solidFill>
                <a:latin typeface="Consolas" panose="020B0609020204030204" pitchFamily="49" charset="0"/>
                <a:sym typeface="+mn-ea"/>
              </a:rPr>
              <a:t>'</a:t>
            </a:r>
            <a:r>
              <a:rPr lang="zh-CN" altLang="en-US" dirty="0" smtClean="0">
                <a:solidFill>
                  <a:srgbClr val="ABB2BF"/>
                </a:solidFill>
                <a:latin typeface="Consolas" panose="020B0609020204030204" pitchFamily="49" charset="0"/>
                <a:sym typeface="+mn-ea"/>
              </a:rPr>
              <a:t> </a:t>
            </a:r>
            <a:r>
              <a:rPr lang="en-US" altLang="zh-CN" dirty="0" smtClean="0">
                <a:solidFill>
                  <a:srgbClr val="56B6C2"/>
                </a:solidFill>
                <a:latin typeface="Consolas" panose="020B0609020204030204" pitchFamily="49" charset="0"/>
                <a:sym typeface="+mn-ea"/>
              </a:rPr>
              <a:t>+</a:t>
            </a:r>
            <a:r>
              <a:rPr lang="zh-CN" altLang="en-US" dirty="0" smtClean="0">
                <a:solidFill>
                  <a:srgbClr val="ABB2BF"/>
                </a:solidFill>
                <a:latin typeface="Consolas" panose="020B0609020204030204" pitchFamily="49" charset="0"/>
                <a:sym typeface="+mn-ea"/>
              </a:rPr>
              <a:t> </a:t>
            </a:r>
            <a:r>
              <a:rPr lang="en-US" altLang="zh-CN" dirty="0" smtClean="0">
                <a:solidFill>
                  <a:srgbClr val="E5C07B"/>
                </a:solidFill>
                <a:latin typeface="Consolas" panose="020B0609020204030204" pitchFamily="49" charset="0"/>
                <a:sym typeface="+mn-ea"/>
              </a:rPr>
              <a:t>this</a:t>
            </a:r>
            <a:r>
              <a:rPr lang="en-US" altLang="zh-CN" dirty="0" smtClean="0">
                <a:solidFill>
                  <a:srgbClr val="ABB2BF"/>
                </a:solidFill>
                <a:latin typeface="Consolas" panose="020B0609020204030204" pitchFamily="49" charset="0"/>
                <a:sym typeface="+mn-ea"/>
              </a:rPr>
              <a:t>.</a:t>
            </a:r>
            <a:r>
              <a:rPr lang="en-US" altLang="zh-CN" dirty="0" smtClean="0">
                <a:solidFill>
                  <a:srgbClr val="E06C75"/>
                </a:solidFill>
                <a:latin typeface="Consolas" panose="020B0609020204030204" pitchFamily="49" charset="0"/>
                <a:sym typeface="+mn-ea"/>
              </a:rPr>
              <a:t>name</a:t>
            </a:r>
            <a:r>
              <a:rPr lang="en-US" altLang="zh-CN" dirty="0" smtClean="0">
                <a:solidFill>
                  <a:srgbClr val="ABB2BF"/>
                </a:solidFill>
                <a:latin typeface="Consolas" panose="020B0609020204030204" pitchFamily="49" charset="0"/>
                <a:sym typeface="+mn-ea"/>
              </a:rPr>
              <a:t> </a:t>
            </a:r>
            <a:r>
              <a:rPr lang="en-US" altLang="zh-CN" dirty="0" smtClean="0">
                <a:solidFill>
                  <a:srgbClr val="56B6C2"/>
                </a:solidFill>
                <a:latin typeface="Consolas" panose="020B0609020204030204" pitchFamily="49" charset="0"/>
                <a:sym typeface="+mn-ea"/>
              </a:rPr>
              <a:t>+</a:t>
            </a:r>
            <a:r>
              <a:rPr lang="en-US" altLang="zh-CN" dirty="0" smtClean="0">
                <a:solidFill>
                  <a:srgbClr val="ABB2BF"/>
                </a:solidFill>
                <a:latin typeface="Consolas" panose="020B0609020204030204" pitchFamily="49" charset="0"/>
                <a:sym typeface="+mn-ea"/>
              </a:rPr>
              <a:t> </a:t>
            </a:r>
            <a:r>
              <a:rPr lang="en-US" altLang="zh-CN" dirty="0" smtClean="0">
                <a:solidFill>
                  <a:srgbClr val="98C379"/>
                </a:solidFill>
                <a:latin typeface="Consolas" panose="020B0609020204030204" pitchFamily="49" charset="0"/>
                <a:sym typeface="+mn-ea"/>
              </a:rPr>
              <a:t>'</a:t>
            </a:r>
            <a:r>
              <a:rPr lang="zh-CN" altLang="en-US" dirty="0" smtClean="0">
                <a:solidFill>
                  <a:srgbClr val="98C379"/>
                </a:solidFill>
                <a:latin typeface="Consolas" panose="020B0609020204030204" pitchFamily="49" charset="0"/>
                <a:sym typeface="+mn-ea"/>
              </a:rPr>
              <a:t>订阅了</a:t>
            </a:r>
            <a:r>
              <a:rPr lang="en-US" altLang="zh-CN" dirty="0" smtClean="0">
                <a:solidFill>
                  <a:srgbClr val="98C379"/>
                </a:solidFill>
                <a:latin typeface="Consolas" panose="020B0609020204030204" pitchFamily="49" charset="0"/>
                <a:sym typeface="+mn-ea"/>
              </a:rPr>
              <a:t>'</a:t>
            </a:r>
            <a:r>
              <a:rPr lang="zh-CN" altLang="en-US" dirty="0" smtClean="0">
                <a:solidFill>
                  <a:srgbClr val="ABB2BF"/>
                </a:solidFill>
                <a:latin typeface="Consolas" panose="020B0609020204030204" pitchFamily="49" charset="0"/>
                <a:sym typeface="+mn-ea"/>
              </a:rPr>
              <a:t> </a:t>
            </a:r>
            <a:r>
              <a:rPr lang="en-US" altLang="zh-CN" dirty="0" smtClean="0">
                <a:solidFill>
                  <a:srgbClr val="56B6C2"/>
                </a:solidFill>
                <a:latin typeface="Consolas" panose="020B0609020204030204" pitchFamily="49" charset="0"/>
                <a:sym typeface="+mn-ea"/>
              </a:rPr>
              <a:t>+</a:t>
            </a:r>
            <a:r>
              <a:rPr lang="zh-CN" altLang="en-US" dirty="0" smtClean="0">
                <a:solidFill>
                  <a:srgbClr val="ABB2BF"/>
                </a:solidFill>
                <a:latin typeface="Consolas" panose="020B0609020204030204" pitchFamily="49" charset="0"/>
                <a:sym typeface="+mn-ea"/>
              </a:rPr>
              <a:t> </a:t>
            </a:r>
            <a:r>
              <a:rPr lang="en-US" altLang="zh-CN" i="1" dirty="0" smtClean="0">
                <a:solidFill>
                  <a:srgbClr val="E06C75"/>
                </a:solidFill>
                <a:latin typeface="Consolas" panose="020B0609020204030204" pitchFamily="49" charset="0"/>
                <a:sym typeface="+mn-ea"/>
              </a:rPr>
              <a:t>target</a:t>
            </a:r>
            <a:r>
              <a:rPr lang="en-US" altLang="zh-CN" dirty="0" smtClean="0">
                <a:solidFill>
                  <a:srgbClr val="ABB2BF"/>
                </a:solidFill>
                <a:latin typeface="Consolas" panose="020B0609020204030204" pitchFamily="49" charset="0"/>
                <a:sym typeface="+mn-ea"/>
              </a:rPr>
              <a:t>.</a:t>
            </a:r>
            <a:r>
              <a:rPr lang="en-US" altLang="zh-CN" dirty="0" smtClean="0">
                <a:solidFill>
                  <a:srgbClr val="E06C75"/>
                </a:solidFill>
                <a:latin typeface="Consolas" panose="020B0609020204030204" pitchFamily="49" charset="0"/>
                <a:sym typeface="+mn-ea"/>
              </a:rPr>
              <a:t>name</a:t>
            </a:r>
            <a:r>
              <a:rPr lang="en-US" altLang="zh-CN" dirty="0" smtClean="0">
                <a:solidFill>
                  <a:srgbClr val="ABB2BF"/>
                </a:solidFill>
                <a:latin typeface="Consolas" panose="020B0609020204030204" pitchFamily="49" charset="0"/>
                <a:sym typeface="+mn-ea"/>
              </a:rPr>
              <a:t>);</a:t>
            </a:r>
            <a:endParaRPr lang="en-US" altLang="zh-CN" dirty="0" smtClean="0">
              <a:solidFill>
                <a:srgbClr val="ABB2BF"/>
              </a:solidFill>
              <a:latin typeface="Consolas" panose="020B0609020204030204" pitchFamily="49" charset="0"/>
            </a:endParaRPr>
          </a:p>
          <a:p>
            <a:r>
              <a:rPr lang="en-US" altLang="zh-CN" dirty="0" smtClean="0">
                <a:solidFill>
                  <a:srgbClr val="ABB2BF"/>
                </a:solidFill>
                <a:latin typeface="Consolas" panose="020B0609020204030204" pitchFamily="49" charset="0"/>
              </a:rPr>
              <a:t>};</a:t>
            </a:r>
            <a:endParaRPr lang="en-US" altLang="zh-CN" b="0" dirty="0">
              <a:solidFill>
                <a:srgbClr val="ABB2BF"/>
              </a:solidFill>
              <a:effectLst/>
              <a:latin typeface="Consolas" panose="020B0609020204030204" pitchFamily="49"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250" fill="hold">
                                          <p:stCondLst>
                                            <p:cond delay="0"/>
                                          </p:stCondLst>
                                        </p:cTn>
                                        <p:tgtEl>
                                          <p:spTgt spid="5"/>
                                        </p:tgtEl>
                                        <p:attrNameLst>
                                          <p:attrName>style.visibility</p:attrName>
                                        </p:attrNameLst>
                                      </p:cBhvr>
                                      <p:to>
                                        <p:strVal val="visible"/>
                                      </p:to>
                                    </p:set>
                                    <p:anim calcmode="lin" valueType="num">
                                      <p:cBhvr additive="base">
                                        <p:cTn id="7" dur="250" fill="hold"/>
                                        <p:tgtEl>
                                          <p:spTgt spid="5"/>
                                        </p:tgtEl>
                                        <p:attrNameLst>
                                          <p:attrName>ppt_x</p:attrName>
                                        </p:attrNameLst>
                                      </p:cBhvr>
                                      <p:tavLst>
                                        <p:tav tm="0">
                                          <p:val>
                                            <p:strVal val="#ppt_x"/>
                                          </p:val>
                                        </p:tav>
                                        <p:tav tm="100000">
                                          <p:val>
                                            <p:strVal val="#ppt_x"/>
                                          </p:val>
                                        </p:tav>
                                      </p:tavLst>
                                    </p:anim>
                                    <p:anim calcmode="lin" valueType="num">
                                      <p:cBhvr additive="base">
                                        <p:cTn id="8" dur="25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观察者</a:t>
            </a:r>
            <a:r>
              <a:rPr lang="zh-CN" altLang="en-US" dirty="0" smtClean="0"/>
              <a:t>模式 </a:t>
            </a:r>
            <a:r>
              <a:rPr lang="en-US" altLang="zh-CN" dirty="0" smtClean="0"/>
              <a:t>– </a:t>
            </a:r>
            <a:r>
              <a:rPr lang="zh-CN" altLang="en-US" dirty="0" smtClean="0"/>
              <a:t>实现</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
        <p:nvSpPr>
          <p:cNvPr id="6" name="矩形 5"/>
          <p:cNvSpPr/>
          <p:nvPr/>
        </p:nvSpPr>
        <p:spPr>
          <a:xfrm>
            <a:off x="557439" y="1164885"/>
            <a:ext cx="6024336" cy="368300"/>
          </a:xfrm>
          <a:prstGeom prst="rect">
            <a:avLst/>
          </a:prstGeom>
        </p:spPr>
        <p:txBody>
          <a:bodyPr wrap="square">
            <a:spAutoFit/>
          </a:bodyPr>
          <a:lstStyle/>
          <a:p>
            <a:r>
              <a:rPr lang="zh-CN" altLang="en-US" dirty="0" smtClean="0">
                <a:solidFill>
                  <a:schemeClr val="bg1"/>
                </a:solidFill>
                <a:latin typeface="微软雅黑" panose="020B0503020204020204" pitchFamily="34" charset="-122"/>
                <a:ea typeface="微软雅黑" panose="020B0503020204020204" pitchFamily="34" charset="-122"/>
              </a:rPr>
              <a:t>某天，小黄、小白和小青来到了工会，注册为赏金猎人</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3" name="矩形 2"/>
          <p:cNvSpPr/>
          <p:nvPr/>
        </p:nvSpPr>
        <p:spPr>
          <a:xfrm>
            <a:off x="557439" y="1611684"/>
            <a:ext cx="6096000" cy="922020"/>
          </a:xfrm>
          <a:prstGeom prst="rect">
            <a:avLst/>
          </a:prstGeom>
        </p:spPr>
        <p:txBody>
          <a:bodyPr>
            <a:spAutoFit/>
          </a:bodyPr>
          <a:lstStyle/>
          <a:p>
            <a:r>
              <a:rPr lang="en-US" altLang="zh-CN" dirty="0">
                <a:solidFill>
                  <a:srgbClr val="C678DD"/>
                </a:solidFill>
                <a:latin typeface="Consolas" panose="020B0609020204030204" pitchFamily="49" charset="0"/>
              </a:rPr>
              <a:t>let</a:t>
            </a:r>
            <a:r>
              <a:rPr lang="en-US" altLang="zh-CN" dirty="0">
                <a:solidFill>
                  <a:srgbClr val="ABB2BF"/>
                </a:solidFill>
                <a:latin typeface="Consolas" panose="020B0609020204030204" pitchFamily="49" charset="0"/>
              </a:rPr>
              <a:t> </a:t>
            </a:r>
            <a:r>
              <a:rPr lang="en-US" altLang="zh-CN" dirty="0" smtClean="0">
                <a:solidFill>
                  <a:srgbClr val="E06C75"/>
                </a:solidFill>
                <a:latin typeface="Consolas" panose="020B0609020204030204" pitchFamily="49" charset="0"/>
              </a:rPr>
              <a:t>Huang</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C678DD"/>
                </a:solidFill>
                <a:latin typeface="Consolas" panose="020B0609020204030204" pitchFamily="49" charset="0"/>
              </a:rPr>
              <a:t>new</a:t>
            </a:r>
            <a:r>
              <a:rPr lang="en-US" altLang="zh-CN" dirty="0">
                <a:solidFill>
                  <a:srgbClr val="ABB2BF"/>
                </a:solidFill>
                <a:latin typeface="Consolas" panose="020B0609020204030204" pitchFamily="49" charset="0"/>
              </a:rPr>
              <a:t> </a:t>
            </a:r>
            <a:r>
              <a:rPr lang="en-US" altLang="zh-CN" dirty="0">
                <a:solidFill>
                  <a:srgbClr val="E5C07B"/>
                </a:solidFill>
                <a:latin typeface="Consolas" panose="020B0609020204030204" pitchFamily="49" charset="0"/>
              </a:rPr>
              <a:t>Hunter</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a:t>
            </a:r>
            <a:r>
              <a:rPr lang="zh-CN" altLang="en-US" dirty="0">
                <a:solidFill>
                  <a:srgbClr val="98C379"/>
                </a:solidFill>
                <a:latin typeface="Consolas" panose="020B0609020204030204" pitchFamily="49" charset="0"/>
              </a:rPr>
              <a:t>小黄</a:t>
            </a:r>
            <a:r>
              <a:rPr lang="en-US" altLang="zh-CN" dirty="0">
                <a:solidFill>
                  <a:srgbClr val="98C379"/>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98C379"/>
                </a:solidFill>
                <a:latin typeface="Consolas" panose="020B0609020204030204" pitchFamily="49" charset="0"/>
              </a:rPr>
              <a:t>'</a:t>
            </a:r>
            <a:r>
              <a:rPr lang="zh-CN" altLang="en-US" dirty="0">
                <a:solidFill>
                  <a:srgbClr val="98C379"/>
                </a:solidFill>
                <a:latin typeface="Consolas" panose="020B0609020204030204" pitchFamily="49" charset="0"/>
              </a:rPr>
              <a:t>黄金</a:t>
            </a:r>
            <a:r>
              <a:rPr lang="en-US" altLang="zh-CN" dirty="0">
                <a:solidFill>
                  <a:srgbClr val="98C379"/>
                </a:solidFill>
                <a:latin typeface="Consolas" panose="020B0609020204030204" pitchFamily="49" charset="0"/>
              </a:rPr>
              <a:t>'</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C678DD"/>
                </a:solidFill>
                <a:latin typeface="Consolas" panose="020B0609020204030204" pitchFamily="49" charset="0"/>
              </a:rPr>
              <a:t>let</a:t>
            </a:r>
            <a:r>
              <a:rPr lang="en-US" altLang="zh-CN" dirty="0">
                <a:solidFill>
                  <a:srgbClr val="ABB2BF"/>
                </a:solidFill>
                <a:latin typeface="Consolas" panose="020B0609020204030204" pitchFamily="49" charset="0"/>
              </a:rPr>
              <a:t> </a:t>
            </a:r>
            <a:r>
              <a:rPr lang="en-US" altLang="zh-CN" dirty="0" err="1" smtClean="0">
                <a:solidFill>
                  <a:srgbClr val="E06C75"/>
                </a:solidFill>
                <a:latin typeface="Consolas" panose="020B0609020204030204" pitchFamily="49" charset="0"/>
              </a:rPr>
              <a:t>Bai</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C678DD"/>
                </a:solidFill>
                <a:latin typeface="Consolas" panose="020B0609020204030204" pitchFamily="49" charset="0"/>
              </a:rPr>
              <a:t>new</a:t>
            </a:r>
            <a:r>
              <a:rPr lang="en-US" altLang="zh-CN" dirty="0">
                <a:solidFill>
                  <a:srgbClr val="ABB2BF"/>
                </a:solidFill>
                <a:latin typeface="Consolas" panose="020B0609020204030204" pitchFamily="49" charset="0"/>
              </a:rPr>
              <a:t> </a:t>
            </a:r>
            <a:r>
              <a:rPr lang="en-US" altLang="zh-CN" dirty="0">
                <a:solidFill>
                  <a:srgbClr val="E5C07B"/>
                </a:solidFill>
                <a:latin typeface="Consolas" panose="020B0609020204030204" pitchFamily="49" charset="0"/>
              </a:rPr>
              <a:t>Hunter</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a:t>
            </a:r>
            <a:r>
              <a:rPr lang="zh-CN" altLang="en-US" dirty="0">
                <a:solidFill>
                  <a:srgbClr val="98C379"/>
                </a:solidFill>
                <a:latin typeface="Consolas" panose="020B0609020204030204" pitchFamily="49" charset="0"/>
              </a:rPr>
              <a:t>小白</a:t>
            </a:r>
            <a:r>
              <a:rPr lang="en-US" altLang="zh-CN" dirty="0">
                <a:solidFill>
                  <a:srgbClr val="98C379"/>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98C379"/>
                </a:solidFill>
                <a:latin typeface="Consolas" panose="020B0609020204030204" pitchFamily="49" charset="0"/>
              </a:rPr>
              <a:t>'</a:t>
            </a:r>
            <a:r>
              <a:rPr lang="zh-CN" altLang="en-US" dirty="0">
                <a:solidFill>
                  <a:srgbClr val="98C379"/>
                </a:solidFill>
                <a:latin typeface="Consolas" panose="020B0609020204030204" pitchFamily="49" charset="0"/>
              </a:rPr>
              <a:t>白银</a:t>
            </a:r>
            <a:r>
              <a:rPr lang="en-US" altLang="zh-CN" dirty="0">
                <a:solidFill>
                  <a:srgbClr val="98C379"/>
                </a:solidFill>
                <a:latin typeface="Consolas" panose="020B0609020204030204" pitchFamily="49" charset="0"/>
              </a:rPr>
              <a:t>'</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C678DD"/>
                </a:solidFill>
                <a:latin typeface="Consolas" panose="020B0609020204030204" pitchFamily="49" charset="0"/>
              </a:rPr>
              <a:t>let</a:t>
            </a:r>
            <a:r>
              <a:rPr lang="en-US" altLang="zh-CN" dirty="0">
                <a:solidFill>
                  <a:srgbClr val="ABB2BF"/>
                </a:solidFill>
                <a:latin typeface="Consolas" panose="020B0609020204030204" pitchFamily="49" charset="0"/>
              </a:rPr>
              <a:t> </a:t>
            </a:r>
            <a:r>
              <a:rPr lang="en-US" altLang="zh-CN" dirty="0" smtClean="0">
                <a:solidFill>
                  <a:srgbClr val="E06C75"/>
                </a:solidFill>
                <a:latin typeface="Consolas" panose="020B0609020204030204" pitchFamily="49" charset="0"/>
              </a:rPr>
              <a:t>Qing</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C678DD"/>
                </a:solidFill>
                <a:latin typeface="Consolas" panose="020B0609020204030204" pitchFamily="49" charset="0"/>
              </a:rPr>
              <a:t>new</a:t>
            </a:r>
            <a:r>
              <a:rPr lang="en-US" altLang="zh-CN" dirty="0">
                <a:solidFill>
                  <a:srgbClr val="ABB2BF"/>
                </a:solidFill>
                <a:latin typeface="Consolas" panose="020B0609020204030204" pitchFamily="49" charset="0"/>
              </a:rPr>
              <a:t> </a:t>
            </a:r>
            <a:r>
              <a:rPr lang="en-US" altLang="zh-CN" dirty="0">
                <a:solidFill>
                  <a:srgbClr val="E5C07B"/>
                </a:solidFill>
                <a:latin typeface="Consolas" panose="020B0609020204030204" pitchFamily="49" charset="0"/>
              </a:rPr>
              <a:t>Hunter</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a:t>
            </a:r>
            <a:r>
              <a:rPr lang="zh-CN" altLang="en-US" dirty="0">
                <a:solidFill>
                  <a:srgbClr val="98C379"/>
                </a:solidFill>
                <a:latin typeface="Consolas" panose="020B0609020204030204" pitchFamily="49" charset="0"/>
              </a:rPr>
              <a:t>小青</a:t>
            </a:r>
            <a:r>
              <a:rPr lang="en-US" altLang="zh-CN" dirty="0">
                <a:solidFill>
                  <a:srgbClr val="98C379"/>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98C379"/>
                </a:solidFill>
                <a:latin typeface="Consolas" panose="020B0609020204030204" pitchFamily="49" charset="0"/>
              </a:rPr>
              <a:t>'</a:t>
            </a:r>
            <a:r>
              <a:rPr lang="zh-CN" altLang="en-US" dirty="0">
                <a:solidFill>
                  <a:srgbClr val="98C379"/>
                </a:solidFill>
                <a:latin typeface="Consolas" panose="020B0609020204030204" pitchFamily="49" charset="0"/>
              </a:rPr>
              <a:t>青铜</a:t>
            </a:r>
            <a:r>
              <a:rPr lang="en-US" altLang="zh-CN" dirty="0">
                <a:solidFill>
                  <a:srgbClr val="98C379"/>
                </a:solidFill>
                <a:latin typeface="Consolas" panose="020B0609020204030204" pitchFamily="49" charset="0"/>
              </a:rPr>
              <a:t>'</a:t>
            </a:r>
            <a:r>
              <a:rPr lang="en-US" altLang="zh-CN" dirty="0">
                <a:solidFill>
                  <a:srgbClr val="ABB2BF"/>
                </a:solidFill>
                <a:latin typeface="Consolas" panose="020B0609020204030204" pitchFamily="49" charset="0"/>
              </a:rPr>
              <a:t>);</a:t>
            </a:r>
            <a:endParaRPr lang="en-US" altLang="zh-CN" b="0" dirty="0">
              <a:solidFill>
                <a:srgbClr val="ABB2BF"/>
              </a:solidFill>
              <a:effectLst/>
              <a:latin typeface="Consolas" panose="020B0609020204030204" pitchFamily="49" charset="0"/>
            </a:endParaRPr>
          </a:p>
        </p:txBody>
      </p:sp>
      <p:sp>
        <p:nvSpPr>
          <p:cNvPr id="7" name="矩形 6"/>
          <p:cNvSpPr/>
          <p:nvPr/>
        </p:nvSpPr>
        <p:spPr>
          <a:xfrm>
            <a:off x="557438" y="3302759"/>
            <a:ext cx="10649537" cy="3138170"/>
          </a:xfrm>
          <a:prstGeom prst="rect">
            <a:avLst/>
          </a:prstGeom>
        </p:spPr>
        <p:txBody>
          <a:bodyPr wrap="square">
            <a:spAutoFit/>
          </a:bodyPr>
          <a:lstStyle/>
          <a:p>
            <a:r>
              <a:rPr lang="en-US" altLang="zh-CN" dirty="0" err="1" smtClean="0">
                <a:solidFill>
                  <a:srgbClr val="E06C75"/>
                </a:solidFill>
                <a:latin typeface="Consolas" panose="020B0609020204030204" pitchFamily="49" charset="0"/>
              </a:rPr>
              <a:t>Huang</a:t>
            </a:r>
            <a:r>
              <a:rPr lang="en-US" altLang="zh-CN" dirty="0" err="1" smtClean="0">
                <a:solidFill>
                  <a:srgbClr val="ABB2BF"/>
                </a:solidFill>
                <a:latin typeface="Consolas" panose="020B0609020204030204" pitchFamily="49" charset="0"/>
              </a:rPr>
              <a:t>.</a:t>
            </a:r>
            <a:r>
              <a:rPr lang="en-US" altLang="zh-CN" dirty="0" err="1" smtClean="0">
                <a:solidFill>
                  <a:srgbClr val="61AFEF"/>
                </a:solidFill>
                <a:latin typeface="Consolas" panose="020B0609020204030204" pitchFamily="49" charset="0"/>
              </a:rPr>
              <a:t>subscribe</a:t>
            </a:r>
            <a:r>
              <a:rPr lang="en-US" altLang="zh-CN" dirty="0" smtClean="0">
                <a:solidFill>
                  <a:srgbClr val="ABB2BF"/>
                </a:solidFill>
                <a:latin typeface="Consolas" panose="020B0609020204030204" pitchFamily="49" charset="0"/>
              </a:rPr>
              <a:t>(</a:t>
            </a:r>
            <a:r>
              <a:rPr lang="en-US" altLang="zh-CN" dirty="0" smtClean="0">
                <a:solidFill>
                  <a:srgbClr val="E06C75"/>
                </a:solidFill>
                <a:latin typeface="Consolas" panose="020B0609020204030204" pitchFamily="49" charset="0"/>
              </a:rPr>
              <a:t>Qing</a:t>
            </a:r>
            <a:r>
              <a:rPr lang="en-US" altLang="zh-CN" dirty="0" smtClean="0">
                <a:solidFill>
                  <a:srgbClr val="ABB2BF"/>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C678DD"/>
                </a:solidFill>
                <a:latin typeface="Consolas" panose="020B0609020204030204" pitchFamily="49" charset="0"/>
              </a:rPr>
              <a:t>function</a:t>
            </a:r>
            <a:r>
              <a:rPr lang="en-US" altLang="zh-CN" dirty="0">
                <a:solidFill>
                  <a:srgbClr val="ABB2BF"/>
                </a:solidFill>
                <a:latin typeface="Consolas" panose="020B0609020204030204" pitchFamily="49" charset="0"/>
              </a:rPr>
              <a:t> (</a:t>
            </a:r>
            <a:r>
              <a:rPr lang="en-US" altLang="zh-CN" i="1" dirty="0">
                <a:solidFill>
                  <a:srgbClr val="E06C75"/>
                </a:solidFill>
                <a:latin typeface="Consolas" panose="020B0609020204030204" pitchFamily="49" charset="0"/>
              </a:rPr>
              <a:t>money</a:t>
            </a:r>
            <a:r>
              <a:rPr lang="en-US" altLang="zh-CN" dirty="0">
                <a:solidFill>
                  <a:srgbClr val="ABB2BF"/>
                </a:solidFill>
                <a:latin typeface="Consolas" panose="020B0609020204030204" pitchFamily="49" charset="0"/>
              </a:rPr>
              <a:t>)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i="1" dirty="0">
                <a:solidFill>
                  <a:srgbClr val="7F848E"/>
                </a:solidFill>
                <a:latin typeface="Consolas" panose="020B0609020204030204" pitchFamily="49" charset="0"/>
                <a:sym typeface="+mn-ea"/>
              </a:rPr>
              <a:t>// </a:t>
            </a:r>
            <a:r>
              <a:rPr lang="zh-CN" altLang="en-US" i="1" dirty="0">
                <a:solidFill>
                  <a:srgbClr val="7F848E"/>
                </a:solidFill>
                <a:latin typeface="Consolas" panose="020B0609020204030204" pitchFamily="49" charset="0"/>
                <a:sym typeface="+mn-ea"/>
              </a:rPr>
              <a:t>等级高</a:t>
            </a:r>
            <a:r>
              <a:rPr lang="en-US" altLang="zh-CN" i="1" dirty="0">
                <a:solidFill>
                  <a:srgbClr val="7F848E"/>
                </a:solidFill>
                <a:latin typeface="Consolas" panose="020B0609020204030204" pitchFamily="49" charset="0"/>
                <a:sym typeface="+mn-ea"/>
              </a:rPr>
              <a:t> </a:t>
            </a:r>
            <a:r>
              <a:rPr lang="zh-CN" altLang="en-US" i="1" dirty="0">
                <a:solidFill>
                  <a:srgbClr val="7F848E"/>
                </a:solidFill>
                <a:latin typeface="Consolas" panose="020B0609020204030204" pitchFamily="49" charset="0"/>
                <a:sym typeface="+mn-ea"/>
              </a:rPr>
              <a:t>时间宝贵</a:t>
            </a:r>
            <a:r>
              <a:rPr lang="en-US" altLang="zh-CN" i="1" dirty="0">
                <a:solidFill>
                  <a:srgbClr val="7F848E"/>
                </a:solidFill>
                <a:latin typeface="Consolas" panose="020B0609020204030204" pitchFamily="49" charset="0"/>
                <a:sym typeface="+mn-ea"/>
              </a:rPr>
              <a:t> </a:t>
            </a:r>
            <a:endParaRPr lang="en-US" altLang="zh-CN" i="1" dirty="0">
              <a:solidFill>
                <a:srgbClr val="7F848E"/>
              </a:solidFill>
              <a:latin typeface="Consolas" panose="020B0609020204030204" pitchFamily="49" charset="0"/>
              <a:sym typeface="+mn-ea"/>
            </a:endParaRPr>
          </a:p>
          <a:p>
            <a:r>
              <a:rPr lang="en-US" altLang="zh-CN" i="1" dirty="0">
                <a:solidFill>
                  <a:srgbClr val="7F848E"/>
                </a:solidFill>
                <a:latin typeface="Consolas" panose="020B0609020204030204" pitchFamily="49" charset="0"/>
                <a:sym typeface="+mn-ea"/>
              </a:rPr>
              <a:t>  // </a:t>
            </a:r>
            <a:r>
              <a:rPr lang="zh-CN" altLang="en-US" i="1" dirty="0">
                <a:solidFill>
                  <a:srgbClr val="7F848E"/>
                </a:solidFill>
                <a:latin typeface="Consolas" panose="020B0609020204030204" pitchFamily="49" charset="0"/>
                <a:sym typeface="+mn-ea"/>
              </a:rPr>
              <a:t>只接受</a:t>
            </a:r>
            <a:r>
              <a:rPr lang="en-US" altLang="zh-CN" i="1" dirty="0">
                <a:solidFill>
                  <a:srgbClr val="7F848E"/>
                </a:solidFill>
                <a:latin typeface="Consolas" panose="020B0609020204030204" pitchFamily="49" charset="0"/>
                <a:sym typeface="+mn-ea"/>
              </a:rPr>
              <a:t>200</a:t>
            </a:r>
            <a:r>
              <a:rPr lang="zh-CN" altLang="en-US" i="1" dirty="0">
                <a:solidFill>
                  <a:srgbClr val="7F848E"/>
                </a:solidFill>
                <a:latin typeface="Consolas" panose="020B0609020204030204" pitchFamily="49" charset="0"/>
                <a:sym typeface="+mn-ea"/>
              </a:rPr>
              <a:t>以上金币酬劳的任务</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console</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log</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a:t>
            </a:r>
            <a:r>
              <a:rPr lang="zh-CN" altLang="en-US" dirty="0">
                <a:solidFill>
                  <a:srgbClr val="98C379"/>
                </a:solidFill>
                <a:latin typeface="Consolas" panose="020B0609020204030204" pitchFamily="49" charset="0"/>
              </a:rPr>
              <a:t>小黄表示：</a:t>
            </a:r>
            <a:r>
              <a:rPr lang="en-US" altLang="zh-CN" dirty="0">
                <a:solidFill>
                  <a:srgbClr val="98C379"/>
                </a:solidFill>
                <a:latin typeface="Consolas" panose="020B0609020204030204" pitchFamily="49" charset="0"/>
              </a:rPr>
              <a:t>'</a:t>
            </a:r>
            <a:r>
              <a:rPr lang="zh-CN" altLang="en-US"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zh-CN" altLang="en-US" dirty="0">
                <a:solidFill>
                  <a:srgbClr val="ABB2BF"/>
                </a:solidFill>
                <a:latin typeface="Consolas" panose="020B0609020204030204" pitchFamily="49" charset="0"/>
              </a:rPr>
              <a:t> </a:t>
            </a:r>
            <a:r>
              <a:rPr lang="en-US" altLang="zh-CN" dirty="0">
                <a:solidFill>
                  <a:srgbClr val="ABB2BF"/>
                </a:solidFill>
                <a:latin typeface="Consolas" panose="020B0609020204030204" pitchFamily="49" charset="0"/>
              </a:rPr>
              <a:t>(</a:t>
            </a:r>
            <a:r>
              <a:rPr lang="en-US" altLang="zh-CN" i="1" dirty="0">
                <a:solidFill>
                  <a:srgbClr val="E06C75"/>
                </a:solidFill>
                <a:latin typeface="Consolas" panose="020B0609020204030204" pitchFamily="49" charset="0"/>
              </a:rPr>
              <a:t>money</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&gt;</a:t>
            </a:r>
            <a:r>
              <a:rPr lang="en-US" altLang="zh-CN" dirty="0">
                <a:solidFill>
                  <a:srgbClr val="ABB2BF"/>
                </a:solidFill>
                <a:latin typeface="Consolas" panose="020B0609020204030204" pitchFamily="49" charset="0"/>
              </a:rPr>
              <a:t> </a:t>
            </a:r>
            <a:r>
              <a:rPr lang="en-US" altLang="zh-CN" dirty="0">
                <a:solidFill>
                  <a:srgbClr val="D19A66"/>
                </a:solidFill>
                <a:latin typeface="Consolas" panose="020B0609020204030204" pitchFamily="49" charset="0"/>
              </a:rPr>
              <a:t>200</a:t>
            </a:r>
            <a:r>
              <a:rPr lang="en-US" altLang="zh-CN" dirty="0">
                <a:solidFill>
                  <a:srgbClr val="C678DD"/>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98C379"/>
                </a:solidFill>
                <a:latin typeface="Consolas" panose="020B0609020204030204" pitchFamily="49" charset="0"/>
              </a:rPr>
              <a:t>'</a:t>
            </a:r>
            <a:r>
              <a:rPr lang="zh-CN" altLang="en-US" dirty="0">
                <a:solidFill>
                  <a:srgbClr val="98C379"/>
                </a:solidFill>
                <a:latin typeface="Consolas" panose="020B0609020204030204" pitchFamily="49" charset="0"/>
                <a:sym typeface="+mn-ea"/>
              </a:rPr>
              <a:t>立即</a:t>
            </a:r>
            <a:r>
              <a:rPr lang="en-US" altLang="zh-CN" dirty="0">
                <a:solidFill>
                  <a:srgbClr val="98C379"/>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C678DD"/>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98C379"/>
                </a:solidFill>
                <a:latin typeface="Consolas" panose="020B0609020204030204" pitchFamily="49" charset="0"/>
              </a:rPr>
              <a:t>'</a:t>
            </a:r>
            <a:r>
              <a:rPr lang="zh-CN" altLang="en-US" dirty="0">
                <a:solidFill>
                  <a:srgbClr val="98C379"/>
                </a:solidFill>
                <a:latin typeface="Consolas" panose="020B0609020204030204" pitchFamily="49" charset="0"/>
              </a:rPr>
              <a:t>暂时很忙，不能</a:t>
            </a:r>
            <a:r>
              <a:rPr lang="en-US" altLang="zh-CN" dirty="0">
                <a:solidFill>
                  <a:srgbClr val="98C379"/>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56B6C2"/>
                </a:solidFill>
                <a:latin typeface="Consolas" panose="020B0609020204030204" pitchFamily="49" charset="0"/>
              </a:rPr>
              <a:t>+</a:t>
            </a:r>
            <a:r>
              <a:rPr lang="zh-CN" altLang="en-US" dirty="0">
                <a:solidFill>
                  <a:srgbClr val="ABB2BF"/>
                </a:solidFill>
                <a:latin typeface="Consolas" panose="020B0609020204030204" pitchFamily="49" charset="0"/>
              </a:rPr>
              <a:t> </a:t>
            </a:r>
            <a:r>
              <a:rPr lang="en-US" altLang="zh-CN" dirty="0">
                <a:solidFill>
                  <a:srgbClr val="98C379"/>
                </a:solidFill>
                <a:latin typeface="Consolas" panose="020B0609020204030204" pitchFamily="49" charset="0"/>
              </a:rPr>
              <a:t>'</a:t>
            </a:r>
            <a:r>
              <a:rPr lang="zh-CN" altLang="en-US" dirty="0">
                <a:solidFill>
                  <a:srgbClr val="98C379"/>
                </a:solidFill>
                <a:latin typeface="Consolas" panose="020B0609020204030204" pitchFamily="49" charset="0"/>
              </a:rPr>
              <a:t>给予帮助</a:t>
            </a:r>
            <a:r>
              <a:rPr lang="en-US" altLang="zh-CN" dirty="0">
                <a:solidFill>
                  <a:srgbClr val="98C379"/>
                </a:solidFill>
                <a:latin typeface="Consolas" panose="020B0609020204030204" pitchFamily="49" charset="0"/>
              </a:rPr>
              <a:t>'</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smtClean="0">
                <a:solidFill>
                  <a:srgbClr val="ABB2BF"/>
                </a:solidFill>
                <a:latin typeface="Consolas" panose="020B0609020204030204" pitchFamily="49" charset="0"/>
              </a:rPr>
              <a:t>});</a:t>
            </a:r>
            <a:endParaRPr lang="en-US" altLang="zh-CN" dirty="0" smtClean="0">
              <a:solidFill>
                <a:srgbClr val="ABB2BF"/>
              </a:solidFill>
              <a:latin typeface="Consolas" panose="020B0609020204030204" pitchFamily="49" charset="0"/>
            </a:endParaRPr>
          </a:p>
          <a:p>
            <a:endParaRPr lang="en-US" altLang="zh-CN" dirty="0">
              <a:solidFill>
                <a:srgbClr val="ABB2BF"/>
              </a:solidFill>
              <a:latin typeface="Consolas" panose="020B0609020204030204" pitchFamily="49" charset="0"/>
            </a:endParaRPr>
          </a:p>
          <a:p>
            <a:r>
              <a:rPr lang="en-US" altLang="zh-CN" dirty="0" err="1" smtClean="0">
                <a:solidFill>
                  <a:srgbClr val="E06C75"/>
                </a:solidFill>
                <a:latin typeface="Consolas" panose="020B0609020204030204" pitchFamily="49" charset="0"/>
              </a:rPr>
              <a:t>Bai</a:t>
            </a:r>
            <a:r>
              <a:rPr lang="en-US" altLang="zh-CN" dirty="0" err="1" smtClean="0">
                <a:solidFill>
                  <a:srgbClr val="ABB2BF"/>
                </a:solidFill>
                <a:latin typeface="Consolas" panose="020B0609020204030204" pitchFamily="49" charset="0"/>
              </a:rPr>
              <a:t>.</a:t>
            </a:r>
            <a:r>
              <a:rPr lang="en-US" altLang="zh-CN" dirty="0" err="1" smtClean="0">
                <a:solidFill>
                  <a:srgbClr val="61AFEF"/>
                </a:solidFill>
                <a:latin typeface="Consolas" panose="020B0609020204030204" pitchFamily="49" charset="0"/>
              </a:rPr>
              <a:t>subscribe</a:t>
            </a:r>
            <a:r>
              <a:rPr lang="en-US" altLang="zh-CN" dirty="0" smtClean="0">
                <a:solidFill>
                  <a:srgbClr val="ABB2BF"/>
                </a:solidFill>
                <a:latin typeface="Consolas" panose="020B0609020204030204" pitchFamily="49" charset="0"/>
              </a:rPr>
              <a:t>(</a:t>
            </a:r>
            <a:r>
              <a:rPr lang="en-US" altLang="zh-CN" dirty="0" smtClean="0">
                <a:solidFill>
                  <a:srgbClr val="E06C75"/>
                </a:solidFill>
                <a:latin typeface="Consolas" panose="020B0609020204030204" pitchFamily="49" charset="0"/>
              </a:rPr>
              <a:t>Qing</a:t>
            </a:r>
            <a:r>
              <a:rPr lang="en-US" altLang="zh-CN" dirty="0" smtClean="0">
                <a:solidFill>
                  <a:srgbClr val="ABB2BF"/>
                </a:solidFill>
                <a:latin typeface="Consolas" panose="020B0609020204030204" pitchFamily="49" charset="0"/>
              </a:rPr>
              <a:t>,</a:t>
            </a:r>
            <a:r>
              <a:rPr lang="en-US" altLang="zh-CN" dirty="0">
                <a:solidFill>
                  <a:srgbClr val="ABB2BF"/>
                </a:solidFill>
                <a:latin typeface="Consolas" panose="020B0609020204030204" pitchFamily="49" charset="0"/>
              </a:rPr>
              <a:t> </a:t>
            </a:r>
            <a:r>
              <a:rPr lang="en-US" altLang="zh-CN" dirty="0">
                <a:solidFill>
                  <a:srgbClr val="C678DD"/>
                </a:solidFill>
                <a:latin typeface="Consolas" panose="020B0609020204030204" pitchFamily="49" charset="0"/>
              </a:rPr>
              <a:t>function</a:t>
            </a:r>
            <a:r>
              <a:rPr lang="en-US" altLang="zh-CN" dirty="0">
                <a:solidFill>
                  <a:srgbClr val="ABB2BF"/>
                </a:solidFill>
                <a:latin typeface="Consolas" panose="020B0609020204030204" pitchFamily="49" charset="0"/>
              </a:rPr>
              <a:t> () {</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i="1" dirty="0">
                <a:solidFill>
                  <a:srgbClr val="7F848E"/>
                </a:solidFill>
                <a:latin typeface="Consolas" panose="020B0609020204030204" pitchFamily="49" charset="0"/>
                <a:sym typeface="+mn-ea"/>
              </a:rPr>
              <a:t>// </a:t>
            </a:r>
            <a:r>
              <a:rPr lang="zh-CN" altLang="en-US" i="1" dirty="0">
                <a:solidFill>
                  <a:srgbClr val="7F848E"/>
                </a:solidFill>
                <a:latin typeface="Consolas" panose="020B0609020204030204" pitchFamily="49" charset="0"/>
                <a:sym typeface="+mn-ea"/>
              </a:rPr>
              <a:t>打怪刷经验最重要</a:t>
            </a:r>
            <a:endParaRPr lang="zh-CN" altLang="en-US" i="1" dirty="0">
              <a:solidFill>
                <a:srgbClr val="7F848E"/>
              </a:solidFill>
              <a:latin typeface="Consolas" panose="020B0609020204030204" pitchFamily="49" charset="0"/>
              <a:sym typeface="+mn-ea"/>
            </a:endParaRPr>
          </a:p>
          <a:p>
            <a:r>
              <a:rPr lang="zh-CN" altLang="en-US" i="1" dirty="0">
                <a:solidFill>
                  <a:srgbClr val="7F848E"/>
                </a:solidFill>
                <a:latin typeface="Consolas" panose="020B0609020204030204" pitchFamily="49" charset="0"/>
                <a:sym typeface="+mn-ea"/>
              </a:rPr>
              <a:t> </a:t>
            </a:r>
            <a:r>
              <a:rPr lang="en-US" altLang="zh-CN" i="1" dirty="0">
                <a:solidFill>
                  <a:srgbClr val="7F848E"/>
                </a:solidFill>
                <a:latin typeface="Consolas" panose="020B0609020204030204" pitchFamily="49" charset="0"/>
                <a:sym typeface="+mn-ea"/>
              </a:rPr>
              <a:t> // </a:t>
            </a:r>
            <a:r>
              <a:rPr lang="zh-CN" altLang="en-US" i="1" dirty="0">
                <a:solidFill>
                  <a:srgbClr val="7F848E"/>
                </a:solidFill>
                <a:latin typeface="Consolas" panose="020B0609020204030204" pitchFamily="49" charset="0"/>
                <a:sym typeface="+mn-ea"/>
              </a:rPr>
              <a:t>有任务就接受</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  </a:t>
            </a:r>
            <a:r>
              <a:rPr lang="en-US" altLang="zh-CN" dirty="0">
                <a:solidFill>
                  <a:srgbClr val="E06C75"/>
                </a:solidFill>
                <a:latin typeface="Consolas" panose="020B0609020204030204" pitchFamily="49" charset="0"/>
              </a:rPr>
              <a:t>console</a:t>
            </a:r>
            <a:r>
              <a:rPr lang="en-US" altLang="zh-CN" dirty="0">
                <a:solidFill>
                  <a:srgbClr val="ABB2BF"/>
                </a:solidFill>
                <a:latin typeface="Consolas" panose="020B0609020204030204" pitchFamily="49" charset="0"/>
              </a:rPr>
              <a:t>.</a:t>
            </a:r>
            <a:r>
              <a:rPr lang="en-US" altLang="zh-CN" dirty="0">
                <a:solidFill>
                  <a:srgbClr val="61AFEF"/>
                </a:solidFill>
                <a:latin typeface="Consolas" panose="020B0609020204030204" pitchFamily="49" charset="0"/>
              </a:rPr>
              <a:t>log</a:t>
            </a:r>
            <a:r>
              <a:rPr lang="en-US" altLang="zh-CN" dirty="0">
                <a:solidFill>
                  <a:srgbClr val="ABB2BF"/>
                </a:solidFill>
                <a:latin typeface="Consolas" panose="020B0609020204030204" pitchFamily="49" charset="0"/>
              </a:rPr>
              <a:t>(</a:t>
            </a:r>
            <a:r>
              <a:rPr lang="en-US" altLang="zh-CN" dirty="0">
                <a:solidFill>
                  <a:srgbClr val="98C379"/>
                </a:solidFill>
                <a:latin typeface="Consolas" panose="020B0609020204030204" pitchFamily="49" charset="0"/>
              </a:rPr>
              <a:t>'</a:t>
            </a:r>
            <a:r>
              <a:rPr lang="zh-CN" altLang="en-US" dirty="0">
                <a:solidFill>
                  <a:srgbClr val="98C379"/>
                </a:solidFill>
                <a:latin typeface="Consolas" panose="020B0609020204030204" pitchFamily="49" charset="0"/>
              </a:rPr>
              <a:t>小白表示：立即给予帮助</a:t>
            </a:r>
            <a:r>
              <a:rPr lang="en-US" altLang="zh-CN" dirty="0">
                <a:solidFill>
                  <a:srgbClr val="98C379"/>
                </a:solidFill>
                <a:latin typeface="Consolas" panose="020B0609020204030204" pitchFamily="49" charset="0"/>
              </a:rPr>
              <a:t>'</a:t>
            </a:r>
            <a:r>
              <a:rPr lang="en-US" altLang="zh-CN" dirty="0">
                <a:solidFill>
                  <a:srgbClr val="ABB2BF"/>
                </a:solidFill>
                <a:latin typeface="Consolas" panose="020B0609020204030204" pitchFamily="49" charset="0"/>
              </a:rPr>
              <a:t>);</a:t>
            </a:r>
            <a:endParaRPr lang="en-US" altLang="zh-CN" dirty="0">
              <a:solidFill>
                <a:srgbClr val="ABB2BF"/>
              </a:solidFill>
              <a:latin typeface="Consolas" panose="020B0609020204030204" pitchFamily="49" charset="0"/>
            </a:endParaRPr>
          </a:p>
          <a:p>
            <a:r>
              <a:rPr lang="en-US" altLang="zh-CN" dirty="0">
                <a:solidFill>
                  <a:srgbClr val="ABB2BF"/>
                </a:solidFill>
                <a:latin typeface="Consolas" panose="020B0609020204030204" pitchFamily="49" charset="0"/>
              </a:rPr>
              <a:t>});</a:t>
            </a:r>
            <a:endParaRPr lang="en-US" altLang="zh-CN" b="0" dirty="0">
              <a:solidFill>
                <a:srgbClr val="ABB2BF"/>
              </a:solidFill>
              <a:effectLst/>
              <a:latin typeface="Consolas" panose="020B0609020204030204" pitchFamily="49" charset="0"/>
            </a:endParaRPr>
          </a:p>
        </p:txBody>
      </p:sp>
      <p:sp>
        <p:nvSpPr>
          <p:cNvPr id="8" name="矩形 7"/>
          <p:cNvSpPr/>
          <p:nvPr/>
        </p:nvSpPr>
        <p:spPr>
          <a:xfrm>
            <a:off x="557530" y="2842895"/>
            <a:ext cx="9030335" cy="368300"/>
          </a:xfrm>
          <a:prstGeom prst="rect">
            <a:avLst/>
          </a:prstGeom>
        </p:spPr>
        <p:txBody>
          <a:bodyPr wrap="square">
            <a:spAutoFit/>
          </a:bodyPr>
          <a:lstStyle/>
          <a:p>
            <a:r>
              <a:rPr lang="zh-CN" altLang="en-US" dirty="0" smtClean="0">
                <a:solidFill>
                  <a:schemeClr val="bg1"/>
                </a:solidFill>
                <a:latin typeface="微软雅黑" panose="020B0503020204020204" pitchFamily="34" charset="-122"/>
                <a:ea typeface="微软雅黑" panose="020B0503020204020204" pitchFamily="34" charset="-122"/>
              </a:rPr>
              <a:t>小青等级低，很可能会需要帮助，所以小黄、小白都订阅了小青</a:t>
            </a:r>
            <a:endParaRPr lang="zh-CN" altLang="en-US"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观察者</a:t>
            </a:r>
            <a:r>
              <a:rPr lang="zh-CN" altLang="en-US" dirty="0" smtClean="0"/>
              <a:t>模式 </a:t>
            </a:r>
            <a:r>
              <a:rPr lang="en-US" altLang="zh-CN" dirty="0" smtClean="0"/>
              <a:t>– </a:t>
            </a:r>
            <a:r>
              <a:rPr lang="zh-CN" altLang="en-US" dirty="0" smtClean="0"/>
              <a:t>实现</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sp>
        <p:nvSpPr>
          <p:cNvPr id="6" name="矩形 5"/>
          <p:cNvSpPr/>
          <p:nvPr/>
        </p:nvSpPr>
        <p:spPr>
          <a:xfrm>
            <a:off x="557530" y="1304290"/>
            <a:ext cx="11171555" cy="368300"/>
          </a:xfrm>
          <a:prstGeom prst="rect">
            <a:avLst/>
          </a:prstGeom>
        </p:spPr>
        <p:txBody>
          <a:bodyPr wrap="square">
            <a:spAutoFit/>
          </a:bodyPr>
          <a:lstStyle/>
          <a:p>
            <a:r>
              <a:rPr lang="zh-CN" altLang="en-US" dirty="0">
                <a:solidFill>
                  <a:schemeClr val="bg1"/>
                </a:solidFill>
                <a:latin typeface="微软雅黑" panose="020B0503020204020204" pitchFamily="34" charset="-122"/>
                <a:ea typeface="微软雅黑" panose="020B0503020204020204" pitchFamily="34" charset="-122"/>
              </a:rPr>
              <a:t>某</a:t>
            </a:r>
            <a:r>
              <a:rPr lang="zh-CN" altLang="en-US" dirty="0" smtClean="0">
                <a:solidFill>
                  <a:schemeClr val="bg1"/>
                </a:solidFill>
                <a:latin typeface="微软雅黑" panose="020B0503020204020204" pitchFamily="34" charset="-122"/>
                <a:ea typeface="微软雅黑" panose="020B0503020204020204" pitchFamily="34" charset="-122"/>
              </a:rPr>
              <a:t>天，小青如预料般遇到了麻烦，于是发布求助任务，赏金￥</a:t>
            </a:r>
            <a:r>
              <a:rPr lang="en-US" altLang="zh-CN" dirty="0" smtClean="0">
                <a:solidFill>
                  <a:schemeClr val="bg1"/>
                </a:solidFill>
                <a:latin typeface="微软雅黑" panose="020B0503020204020204" pitchFamily="34" charset="-122"/>
                <a:ea typeface="微软雅黑" panose="020B0503020204020204" pitchFamily="34" charset="-122"/>
              </a:rPr>
              <a:t>150</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a:xfrm>
            <a:off x="567540" y="1893284"/>
            <a:ext cx="5346313" cy="368300"/>
          </a:xfrm>
          <a:prstGeom prst="rect">
            <a:avLst/>
          </a:prstGeom>
        </p:spPr>
        <p:txBody>
          <a:bodyPr wrap="square">
            <a:spAutoFit/>
          </a:bodyPr>
          <a:lstStyle/>
          <a:p>
            <a:r>
              <a:rPr lang="en-US" altLang="zh-CN" dirty="0" err="1" smtClean="0">
                <a:solidFill>
                  <a:srgbClr val="E06C75"/>
                </a:solidFill>
                <a:latin typeface="Consolas" panose="020B0609020204030204" pitchFamily="49" charset="0"/>
              </a:rPr>
              <a:t>Qing</a:t>
            </a:r>
            <a:r>
              <a:rPr lang="en-US" altLang="zh-CN" dirty="0" err="1" smtClean="0">
                <a:solidFill>
                  <a:srgbClr val="ABB2BF"/>
                </a:solidFill>
                <a:latin typeface="Consolas" panose="020B0609020204030204" pitchFamily="49" charset="0"/>
              </a:rPr>
              <a:t>.</a:t>
            </a:r>
            <a:r>
              <a:rPr lang="en-US" altLang="zh-CN" dirty="0" err="1" smtClean="0">
                <a:solidFill>
                  <a:srgbClr val="61AFEF"/>
                </a:solidFill>
                <a:latin typeface="Consolas" panose="020B0609020204030204" pitchFamily="49" charset="0"/>
              </a:rPr>
              <a:t>publish</a:t>
            </a:r>
            <a:r>
              <a:rPr lang="en-US" altLang="zh-CN" dirty="0" smtClean="0">
                <a:solidFill>
                  <a:srgbClr val="ABB2BF"/>
                </a:solidFill>
                <a:latin typeface="Consolas" panose="020B0609020204030204" pitchFamily="49" charset="0"/>
              </a:rPr>
              <a:t>(</a:t>
            </a:r>
            <a:r>
              <a:rPr lang="en-US" altLang="zh-CN" dirty="0" smtClean="0">
                <a:solidFill>
                  <a:srgbClr val="D19A66"/>
                </a:solidFill>
                <a:latin typeface="Consolas" panose="020B0609020204030204" pitchFamily="49" charset="0"/>
              </a:rPr>
              <a:t>150</a:t>
            </a:r>
            <a:r>
              <a:rPr lang="en-US" altLang="zh-CN" dirty="0" smtClean="0">
                <a:solidFill>
                  <a:srgbClr val="ABB2BF"/>
                </a:solidFill>
                <a:latin typeface="Consolas" panose="020B0609020204030204" pitchFamily="49" charset="0"/>
              </a:rPr>
              <a:t>);</a:t>
            </a:r>
            <a:endParaRPr lang="en-US" altLang="zh-CN" b="0" dirty="0">
              <a:solidFill>
                <a:srgbClr val="ABB2BF"/>
              </a:solidFill>
              <a:effectLst/>
              <a:latin typeface="Consolas" panose="020B0609020204030204" pitchFamily="49" charset="0"/>
            </a:endParaRPr>
          </a:p>
        </p:txBody>
      </p:sp>
      <p:sp>
        <p:nvSpPr>
          <p:cNvPr id="9" name="矩形 8"/>
          <p:cNvSpPr/>
          <p:nvPr/>
        </p:nvSpPr>
        <p:spPr>
          <a:xfrm>
            <a:off x="557437" y="3163500"/>
            <a:ext cx="6389771" cy="369332"/>
          </a:xfrm>
          <a:prstGeom prst="rect">
            <a:avLst/>
          </a:prstGeom>
        </p:spPr>
        <p:txBody>
          <a:bodyPr wrap="square">
            <a:spAutoFit/>
          </a:bodyPr>
          <a:lstStyle/>
          <a:p>
            <a:r>
              <a:rPr lang="zh-CN" altLang="en-US" dirty="0" smtClean="0">
                <a:solidFill>
                  <a:schemeClr val="bg1"/>
                </a:solidFill>
                <a:latin typeface="微软雅黑" panose="020B0503020204020204" pitchFamily="34" charset="-122"/>
                <a:ea typeface="微软雅黑" panose="020B0503020204020204" pitchFamily="34" charset="-122"/>
              </a:rPr>
              <a:t>不出意料结果是：</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10" name="矩形 9"/>
          <p:cNvSpPr/>
          <p:nvPr/>
        </p:nvSpPr>
        <p:spPr>
          <a:xfrm>
            <a:off x="485774" y="3717507"/>
            <a:ext cx="9449435" cy="521970"/>
          </a:xfrm>
          <a:prstGeom prst="rect">
            <a:avLst/>
          </a:prstGeom>
        </p:spPr>
        <p:txBody>
          <a:bodyPr wrap="none">
            <a:spAutoFit/>
          </a:bodyPr>
          <a:lstStyle/>
          <a:p>
            <a:r>
              <a:rPr lang="zh-CN" altLang="en-US" sz="2800" dirty="0" smtClean="0">
                <a:solidFill>
                  <a:schemeClr val="bg1"/>
                </a:solidFill>
                <a:latin typeface="楷体" panose="02010609060101010101" pitchFamily="49" charset="-122"/>
                <a:ea typeface="楷体" panose="02010609060101010101" pitchFamily="49" charset="-122"/>
              </a:rPr>
              <a:t>“</a:t>
            </a:r>
            <a:r>
              <a:rPr lang="zh-CN" altLang="en-US" sz="2800" dirty="0">
                <a:solidFill>
                  <a:schemeClr val="bg1"/>
                </a:solidFill>
                <a:latin typeface="楷体" panose="02010609060101010101" pitchFamily="49" charset="-122"/>
                <a:ea typeface="楷体" panose="02010609060101010101" pitchFamily="49" charset="-122"/>
              </a:rPr>
              <a:t>小黄表示：</a:t>
            </a:r>
            <a:r>
              <a:rPr lang="zh-CN" altLang="en-US" sz="2800" b="1" dirty="0">
                <a:solidFill>
                  <a:schemeClr val="bg1"/>
                </a:solidFill>
                <a:latin typeface="楷体" panose="02010609060101010101" pitchFamily="49" charset="-122"/>
                <a:ea typeface="楷体" panose="02010609060101010101" pitchFamily="49" charset="-122"/>
              </a:rPr>
              <a:t>暂时很忙，不能给予</a:t>
            </a:r>
            <a:r>
              <a:rPr lang="zh-CN" altLang="en-US" sz="2800" b="1" dirty="0" smtClean="0">
                <a:solidFill>
                  <a:schemeClr val="bg1"/>
                </a:solidFill>
                <a:latin typeface="楷体" panose="02010609060101010101" pitchFamily="49" charset="-122"/>
                <a:ea typeface="楷体" panose="02010609060101010101" pitchFamily="49" charset="-122"/>
              </a:rPr>
              <a:t>帮助</a:t>
            </a:r>
            <a:r>
              <a:rPr lang="zh-CN" altLang="en-US" sz="2800" dirty="0" smtClean="0">
                <a:solidFill>
                  <a:schemeClr val="bg1"/>
                </a:solidFill>
                <a:latin typeface="楷体" panose="02010609060101010101" pitchFamily="49" charset="-122"/>
                <a:ea typeface="楷体" panose="02010609060101010101" pitchFamily="49" charset="-122"/>
              </a:rPr>
              <a:t>” </a:t>
            </a:r>
            <a:r>
              <a:rPr lang="en-US" altLang="zh-CN" sz="2800" dirty="0" smtClean="0">
                <a:solidFill>
                  <a:schemeClr val="bg1">
                    <a:lumMod val="50000"/>
                  </a:schemeClr>
                </a:solidFill>
                <a:latin typeface="楷体" panose="02010609060101010101" pitchFamily="49" charset="-122"/>
                <a:ea typeface="楷体" panose="02010609060101010101" pitchFamily="49" charset="-122"/>
              </a:rPr>
              <a:t>// </a:t>
            </a:r>
            <a:r>
              <a:rPr lang="zh-CN" altLang="en-US" sz="2800" dirty="0" smtClean="0">
                <a:solidFill>
                  <a:schemeClr val="bg1">
                    <a:lumMod val="50000"/>
                  </a:schemeClr>
                </a:solidFill>
                <a:latin typeface="楷体" panose="02010609060101010101" pitchFamily="49" charset="-122"/>
                <a:ea typeface="楷体" panose="02010609060101010101" pitchFamily="49" charset="-122"/>
              </a:rPr>
              <a:t>金币</a:t>
            </a:r>
            <a:r>
              <a:rPr lang="zh-CN" altLang="en-US" sz="2800" dirty="0" smtClean="0">
                <a:solidFill>
                  <a:schemeClr val="bg1">
                    <a:lumMod val="50000"/>
                  </a:schemeClr>
                </a:solidFill>
                <a:latin typeface="楷体" panose="02010609060101010101" pitchFamily="49" charset="-122"/>
                <a:ea typeface="楷体" panose="02010609060101010101" pitchFamily="49" charset="-122"/>
              </a:rPr>
              <a:t>酬劳不够</a:t>
            </a:r>
            <a:endParaRPr lang="zh-CN" altLang="en-US" sz="2800" dirty="0">
              <a:solidFill>
                <a:schemeClr val="bg1">
                  <a:lumMod val="50000"/>
                </a:schemeClr>
              </a:solidFill>
              <a:latin typeface="楷体" panose="02010609060101010101" pitchFamily="49" charset="-122"/>
              <a:ea typeface="楷体" panose="02010609060101010101" pitchFamily="49" charset="-122"/>
            </a:endParaRPr>
          </a:p>
        </p:txBody>
      </p:sp>
      <p:sp>
        <p:nvSpPr>
          <p:cNvPr id="11" name="矩形 10"/>
          <p:cNvSpPr/>
          <p:nvPr/>
        </p:nvSpPr>
        <p:spPr>
          <a:xfrm>
            <a:off x="485774" y="4206197"/>
            <a:ext cx="4817110" cy="521970"/>
          </a:xfrm>
          <a:prstGeom prst="rect">
            <a:avLst/>
          </a:prstGeom>
        </p:spPr>
        <p:txBody>
          <a:bodyPr wrap="none">
            <a:spAutoFit/>
          </a:bodyPr>
          <a:lstStyle/>
          <a:p>
            <a:r>
              <a:rPr lang="zh-CN" altLang="en-US" sz="2800" dirty="0">
                <a:solidFill>
                  <a:schemeClr val="bg1"/>
                </a:solidFill>
                <a:latin typeface="楷体" panose="02010609060101010101" pitchFamily="49" charset="-122"/>
                <a:ea typeface="楷体" panose="02010609060101010101" pitchFamily="49" charset="-122"/>
              </a:rPr>
              <a:t>“小白表示：</a:t>
            </a:r>
            <a:r>
              <a:rPr lang="zh-CN" altLang="en-US" sz="2800" b="1" dirty="0">
                <a:solidFill>
                  <a:schemeClr val="bg1"/>
                </a:solidFill>
                <a:latin typeface="楷体" panose="02010609060101010101" pitchFamily="49" charset="-122"/>
                <a:ea typeface="楷体" panose="02010609060101010101" pitchFamily="49" charset="-122"/>
              </a:rPr>
              <a:t>立即给予帮助</a:t>
            </a:r>
            <a:r>
              <a:rPr lang="zh-CN" altLang="en-US" sz="2800" dirty="0">
                <a:solidFill>
                  <a:schemeClr val="bg1"/>
                </a:solidFill>
                <a:latin typeface="楷体" panose="02010609060101010101" pitchFamily="49" charset="-122"/>
                <a:ea typeface="楷体" panose="02010609060101010101" pitchFamily="49" charset="-122"/>
              </a:rPr>
              <a:t>”</a:t>
            </a:r>
            <a:endParaRPr lang="zh-CN" altLang="en-US" sz="2800" dirty="0">
              <a:solidFill>
                <a:schemeClr val="bg1"/>
              </a:solidFill>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发布</a:t>
            </a:r>
            <a:r>
              <a:rPr lang="en-US" altLang="zh-CN" dirty="0"/>
              <a:t>-</a:t>
            </a:r>
            <a:r>
              <a:rPr lang="zh-CN" altLang="en-US" dirty="0"/>
              <a:t>订阅模式 </a:t>
            </a:r>
            <a:r>
              <a:rPr lang="en-US" altLang="zh-CN" dirty="0"/>
              <a:t>VS </a:t>
            </a:r>
            <a:r>
              <a:rPr lang="zh-CN" altLang="en-US" dirty="0"/>
              <a:t>观察者模式</a:t>
            </a:r>
            <a:r>
              <a:rPr lang="en-US" altLang="zh-CN" dirty="0"/>
              <a:t> </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grpSp>
        <p:nvGrpSpPr>
          <p:cNvPr id="55" name="组合 54"/>
          <p:cNvGrpSpPr/>
          <p:nvPr>
            <p:custDataLst>
              <p:tags r:id="rId1"/>
            </p:custDataLst>
          </p:nvPr>
        </p:nvGrpSpPr>
        <p:grpSpPr>
          <a:xfrm>
            <a:off x="6581775" y="1617612"/>
            <a:ext cx="3015537" cy="3603478"/>
            <a:chOff x="7267932" y="1339053"/>
            <a:chExt cx="3015537" cy="3603478"/>
          </a:xfrm>
        </p:grpSpPr>
        <p:sp>
          <p:nvSpPr>
            <p:cNvPr id="24" name="矩形 23"/>
            <p:cNvSpPr/>
            <p:nvPr>
              <p:custDataLst>
                <p:tags r:id="rId2"/>
              </p:custDataLst>
            </p:nvPr>
          </p:nvSpPr>
          <p:spPr>
            <a:xfrm>
              <a:off x="8052174" y="1990231"/>
              <a:ext cx="1434354" cy="428131"/>
            </a:xfrm>
            <a:prstGeom prst="rect">
              <a:avLst/>
            </a:prstGeom>
            <a:solidFill>
              <a:srgbClr val="0283CA"/>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被观察者</a:t>
              </a:r>
              <a:endParaRPr lang="zh-CN" altLang="en-US" dirty="0"/>
            </a:p>
          </p:txBody>
        </p:sp>
        <p:sp>
          <p:nvSpPr>
            <p:cNvPr id="25" name="矩形 24"/>
            <p:cNvSpPr/>
            <p:nvPr>
              <p:custDataLst>
                <p:tags r:id="rId3"/>
              </p:custDataLst>
            </p:nvPr>
          </p:nvSpPr>
          <p:spPr>
            <a:xfrm>
              <a:off x="8052174" y="4514400"/>
              <a:ext cx="1434354" cy="428131"/>
            </a:xfrm>
            <a:prstGeom prst="rect">
              <a:avLst/>
            </a:prstGeom>
            <a:solidFill>
              <a:srgbClr val="0283CA"/>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观察者</a:t>
              </a:r>
              <a:endParaRPr lang="zh-CN" altLang="en-US" dirty="0"/>
            </a:p>
          </p:txBody>
        </p:sp>
        <p:cxnSp>
          <p:nvCxnSpPr>
            <p:cNvPr id="29" name="肘形连接符 28"/>
            <p:cNvCxnSpPr>
              <a:stCxn id="24" idx="3"/>
              <a:endCxn id="25" idx="3"/>
            </p:cNvCxnSpPr>
            <p:nvPr>
              <p:custDataLst>
                <p:tags r:id="rId4"/>
              </p:custDataLst>
            </p:nvPr>
          </p:nvCxnSpPr>
          <p:spPr>
            <a:xfrm>
              <a:off x="9486528" y="2204297"/>
              <a:ext cx="12700" cy="2524169"/>
            </a:xfrm>
            <a:prstGeom prst="bentConnector3">
              <a:avLst>
                <a:gd name="adj1" fmla="val 2933134"/>
              </a:avLst>
            </a:prstGeom>
            <a:ln w="57150">
              <a:solidFill>
                <a:schemeClr val="accent6">
                  <a:lumMod val="75000"/>
                </a:schemeClr>
              </a:solidFill>
              <a:tailEnd type="triangle"/>
            </a:ln>
          </p:spPr>
          <p:style>
            <a:lnRef idx="3">
              <a:schemeClr val="accent6"/>
            </a:lnRef>
            <a:fillRef idx="0">
              <a:schemeClr val="accent6"/>
            </a:fillRef>
            <a:effectRef idx="2">
              <a:schemeClr val="accent6"/>
            </a:effectRef>
            <a:fontRef idx="minor">
              <a:schemeClr val="tx1"/>
            </a:fontRef>
          </p:style>
        </p:cxnSp>
        <p:cxnSp>
          <p:nvCxnSpPr>
            <p:cNvPr id="31" name="肘形连接符 30"/>
            <p:cNvCxnSpPr>
              <a:stCxn id="25" idx="1"/>
              <a:endCxn id="24" idx="1"/>
            </p:cNvCxnSpPr>
            <p:nvPr>
              <p:custDataLst>
                <p:tags r:id="rId5"/>
              </p:custDataLst>
            </p:nvPr>
          </p:nvCxnSpPr>
          <p:spPr>
            <a:xfrm rot="10800000">
              <a:off x="8052174" y="2204298"/>
              <a:ext cx="12700" cy="2524169"/>
            </a:xfrm>
            <a:prstGeom prst="bentConnector3">
              <a:avLst>
                <a:gd name="adj1" fmla="val 2858819"/>
              </a:avLst>
            </a:prstGeom>
            <a:ln w="57150">
              <a:solidFill>
                <a:schemeClr val="accent6">
                  <a:lumMod val="75000"/>
                </a:schemeClr>
              </a:solidFill>
              <a:tailEnd type="triangle"/>
            </a:ln>
          </p:spPr>
          <p:style>
            <a:lnRef idx="3">
              <a:schemeClr val="accent6"/>
            </a:lnRef>
            <a:fillRef idx="0">
              <a:schemeClr val="accent6"/>
            </a:fillRef>
            <a:effectRef idx="2">
              <a:schemeClr val="accent6"/>
            </a:effectRef>
            <a:fontRef idx="minor">
              <a:schemeClr val="tx1"/>
            </a:fontRef>
          </p:style>
        </p:cxnSp>
        <p:sp>
          <p:nvSpPr>
            <p:cNvPr id="32" name="文本框 31"/>
            <p:cNvSpPr txBox="1"/>
            <p:nvPr/>
          </p:nvSpPr>
          <p:spPr>
            <a:xfrm>
              <a:off x="8052173" y="1339053"/>
              <a:ext cx="1340970" cy="369332"/>
            </a:xfrm>
            <a:prstGeom prst="rect">
              <a:avLst/>
            </a:prstGeom>
            <a:noFill/>
          </p:spPr>
          <p:txBody>
            <a:bodyPr wrap="square" rtlCol="0">
              <a:spAutoFit/>
            </a:bodyPr>
            <a:lstStyle/>
            <a:p>
              <a:r>
                <a:rPr lang="zh-CN" altLang="en-US" dirty="0">
                  <a:solidFill>
                    <a:schemeClr val="bg1"/>
                  </a:solidFill>
                  <a:latin typeface="微软雅黑" panose="020B0503020204020204" pitchFamily="34" charset="-122"/>
                  <a:ea typeface="微软雅黑" panose="020B0503020204020204" pitchFamily="34" charset="-122"/>
                </a:rPr>
                <a:t>观察</a:t>
              </a:r>
              <a:r>
                <a:rPr lang="zh-CN" altLang="en-US" dirty="0" smtClean="0">
                  <a:solidFill>
                    <a:schemeClr val="bg1"/>
                  </a:solidFill>
                  <a:latin typeface="微软雅黑" panose="020B0503020204020204" pitchFamily="34" charset="-122"/>
                  <a:ea typeface="微软雅黑" panose="020B0503020204020204" pitchFamily="34" charset="-122"/>
                </a:rPr>
                <a:t>者模式</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49" name="文本框 48"/>
            <p:cNvSpPr txBox="1"/>
            <p:nvPr>
              <p:custDataLst>
                <p:tags r:id="rId6"/>
              </p:custDataLst>
            </p:nvPr>
          </p:nvSpPr>
          <p:spPr>
            <a:xfrm>
              <a:off x="7267932" y="3035071"/>
              <a:ext cx="461665" cy="582707"/>
            </a:xfrm>
            <a:prstGeom prst="rect">
              <a:avLst/>
            </a:prstGeom>
            <a:noFill/>
          </p:spPr>
          <p:txBody>
            <a:bodyPr vert="eaVert" wrap="square" rtlCol="0">
              <a:spAutoFit/>
            </a:bodyPr>
            <a:lstStyle/>
            <a:p>
              <a:r>
                <a:rPr lang="zh-CN" altLang="en-US" dirty="0" smtClean="0">
                  <a:solidFill>
                    <a:schemeClr val="bg1"/>
                  </a:solidFill>
                  <a:latin typeface="微软雅黑" panose="020B0503020204020204" pitchFamily="34" charset="-122"/>
                  <a:ea typeface="微软雅黑" panose="020B0503020204020204" pitchFamily="34" charset="-122"/>
                </a:rPr>
                <a:t>订阅</a:t>
              </a:r>
              <a:endParaRPr lang="en-US" altLang="zh-CN" dirty="0" smtClean="0">
                <a:solidFill>
                  <a:schemeClr val="bg1"/>
                </a:solidFill>
                <a:latin typeface="微软雅黑" panose="020B0503020204020204" pitchFamily="34" charset="-122"/>
                <a:ea typeface="微软雅黑" panose="020B0503020204020204" pitchFamily="34" charset="-122"/>
              </a:endParaRPr>
            </a:p>
          </p:txBody>
        </p:sp>
        <p:sp>
          <p:nvSpPr>
            <p:cNvPr id="54" name="文本框 53"/>
            <p:cNvSpPr txBox="1"/>
            <p:nvPr>
              <p:custDataLst>
                <p:tags r:id="rId7"/>
              </p:custDataLst>
            </p:nvPr>
          </p:nvSpPr>
          <p:spPr>
            <a:xfrm>
              <a:off x="9821804" y="3035071"/>
              <a:ext cx="461665" cy="582707"/>
            </a:xfrm>
            <a:prstGeom prst="rect">
              <a:avLst/>
            </a:prstGeom>
            <a:noFill/>
          </p:spPr>
          <p:txBody>
            <a:bodyPr vert="eaVert" wrap="square" rtlCol="0">
              <a:spAutoFit/>
            </a:bodyPr>
            <a:lstStyle/>
            <a:p>
              <a:r>
                <a:rPr lang="zh-CN" altLang="en-US" dirty="0" smtClean="0">
                  <a:solidFill>
                    <a:schemeClr val="bg1"/>
                  </a:solidFill>
                  <a:latin typeface="微软雅黑" panose="020B0503020204020204" pitchFamily="34" charset="-122"/>
                  <a:ea typeface="微软雅黑" panose="020B0503020204020204" pitchFamily="34" charset="-122"/>
                </a:rPr>
                <a:t>派发</a:t>
              </a:r>
              <a:endParaRPr lang="en-US" altLang="zh-CN" dirty="0" smtClean="0">
                <a:solidFill>
                  <a:schemeClr val="bg1"/>
                </a:solidFill>
                <a:latin typeface="微软雅黑" panose="020B0503020204020204" pitchFamily="34" charset="-122"/>
                <a:ea typeface="微软雅黑" panose="020B0503020204020204" pitchFamily="34" charset="-122"/>
              </a:endParaRPr>
            </a:p>
          </p:txBody>
        </p:sp>
      </p:grpSp>
      <p:grpSp>
        <p:nvGrpSpPr>
          <p:cNvPr id="71" name="组合 70"/>
          <p:cNvGrpSpPr/>
          <p:nvPr>
            <p:custDataLst>
              <p:tags r:id="rId8"/>
            </p:custDataLst>
          </p:nvPr>
        </p:nvGrpSpPr>
        <p:grpSpPr>
          <a:xfrm>
            <a:off x="2740010" y="1650591"/>
            <a:ext cx="2220912" cy="3570499"/>
            <a:chOff x="1145251" y="1336332"/>
            <a:chExt cx="2220912" cy="3570499"/>
          </a:xfrm>
        </p:grpSpPr>
        <p:sp>
          <p:nvSpPr>
            <p:cNvPr id="5" name="矩形 4"/>
            <p:cNvSpPr/>
            <p:nvPr>
              <p:custDataLst>
                <p:tags r:id="rId9"/>
              </p:custDataLst>
            </p:nvPr>
          </p:nvSpPr>
          <p:spPr>
            <a:xfrm>
              <a:off x="1524001" y="1954305"/>
              <a:ext cx="1448742" cy="428357"/>
            </a:xfrm>
            <a:prstGeom prst="rect">
              <a:avLst/>
            </a:prstGeom>
            <a:solidFill>
              <a:srgbClr val="0283CA"/>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发布者</a:t>
              </a:r>
              <a:endParaRPr lang="zh-CN" altLang="en-US" dirty="0"/>
            </a:p>
          </p:txBody>
        </p:sp>
        <p:sp>
          <p:nvSpPr>
            <p:cNvPr id="8" name="矩形 7"/>
            <p:cNvSpPr/>
            <p:nvPr>
              <p:custDataLst>
                <p:tags r:id="rId10"/>
              </p:custDataLst>
            </p:nvPr>
          </p:nvSpPr>
          <p:spPr>
            <a:xfrm>
              <a:off x="1524001" y="4478474"/>
              <a:ext cx="1448742" cy="428357"/>
            </a:xfrm>
            <a:prstGeom prst="rect">
              <a:avLst/>
            </a:prstGeom>
            <a:solidFill>
              <a:srgbClr val="0283CA"/>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订阅者</a:t>
              </a:r>
              <a:endParaRPr lang="zh-CN" altLang="en-US" dirty="0"/>
            </a:p>
          </p:txBody>
        </p:sp>
        <p:cxnSp>
          <p:nvCxnSpPr>
            <p:cNvPr id="10" name="直接箭头连接符 9"/>
            <p:cNvCxnSpPr>
              <a:stCxn id="5" idx="2"/>
              <a:endCxn id="56" idx="0"/>
            </p:cNvCxnSpPr>
            <p:nvPr>
              <p:custDataLst>
                <p:tags r:id="rId11"/>
              </p:custDataLst>
            </p:nvPr>
          </p:nvCxnSpPr>
          <p:spPr>
            <a:xfrm flipH="1">
              <a:off x="2247601" y="2382662"/>
              <a:ext cx="771" cy="833706"/>
            </a:xfrm>
            <a:prstGeom prst="straightConnector1">
              <a:avLst/>
            </a:prstGeom>
            <a:ln w="57150">
              <a:solidFill>
                <a:schemeClr val="accent6">
                  <a:lumMod val="75000"/>
                </a:schemeClr>
              </a:solidFill>
              <a:tailEnd type="triangle"/>
            </a:ln>
          </p:spPr>
          <p:style>
            <a:lnRef idx="3">
              <a:schemeClr val="accent6"/>
            </a:lnRef>
            <a:fillRef idx="0">
              <a:schemeClr val="accent6"/>
            </a:fillRef>
            <a:effectRef idx="2">
              <a:schemeClr val="accent6"/>
            </a:effectRef>
            <a:fontRef idx="minor">
              <a:schemeClr val="tx1"/>
            </a:fontRef>
          </p:style>
        </p:cxnSp>
        <p:cxnSp>
          <p:nvCxnSpPr>
            <p:cNvPr id="17" name="肘形连接符 16"/>
            <p:cNvCxnSpPr>
              <a:stCxn id="8" idx="1"/>
              <a:endCxn id="56" idx="1"/>
            </p:cNvCxnSpPr>
            <p:nvPr>
              <p:custDataLst>
                <p:tags r:id="rId12"/>
              </p:custDataLst>
            </p:nvPr>
          </p:nvCxnSpPr>
          <p:spPr>
            <a:xfrm rot="10800000">
              <a:off x="1524001" y="3430569"/>
              <a:ext cx="12700" cy="1262085"/>
            </a:xfrm>
            <a:prstGeom prst="bentConnector3">
              <a:avLst>
                <a:gd name="adj1" fmla="val 2678055"/>
              </a:avLst>
            </a:prstGeom>
            <a:ln w="57150">
              <a:solidFill>
                <a:schemeClr val="accent6">
                  <a:lumMod val="75000"/>
                </a:schemeClr>
              </a:solidFill>
              <a:tailEnd type="triangle"/>
            </a:ln>
          </p:spPr>
          <p:style>
            <a:lnRef idx="3">
              <a:schemeClr val="accent6"/>
            </a:lnRef>
            <a:fillRef idx="0">
              <a:schemeClr val="accent6"/>
            </a:fillRef>
            <a:effectRef idx="2">
              <a:schemeClr val="accent6"/>
            </a:effectRef>
            <a:fontRef idx="minor">
              <a:schemeClr val="tx1"/>
            </a:fontRef>
          </p:style>
        </p:cxnSp>
        <p:cxnSp>
          <p:nvCxnSpPr>
            <p:cNvPr id="21" name="肘形连接符 20"/>
            <p:cNvCxnSpPr>
              <a:stCxn id="56" idx="3"/>
              <a:endCxn id="8" idx="3"/>
            </p:cNvCxnSpPr>
            <p:nvPr>
              <p:custDataLst>
                <p:tags r:id="rId13"/>
              </p:custDataLst>
            </p:nvPr>
          </p:nvCxnSpPr>
          <p:spPr>
            <a:xfrm>
              <a:off x="2971201" y="3430568"/>
              <a:ext cx="1542" cy="1262085"/>
            </a:xfrm>
            <a:prstGeom prst="bentConnector3">
              <a:avLst>
                <a:gd name="adj1" fmla="val 21433398"/>
              </a:avLst>
            </a:prstGeom>
            <a:ln w="57150">
              <a:solidFill>
                <a:schemeClr val="accent6">
                  <a:lumMod val="75000"/>
                </a:schemeClr>
              </a:solidFill>
              <a:tailEnd type="triangle"/>
            </a:ln>
          </p:spPr>
          <p:style>
            <a:lnRef idx="3">
              <a:schemeClr val="accent6"/>
            </a:lnRef>
            <a:fillRef idx="0">
              <a:schemeClr val="accent6"/>
            </a:fillRef>
            <a:effectRef idx="2">
              <a:schemeClr val="accent6"/>
            </a:effectRef>
            <a:fontRef idx="minor">
              <a:schemeClr val="tx1"/>
            </a:fontRef>
          </p:style>
        </p:cxnSp>
        <p:sp>
          <p:nvSpPr>
            <p:cNvPr id="33" name="文本框 32"/>
            <p:cNvSpPr txBox="1"/>
            <p:nvPr/>
          </p:nvSpPr>
          <p:spPr>
            <a:xfrm>
              <a:off x="1398730" y="1336332"/>
              <a:ext cx="1697742" cy="369527"/>
            </a:xfrm>
            <a:prstGeom prst="rect">
              <a:avLst/>
            </a:prstGeom>
            <a:noFill/>
          </p:spPr>
          <p:txBody>
            <a:bodyPr wrap="square" rtlCol="0">
              <a:spAutoFit/>
            </a:bodyPr>
            <a:lstStyle/>
            <a:p>
              <a:r>
                <a:rPr lang="zh-CN" altLang="en-US" dirty="0" smtClean="0">
                  <a:solidFill>
                    <a:schemeClr val="bg1"/>
                  </a:solidFill>
                  <a:latin typeface="微软雅黑" panose="020B0503020204020204" pitchFamily="34" charset="-122"/>
                  <a:ea typeface="微软雅黑" panose="020B0503020204020204" pitchFamily="34" charset="-122"/>
                </a:rPr>
                <a:t>发布</a:t>
              </a:r>
              <a:r>
                <a:rPr lang="en-US" altLang="zh-CN" dirty="0" smtClean="0">
                  <a:solidFill>
                    <a:schemeClr val="bg1"/>
                  </a:solidFill>
                  <a:latin typeface="微软雅黑" panose="020B0503020204020204" pitchFamily="34" charset="-122"/>
                  <a:ea typeface="微软雅黑" panose="020B0503020204020204" pitchFamily="34" charset="-122"/>
                </a:rPr>
                <a:t>/</a:t>
              </a:r>
              <a:r>
                <a:rPr lang="zh-CN" altLang="en-US" dirty="0" smtClean="0">
                  <a:solidFill>
                    <a:schemeClr val="bg1"/>
                  </a:solidFill>
                  <a:latin typeface="微软雅黑" panose="020B0503020204020204" pitchFamily="34" charset="-122"/>
                  <a:ea typeface="微软雅黑" panose="020B0503020204020204" pitchFamily="34" charset="-122"/>
                </a:rPr>
                <a:t>订阅模式</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42" name="文本框 41"/>
            <p:cNvSpPr txBox="1"/>
            <p:nvPr>
              <p:custDataLst>
                <p:tags r:id="rId14"/>
              </p:custDataLst>
            </p:nvPr>
          </p:nvSpPr>
          <p:spPr>
            <a:xfrm>
              <a:off x="1145251" y="3722050"/>
              <a:ext cx="461665" cy="593172"/>
            </a:xfrm>
            <a:prstGeom prst="rect">
              <a:avLst/>
            </a:prstGeom>
            <a:noFill/>
          </p:spPr>
          <p:txBody>
            <a:bodyPr vert="eaVert" wrap="square" rtlCol="0">
              <a:spAutoFit/>
            </a:bodyPr>
            <a:lstStyle/>
            <a:p>
              <a:r>
                <a:rPr lang="zh-CN" altLang="en-US" dirty="0" smtClean="0">
                  <a:solidFill>
                    <a:schemeClr val="bg1"/>
                  </a:solidFill>
                  <a:latin typeface="微软雅黑" panose="020B0503020204020204" pitchFamily="34" charset="-122"/>
                  <a:ea typeface="微软雅黑" panose="020B0503020204020204" pitchFamily="34" charset="-122"/>
                </a:rPr>
                <a:t>订阅</a:t>
              </a:r>
              <a:endParaRPr lang="en-US" altLang="zh-CN" dirty="0">
                <a:solidFill>
                  <a:schemeClr val="bg1"/>
                </a:solidFill>
                <a:latin typeface="微软雅黑" panose="020B0503020204020204" pitchFamily="34" charset="-122"/>
                <a:ea typeface="微软雅黑" panose="020B0503020204020204" pitchFamily="34" charset="-122"/>
              </a:endParaRPr>
            </a:p>
          </p:txBody>
        </p:sp>
        <p:sp>
          <p:nvSpPr>
            <p:cNvPr id="43" name="文本框 42"/>
            <p:cNvSpPr txBox="1"/>
            <p:nvPr>
              <p:custDataLst>
                <p:tags r:id="rId15"/>
              </p:custDataLst>
            </p:nvPr>
          </p:nvSpPr>
          <p:spPr>
            <a:xfrm>
              <a:off x="2904498" y="3732207"/>
              <a:ext cx="461665" cy="583015"/>
            </a:xfrm>
            <a:prstGeom prst="rect">
              <a:avLst/>
            </a:prstGeom>
            <a:noFill/>
          </p:spPr>
          <p:txBody>
            <a:bodyPr vert="eaVert" wrap="square" rtlCol="0">
              <a:spAutoFit/>
            </a:bodyPr>
            <a:lstStyle/>
            <a:p>
              <a:r>
                <a:rPr lang="zh-CN" altLang="en-US" dirty="0" smtClean="0">
                  <a:solidFill>
                    <a:schemeClr val="bg1"/>
                  </a:solidFill>
                  <a:latin typeface="微软雅黑" panose="020B0503020204020204" pitchFamily="34" charset="-122"/>
                  <a:ea typeface="微软雅黑" panose="020B0503020204020204" pitchFamily="34" charset="-122"/>
                </a:rPr>
                <a:t>派发</a:t>
              </a:r>
              <a:endParaRPr lang="en-US" altLang="zh-CN" dirty="0" smtClean="0">
                <a:solidFill>
                  <a:schemeClr val="bg1"/>
                </a:solidFill>
                <a:latin typeface="微软雅黑" panose="020B0503020204020204" pitchFamily="34" charset="-122"/>
                <a:ea typeface="微软雅黑" panose="020B0503020204020204" pitchFamily="34" charset="-122"/>
              </a:endParaRPr>
            </a:p>
          </p:txBody>
        </p:sp>
        <p:sp>
          <p:nvSpPr>
            <p:cNvPr id="44" name="文本框 43"/>
            <p:cNvSpPr txBox="1"/>
            <p:nvPr>
              <p:custDataLst>
                <p:tags r:id="rId16"/>
              </p:custDataLst>
            </p:nvPr>
          </p:nvSpPr>
          <p:spPr>
            <a:xfrm>
              <a:off x="2235345" y="2516740"/>
              <a:ext cx="461665" cy="583015"/>
            </a:xfrm>
            <a:prstGeom prst="rect">
              <a:avLst/>
            </a:prstGeom>
            <a:noFill/>
          </p:spPr>
          <p:txBody>
            <a:bodyPr vert="eaVert" wrap="square" rtlCol="0">
              <a:spAutoFit/>
            </a:bodyPr>
            <a:lstStyle/>
            <a:p>
              <a:r>
                <a:rPr lang="zh-CN" altLang="en-US" dirty="0" smtClean="0">
                  <a:solidFill>
                    <a:schemeClr val="bg1"/>
                  </a:solidFill>
                  <a:latin typeface="微软雅黑" panose="020B0503020204020204" pitchFamily="34" charset="-122"/>
                  <a:ea typeface="微软雅黑" panose="020B0503020204020204" pitchFamily="34" charset="-122"/>
                </a:rPr>
                <a:t>发布</a:t>
              </a:r>
              <a:endParaRPr lang="en-US" altLang="zh-CN" dirty="0" smtClean="0">
                <a:solidFill>
                  <a:schemeClr val="bg1"/>
                </a:solidFill>
                <a:latin typeface="微软雅黑" panose="020B0503020204020204" pitchFamily="34" charset="-122"/>
                <a:ea typeface="微软雅黑" panose="020B0503020204020204" pitchFamily="34" charset="-122"/>
              </a:endParaRPr>
            </a:p>
          </p:txBody>
        </p:sp>
        <p:sp>
          <p:nvSpPr>
            <p:cNvPr id="56" name="圆角矩形 55"/>
            <p:cNvSpPr/>
            <p:nvPr>
              <p:custDataLst>
                <p:tags r:id="rId17"/>
              </p:custDataLst>
            </p:nvPr>
          </p:nvSpPr>
          <p:spPr>
            <a:xfrm>
              <a:off x="1524001" y="3216368"/>
              <a:ext cx="1447200" cy="428400"/>
            </a:xfrm>
            <a:prstGeom prst="roundRect">
              <a:avLst>
                <a:gd name="adj" fmla="val 50000"/>
              </a:avLst>
            </a:prstGeom>
            <a:solidFill>
              <a:srgbClr val="0283CA"/>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调度中心</a:t>
              </a:r>
              <a:endParaRPr lang="zh-CN" altLang="en-US" dirty="0"/>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发布</a:t>
            </a:r>
            <a:r>
              <a:rPr lang="en-US" altLang="zh-CN" dirty="0"/>
              <a:t>-</a:t>
            </a:r>
            <a:r>
              <a:rPr lang="zh-CN" altLang="en-US" dirty="0"/>
              <a:t>订阅模式 </a:t>
            </a:r>
            <a:r>
              <a:rPr lang="en-US" altLang="zh-CN" dirty="0"/>
              <a:t>VS </a:t>
            </a:r>
            <a:r>
              <a:rPr lang="zh-CN" altLang="en-US" dirty="0"/>
              <a:t>观察者模式</a:t>
            </a:r>
            <a:r>
              <a:rPr lang="en-US" altLang="zh-CN" dirty="0"/>
              <a:t> </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pic>
        <p:nvPicPr>
          <p:cNvPr id="5" name="内容占位符 4"/>
          <p:cNvPicPr>
            <a:picLocks noChangeAspect="1"/>
          </p:cNvPicPr>
          <p:nvPr>
            <p:ph idx="1"/>
            <p:custDataLst>
              <p:tags r:id="rId1"/>
            </p:custDataLst>
          </p:nvPr>
        </p:nvPicPr>
        <p:blipFill>
          <a:blip r:embed="rId2"/>
          <a:stretch>
            <a:fillRect/>
          </a:stretch>
        </p:blipFill>
        <p:spPr>
          <a:xfrm>
            <a:off x="1343025" y="1440815"/>
            <a:ext cx="9277350" cy="436816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发布</a:t>
            </a:r>
            <a:r>
              <a:rPr lang="en-US" altLang="zh-CN" dirty="0"/>
              <a:t>-</a:t>
            </a:r>
            <a:r>
              <a:rPr lang="zh-CN" altLang="en-US" dirty="0"/>
              <a:t>订阅模式 </a:t>
            </a:r>
            <a:r>
              <a:rPr lang="en-US" altLang="zh-CN" dirty="0"/>
              <a:t>VS </a:t>
            </a:r>
            <a:r>
              <a:rPr lang="zh-CN" altLang="en-US" dirty="0"/>
              <a:t>观察者模式</a:t>
            </a:r>
            <a:r>
              <a:rPr lang="en-US" altLang="zh-CN" dirty="0"/>
              <a:t> </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pic>
        <p:nvPicPr>
          <p:cNvPr id="7" name="内容占位符 6"/>
          <p:cNvPicPr>
            <a:picLocks noChangeAspect="1"/>
          </p:cNvPicPr>
          <p:nvPr>
            <p:ph idx="1"/>
            <p:custDataLst>
              <p:tags r:id="rId1"/>
            </p:custDataLst>
          </p:nvPr>
        </p:nvPicPr>
        <p:blipFill>
          <a:blip r:embed="rId2"/>
          <a:stretch>
            <a:fillRect/>
          </a:stretch>
        </p:blipFill>
        <p:spPr>
          <a:xfrm>
            <a:off x="1974850" y="1130300"/>
            <a:ext cx="8325485" cy="516572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文本框 27"/>
          <p:cNvSpPr txBox="1"/>
          <p:nvPr/>
        </p:nvSpPr>
        <p:spPr>
          <a:xfrm>
            <a:off x="-315135" y="2045900"/>
            <a:ext cx="4761223" cy="923330"/>
          </a:xfrm>
          <a:prstGeom prst="rect">
            <a:avLst/>
          </a:prstGeom>
          <a:noFill/>
        </p:spPr>
        <p:txBody>
          <a:bodyPr wrap="square" rtlCol="0">
            <a:spAutoFit/>
            <a:scene3d>
              <a:camera prst="orthographicFront"/>
              <a:lightRig rig="threePt" dir="t"/>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5400" b="1" i="1" noProof="0" dirty="0">
                <a:gradFill flip="none" rotWithShape="1">
                  <a:gsLst>
                    <a:gs pos="65000">
                      <a:srgbClr val="0283CA"/>
                    </a:gs>
                    <a:gs pos="33000">
                      <a:srgbClr val="1FBFE1"/>
                    </a:gs>
                  </a:gsLst>
                  <a:lin ang="5400000" scaled="1"/>
                  <a:tileRect/>
                </a:gradFill>
                <a:latin typeface="Source Han Serif SC" panose="02020400000000000000" pitchFamily="18" charset="-122"/>
                <a:ea typeface="Source Han Serif SC" panose="02020400000000000000" pitchFamily="18" charset="-122"/>
                <a:sym typeface="Source Han Serif SC" panose="02020400000000000000" pitchFamily="18" charset="-122"/>
              </a:rPr>
              <a:t>c</a:t>
            </a:r>
            <a:r>
              <a:rPr kumimoji="0" lang="en-US" altLang="zh-CN" sz="3600" b="1" i="1" u="none" strike="noStrike" kern="1200" cap="none" spc="0" normalizeH="0" baseline="0" noProof="0" dirty="0">
                <a:ln>
                  <a:noFill/>
                </a:ln>
                <a:gradFill flip="none" rotWithShape="1">
                  <a:gsLst>
                    <a:gs pos="65000">
                      <a:srgbClr val="0283CA"/>
                    </a:gs>
                    <a:gs pos="33000">
                      <a:srgbClr val="1FBFE1"/>
                    </a:gs>
                  </a:gsLst>
                  <a:lin ang="5400000" scaled="1"/>
                  <a:tileRect/>
                </a:gradFill>
                <a:effectLst/>
                <a:uLnTx/>
                <a:uFillTx/>
                <a:latin typeface="Source Han Serif SC" panose="02020400000000000000" pitchFamily="18" charset="-122"/>
                <a:ea typeface="Source Han Serif SC" panose="02020400000000000000" pitchFamily="18" charset="-122"/>
                <a:sym typeface="Source Han Serif SC" panose="02020400000000000000" pitchFamily="18" charset="-122"/>
              </a:rPr>
              <a:t>ONTENTS</a:t>
            </a:r>
            <a:endParaRPr kumimoji="0" lang="zh-CN" altLang="en-US" sz="3600" b="1" i="1" u="none" strike="noStrike" kern="1200" cap="none" spc="0" normalizeH="0" baseline="0" noProof="0" dirty="0">
              <a:ln>
                <a:noFill/>
              </a:ln>
              <a:gradFill flip="none" rotWithShape="1">
                <a:gsLst>
                  <a:gs pos="65000">
                    <a:srgbClr val="0283CA"/>
                  </a:gs>
                  <a:gs pos="33000">
                    <a:srgbClr val="1FBFE1"/>
                  </a:gs>
                </a:gsLst>
                <a:lin ang="5400000" scaled="1"/>
                <a:tileRect/>
              </a:gradFill>
              <a:effectLst/>
              <a:uLnTx/>
              <a:uFillTx/>
              <a:latin typeface="Source Han Serif SC" panose="02020400000000000000" pitchFamily="18" charset="-122"/>
              <a:ea typeface="Source Han Serif SC" panose="02020400000000000000" pitchFamily="18" charset="-122"/>
              <a:sym typeface="Source Han Serif SC" panose="02020400000000000000" pitchFamily="18" charset="-122"/>
            </a:endParaRPr>
          </a:p>
        </p:txBody>
      </p:sp>
      <p:sp>
        <p:nvSpPr>
          <p:cNvPr id="37" name="文本框 36"/>
          <p:cNvSpPr txBox="1"/>
          <p:nvPr/>
        </p:nvSpPr>
        <p:spPr>
          <a:xfrm>
            <a:off x="1908473" y="1454588"/>
            <a:ext cx="1664992" cy="923330"/>
          </a:xfrm>
          <a:prstGeom prst="rect">
            <a:avLst/>
          </a:prstGeom>
          <a:noFill/>
        </p:spPr>
        <p:txBody>
          <a:bodyPr wrap="square" rtlCol="0">
            <a:spAutoFit/>
            <a:scene3d>
              <a:camera prst="orthographicFront"/>
              <a:lightRig rig="threePt" dir="t"/>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5400" b="1" i="1" dirty="0">
                <a:gradFill flip="none" rotWithShape="1">
                  <a:gsLst>
                    <a:gs pos="58000">
                      <a:srgbClr val="0283CA"/>
                    </a:gs>
                    <a:gs pos="25000">
                      <a:srgbClr val="1FBFE1"/>
                    </a:gs>
                  </a:gsLst>
                  <a:lin ang="5400000" scaled="1"/>
                  <a:tileRect/>
                </a:gradFill>
                <a:latin typeface="Source Han Serif SC" panose="02020400000000000000" pitchFamily="18" charset="-122"/>
                <a:ea typeface="Source Han Serif SC" panose="02020400000000000000" pitchFamily="18" charset="-122"/>
                <a:sym typeface="Source Han Serif SC" panose="02020400000000000000" pitchFamily="18" charset="-122"/>
              </a:rPr>
              <a:t>目录</a:t>
            </a:r>
            <a:endParaRPr kumimoji="0" lang="zh-CN" altLang="en-US" sz="3600" b="1" i="1" u="none" strike="noStrike" kern="1200" cap="none" spc="0" normalizeH="0" baseline="0" noProof="0" dirty="0">
              <a:ln>
                <a:noFill/>
              </a:ln>
              <a:gradFill flip="none" rotWithShape="1">
                <a:gsLst>
                  <a:gs pos="58000">
                    <a:srgbClr val="0283CA"/>
                  </a:gs>
                  <a:gs pos="25000">
                    <a:srgbClr val="1FBFE1"/>
                  </a:gs>
                </a:gsLst>
                <a:lin ang="5400000" scaled="1"/>
                <a:tileRect/>
              </a:gradFill>
              <a:effectLst/>
              <a:uLnTx/>
              <a:uFillTx/>
              <a:latin typeface="Source Han Serif SC" panose="02020400000000000000" pitchFamily="18" charset="-122"/>
              <a:ea typeface="Source Han Serif SC" panose="02020400000000000000" pitchFamily="18" charset="-122"/>
              <a:sym typeface="Source Han Serif SC" panose="02020400000000000000" pitchFamily="18" charset="-122"/>
            </a:endParaRPr>
          </a:p>
        </p:txBody>
      </p:sp>
      <p:sp>
        <p:nvSpPr>
          <p:cNvPr id="16" name="平行四边形 15"/>
          <p:cNvSpPr/>
          <p:nvPr/>
        </p:nvSpPr>
        <p:spPr>
          <a:xfrm>
            <a:off x="5388878" y="1414926"/>
            <a:ext cx="5512802" cy="606291"/>
          </a:xfrm>
          <a:prstGeom prst="parallelogram">
            <a:avLst>
              <a:gd name="adj" fmla="val 0"/>
            </a:avLst>
          </a:prstGeom>
          <a:gradFill>
            <a:gsLst>
              <a:gs pos="22000">
                <a:srgbClr val="DD69B4">
                  <a:alpha val="15000"/>
                </a:srgbClr>
              </a:gs>
              <a:gs pos="100000">
                <a:srgbClr val="0054FF"/>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JS</a:t>
            </a:r>
            <a:r>
              <a:rPr lang="zh-CN" altLang="en-US"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核心概念</a:t>
            </a:r>
            <a:endParaRPr lang="zh-CN" altLang="en-US"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endParaRPr>
          </a:p>
        </p:txBody>
      </p:sp>
      <p:sp>
        <p:nvSpPr>
          <p:cNvPr id="24" name="平行四边形 23"/>
          <p:cNvSpPr/>
          <p:nvPr/>
        </p:nvSpPr>
        <p:spPr>
          <a:xfrm>
            <a:off x="4324023" y="1414927"/>
            <a:ext cx="709708" cy="606291"/>
          </a:xfrm>
          <a:prstGeom prst="parallelogram">
            <a:avLst>
              <a:gd name="adj" fmla="val 0"/>
            </a:avLst>
          </a:prstGeom>
          <a:gradFill>
            <a:gsLst>
              <a:gs pos="22000">
                <a:srgbClr val="DD69B4">
                  <a:alpha val="15000"/>
                </a:srgbClr>
              </a:gs>
              <a:gs pos="100000">
                <a:srgbClr val="0054FF"/>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smtClean="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1</a:t>
            </a:r>
            <a:endParaRPr lang="zh-CN" altLang="en-US"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endParaRPr>
          </a:p>
        </p:txBody>
      </p:sp>
      <p:sp>
        <p:nvSpPr>
          <p:cNvPr id="25" name="平行四边形 24"/>
          <p:cNvSpPr/>
          <p:nvPr/>
        </p:nvSpPr>
        <p:spPr>
          <a:xfrm>
            <a:off x="5388878" y="2481726"/>
            <a:ext cx="5512802" cy="606291"/>
          </a:xfrm>
          <a:prstGeom prst="parallelogram">
            <a:avLst>
              <a:gd name="adj" fmla="val 0"/>
            </a:avLst>
          </a:prstGeom>
          <a:gradFill>
            <a:gsLst>
              <a:gs pos="22000">
                <a:srgbClr val="DD69B4">
                  <a:alpha val="15000"/>
                </a:srgbClr>
              </a:gs>
              <a:gs pos="100000">
                <a:srgbClr val="0054FF"/>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JS</a:t>
            </a:r>
            <a:r>
              <a:rPr lang="zh-CN" altLang="en-US"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设计模式</a:t>
            </a:r>
            <a:endParaRPr lang="zh-CN" altLang="en-US"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endParaRPr>
          </a:p>
        </p:txBody>
      </p:sp>
      <p:sp>
        <p:nvSpPr>
          <p:cNvPr id="26" name="平行四边形 25"/>
          <p:cNvSpPr/>
          <p:nvPr/>
        </p:nvSpPr>
        <p:spPr>
          <a:xfrm>
            <a:off x="4324023" y="2481727"/>
            <a:ext cx="709708" cy="606291"/>
          </a:xfrm>
          <a:prstGeom prst="parallelogram">
            <a:avLst>
              <a:gd name="adj" fmla="val 0"/>
            </a:avLst>
          </a:prstGeom>
          <a:gradFill>
            <a:gsLst>
              <a:gs pos="22000">
                <a:srgbClr val="DD69B4">
                  <a:alpha val="15000"/>
                </a:srgbClr>
              </a:gs>
              <a:gs pos="100000">
                <a:srgbClr val="0054FF"/>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smtClean="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2</a:t>
            </a:r>
            <a:endParaRPr lang="zh-CN" altLang="en-US"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endParaRPr>
          </a:p>
        </p:txBody>
      </p:sp>
      <p:sp>
        <p:nvSpPr>
          <p:cNvPr id="10" name="平行四边形 9"/>
          <p:cNvSpPr/>
          <p:nvPr/>
        </p:nvSpPr>
        <p:spPr>
          <a:xfrm>
            <a:off x="5388878" y="3548526"/>
            <a:ext cx="5512802" cy="606291"/>
          </a:xfrm>
          <a:prstGeom prst="parallelogram">
            <a:avLst>
              <a:gd name="adj" fmla="val 0"/>
            </a:avLst>
          </a:prstGeom>
          <a:gradFill>
            <a:gsLst>
              <a:gs pos="22000">
                <a:srgbClr val="DD69B4"/>
              </a:gs>
              <a:gs pos="100000">
                <a:srgbClr val="0054FF"/>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dirty="0" smtClean="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课程</a:t>
            </a:r>
            <a:r>
              <a:rPr lang="zh-CN" altLang="en-US"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回顾</a:t>
            </a:r>
            <a:endParaRPr lang="zh-CN" altLang="en-US"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endParaRPr>
          </a:p>
        </p:txBody>
      </p:sp>
      <p:sp>
        <p:nvSpPr>
          <p:cNvPr id="11" name="平行四边形 10"/>
          <p:cNvSpPr/>
          <p:nvPr/>
        </p:nvSpPr>
        <p:spPr>
          <a:xfrm>
            <a:off x="4344343" y="3548527"/>
            <a:ext cx="709708" cy="606291"/>
          </a:xfrm>
          <a:prstGeom prst="parallelogram">
            <a:avLst>
              <a:gd name="adj" fmla="val 0"/>
            </a:avLst>
          </a:prstGeom>
          <a:gradFill>
            <a:gsLst>
              <a:gs pos="22000">
                <a:srgbClr val="DD69B4"/>
              </a:gs>
              <a:gs pos="100000">
                <a:srgbClr val="0054FF"/>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3</a:t>
            </a:r>
            <a:endParaRPr lang="zh-CN" altLang="en-US" sz="28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课程回顾</a:t>
            </a:r>
            <a:endParaRPr lang="zh-CN" altLang="en-US" dirty="0"/>
          </a:p>
        </p:txBody>
      </p:sp>
      <p:sp>
        <p:nvSpPr>
          <p:cNvPr id="4" name="灯片编号占位符 3"/>
          <p:cNvSpPr>
            <a:spLocks noGrp="1"/>
          </p:cNvSpPr>
          <p:nvPr>
            <p:ph type="sldNum" sz="quarter" idx="12"/>
          </p:nvPr>
        </p:nvSpPr>
        <p:spPr/>
        <p:txBody>
          <a:bodyPr/>
          <a:lstStyle/>
          <a:p>
            <a:fld id="{AE15D405-B2DF-4EC3-AD91-92680604D88F}" type="slidenum">
              <a:rPr lang="zh-CN" altLang="en-US" smtClean="0"/>
            </a:fld>
            <a:endParaRPr lang="zh-CN" altLang="en-US" dirty="0"/>
          </a:p>
        </p:txBody>
      </p:sp>
      <p:pic>
        <p:nvPicPr>
          <p:cNvPr id="8" name="图片 7" descr="核心概念与原理解析"/>
          <p:cNvPicPr>
            <a:picLocks noChangeAspect="1"/>
          </p:cNvPicPr>
          <p:nvPr/>
        </p:nvPicPr>
        <p:blipFill>
          <a:blip r:embed="rId1"/>
          <a:stretch>
            <a:fillRect/>
          </a:stretch>
        </p:blipFill>
        <p:spPr>
          <a:xfrm>
            <a:off x="557530" y="1680845"/>
            <a:ext cx="11195685" cy="388937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4238757" y="4178958"/>
            <a:ext cx="7454283" cy="92333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defRPr/>
            </a:pPr>
            <a:r>
              <a:rPr lang="zh-CN" altLang="en-US" sz="5400" b="1" spc="6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前端赋能 共创卓越</a:t>
            </a:r>
            <a:endParaRPr kumimoji="0" lang="zh-CN" altLang="en-US" sz="5400" b="1" i="0" u="none" strike="noStrike" kern="1200" cap="none" spc="60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sym typeface="Source Han Serif SC" panose="02020400000000000000" pitchFamily="18" charset="-122"/>
            </a:endParaRPr>
          </a:p>
        </p:txBody>
      </p:sp>
      <p:grpSp>
        <p:nvGrpSpPr>
          <p:cNvPr id="11" name="组合 10"/>
          <p:cNvGrpSpPr/>
          <p:nvPr/>
        </p:nvGrpSpPr>
        <p:grpSpPr>
          <a:xfrm>
            <a:off x="221960" y="139915"/>
            <a:ext cx="2412580" cy="502574"/>
            <a:chOff x="4876631" y="5573643"/>
            <a:chExt cx="2412580" cy="502574"/>
          </a:xfrm>
        </p:grpSpPr>
        <p:grpSp>
          <p:nvGrpSpPr>
            <p:cNvPr id="13" name="组合 12"/>
            <p:cNvGrpSpPr/>
            <p:nvPr/>
          </p:nvGrpSpPr>
          <p:grpSpPr>
            <a:xfrm>
              <a:off x="5892975" y="5669965"/>
              <a:ext cx="1396236" cy="307775"/>
              <a:chOff x="10625070" y="344258"/>
              <a:chExt cx="1534964" cy="338356"/>
            </a:xfrm>
          </p:grpSpPr>
          <p:cxnSp>
            <p:nvCxnSpPr>
              <p:cNvPr id="15" name="直接连接符 14"/>
              <p:cNvCxnSpPr/>
              <p:nvPr/>
            </p:nvCxnSpPr>
            <p:spPr>
              <a:xfrm>
                <a:off x="10625070" y="370783"/>
                <a:ext cx="0" cy="259784"/>
              </a:xfrm>
              <a:prstGeom prst="line">
                <a:avLst/>
              </a:prstGeom>
              <a:noFill/>
              <a:ln w="12700" cap="flat">
                <a:solidFill>
                  <a:schemeClr val="bg1"/>
                </a:solidFill>
                <a:prstDash val="solid"/>
                <a:miter lim="800000"/>
              </a:ln>
            </p:spPr>
            <p:style>
              <a:lnRef idx="0">
                <a:scrgbClr r="0" g="0" b="0"/>
              </a:lnRef>
              <a:fillRef idx="0">
                <a:scrgbClr r="0" g="0" b="0"/>
              </a:fillRef>
              <a:effectRef idx="0">
                <a:scrgbClr r="0" g="0" b="0"/>
              </a:effectRef>
              <a:fontRef idx="none"/>
            </p:style>
          </p:cxnSp>
          <p:sp>
            <p:nvSpPr>
              <p:cNvPr id="16" name="文本框 15"/>
              <p:cNvSpPr txBox="1"/>
              <p:nvPr/>
            </p:nvSpPr>
            <p:spPr>
              <a:xfrm>
                <a:off x="10691842" y="344258"/>
                <a:ext cx="1468192" cy="338356"/>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1400" b="1" dirty="0" smtClean="0">
                    <a:solidFill>
                      <a:schemeClr val="bg1"/>
                    </a:solidFill>
                    <a:latin typeface="微软雅黑" panose="020B0503020204020204" pitchFamily="34" charset="-122"/>
                    <a:ea typeface="微软雅黑" panose="020B0503020204020204" pitchFamily="34" charset="-122"/>
                  </a:rPr>
                  <a:t>技术委员会</a:t>
                </a:r>
                <a:endParaRPr kumimoji="0" lang="zh-CN" altLang="en-US" sz="1400" b="1" i="0" u="none" strike="noStrike" cap="none" spc="0" normalizeH="0" baseline="0" dirty="0">
                  <a:ln>
                    <a:noFill/>
                  </a:ln>
                  <a:solidFill>
                    <a:schemeClr val="bg1"/>
                  </a:solidFill>
                  <a:effectLst/>
                  <a:uFillTx/>
                  <a:latin typeface="微软雅黑" panose="020B0503020204020204" pitchFamily="34" charset="-122"/>
                  <a:ea typeface="微软雅黑" panose="020B0503020204020204" pitchFamily="34" charset="-122"/>
                  <a:sym typeface="Calibri" panose="020F0502020204030204"/>
                </a:endParaRPr>
              </a:p>
            </p:txBody>
          </p:sp>
        </p:grpSp>
        <p:pic>
          <p:nvPicPr>
            <p:cNvPr id="14" name="图片 1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876631" y="5573643"/>
              <a:ext cx="926403" cy="502574"/>
            </a:xfrm>
            <a:prstGeom prst="rect">
              <a:avLst/>
            </a:prstGeom>
          </p:spPr>
        </p:pic>
      </p:grpSp>
      <p:sp>
        <p:nvSpPr>
          <p:cNvPr id="2" name="矩形 1"/>
          <p:cNvSpPr/>
          <p:nvPr/>
        </p:nvSpPr>
        <p:spPr>
          <a:xfrm>
            <a:off x="6139918" y="2535418"/>
            <a:ext cx="3651962" cy="923330"/>
          </a:xfrm>
          <a:prstGeom prst="rect">
            <a:avLst/>
          </a:prstGeom>
        </p:spPr>
        <p:txBody>
          <a:bodyPr wrap="none">
            <a:spAutoFit/>
          </a:bodyPr>
          <a:lstStyle/>
          <a:p>
            <a:pPr lvl="0" algn="ctr">
              <a:defRPr/>
            </a:pPr>
            <a:r>
              <a:rPr lang="en-US" altLang="zh-CN" sz="5400" b="1" spc="6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rPr>
              <a:t>THANKS</a:t>
            </a:r>
            <a:endParaRPr lang="zh-CN" altLang="en-US" sz="5400" b="1" spc="600" dirty="0">
              <a:solidFill>
                <a:schemeClr val="bg1"/>
              </a:solidFill>
              <a:latin typeface="微软雅黑" panose="020B0503020204020204" pitchFamily="34" charset="-122"/>
              <a:ea typeface="微软雅黑" panose="020B0503020204020204" pitchFamily="34" charset="-122"/>
              <a:sym typeface="Source Han Serif SC" panose="02020400000000000000" pitchFamily="18" charset="-122"/>
            </a:endParaRPr>
          </a:p>
        </p:txBody>
      </p:sp>
      <p:sp>
        <p:nvSpPr>
          <p:cNvPr id="17" name="文本框 16"/>
          <p:cNvSpPr txBox="1"/>
          <p:nvPr/>
        </p:nvSpPr>
        <p:spPr>
          <a:xfrm>
            <a:off x="8962468" y="132211"/>
            <a:ext cx="3411020" cy="458908"/>
          </a:xfrm>
          <a:prstGeom prst="rect">
            <a:avLst/>
          </a:prstGeom>
          <a:noFill/>
        </p:spPr>
        <p:txBody>
          <a:bodyPr wrap="square" rtlCol="0">
            <a:spAutoFit/>
          </a:bodyPr>
          <a:lstStyle/>
          <a:p>
            <a:pPr algn="ctr">
              <a:lnSpc>
                <a:spcPct val="150000"/>
              </a:lnSpc>
            </a:pPr>
            <a:r>
              <a:rPr lang="zh-CN" altLang="en-US" b="1" dirty="0">
                <a:solidFill>
                  <a:schemeClr val="bg1"/>
                </a:solidFill>
                <a:latin typeface="微软雅黑" panose="020B0503020204020204" pitchFamily="34" charset="-122"/>
                <a:ea typeface="微软雅黑" panose="020B0503020204020204" pitchFamily="34" charset="-122"/>
                <a:sym typeface="+mn-lt"/>
              </a:rPr>
              <a:t>前端中级训练营系列课程</a:t>
            </a:r>
            <a:endParaRPr lang="zh-CN" altLang="en-US" b="1" dirty="0">
              <a:solidFill>
                <a:schemeClr val="bg1"/>
              </a:solidFill>
              <a:latin typeface="微软雅黑" panose="020B0503020204020204" pitchFamily="34" charset="-122"/>
              <a:ea typeface="微软雅黑" panose="020B0503020204020204" pitchFamily="34" charset="-122"/>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tags/tag1.xml><?xml version="1.0" encoding="utf-8"?>
<p:tagLst xmlns:p="http://schemas.openxmlformats.org/presentationml/2006/main">
  <p:tag name="KSO_WM_DIAGRAM_VIRTUALLY_FRAME" val="{&quot;height&quot;:215.73952755905512,&quot;left&quot;:340.47425196850395,&quot;top&quot;:111.41149606299211,&quot;width&quot;:519.525748031496}"/>
</p:tagLst>
</file>

<file path=ppt/tags/tag2.xml><?xml version="1.0" encoding="utf-8"?>
<p:tagLst xmlns:p="http://schemas.openxmlformats.org/presentationml/2006/main">
  <p:tag name="KSO_WM_DIAGRAM_VIRTUALLY_FRAME" val="{&quot;height&quot;:215.73952755905512,&quot;left&quot;:340.47425196850395,&quot;top&quot;:111.41149606299211,&quot;width&quot;:519.525748031496}"/>
</p:tagLst>
</file>

<file path=ppt/tags/tag3.xml><?xml version="1.0" encoding="utf-8"?>
<p:tagLst xmlns:p="http://schemas.openxmlformats.org/presentationml/2006/main">
  <p:tag name="KSO_WM_DIAGRAM_VIRTUALLY_FRAME" val="{&quot;height&quot;:215.73952755905512,&quot;left&quot;:340.47425196850395,&quot;top&quot;:111.41149606299211,&quot;width&quot;:519.525748031496}"/>
</p:tagLst>
</file>

<file path=ppt/tags/tag4.xml><?xml version="1.0" encoding="utf-8"?>
<p:tagLst xmlns:p="http://schemas.openxmlformats.org/presentationml/2006/main">
  <p:tag name="KSO_WM_DIAGRAM_VIRTUALLY_FRAME" val="{&quot;height&quot;:215.73952755905512,&quot;left&quot;:340.47425196850395,&quot;top&quot;:111.41149606299211,&quot;width&quot;:519.525748031496}"/>
</p:tagLst>
</file>

<file path=ppt/tags/tag5.xml><?xml version="1.0" encoding="utf-8"?>
<p:tagLst xmlns:p="http://schemas.openxmlformats.org/presentationml/2006/main">
  <p:tag name="KSO_WM_DIAGRAM_VIRTUALLY_FRAME" val="{&quot;height&quot;:215.73952755905512,&quot;left&quot;:340.47425196850395,&quot;top&quot;:111.41149606299211,&quot;width&quot;:519.525748031496}"/>
</p:tagLst>
</file>

<file path=ppt/tags/tag6.xml><?xml version="1.0" encoding="utf-8"?>
<p:tagLst xmlns:p="http://schemas.openxmlformats.org/presentationml/2006/main">
  <p:tag name="KSO_WM_DIAGRAM_VIRTUALLY_FRAME" val="{&quot;height&quot;:215.73952755905512,&quot;left&quot;:340.47425196850395,&quot;top&quot;:111.41149606299211,&quot;width&quot;:519.525748031496}"/>
</p:tagLst>
</file>

<file path=ppt/tags/tag7.xml><?xml version="1.0" encoding="utf-8"?>
<p:tagLst xmlns:p="http://schemas.openxmlformats.org/presentationml/2006/main">
  <p:tag name="KSO_WM_DIAGRAM_VIRTUALLY_FRAME" val="{&quot;height&quot;:283.7384251968504,&quot;left&quot;:215.7488188976378,&quot;top&quot;:127.37102362204723,&quot;width&quot;:539.9450393700787}"/>
</p:tagLst>
</file>

<file path=ppt/tags/tag8.xml><?xml version="1.0" encoding="utf-8"?>
<p:tagLst xmlns:p="http://schemas.openxmlformats.org/presentationml/2006/main">
  <p:tag name="KSO_WM_DIAGRAM_VIRTUALLY_FRAME" val="{&quot;height&quot;:283.7384251968504,&quot;left&quot;:215.7488188976378,&quot;top&quot;:127.37102362204723,&quot;width&quot;:539.9450393700787}"/>
</p:tagLst>
</file>

<file path=ppt/tags/tag9.xml><?xml version="1.0" encoding="utf-8"?>
<p:tagLst xmlns:p="http://schemas.openxmlformats.org/presentationml/2006/main">
  <p:tag name="KSO_WM_DIAGRAM_VIRTUALLY_FRAME" val="{&quot;height&quot;:283.7384251968504,&quot;left&quot;:215.7488188976378,&quot;top&quot;:127.37102362204723,&quot;width&quot;:539.9450393700787}"/>
</p:tagLst>
</file>

<file path=ppt/tags/tag10.xml><?xml version="1.0" encoding="utf-8"?>
<p:tagLst xmlns:p="http://schemas.openxmlformats.org/presentationml/2006/main">
  <p:tag name="KSO_WM_DIAGRAM_VIRTUALLY_FRAME" val="{&quot;height&quot;:283.7384251968504,&quot;left&quot;:215.7488188976378,&quot;top&quot;:127.37102362204723,&quot;width&quot;:539.9450393700787}"/>
</p:tagLst>
</file>

<file path=ppt/tags/tag11.xml><?xml version="1.0" encoding="utf-8"?>
<p:tagLst xmlns:p="http://schemas.openxmlformats.org/presentationml/2006/main">
  <p:tag name="KSO_WM_DIAGRAM_VIRTUALLY_FRAME" val="{&quot;height&quot;:283.7384251968504,&quot;left&quot;:215.7488188976378,&quot;top&quot;:127.37102362204723,&quot;width&quot;:539.9450393700787}"/>
</p:tagLst>
</file>

<file path=ppt/tags/tag12.xml><?xml version="1.0" encoding="utf-8"?>
<p:tagLst xmlns:p="http://schemas.openxmlformats.org/presentationml/2006/main">
  <p:tag name="KSO_WM_DIAGRAM_VIRTUALLY_FRAME" val="{&quot;height&quot;:283.7384251968504,&quot;left&quot;:215.7488188976378,&quot;top&quot;:127.37102362204723,&quot;width&quot;:539.9450393700787}"/>
</p:tagLst>
</file>

<file path=ppt/tags/tag13.xml><?xml version="1.0" encoding="utf-8"?>
<p:tagLst xmlns:p="http://schemas.openxmlformats.org/presentationml/2006/main">
  <p:tag name="KSO_WM_DIAGRAM_VIRTUALLY_FRAME" val="{&quot;height&quot;:283.7384251968504,&quot;left&quot;:215.7488188976378,&quot;top&quot;:127.37102362204723,&quot;width&quot;:539.9450393700787}"/>
</p:tagLst>
</file>

<file path=ppt/tags/tag14.xml><?xml version="1.0" encoding="utf-8"?>
<p:tagLst xmlns:p="http://schemas.openxmlformats.org/presentationml/2006/main">
  <p:tag name="KSO_WM_DIAGRAM_VIRTUALLY_FRAME" val="{&quot;height&quot;:283.7384251968504,&quot;left&quot;:215.7488188976378,&quot;top&quot;:127.37102362204723,&quot;width&quot;:539.9450393700787}"/>
</p:tagLst>
</file>

<file path=ppt/tags/tag15.xml><?xml version="1.0" encoding="utf-8"?>
<p:tagLst xmlns:p="http://schemas.openxmlformats.org/presentationml/2006/main">
  <p:tag name="KSO_WM_DIAGRAM_VIRTUALLY_FRAME" val="{&quot;height&quot;:283.7384251968504,&quot;left&quot;:215.7488188976378,&quot;top&quot;:127.37102362204723,&quot;width&quot;:539.9450393700787}"/>
</p:tagLst>
</file>

<file path=ppt/tags/tag16.xml><?xml version="1.0" encoding="utf-8"?>
<p:tagLst xmlns:p="http://schemas.openxmlformats.org/presentationml/2006/main">
  <p:tag name="KSO_WM_DIAGRAM_VIRTUALLY_FRAME" val="{&quot;height&quot;:283.7384251968504,&quot;left&quot;:215.7488188976378,&quot;top&quot;:127.37102362204723,&quot;width&quot;:539.9450393700787}"/>
</p:tagLst>
</file>

<file path=ppt/tags/tag17.xml><?xml version="1.0" encoding="utf-8"?>
<p:tagLst xmlns:p="http://schemas.openxmlformats.org/presentationml/2006/main">
  <p:tag name="KSO_WM_DIAGRAM_VIRTUALLY_FRAME" val="{&quot;height&quot;:283.7384251968504,&quot;left&quot;:215.7488188976378,&quot;top&quot;:127.37102362204723,&quot;width&quot;:539.9450393700787}"/>
</p:tagLst>
</file>

<file path=ppt/tags/tag18.xml><?xml version="1.0" encoding="utf-8"?>
<p:tagLst xmlns:p="http://schemas.openxmlformats.org/presentationml/2006/main">
  <p:tag name="KSO_WM_DIAGRAM_VIRTUALLY_FRAME" val="{&quot;height&quot;:283.7384251968504,&quot;left&quot;:215.7488188976378,&quot;top&quot;:127.37102362204723,&quot;width&quot;:539.9450393700787}"/>
</p:tagLst>
</file>

<file path=ppt/tags/tag19.xml><?xml version="1.0" encoding="utf-8"?>
<p:tagLst xmlns:p="http://schemas.openxmlformats.org/presentationml/2006/main">
  <p:tag name="KSO_WM_DIAGRAM_VIRTUALLY_FRAME" val="{&quot;height&quot;:283.7384251968504,&quot;left&quot;:215.7488188976378,&quot;top&quot;:127.37102362204723,&quot;width&quot;:539.9450393700787}"/>
</p:tagLst>
</file>

<file path=ppt/tags/tag20.xml><?xml version="1.0" encoding="utf-8"?>
<p:tagLst xmlns:p="http://schemas.openxmlformats.org/presentationml/2006/main">
  <p:tag name="KSO_WM_DIAGRAM_VIRTUALLY_FRAME" val="{&quot;height&quot;:283.7384251968504,&quot;left&quot;:215.7488188976378,&quot;top&quot;:127.37102362204723,&quot;width&quot;:539.9450393700787}"/>
</p:tagLst>
</file>

<file path=ppt/tags/tag21.xml><?xml version="1.0" encoding="utf-8"?>
<p:tagLst xmlns:p="http://schemas.openxmlformats.org/presentationml/2006/main">
  <p:tag name="KSO_WM_DIAGRAM_VIRTUALLY_FRAME" val="{&quot;height&quot;:283.7384251968504,&quot;left&quot;:215.7488188976378,&quot;top&quot;:127.37102362204723,&quot;width&quot;:539.9450393700787}"/>
</p:tagLst>
</file>

<file path=ppt/tags/tag22.xml><?xml version="1.0" encoding="utf-8"?>
<p:tagLst xmlns:p="http://schemas.openxmlformats.org/presentationml/2006/main">
  <p:tag name="KSO_WM_DIAGRAM_VIRTUALLY_FRAME" val="{&quot;height&quot;:283.7384251968504,&quot;left&quot;:215.7488188976378,&quot;top&quot;:127.37102362204723,&quot;width&quot;:539.9450393700787}"/>
</p:tagLst>
</file>

<file path=ppt/tags/tag23.xml><?xml version="1.0" encoding="utf-8"?>
<p:tagLst xmlns:p="http://schemas.openxmlformats.org/presentationml/2006/main">
  <p:tag name="KSO_WM_DIAGRAM_VIRTUALLY_FRAME" val="{&quot;height&quot;:283.7384251968504,&quot;left&quot;:215.7488188976378,&quot;top&quot;:127.37102362204723,&quot;width&quot;:539.9450393700787}"/>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ISPRING_PRESENTATION_TITLE" val="1-0326-15渐变科幻人工智能科技PPT模板"/>
  <p:tag name="COMMONDATA" val="eyJoZGlkIjoiYzU3ZTI0ZDI4NDNkOGUxZDVkOTdmZTMwYzUwOTFmYTAifQ=="/>
  <p:tag name="KSO_WPP_MARK_KEY" val="8c7b8e89-3922-4828-8711-d3f37a86c9ed"/>
</p:tagLst>
</file>

<file path=ppt/theme/theme1.xml><?xml version="1.0" encoding="utf-8"?>
<a:theme xmlns:a="http://schemas.openxmlformats.org/drawingml/2006/main" name="AAAAAAAAAAAA）">
  <a:themeElements>
    <a:clrScheme name="自定义 140">
      <a:dk1>
        <a:sysClr val="windowText" lastClr="000000"/>
      </a:dk1>
      <a:lt1>
        <a:sysClr val="window" lastClr="FFFFFF"/>
      </a:lt1>
      <a:dk2>
        <a:srgbClr val="44546A"/>
      </a:dk2>
      <a:lt2>
        <a:srgbClr val="E7E6E6"/>
      </a:lt2>
      <a:accent1>
        <a:srgbClr val="3BE0F6"/>
      </a:accent1>
      <a:accent2>
        <a:srgbClr val="3BE0F6"/>
      </a:accent2>
      <a:accent3>
        <a:srgbClr val="3BE0F6"/>
      </a:accent3>
      <a:accent4>
        <a:srgbClr val="3BE0F6"/>
      </a:accent4>
      <a:accent5>
        <a:srgbClr val="3BE0F6"/>
      </a:accent5>
      <a:accent6>
        <a:srgbClr val="3BE0F6"/>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11306</Words>
  <Application>WPS 演示</Application>
  <PresentationFormat>宽屏</PresentationFormat>
  <Paragraphs>1134</Paragraphs>
  <Slides>82</Slides>
  <Notes>60</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82</vt:i4>
      </vt:variant>
    </vt:vector>
  </HeadingPairs>
  <TitlesOfParts>
    <vt:vector size="99" baseType="lpstr">
      <vt:lpstr>Arial</vt:lpstr>
      <vt:lpstr>宋体</vt:lpstr>
      <vt:lpstr>Wingdings</vt:lpstr>
      <vt:lpstr>微软雅黑</vt:lpstr>
      <vt:lpstr>Calibri</vt:lpstr>
      <vt:lpstr>Source Han Serif SC</vt:lpstr>
      <vt:lpstr>tickFont</vt:lpstr>
      <vt:lpstr>等线</vt:lpstr>
      <vt:lpstr>Consolas</vt:lpstr>
      <vt:lpstr>Arial Unicode MS</vt:lpstr>
      <vt:lpstr>等线 Light</vt:lpstr>
      <vt:lpstr>Wingdings</vt:lpstr>
      <vt:lpstr>阿里巴巴普惠体</vt:lpstr>
      <vt:lpstr>楷体</vt:lpstr>
      <vt:lpstr>Consolas</vt:lpstr>
      <vt:lpstr>Segoe Print</vt:lpstr>
      <vt:lpstr>AAAAAAAAAAAA）</vt:lpstr>
      <vt:lpstr>PowerPoint 演示文稿</vt:lpstr>
      <vt:lpstr>PowerPoint 演示文稿</vt:lpstr>
      <vt:lpstr>PowerPoint 演示文稿</vt:lpstr>
      <vt:lpstr>作用域</vt:lpstr>
      <vt:lpstr>作用域</vt:lpstr>
      <vt:lpstr>作用域</vt:lpstr>
      <vt:lpstr>作用域</vt:lpstr>
      <vt:lpstr>作用域</vt:lpstr>
      <vt:lpstr>作用域</vt:lpstr>
      <vt:lpstr>作用域</vt:lpstr>
      <vt:lpstr>作用域</vt:lpstr>
      <vt:lpstr>作用域 – 变量提升</vt:lpstr>
      <vt:lpstr>作用域 – 变量提升</vt:lpstr>
      <vt:lpstr>作用域 – 变量提升</vt:lpstr>
      <vt:lpstr>作用域 – 执行上下文</vt:lpstr>
      <vt:lpstr>作用域 – 执行上下文</vt:lpstr>
      <vt:lpstr>PowerPoint 演示文稿</vt:lpstr>
      <vt:lpstr>JS 核心概念 - this</vt:lpstr>
      <vt:lpstr>this -作为对象的方法调用</vt:lpstr>
      <vt:lpstr>this - 作为普通函数调用</vt:lpstr>
      <vt:lpstr>this - 构造器调用</vt:lpstr>
      <vt:lpstr>this - 构造器调用</vt:lpstr>
      <vt:lpstr>this – call和apply</vt:lpstr>
      <vt:lpstr>丢失的this</vt:lpstr>
      <vt:lpstr>PowerPoint 演示文稿</vt:lpstr>
      <vt:lpstr>闭包 – 变量的生命周期</vt:lpstr>
      <vt:lpstr>闭包 – 变量的生命周期</vt:lpstr>
      <vt:lpstr>闭包 – 实践</vt:lpstr>
      <vt:lpstr>闭包 – 变量的生命周期</vt:lpstr>
      <vt:lpstr>闭包 – 思考</vt:lpstr>
      <vt:lpstr>PowerPoint 演示文稿</vt:lpstr>
      <vt:lpstr>类型转换</vt:lpstr>
      <vt:lpstr>类型转换</vt:lpstr>
      <vt:lpstr>类型转换 - 运算</vt:lpstr>
      <vt:lpstr>类型转换 - 隐式转换规则</vt:lpstr>
      <vt:lpstr>类型转换</vt:lpstr>
      <vt:lpstr>类型转换</vt:lpstr>
      <vt:lpstr>类型转换</vt:lpstr>
      <vt:lpstr>PowerPoint 演示文稿</vt:lpstr>
      <vt:lpstr>原型与原型链</vt:lpstr>
      <vt:lpstr>原型对象与原型链</vt:lpstr>
      <vt:lpstr>原型对象与原型链</vt:lpstr>
      <vt:lpstr>原型对象与原型链</vt:lpstr>
      <vt:lpstr>原型对象与原型链</vt:lpstr>
      <vt:lpstr>原型对象与原型链</vt:lpstr>
      <vt:lpstr>原型对象与原型链</vt:lpstr>
      <vt:lpstr>原型对象与原型链</vt:lpstr>
      <vt:lpstr>PowerPoint 演示文稿</vt:lpstr>
      <vt:lpstr>事件循环机制</vt:lpstr>
      <vt:lpstr>事件循环机制</vt:lpstr>
      <vt:lpstr>事件循环机制</vt:lpstr>
      <vt:lpstr>事件循环机制</vt:lpstr>
      <vt:lpstr>事件循环机制</vt:lpstr>
      <vt:lpstr>事件循环机制</vt:lpstr>
      <vt:lpstr>事件循环机制</vt:lpstr>
      <vt:lpstr>PowerPoint 演示文稿</vt:lpstr>
      <vt:lpstr>设计模式</vt:lpstr>
      <vt:lpstr>设计原则</vt:lpstr>
      <vt:lpstr>策略模式</vt:lpstr>
      <vt:lpstr>策略模式 – 计算奖金</vt:lpstr>
      <vt:lpstr>策略模式 – 计算奖金</vt:lpstr>
      <vt:lpstr>策略模式 – 计算奖金</vt:lpstr>
      <vt:lpstr>策略模式 – 计算奖金</vt:lpstr>
      <vt:lpstr>策略模式 – 实践</vt:lpstr>
      <vt:lpstr>发布-订阅模式</vt:lpstr>
      <vt:lpstr>发布-订阅模式 - 事件绑定</vt:lpstr>
      <vt:lpstr>发布-订阅模式 - 事件绑定</vt:lpstr>
      <vt:lpstr>发布-订阅模式</vt:lpstr>
      <vt:lpstr>发布-订阅模式</vt:lpstr>
      <vt:lpstr>发布-订阅模式- 实现</vt:lpstr>
      <vt:lpstr>发布-订阅模式- 实现</vt:lpstr>
      <vt:lpstr>发布-订阅模式</vt:lpstr>
      <vt:lpstr>观察者模式</vt:lpstr>
      <vt:lpstr>观察者模式 – 实现</vt:lpstr>
      <vt:lpstr>观察者模式 – 实现</vt:lpstr>
      <vt:lpstr>观察者模式 – 实现</vt:lpstr>
      <vt:lpstr>发布-订阅模式 VS 观察者模式 </vt:lpstr>
      <vt:lpstr>发布-订阅模式 VS 观察者模式 </vt:lpstr>
      <vt:lpstr>发布-订阅模式 VS 观察者模式 </vt:lpstr>
      <vt:lpstr>PowerPoint 演示文稿</vt:lpstr>
      <vt:lpstr>课程回顾</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架构师训练营PPT模板</dc:title>
  <dc:creator>Administrator</dc:creator>
  <cp:lastModifiedBy>高鹏</cp:lastModifiedBy>
  <cp:revision>878</cp:revision>
  <dcterms:created xsi:type="dcterms:W3CDTF">2018-11-07T09:49:00Z</dcterms:created>
  <dcterms:modified xsi:type="dcterms:W3CDTF">2025-03-27T12:29:02Z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1168D2E48F7F4E40917DDFDF06C181AC</vt:lpwstr>
  </property>
  <property fmtid="{D5CDD505-2E9C-101B-9397-08002B2CF9AE}" pid="3" name="KSOProductBuildVer">
    <vt:lpwstr>2052-12.1.0.20305</vt:lpwstr>
  </property>
</Properties>
</file>