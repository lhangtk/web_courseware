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8563" r:id="rId3"/>
    <p:sldId id="8623" r:id="rId5"/>
    <p:sldId id="8658" r:id="rId6"/>
    <p:sldId id="9000" r:id="rId7"/>
    <p:sldId id="8581" r:id="rId8"/>
    <p:sldId id="8674" r:id="rId9"/>
    <p:sldId id="8659" r:id="rId10"/>
    <p:sldId id="8662" r:id="rId11"/>
    <p:sldId id="8663" r:id="rId12"/>
    <p:sldId id="8664" r:id="rId13"/>
    <p:sldId id="8665" r:id="rId14"/>
    <p:sldId id="8666" r:id="rId15"/>
    <p:sldId id="8661" r:id="rId16"/>
    <p:sldId id="8667" r:id="rId17"/>
    <p:sldId id="8668" r:id="rId18"/>
    <p:sldId id="8669" r:id="rId19"/>
    <p:sldId id="8670" r:id="rId20"/>
    <p:sldId id="8671" r:id="rId21"/>
    <p:sldId id="8754" r:id="rId22"/>
    <p:sldId id="8815" r:id="rId23"/>
    <p:sldId id="8700" r:id="rId24"/>
    <p:sldId id="8702" r:id="rId25"/>
    <p:sldId id="8701" r:id="rId26"/>
    <p:sldId id="8703" r:id="rId27"/>
    <p:sldId id="8704" r:id="rId28"/>
    <p:sldId id="8705" r:id="rId29"/>
    <p:sldId id="8706" r:id="rId30"/>
    <p:sldId id="8707" r:id="rId31"/>
    <p:sldId id="8675" r:id="rId32"/>
    <p:sldId id="8625" r:id="rId33"/>
    <p:sldId id="8627" r:id="rId34"/>
    <p:sldId id="8628" r:id="rId35"/>
    <p:sldId id="8632" r:id="rId36"/>
    <p:sldId id="8633" r:id="rId37"/>
    <p:sldId id="8629" r:id="rId38"/>
    <p:sldId id="8630" r:id="rId39"/>
    <p:sldId id="8682" r:id="rId40"/>
    <p:sldId id="8631" r:id="rId41"/>
    <p:sldId id="8634" r:id="rId42"/>
    <p:sldId id="8683" r:id="rId43"/>
    <p:sldId id="8685" r:id="rId44"/>
    <p:sldId id="8686" r:id="rId45"/>
    <p:sldId id="8635" r:id="rId46"/>
    <p:sldId id="8692" r:id="rId47"/>
    <p:sldId id="8614" r:id="rId48"/>
    <p:sldId id="8636" r:id="rId49"/>
    <p:sldId id="8637" r:id="rId50"/>
    <p:sldId id="8699" r:id="rId51"/>
    <p:sldId id="8698" r:id="rId52"/>
    <p:sldId id="8588" r:id="rId53"/>
    <p:sldId id="8615" r:id="rId54"/>
    <p:sldId id="8708" r:id="rId55"/>
    <p:sldId id="8709" r:id="rId56"/>
    <p:sldId id="8870" r:id="rId57"/>
    <p:sldId id="8694" r:id="rId58"/>
    <p:sldId id="8596" r:id="rId59"/>
    <p:sldId id="8612" r:id="rId60"/>
    <p:sldId id="8681" r:id="rId61"/>
    <p:sldId id="8598" r:id="rId62"/>
    <p:sldId id="8576" r:id="rId63"/>
    <p:sldId id="8593" r:id="rId64"/>
    <p:sldId id="8594" r:id="rId65"/>
    <p:sldId id="8595" r:id="rId66"/>
    <p:sldId id="8695" r:id="rId67"/>
    <p:sldId id="8597" r:id="rId68"/>
    <p:sldId id="8604" r:id="rId69"/>
    <p:sldId id="8609" r:id="rId70"/>
    <p:sldId id="8610" r:id="rId71"/>
    <p:sldId id="8611" r:id="rId72"/>
    <p:sldId id="8987" r:id="rId73"/>
    <p:sldId id="8892" r:id="rId74"/>
    <p:sldId id="8894" r:id="rId75"/>
    <p:sldId id="8898" r:id="rId76"/>
    <p:sldId id="8899" r:id="rId77"/>
    <p:sldId id="8809" r:id="rId78"/>
    <p:sldId id="8810" r:id="rId79"/>
    <p:sldId id="8998" r:id="rId80"/>
    <p:sldId id="8684" r:id="rId81"/>
    <p:sldId id="8578" r:id="rId82"/>
    <p:sldId id="8603" r:id="rId83"/>
    <p:sldId id="8564" r:id="rId84"/>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15A12A9-AAC7-4FCC-947C-6BDC9C09CD0E}">
          <p14:sldIdLst>
            <p14:sldId id="8563"/>
            <p14:sldId id="8623"/>
            <p14:sldId id="8658"/>
            <p14:sldId id="9000"/>
            <p14:sldId id="8581"/>
            <p14:sldId id="8674"/>
            <p14:sldId id="8659"/>
            <p14:sldId id="8662"/>
            <p14:sldId id="8663"/>
            <p14:sldId id="8664"/>
            <p14:sldId id="8665"/>
            <p14:sldId id="8666"/>
            <p14:sldId id="8661"/>
            <p14:sldId id="8667"/>
            <p14:sldId id="8668"/>
            <p14:sldId id="8669"/>
            <p14:sldId id="8670"/>
            <p14:sldId id="8671"/>
            <p14:sldId id="8754"/>
            <p14:sldId id="8815"/>
            <p14:sldId id="8700"/>
            <p14:sldId id="8702"/>
            <p14:sldId id="8701"/>
            <p14:sldId id="8703"/>
            <p14:sldId id="8704"/>
            <p14:sldId id="8705"/>
            <p14:sldId id="8706"/>
            <p14:sldId id="8707"/>
            <p14:sldId id="8675"/>
            <p14:sldId id="8625"/>
            <p14:sldId id="8627"/>
            <p14:sldId id="8628"/>
            <p14:sldId id="8632"/>
            <p14:sldId id="8633"/>
            <p14:sldId id="8629"/>
            <p14:sldId id="8630"/>
            <p14:sldId id="8682"/>
            <p14:sldId id="8631"/>
            <p14:sldId id="8634"/>
            <p14:sldId id="8683"/>
            <p14:sldId id="8685"/>
            <p14:sldId id="8686"/>
            <p14:sldId id="8635"/>
            <p14:sldId id="8692"/>
            <p14:sldId id="8614"/>
            <p14:sldId id="8636"/>
            <p14:sldId id="8637"/>
            <p14:sldId id="8699"/>
            <p14:sldId id="8698"/>
            <p14:sldId id="8588"/>
            <p14:sldId id="8615"/>
            <p14:sldId id="8708"/>
            <p14:sldId id="8709"/>
            <p14:sldId id="8870"/>
            <p14:sldId id="8694"/>
            <p14:sldId id="8596"/>
            <p14:sldId id="8612"/>
            <p14:sldId id="8681"/>
            <p14:sldId id="8598"/>
            <p14:sldId id="8576"/>
            <p14:sldId id="8593"/>
            <p14:sldId id="8594"/>
            <p14:sldId id="8595"/>
            <p14:sldId id="8695"/>
            <p14:sldId id="8597"/>
            <p14:sldId id="8604"/>
            <p14:sldId id="8609"/>
            <p14:sldId id="8610"/>
            <p14:sldId id="8611"/>
            <p14:sldId id="8987"/>
            <p14:sldId id="8892"/>
            <p14:sldId id="8894"/>
            <p14:sldId id="8898"/>
            <p14:sldId id="8899"/>
            <p14:sldId id="8809"/>
            <p14:sldId id="8810"/>
            <p14:sldId id="8998"/>
            <p14:sldId id="8684"/>
            <p14:sldId id="8578"/>
            <p14:sldId id="8603"/>
            <p14:sldId id="85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79D7"/>
    <a:srgbClr val="5070C0"/>
    <a:srgbClr val="D83B53"/>
    <a:srgbClr val="DAAC4C"/>
    <a:srgbClr val="9BD161"/>
    <a:srgbClr val="51CE8D"/>
    <a:srgbClr val="8976C4"/>
    <a:srgbClr val="B376C1"/>
    <a:srgbClr val="0283CA"/>
    <a:srgbClr val="1F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5" autoAdjust="0"/>
    <p:restoredTop sz="87639" autoAdjust="0"/>
  </p:normalViewPr>
  <p:slideViewPr>
    <p:cSldViewPr snapToGrid="0">
      <p:cViewPr varScale="1">
        <p:scale>
          <a:sx n="116" d="100"/>
          <a:sy n="116" d="100"/>
        </p:scale>
        <p:origin x="102" y="330"/>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gs" Target="tags/tag9.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DE4F11-D967-412D-B580-296127F1650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CA80F-ADCD-4CF8-AC2B-C43D0C877E1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123456</a:t>
            </a:r>
            <a:endParaRPr lang="en-US" altLang="zh-CN" dirty="0" smtClean="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41F6EF-17A8-4D8D-8596-CC20AFAE4E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包含块：</a:t>
            </a:r>
            <a:r>
              <a:rPr lang="zh-CN" altLang="en-US" sz="1200" b="0" i="0" kern="1200" dirty="0" smtClean="0">
                <a:solidFill>
                  <a:schemeClr val="tx1"/>
                </a:solidFill>
                <a:effectLst/>
                <a:latin typeface="+mn-lt"/>
                <a:ea typeface="+mn-ea"/>
                <a:cs typeface="+mn-cs"/>
              </a:rPr>
              <a:t>内容区、内边距区、边框区、外边距区</a:t>
            </a:r>
            <a:endParaRPr lang="zh-CN" altLang="en-US"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smtClean="0">
                <a:solidFill>
                  <a:schemeClr val="tx1"/>
                </a:solidFill>
                <a:effectLst/>
                <a:latin typeface="+mn-lt"/>
                <a:ea typeface="+mn-ea"/>
                <a:cs typeface="+mn-cs"/>
              </a:rPr>
              <a:t>元素的包含块就是他的父元素的内容区</a:t>
            </a:r>
            <a:endParaRPr lang="en-US" altLang="zh-CN"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dirty="0">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字体用</a:t>
            </a:r>
            <a:r>
              <a:rPr lang="en-US" altLang="zh-CN"/>
              <a:t>px</a:t>
            </a:r>
            <a:r>
              <a:rPr lang="zh-CN" altLang="en-US"/>
              <a:t>实现</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高分辨率屏幕，</a:t>
            </a:r>
            <a:r>
              <a:rPr lang="en-US" altLang="zh-CN"/>
              <a:t>1css</a:t>
            </a:r>
            <a:r>
              <a:rPr lang="zh-CN" altLang="en-US"/>
              <a:t>像素对应多个物理</a:t>
            </a:r>
            <a:r>
              <a:rPr lang="zh-CN" altLang="en-US"/>
              <a:t>像素</a:t>
            </a:r>
            <a:endParaRPr lang="zh-CN" altLang="en-US"/>
          </a:p>
          <a:p>
            <a:r>
              <a:rPr lang="zh-CN" altLang="en-US"/>
              <a:t>border-image、background-image、box-shadow</a:t>
            </a:r>
            <a:endParaRPr lang="zh-CN" altLang="en-US"/>
          </a:p>
          <a:p>
            <a:r>
              <a:rPr lang="zh-CN" altLang="en-US"/>
              <a:t>伪元素+transform、JS计算rem基准值和viewport缩放值</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solidFill>
                <a:schemeClr val="bg1"/>
              </a:solidFill>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网页最初：图文展示而设计，内容优先</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谁大听谁的，</a:t>
            </a:r>
            <a:r>
              <a:rPr lang="en-US" altLang="zh-CN" dirty="0" smtClean="0"/>
              <a:t>z-index:auto </a:t>
            </a:r>
            <a:r>
              <a:rPr lang="zh-CN" altLang="en-US" dirty="0" smtClean="0"/>
              <a:t>没有创建层叠上下文</a:t>
            </a:r>
            <a:endParaRPr lang="zh-CN" altLang="en-US"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后来者居上，</a:t>
            </a:r>
            <a:r>
              <a:rPr lang="en-US" altLang="zh-CN" dirty="0">
                <a:solidFill>
                  <a:srgbClr val="98C379"/>
                </a:solidFill>
                <a:latin typeface="Consolas" panose="020B0609020204030204" pitchFamily="49" charset="0"/>
                <a:sym typeface="+mn-ea"/>
              </a:rPr>
              <a:t>z-index: 0</a:t>
            </a:r>
            <a:r>
              <a:rPr lang="zh-CN" altLang="en-US" dirty="0" smtClean="0"/>
              <a:t>创建了层叠上下文</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背景不是最下吗？</a:t>
            </a:r>
            <a:r>
              <a:rPr lang="en-US" altLang="zh-CN" dirty="0"/>
              <a:t>img</a:t>
            </a:r>
            <a:r>
              <a:rPr lang="zh-CN" altLang="en-US" dirty="0"/>
              <a:t>内联元素</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smtClean="0">
                <a:solidFill>
                  <a:schemeClr val="tx1"/>
                </a:solidFill>
                <a:latin typeface="+mn-lt"/>
                <a:ea typeface="+mn-ea"/>
                <a:cs typeface="+mn-cs"/>
              </a:rPr>
              <a:t>z-index </a:t>
            </a:r>
            <a:r>
              <a:rPr lang="zh-CN" altLang="en-US" sz="1200" b="0" i="0" u="none" strike="noStrike" kern="1200" baseline="0" dirty="0" smtClean="0">
                <a:solidFill>
                  <a:schemeClr val="tx1"/>
                </a:solidFill>
                <a:latin typeface="+mn-lt"/>
                <a:ea typeface="+mn-ea"/>
                <a:cs typeface="+mn-cs"/>
              </a:rPr>
              <a:t>负值渲染的过程就是一个寻找第一个层叠上下文元素的过程，然后层叠顺序止步于这个层叠上下文元素</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IFC</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栅格布局，天然支持</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建议使用单值缩写，而不是完整的3个属性值，因为单值属性所对应的flex计算值根据开发者日常最常用的使用进行了优化</a:t>
            </a:r>
            <a:endParaRPr lang="zh-CN" altLang="en-US" dirty="0" smtClean="0"/>
          </a:p>
          <a:p>
            <a:r>
              <a:rPr lang="zh-CN" altLang="en-US" dirty="0" smtClean="0"/>
              <a:t>按照以往的经验，flex属性只有一个值的时候，另外缺省的值应该使用默认值才对，但是flex属性并不是这样的</a:t>
            </a:r>
            <a:endParaRPr lang="zh-CN" altLang="en-US"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总结下就是那些希望元素尺寸收缩，同时元素内容万一较多又能自动换行的场景可以不做任何flex属性设置。</a:t>
            </a:r>
            <a:endParaRPr lang="zh-CN" altLang="en-US" dirty="0" smtClean="0"/>
          </a:p>
          <a:p>
            <a:r>
              <a:rPr lang="zh-CN" altLang="en-US" dirty="0" smtClean="0"/>
              <a:t>上图所示的布局效果常见于按钮、标题、小图标等小部件的排版布局，因为这些小部件的宽度都不会很宽</a:t>
            </a:r>
            <a:endParaRPr lang="zh-CN" altLang="en-US"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flex:0的元素全部高高耸起，一柱擎天，表现为最小内容宽度；</a:t>
            </a:r>
            <a:endParaRPr lang="zh-CN" altLang="en-US" dirty="0" smtClean="0"/>
          </a:p>
          <a:p>
            <a:r>
              <a:rPr lang="zh-CN" altLang="en-US" dirty="0" smtClean="0"/>
              <a:t>flex:none的元素则无视容器的尺寸限制，直接溢出容器，没有换行，表现为最大内容宽度。</a:t>
            </a:r>
            <a:endParaRPr lang="zh-CN" altLang="en-US" dirty="0" smtClean="0"/>
          </a:p>
          <a:p>
            <a:endParaRPr lang="zh-CN" altLang="en-US" dirty="0" smtClean="0"/>
          </a:p>
          <a:p>
            <a:r>
              <a:rPr lang="zh-CN" altLang="en-US" dirty="0" smtClean="0"/>
              <a:t>左侧部分的矩形表示一个图像，图像下方会有文字内容不定的描述信息，此时，左侧内容就适合设置flex:0，这样，无论文字的内容如何设置，左侧内容的宽度都是图像的宽度</a:t>
            </a:r>
            <a:endParaRPr lang="zh-CN" altLang="en-US"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充分分配容器的尺寸</a:t>
            </a:r>
            <a:r>
              <a:rPr lang="en-US" altLang="zh-CN" dirty="0" smtClean="0"/>
              <a:t>,</a:t>
            </a:r>
            <a:r>
              <a:rPr lang="zh-CN" altLang="en-US" dirty="0" smtClean="0"/>
              <a:t>但是flex:1的尺寸表现更为内敛（优先牺牲自己的尺寸），flex:auto的尺寸表现则更为霸道（优先扩展自己的尺寸）。</a:t>
            </a:r>
            <a:endParaRPr lang="zh-CN" altLang="en-US" dirty="0" smtClean="0"/>
          </a:p>
          <a:p>
            <a:r>
              <a:rPr lang="zh-CN" altLang="en-US" dirty="0" smtClean="0"/>
              <a:t>从某种程度上讲，flex:1的表现神似table-layout:fixed，flex:auto的表现神似table-layout:auto</a:t>
            </a:r>
            <a:endParaRPr lang="zh-CN" altLang="en-US" dirty="0" smtClean="0"/>
          </a:p>
          <a:p>
            <a:r>
              <a:rPr lang="en-US" altLang="zh-CN">
                <a:solidFill>
                  <a:schemeClr val="bg1"/>
                </a:solidFill>
                <a:latin typeface="微软雅黑" panose="020B0503020204020204" pitchFamily="34" charset="-122"/>
                <a:ea typeface="微软雅黑" panose="020B0503020204020204" pitchFamily="34" charset="-122"/>
                <a:sym typeface="+mn-ea"/>
              </a:rPr>
              <a:t>导航数量不固定，每个导航文字数量也不固定的导航效果就适合使用</a:t>
            </a:r>
            <a:endParaRPr lang="zh-CN" altLang="en-US"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41F6EF-17A8-4D8D-8596-CC20AFAE4E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4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6" name="灯片编号占位符 5"/>
          <p:cNvSpPr>
            <a:spLocks noGrp="1"/>
          </p:cNvSpPr>
          <p:nvPr>
            <p:ph type="sldNum" sz="quarter" idx="12"/>
          </p:nvPr>
        </p:nvSpPr>
        <p:spPr/>
        <p:txBody>
          <a:bodyPr/>
          <a:lstStyle>
            <a:lvl1pPr>
              <a:defRPr>
                <a:latin typeface="微软雅黑" panose="020B0503020204020204" pitchFamily="34" charset="-122"/>
                <a:ea typeface="微软雅黑" panose="020B0503020204020204" pitchFamily="34" charset="-122"/>
              </a:defRPr>
            </a:lvl1pPr>
          </a:lstStyle>
          <a:p>
            <a:fld id="{874A61D1-A590-4103-B92C-A13F4F84A41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57439" y="303211"/>
            <a:ext cx="8553450" cy="546328"/>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557439" y="1130299"/>
            <a:ext cx="11161486" cy="5165725"/>
          </a:xfrm>
        </p:spPr>
        <p:txBody>
          <a:bodyPr>
            <a:normAutofit/>
          </a:bodyPr>
          <a:lstStyle>
            <a:lvl1pPr>
              <a:lnSpc>
                <a:spcPct val="120000"/>
              </a:lnSpc>
              <a:defRPr sz="2400">
                <a:latin typeface="微软雅黑" panose="020B0503020204020204" pitchFamily="34" charset="-122"/>
                <a:ea typeface="微软雅黑" panose="020B0503020204020204" pitchFamily="34" charset="-122"/>
              </a:defRPr>
            </a:lvl1pPr>
            <a:lvl2pPr>
              <a:lnSpc>
                <a:spcPct val="120000"/>
              </a:lnSpc>
              <a:defRPr sz="2000">
                <a:latin typeface="微软雅黑" panose="020B0503020204020204" pitchFamily="34" charset="-122"/>
                <a:ea typeface="微软雅黑" panose="020B0503020204020204" pitchFamily="34" charset="-122"/>
              </a:defRPr>
            </a:lvl2pPr>
            <a:lvl3pPr>
              <a:lnSpc>
                <a:spcPct val="120000"/>
              </a:lnSpc>
              <a:defRPr sz="1800">
                <a:latin typeface="微软雅黑" panose="020B0503020204020204" pitchFamily="34" charset="-122"/>
                <a:ea typeface="微软雅黑" panose="020B0503020204020204" pitchFamily="34" charset="-122"/>
              </a:defRPr>
            </a:lvl3pPr>
            <a:lvl4pPr>
              <a:lnSpc>
                <a:spcPct val="120000"/>
              </a:lnSpc>
              <a:defRPr sz="1600">
                <a:latin typeface="微软雅黑" panose="020B0503020204020204" pitchFamily="34" charset="-122"/>
                <a:ea typeface="微软雅黑" panose="020B0503020204020204" pitchFamily="34" charset="-122"/>
              </a:defRPr>
            </a:lvl4pPr>
            <a:lvl5pPr>
              <a:lnSpc>
                <a:spcPct val="120000"/>
              </a:lnSpc>
              <a:defRPr sz="160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p:txBody>
          <a:bodyPr/>
          <a:lstStyle>
            <a:lvl1pPr>
              <a:defRPr>
                <a:solidFill>
                  <a:schemeClr val="bg1">
                    <a:lumMod val="75000"/>
                  </a:schemeClr>
                </a:solidFill>
              </a:defRPr>
            </a:lvl1pPr>
          </a:lstStyle>
          <a:p>
            <a:fld id="{AE15D405-B2DF-4EC3-AD91-92680604D88F}" type="slidenum">
              <a:rPr lang="zh-CN" altLang="en-US" smtClean="0"/>
            </a:fld>
            <a:endParaRPr lang="zh-CN" altLang="en-US" dirty="0"/>
          </a:p>
        </p:txBody>
      </p:sp>
      <p:cxnSp>
        <p:nvCxnSpPr>
          <p:cNvPr id="7" name="直接连接符 6"/>
          <p:cNvCxnSpPr/>
          <p:nvPr userDrawn="1"/>
        </p:nvCxnSpPr>
        <p:spPr>
          <a:xfrm>
            <a:off x="557439" y="868589"/>
            <a:ext cx="11161486" cy="0"/>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E323C7C4-206D-4B97-BD8E-F05986C6CFC1}" type="slidenum">
              <a:rPr lang="en-US" altLang="en-US" smtClean="0"/>
            </a:fld>
            <a:endParaRPr lang="en-US"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2.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4"/>
          </p:nvPr>
        </p:nvSpPr>
        <p:spPr>
          <a:xfrm>
            <a:off x="5381625" y="6400800"/>
            <a:ext cx="1200150" cy="238126"/>
          </a:xfrm>
          <a:prstGeom prst="rect">
            <a:avLst/>
          </a:prstGeom>
        </p:spPr>
        <p:txBody>
          <a:bodyPr vert="horz" lIns="91440" tIns="45720" rIns="91440" bIns="45720" rtlCol="0" anchor="ctr"/>
          <a:lstStyle>
            <a:lvl1pPr algn="ctr">
              <a:defRPr sz="1200">
                <a:solidFill>
                  <a:schemeClr val="tx1">
                    <a:tint val="75000"/>
                  </a:schemeClr>
                </a:solidFill>
              </a:defRPr>
            </a:lvl1pPr>
          </a:lstStyle>
          <a:p>
            <a:fld id="{BA214DDE-FB31-4056-AFB0-BA3DB094267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image" Target="../media/image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tags" Target="../tags/tag4.xml"/><Relationship Id="rId3" Type="http://schemas.openxmlformats.org/officeDocument/2006/relationships/image" Target="../media/image22.png"/><Relationship Id="rId2" Type="http://schemas.openxmlformats.org/officeDocument/2006/relationships/tags" Target="../tags/tag3.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tags" Target="../tags/tag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xml"/><Relationship Id="rId3" Type="http://schemas.openxmlformats.org/officeDocument/2006/relationships/image" Target="../media/image38.png"/><Relationship Id="rId2" Type="http://schemas.openxmlformats.org/officeDocument/2006/relationships/tags" Target="../tags/tag6.xml"/><Relationship Id="rId1"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blog.csdn.net/freshlover/article/details/12132801"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73.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51.jpe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框 47"/>
          <p:cNvSpPr txBox="1"/>
          <p:nvPr/>
        </p:nvSpPr>
        <p:spPr>
          <a:xfrm>
            <a:off x="7149073" y="4412901"/>
            <a:ext cx="1723549" cy="461665"/>
          </a:xfrm>
          <a:prstGeom prst="rect">
            <a:avLst/>
          </a:prstGeom>
          <a:noFill/>
        </p:spPr>
        <p:txBody>
          <a:bodyPr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讲师：高鹏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7499120" y="4874566"/>
            <a:ext cx="1344930" cy="368300"/>
          </a:xfrm>
          <a:prstGeom prst="rect">
            <a:avLst/>
          </a:prstGeom>
          <a:noFill/>
        </p:spPr>
        <p:txBody>
          <a:bodyPr wrap="none" rtlCol="0">
            <a:spAutoFit/>
          </a:bodyPr>
          <a:lstStyle/>
          <a:p>
            <a:r>
              <a:rPr lang="en-US" altLang="zh-CN" b="1" dirty="0" smtClean="0">
                <a:solidFill>
                  <a:schemeClr val="bg1"/>
                </a:solidFill>
                <a:latin typeface="微软雅黑" panose="020B0503020204020204" pitchFamily="34" charset="-122"/>
                <a:ea typeface="微软雅黑" panose="020B0503020204020204" pitchFamily="34" charset="-122"/>
              </a:rPr>
              <a:t>2025</a:t>
            </a:r>
            <a:r>
              <a:rPr lang="zh-CN" altLang="en-US" b="1" dirty="0" smtClean="0">
                <a:solidFill>
                  <a:schemeClr val="bg1"/>
                </a:solidFill>
                <a:latin typeface="微软雅黑" panose="020B0503020204020204" pitchFamily="34" charset="-122"/>
                <a:ea typeface="微软雅黑" panose="020B0503020204020204" pitchFamily="34" charset="-122"/>
              </a:rPr>
              <a:t>年</a:t>
            </a:r>
            <a:r>
              <a:rPr lang="en-US" altLang="zh-CN" b="1" dirty="0">
                <a:solidFill>
                  <a:schemeClr val="bg1"/>
                </a:solidFill>
                <a:latin typeface="微软雅黑" panose="020B0503020204020204" pitchFamily="34" charset="-122"/>
                <a:ea typeface="微软雅黑" panose="020B0503020204020204" pitchFamily="34" charset="-122"/>
              </a:rPr>
              <a:t>3</a:t>
            </a:r>
            <a:r>
              <a:rPr lang="zh-CN" altLang="en-US" b="1" smtClean="0">
                <a:solidFill>
                  <a:schemeClr val="bg1"/>
                </a:solidFill>
                <a:latin typeface="微软雅黑" panose="020B0503020204020204" pitchFamily="34" charset="-122"/>
                <a:ea typeface="微软雅黑" panose="020B0503020204020204" pitchFamily="34" charset="-122"/>
              </a:rPr>
              <a:t>月</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221960" y="139915"/>
            <a:ext cx="2412580" cy="502574"/>
            <a:chOff x="4876631" y="5573643"/>
            <a:chExt cx="2412580" cy="502574"/>
          </a:xfrm>
        </p:grpSpPr>
        <p:grpSp>
          <p:nvGrpSpPr>
            <p:cNvPr id="50" name="组合 49"/>
            <p:cNvGrpSpPr/>
            <p:nvPr/>
          </p:nvGrpSpPr>
          <p:grpSpPr>
            <a:xfrm>
              <a:off x="5892975" y="5669965"/>
              <a:ext cx="1396236" cy="307775"/>
              <a:chOff x="10625070" y="344258"/>
              <a:chExt cx="1534964" cy="338356"/>
            </a:xfrm>
          </p:grpSpPr>
          <p:cxnSp>
            <p:nvCxnSpPr>
              <p:cNvPr id="51" name="直接连接符 50"/>
              <p:cNvCxnSpPr/>
              <p:nvPr/>
            </p:nvCxnSpPr>
            <p:spPr>
              <a:xfrm>
                <a:off x="10625070" y="370783"/>
                <a:ext cx="0" cy="259784"/>
              </a:xfrm>
              <a:prstGeom prst="line">
                <a:avLst/>
              </a:prstGeom>
              <a:noFill/>
              <a:ln w="12700" cap="flat">
                <a:solidFill>
                  <a:schemeClr val="bg1"/>
                </a:solidFill>
                <a:prstDash val="solid"/>
                <a:miter lim="800000"/>
              </a:ln>
            </p:spPr>
            <p:style>
              <a:lnRef idx="0">
                <a:scrgbClr r="0" g="0" b="0"/>
              </a:lnRef>
              <a:fillRef idx="0">
                <a:scrgbClr r="0" g="0" b="0"/>
              </a:fillRef>
              <a:effectRef idx="0">
                <a:scrgbClr r="0" g="0" b="0"/>
              </a:effectRef>
              <a:fontRef idx="none"/>
            </p:style>
          </p:cxnSp>
          <p:sp>
            <p:nvSpPr>
              <p:cNvPr id="52" name="文本框 51"/>
              <p:cNvSpPr txBox="1"/>
              <p:nvPr/>
            </p:nvSpPr>
            <p:spPr>
              <a:xfrm>
                <a:off x="10691842" y="344258"/>
                <a:ext cx="1468192" cy="33835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400" b="1" dirty="0" smtClean="0">
                    <a:solidFill>
                      <a:schemeClr val="bg1"/>
                    </a:solidFill>
                    <a:latin typeface="微软雅黑" panose="020B0503020204020204" pitchFamily="34" charset="-122"/>
                    <a:ea typeface="微软雅黑" panose="020B0503020204020204" pitchFamily="34" charset="-122"/>
                  </a:rPr>
                  <a:t>技术委员会</a:t>
                </a:r>
                <a:endParaRPr kumimoji="0" lang="zh-CN" altLang="en-US" sz="1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Calibri" panose="020F0502020204030204"/>
                </a:endParaRPr>
              </a:p>
            </p:txBody>
          </p:sp>
        </p:grpSp>
        <p:pic>
          <p:nvPicPr>
            <p:cNvPr id="53" name="图片 5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76631" y="5573643"/>
              <a:ext cx="926403" cy="502574"/>
            </a:xfrm>
            <a:prstGeom prst="rect">
              <a:avLst/>
            </a:prstGeom>
          </p:spPr>
        </p:pic>
      </p:grpSp>
      <p:sp>
        <p:nvSpPr>
          <p:cNvPr id="11" name="文本框 10"/>
          <p:cNvSpPr txBox="1"/>
          <p:nvPr/>
        </p:nvSpPr>
        <p:spPr>
          <a:xfrm>
            <a:off x="8962468" y="132211"/>
            <a:ext cx="3411020" cy="458908"/>
          </a:xfrm>
          <a:prstGeom prst="rect">
            <a:avLst/>
          </a:prstGeom>
          <a:noFill/>
        </p:spPr>
        <p:txBody>
          <a:bodyPr wrap="square" rtlCol="0">
            <a:spAutoFit/>
          </a:bodyPr>
          <a:lstStyle/>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lt"/>
              </a:rPr>
              <a:t>前端中级训练营系列课程</a:t>
            </a:r>
            <a:endParaRPr lang="zh-CN" altLang="en-US" b="1" dirty="0">
              <a:solidFill>
                <a:schemeClr val="bg1"/>
              </a:solidFill>
              <a:latin typeface="微软雅黑" panose="020B0503020204020204" pitchFamily="34" charset="-122"/>
              <a:ea typeface="微软雅黑" panose="020B0503020204020204" pitchFamily="34" charset="-122"/>
              <a:sym typeface="+mn-lt"/>
            </a:endParaRPr>
          </a:p>
        </p:txBody>
      </p:sp>
      <p:sp>
        <p:nvSpPr>
          <p:cNvPr id="12" name="平行四边形 11"/>
          <p:cNvSpPr/>
          <p:nvPr/>
        </p:nvSpPr>
        <p:spPr>
          <a:xfrm>
            <a:off x="1379914" y="3089418"/>
            <a:ext cx="10150282" cy="814762"/>
          </a:xfrm>
          <a:prstGeom prst="parallelogram">
            <a:avLst>
              <a:gd name="adj" fmla="val 0"/>
            </a:avLst>
          </a:prstGeom>
          <a:gradFill>
            <a:gsLst>
              <a:gs pos="0">
                <a:srgbClr val="DD69B4"/>
              </a:gs>
              <a:gs pos="100000">
                <a:srgbClr val="0283CA"/>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bg1"/>
                </a:solidFill>
                <a:sym typeface="Source Han Serif SC" panose="02020400000000000000" pitchFamily="18" charset="-122"/>
              </a:rPr>
              <a:t>前端技术核心概念和原理</a:t>
            </a:r>
            <a:r>
              <a:rPr lang="zh-CN" altLang="en-US" sz="4000" b="1" dirty="0" smtClean="0">
                <a:solidFill>
                  <a:schemeClr val="bg1"/>
                </a:solidFill>
                <a:sym typeface="Source Han Serif SC" panose="02020400000000000000" pitchFamily="18" charset="-122"/>
              </a:rPr>
              <a:t>解析</a:t>
            </a:r>
            <a:r>
              <a:rPr lang="en-US" altLang="zh-CN" sz="4000" b="1" dirty="0">
                <a:solidFill>
                  <a:schemeClr val="bg1"/>
                </a:solidFill>
                <a:sym typeface="Source Han Serif SC" panose="02020400000000000000" pitchFamily="18" charset="-122"/>
              </a:rPr>
              <a:t> </a:t>
            </a:r>
            <a:r>
              <a:rPr lang="en-US" altLang="zh-CN" sz="4000" b="1" dirty="0" smtClean="0">
                <a:solidFill>
                  <a:schemeClr val="bg1"/>
                </a:solidFill>
                <a:sym typeface="Source Han Serif SC" panose="02020400000000000000" pitchFamily="18" charset="-122"/>
              </a:rPr>
              <a:t>– </a:t>
            </a:r>
            <a:r>
              <a:rPr lang="zh-CN" altLang="en-US" sz="4000" b="1" dirty="0" smtClean="0">
                <a:solidFill>
                  <a:schemeClr val="bg1"/>
                </a:solidFill>
                <a:sym typeface="Source Han Serif SC" panose="02020400000000000000" pitchFamily="18" charset="-122"/>
              </a:rPr>
              <a:t>上篇</a:t>
            </a:r>
            <a:endParaRPr lang="zh-CN" altLang="en-US" sz="4000" b="1" dirty="0">
              <a:solidFill>
                <a:schemeClr val="bg1"/>
              </a:solidFill>
              <a:sym typeface="Source Han Serif SC" panose="02020400000000000000" pitchFamily="18" charset="-122"/>
            </a:endParaRPr>
          </a:p>
        </p:txBody>
      </p:sp>
      <p:sp>
        <p:nvSpPr>
          <p:cNvPr id="13" name="文本框 12"/>
          <p:cNvSpPr txBox="1"/>
          <p:nvPr/>
        </p:nvSpPr>
        <p:spPr>
          <a:xfrm>
            <a:off x="9876520" y="6361383"/>
            <a:ext cx="2175067" cy="338554"/>
          </a:xfrm>
          <a:prstGeom prst="rect">
            <a:avLst/>
          </a:prstGeom>
          <a:noFill/>
        </p:spPr>
        <p:txBody>
          <a:bodyPr wrap="square" rtlCol="0">
            <a:spAutoFit/>
          </a:bodyPr>
          <a:lstStyle/>
          <a:p>
            <a:r>
              <a:rPr lang="zh-CN" altLang="en-US" sz="1600" dirty="0">
                <a:solidFill>
                  <a:schemeClr val="bg1"/>
                </a:solidFill>
              </a:rPr>
              <a:t>文档密级：公司内部</a:t>
            </a:r>
            <a:r>
              <a:rPr lang="en-US" altLang="zh-CN" sz="1600" dirty="0">
                <a:solidFill>
                  <a:schemeClr val="bg1"/>
                </a:solidFill>
              </a:rPr>
              <a:t>A</a:t>
            </a:r>
            <a:endParaRPr lang="zh-CN" altLang="en-US" sz="16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315135" y="2045900"/>
            <a:ext cx="4761223"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i="1" noProof="0" dirty="0">
                <a:gradFill flip="none" rotWithShape="1">
                  <a:gsLst>
                    <a:gs pos="65000">
                      <a:srgbClr val="0283CA"/>
                    </a:gs>
                    <a:gs pos="33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c</a:t>
            </a:r>
            <a:r>
              <a:rPr kumimoji="0" lang="en-US" altLang="zh-CN"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rPr>
              <a:t>ONTENTS</a:t>
            </a:r>
            <a:endParaRPr kumimoji="0" lang="zh-CN" altLang="en-US"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37" name="文本框 36"/>
          <p:cNvSpPr txBox="1"/>
          <p:nvPr/>
        </p:nvSpPr>
        <p:spPr>
          <a:xfrm>
            <a:off x="1908473" y="1454588"/>
            <a:ext cx="1664992"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i="1" dirty="0">
                <a:gradFill flip="none" rotWithShape="1">
                  <a:gsLst>
                    <a:gs pos="58000">
                      <a:srgbClr val="0283CA"/>
                    </a:gs>
                    <a:gs pos="25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目录</a:t>
            </a:r>
            <a:endParaRPr kumimoji="0" lang="zh-CN" altLang="en-US" sz="3600" b="1" i="1" u="none" strike="noStrike" kern="1200" cap="none" spc="0" normalizeH="0" baseline="0" noProof="0" dirty="0">
              <a:ln>
                <a:noFill/>
              </a:ln>
              <a:gradFill flip="none" rotWithShape="1">
                <a:gsLst>
                  <a:gs pos="58000">
                    <a:srgbClr val="0283CA"/>
                  </a:gs>
                  <a:gs pos="25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nvGrpSpPr>
          <p:cNvPr id="8" name="组合 7"/>
          <p:cNvGrpSpPr/>
          <p:nvPr/>
        </p:nvGrpSpPr>
        <p:grpSpPr>
          <a:xfrm>
            <a:off x="4298144" y="969362"/>
            <a:ext cx="6577657" cy="606292"/>
            <a:chOff x="4324023" y="486283"/>
            <a:chExt cx="6577657" cy="606292"/>
          </a:xfrm>
        </p:grpSpPr>
        <p:sp>
          <p:nvSpPr>
            <p:cNvPr id="16" name="平行四边形 15"/>
            <p:cNvSpPr/>
            <p:nvPr/>
          </p:nvSpPr>
          <p:spPr>
            <a:xfrm>
              <a:off x="5388878" y="486283"/>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前端知识结构</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1</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grpSp>
        <p:nvGrpSpPr>
          <p:cNvPr id="7" name="组合 6"/>
          <p:cNvGrpSpPr/>
          <p:nvPr/>
        </p:nvGrpSpPr>
        <p:grpSpPr>
          <a:xfrm>
            <a:off x="4298144" y="1960941"/>
            <a:ext cx="6577657" cy="606292"/>
            <a:chOff x="4324023" y="1258481"/>
            <a:chExt cx="6577657" cy="606292"/>
          </a:xfrm>
        </p:grpSpPr>
        <p:sp>
          <p:nvSpPr>
            <p:cNvPr id="25" name="平行四边形 24"/>
            <p:cNvSpPr/>
            <p:nvPr/>
          </p:nvSpPr>
          <p:spPr>
            <a:xfrm>
              <a:off x="5388878" y="1258481"/>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HTML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6" name="平行四边形 25"/>
            <p:cNvSpPr/>
            <p:nvPr/>
          </p:nvSpPr>
          <p:spPr>
            <a:xfrm>
              <a:off x="4324023" y="1258482"/>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2</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grpSp>
        <p:nvGrpSpPr>
          <p:cNvPr id="4" name="组合 3"/>
          <p:cNvGrpSpPr/>
          <p:nvPr/>
        </p:nvGrpSpPr>
        <p:grpSpPr>
          <a:xfrm>
            <a:off x="4298144" y="3944099"/>
            <a:ext cx="6577657" cy="606292"/>
            <a:chOff x="4325733" y="3889765"/>
            <a:chExt cx="6577657" cy="606292"/>
          </a:xfrm>
        </p:grpSpPr>
        <p:sp>
          <p:nvSpPr>
            <p:cNvPr id="31" name="平行四边形 30"/>
            <p:cNvSpPr/>
            <p:nvPr/>
          </p:nvSpPr>
          <p:spPr>
            <a:xfrm>
              <a:off x="5390588" y="3889765"/>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经验与实践</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32" name="平行四边形 31"/>
            <p:cNvSpPr/>
            <p:nvPr/>
          </p:nvSpPr>
          <p:spPr>
            <a:xfrm>
              <a:off x="4325733" y="3889766"/>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4</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grpSp>
        <p:nvGrpSpPr>
          <p:cNvPr id="2" name="组合 1"/>
          <p:cNvGrpSpPr/>
          <p:nvPr/>
        </p:nvGrpSpPr>
        <p:grpSpPr>
          <a:xfrm>
            <a:off x="4298144" y="4935678"/>
            <a:ext cx="6577657" cy="606292"/>
            <a:chOff x="4324023" y="5962519"/>
            <a:chExt cx="6577657" cy="606292"/>
          </a:xfrm>
        </p:grpSpPr>
        <p:sp>
          <p:nvSpPr>
            <p:cNvPr id="33" name="平行四边形 32"/>
            <p:cNvSpPr/>
            <p:nvPr/>
          </p:nvSpPr>
          <p:spPr>
            <a:xfrm>
              <a:off x="5388878" y="5962519"/>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作业</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34" name="平行四边形 33"/>
            <p:cNvSpPr/>
            <p:nvPr/>
          </p:nvSpPr>
          <p:spPr>
            <a:xfrm>
              <a:off x="4324023" y="5962520"/>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5</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grpSp>
        <p:nvGrpSpPr>
          <p:cNvPr id="6" name="组合 5"/>
          <p:cNvGrpSpPr/>
          <p:nvPr/>
        </p:nvGrpSpPr>
        <p:grpSpPr>
          <a:xfrm>
            <a:off x="4298144" y="2952520"/>
            <a:ext cx="6577657" cy="606292"/>
            <a:chOff x="4476423" y="2243833"/>
            <a:chExt cx="6577657" cy="606292"/>
          </a:xfrm>
        </p:grpSpPr>
        <p:sp>
          <p:nvSpPr>
            <p:cNvPr id="14" name="平行四边形 13"/>
            <p:cNvSpPr/>
            <p:nvPr/>
          </p:nvSpPr>
          <p:spPr>
            <a:xfrm>
              <a:off x="5541278" y="2243833"/>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CSS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15" name="平行四边形 14"/>
            <p:cNvSpPr/>
            <p:nvPr/>
          </p:nvSpPr>
          <p:spPr>
            <a:xfrm>
              <a:off x="4476423" y="224383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3</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6577657" cy="606292"/>
            <a:chOff x="4324023" y="486283"/>
            <a:chExt cx="6577657" cy="606292"/>
          </a:xfrm>
        </p:grpSpPr>
        <p:sp>
          <p:nvSpPr>
            <p:cNvPr id="16" name="平行四边形 15"/>
            <p:cNvSpPr/>
            <p:nvPr/>
          </p:nvSpPr>
          <p:spPr>
            <a:xfrm>
              <a:off x="5388878" y="486283"/>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前端知识结构</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1</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前端</a:t>
            </a:r>
            <a:r>
              <a:rPr lang="zh-CN" altLang="en-US" dirty="0" smtClean="0"/>
              <a:t>知识结构</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p:nvPr/>
        </p:nvPicPr>
        <p:blipFill>
          <a:blip r:embed="rId1"/>
          <a:stretch>
            <a:fillRect/>
          </a:stretch>
        </p:blipFill>
        <p:spPr>
          <a:xfrm>
            <a:off x="557530" y="907415"/>
            <a:ext cx="4823460" cy="59143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前端职业发展 </a:t>
            </a:r>
            <a:r>
              <a:rPr lang="en-US" altLang="zh-CN" dirty="0" smtClean="0"/>
              <a:t>– </a:t>
            </a:r>
            <a:r>
              <a:rPr lang="zh-CN" altLang="en-US" dirty="0"/>
              <a:t>交流</a:t>
            </a:r>
            <a:endParaRPr lang="zh-CN" altLang="en-US" dirty="0"/>
          </a:p>
        </p:txBody>
      </p:sp>
      <p:sp>
        <p:nvSpPr>
          <p:cNvPr id="3" name="内容占位符 2"/>
          <p:cNvSpPr>
            <a:spLocks noGrp="1"/>
          </p:cNvSpPr>
          <p:nvPr>
            <p:ph idx="1"/>
          </p:nvPr>
        </p:nvSpPr>
        <p:spPr/>
        <p:txBody>
          <a:bodyPr/>
          <a:lstStyle/>
          <a:p>
            <a:r>
              <a:rPr lang="zh-CN" altLang="en-US" dirty="0" smtClean="0"/>
              <a:t>你擅长哪些方面？</a:t>
            </a:r>
            <a:endParaRPr lang="en-US" altLang="zh-CN" dirty="0" smtClean="0"/>
          </a:p>
          <a:p>
            <a:r>
              <a:rPr lang="zh-CN" altLang="en-US" dirty="0"/>
              <a:t>你</a:t>
            </a:r>
            <a:r>
              <a:rPr lang="zh-CN" altLang="en-US" dirty="0" smtClean="0"/>
              <a:t>朝哪方面发展？</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HTML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视口</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viewpoint</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2</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smtClean="0"/>
              <a:t>概念</a:t>
            </a:r>
            <a:endParaRPr lang="en-US" altLang="zh-CN" dirty="0"/>
          </a:p>
          <a:p>
            <a:pPr lvl="1"/>
            <a:r>
              <a:rPr lang="en-US" altLang="zh-CN" dirty="0" smtClean="0"/>
              <a:t>PC </a:t>
            </a:r>
            <a:r>
              <a:rPr lang="zh-CN" altLang="en-US" dirty="0"/>
              <a:t>端，视口指的是浏览器的可视区域，其宽度和浏览器窗口的宽度保持</a:t>
            </a:r>
            <a:r>
              <a:rPr lang="zh-CN" altLang="en-US" dirty="0" smtClean="0"/>
              <a:t>一致</a:t>
            </a:r>
            <a:endParaRPr lang="en-US" altLang="zh-CN" dirty="0" smtClean="0"/>
          </a:p>
          <a:p>
            <a:pPr lvl="1"/>
            <a:r>
              <a:rPr lang="zh-CN" altLang="en-US" dirty="0" smtClean="0"/>
              <a:t>在 </a:t>
            </a:r>
            <a:r>
              <a:rPr lang="en-US" altLang="zh-CN" dirty="0"/>
              <a:t>CSS </a:t>
            </a:r>
            <a:r>
              <a:rPr lang="zh-CN" altLang="en-US" dirty="0"/>
              <a:t>标准文档中，视口也被称为初始包含块，它是 </a:t>
            </a:r>
            <a:r>
              <a:rPr lang="en-US" altLang="zh-CN" dirty="0"/>
              <a:t>CSS </a:t>
            </a:r>
            <a:r>
              <a:rPr lang="zh-CN" altLang="en-US" dirty="0"/>
              <a:t>百分比宽度推算的根源，</a:t>
            </a:r>
            <a:r>
              <a:rPr lang="zh-CN" altLang="en-US" dirty="0"/>
              <a:t>相当于给 </a:t>
            </a:r>
            <a:r>
              <a:rPr lang="en-US" altLang="zh-CN" dirty="0"/>
              <a:t>CSS </a:t>
            </a:r>
            <a:r>
              <a:rPr lang="zh-CN" altLang="en-US" dirty="0"/>
              <a:t>布局限制了一个</a:t>
            </a:r>
            <a:r>
              <a:rPr lang="zh-CN" altLang="en-US" dirty="0" smtClean="0"/>
              <a:t>最大宽度</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18031" y="3468130"/>
            <a:ext cx="4499825" cy="248152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0-#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smtClean="0"/>
              <a:t>像素</a:t>
            </a:r>
            <a:endParaRPr lang="en-US" altLang="zh-CN" dirty="0" smtClean="0"/>
          </a:p>
          <a:p>
            <a:pPr lvl="1"/>
            <a:endParaRPr lang="en-US" altLang="zh-CN" dirty="0"/>
          </a:p>
          <a:p>
            <a:pPr lvl="1"/>
            <a:endParaRPr lang="en-US" altLang="zh-CN" dirty="0" smtClean="0"/>
          </a:p>
          <a:p>
            <a:pPr lvl="1"/>
            <a:endParaRPr lang="en-US" altLang="zh-CN" dirty="0"/>
          </a:p>
          <a:p>
            <a:pPr lvl="1"/>
            <a:r>
              <a:rPr lang="zh-CN" altLang="en-US" dirty="0" smtClean="0"/>
              <a:t>这个</a:t>
            </a:r>
            <a:r>
              <a:rPr lang="en-US" altLang="zh-CN" dirty="0" smtClean="0"/>
              <a:t>200px</a:t>
            </a:r>
            <a:r>
              <a:rPr lang="zh-CN" altLang="en-US" dirty="0" smtClean="0"/>
              <a:t>，它具体宽度究竟是多少？</a:t>
            </a:r>
            <a:endParaRPr lang="zh-CN" altLang="en-US" dirty="0" smtClean="0"/>
          </a:p>
          <a:p>
            <a:pPr lvl="1"/>
            <a:r>
              <a:rPr lang="en-US" altLang="zh-CN" dirty="0"/>
              <a:t>PC</a:t>
            </a:r>
            <a:r>
              <a:rPr lang="zh-CN" altLang="en-US" dirty="0"/>
              <a:t>端、移动端是一样的</a:t>
            </a:r>
            <a:r>
              <a:rPr lang="zh-CN" altLang="en-US" dirty="0"/>
              <a:t>吗？</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7" name="矩形 6"/>
          <p:cNvSpPr/>
          <p:nvPr/>
        </p:nvSpPr>
        <p:spPr>
          <a:xfrm>
            <a:off x="1051278" y="1842538"/>
            <a:ext cx="2705100" cy="923330"/>
          </a:xfrm>
          <a:prstGeom prst="rect">
            <a:avLst/>
          </a:prstGeom>
        </p:spPr>
        <p:txBody>
          <a:bodyPr wrap="square">
            <a:spAutoFit/>
          </a:bodyPr>
          <a:lstStyle/>
          <a:p>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200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normAutofit/>
          </a:bodyPr>
          <a:lstStyle/>
          <a:p>
            <a:r>
              <a:rPr lang="zh-CN" altLang="en-US" dirty="0"/>
              <a:t>物理像素（设备像素，</a:t>
            </a:r>
            <a:r>
              <a:rPr lang="en-US" altLang="zh-CN" dirty="0"/>
              <a:t>device pixel</a:t>
            </a:r>
            <a:r>
              <a:rPr lang="zh-CN" altLang="en-US" dirty="0"/>
              <a:t>）</a:t>
            </a:r>
            <a:endParaRPr lang="zh-CN" altLang="en-US" dirty="0"/>
          </a:p>
          <a:p>
            <a:pPr lvl="1"/>
            <a:r>
              <a:rPr lang="zh-CN" altLang="en-US" dirty="0" smtClean="0"/>
              <a:t>设备</a:t>
            </a:r>
            <a:r>
              <a:rPr lang="zh-CN" altLang="en-US" dirty="0"/>
              <a:t>屏幕的物理</a:t>
            </a:r>
            <a:r>
              <a:rPr lang="zh-CN" altLang="en-US" dirty="0" smtClean="0"/>
              <a:t>像素</a:t>
            </a:r>
            <a:endParaRPr lang="en-US" altLang="zh-CN" dirty="0" smtClean="0"/>
          </a:p>
          <a:p>
            <a:pPr lvl="1"/>
            <a:r>
              <a:rPr lang="zh-CN" altLang="en-US" dirty="0" smtClean="0"/>
              <a:t>任何</a:t>
            </a:r>
            <a:r>
              <a:rPr lang="zh-CN" altLang="en-US" dirty="0"/>
              <a:t>设备的物理像素数量都是固定</a:t>
            </a:r>
            <a:r>
              <a:rPr lang="zh-CN" altLang="en-US" dirty="0" smtClean="0"/>
              <a:t>的</a:t>
            </a:r>
            <a:endParaRPr lang="zh-CN" altLang="en-US" dirty="0" smtClean="0"/>
          </a:p>
          <a:p>
            <a:pPr lvl="0"/>
            <a:r>
              <a:rPr lang="zh-CN" altLang="en-US" sz="2400" dirty="0" smtClean="0"/>
              <a:t>逻辑像素</a:t>
            </a:r>
            <a:r>
              <a:rPr lang="zh-CN" altLang="en-US" dirty="0">
                <a:sym typeface="+mn-ea"/>
              </a:rPr>
              <a:t>（设备独立像素，</a:t>
            </a:r>
            <a:r>
              <a:rPr lang="en-US" altLang="zh-CN" dirty="0">
                <a:sym typeface="+mn-ea"/>
              </a:rPr>
              <a:t>density-independent pixel</a:t>
            </a:r>
            <a:r>
              <a:rPr lang="zh-CN" altLang="en-US" dirty="0">
                <a:sym typeface="+mn-ea"/>
              </a:rPr>
              <a:t>）</a:t>
            </a:r>
            <a:endParaRPr lang="zh-CN" altLang="en-US" sz="2400" dirty="0" smtClean="0"/>
          </a:p>
          <a:p>
            <a:pPr lvl="1"/>
            <a:r>
              <a:rPr lang="zh-CN" altLang="en-US" dirty="0"/>
              <a:t>认为是计算机坐标系统中的一个点，代表一个可以由程序使用的虚拟像素</a:t>
            </a:r>
            <a:endParaRPr lang="zh-CN" altLang="en-US" dirty="0"/>
          </a:p>
          <a:p>
            <a:pPr lvl="1"/>
            <a:r>
              <a:rPr lang="zh-CN" altLang="en-US" dirty="0"/>
              <a:t>由物理像素转换而来</a:t>
            </a:r>
            <a:endParaRPr lang="zh-CN" altLang="en-US" dirty="0"/>
          </a:p>
          <a:p>
            <a:pPr lvl="0"/>
            <a:r>
              <a:rPr lang="en-US" altLang="zh-CN" dirty="0"/>
              <a:t>CSS </a:t>
            </a:r>
            <a:r>
              <a:rPr lang="zh-CN" altLang="en-US" dirty="0"/>
              <a:t>像素（</a:t>
            </a:r>
            <a:r>
              <a:rPr lang="en-US" altLang="zh-CN" dirty="0"/>
              <a:t>CSS pixel</a:t>
            </a:r>
            <a:r>
              <a:rPr lang="zh-CN" altLang="en-US" dirty="0"/>
              <a:t>）</a:t>
            </a:r>
            <a:endParaRPr lang="zh-CN" altLang="en-US" dirty="0"/>
          </a:p>
          <a:p>
            <a:pPr lvl="1"/>
            <a:r>
              <a:rPr lang="zh-CN" altLang="en-US" dirty="0"/>
              <a:t>是 </a:t>
            </a:r>
            <a:r>
              <a:rPr lang="en-US" altLang="zh-CN" dirty="0"/>
              <a:t>CSS </a:t>
            </a:r>
            <a:r>
              <a:rPr lang="zh-CN" altLang="en-US" dirty="0"/>
              <a:t>和 </a:t>
            </a:r>
            <a:r>
              <a:rPr lang="en-US" altLang="zh-CN" dirty="0"/>
              <a:t>JS </a:t>
            </a:r>
            <a:r>
              <a:rPr lang="zh-CN" altLang="en-US" dirty="0"/>
              <a:t>中使用的一个</a:t>
            </a:r>
            <a:r>
              <a:rPr lang="zh-CN" altLang="en-US" dirty="0" smtClean="0"/>
              <a:t>抽象概念</a:t>
            </a:r>
            <a:endParaRPr lang="en-US" altLang="zh-CN" dirty="0" smtClean="0"/>
          </a:p>
          <a:p>
            <a:pPr lvl="1"/>
            <a:r>
              <a:rPr lang="zh-CN" altLang="en-US" dirty="0" smtClean="0"/>
              <a:t>屏幕特性和设备物理像素，用户缩放</a:t>
            </a:r>
            <a:endParaRPr lang="en-US" altLang="zh-CN" dirty="0" smtClean="0"/>
          </a:p>
          <a:p>
            <a:pPr lvl="1"/>
            <a:r>
              <a:rPr lang="zh-CN" altLang="en-US" dirty="0" smtClean="0"/>
              <a:t>浏览器</a:t>
            </a:r>
            <a:r>
              <a:rPr lang="zh-CN" altLang="en-US" dirty="0"/>
              <a:t>自行</a:t>
            </a:r>
            <a:r>
              <a:rPr lang="zh-CN" altLang="en-US" dirty="0" smtClean="0"/>
              <a:t>换算</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smtClean="0"/>
              <a:t>视网膜</a:t>
            </a:r>
            <a:r>
              <a:rPr lang="zh-CN" altLang="en-US" dirty="0"/>
              <a:t>屏（</a:t>
            </a:r>
            <a:r>
              <a:rPr lang="en-US" altLang="zh-CN" dirty="0"/>
              <a:t>Retina</a:t>
            </a:r>
            <a:r>
              <a:rPr lang="zh-CN" altLang="en-US" dirty="0" smtClean="0"/>
              <a:t>）</a:t>
            </a:r>
            <a:endParaRPr lang="en-US" altLang="zh-CN" dirty="0"/>
          </a:p>
          <a:p>
            <a:pPr lvl="1"/>
            <a:r>
              <a:rPr lang="en-US" altLang="zh-CN" dirty="0" smtClean="0"/>
              <a:t>2</a:t>
            </a:r>
            <a:r>
              <a:rPr lang="zh-CN" altLang="en-US" dirty="0" smtClean="0"/>
              <a:t>倍屏，每 </a:t>
            </a:r>
            <a:r>
              <a:rPr lang="en-US" altLang="zh-CN" dirty="0"/>
              <a:t>4 </a:t>
            </a:r>
            <a:r>
              <a:rPr lang="zh-CN" altLang="en-US" dirty="0"/>
              <a:t>个像素为一</a:t>
            </a:r>
            <a:r>
              <a:rPr lang="zh-CN" altLang="en-US" dirty="0" smtClean="0"/>
              <a:t>组，渲染</a:t>
            </a:r>
            <a:r>
              <a:rPr lang="zh-CN" altLang="en-US" dirty="0"/>
              <a:t>出普通屏幕中一个像素显示区域内的</a:t>
            </a:r>
            <a:r>
              <a:rPr lang="zh-CN" altLang="en-US" dirty="0" smtClean="0"/>
              <a:t>图像</a:t>
            </a:r>
            <a:endParaRPr lang="en-US" altLang="zh-CN" dirty="0" smtClean="0"/>
          </a:p>
          <a:p>
            <a:pPr lvl="1"/>
            <a:r>
              <a:rPr lang="zh-CN" altLang="en-US" dirty="0" smtClean="0"/>
              <a:t>实现</a:t>
            </a:r>
            <a:r>
              <a:rPr lang="zh-CN" altLang="en-US" dirty="0"/>
              <a:t>更为精细的显示</a:t>
            </a:r>
            <a:r>
              <a:rPr lang="zh-CN" altLang="en-US" dirty="0" smtClean="0"/>
              <a:t>效果</a:t>
            </a:r>
            <a:endParaRPr lang="en-US" altLang="zh-CN" dirty="0" smtClean="0"/>
          </a:p>
          <a:p>
            <a:pPr lvl="1"/>
            <a:r>
              <a:rPr lang="zh-CN" altLang="en-US" dirty="0" smtClean="0"/>
              <a:t>此时</a:t>
            </a:r>
            <a:r>
              <a:rPr lang="zh-CN" altLang="en-US" dirty="0"/>
              <a:t>， </a:t>
            </a:r>
            <a:r>
              <a:rPr lang="en-US" altLang="zh-CN" dirty="0" smtClean="0"/>
              <a:t>200px </a:t>
            </a:r>
            <a:r>
              <a:rPr lang="zh-CN" altLang="en-US" dirty="0"/>
              <a:t>的</a:t>
            </a:r>
            <a:r>
              <a:rPr lang="zh-CN" altLang="en-US" dirty="0" smtClean="0"/>
              <a:t>元素横向跨越</a:t>
            </a:r>
            <a:r>
              <a:rPr lang="zh-CN" altLang="en-US" dirty="0"/>
              <a:t>了 </a:t>
            </a:r>
            <a:r>
              <a:rPr lang="en-US" altLang="zh-CN" dirty="0"/>
              <a:t>4</a:t>
            </a:r>
            <a:r>
              <a:rPr lang="en-US" altLang="zh-CN" dirty="0" smtClean="0"/>
              <a:t>00 </a:t>
            </a:r>
            <a:r>
              <a:rPr lang="zh-CN" altLang="en-US" dirty="0"/>
              <a:t>个物理像素的</a:t>
            </a:r>
            <a:r>
              <a:rPr lang="zh-CN" altLang="en-US" dirty="0" smtClean="0"/>
              <a:t>宽度</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Picture 2" descr="retina-pixel.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92003" y="3149675"/>
            <a:ext cx="5500608" cy="31463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smtClean="0"/>
              <a:t>设备像素比（</a:t>
            </a:r>
            <a:r>
              <a:rPr lang="en-US" altLang="zh-CN" dirty="0" smtClean="0"/>
              <a:t>device </a:t>
            </a:r>
            <a:r>
              <a:rPr lang="en-US" altLang="zh-CN" dirty="0"/>
              <a:t>pixel </a:t>
            </a:r>
            <a:r>
              <a:rPr lang="en-US" altLang="zh-CN" dirty="0" smtClean="0"/>
              <a:t>ratio</a:t>
            </a:r>
            <a:r>
              <a:rPr lang="zh-CN" altLang="en-US" dirty="0" smtClean="0"/>
              <a:t>）</a:t>
            </a:r>
            <a:endParaRPr lang="en-US" altLang="zh-CN" dirty="0" smtClean="0"/>
          </a:p>
          <a:p>
            <a:pPr lvl="1"/>
            <a:r>
              <a:rPr lang="zh-CN" altLang="en-US" dirty="0" smtClean="0"/>
              <a:t>物理</a:t>
            </a:r>
            <a:r>
              <a:rPr lang="zh-CN" altLang="en-US" dirty="0"/>
              <a:t>像素</a:t>
            </a:r>
            <a:r>
              <a:rPr lang="en-US" altLang="zh-CN" dirty="0" smtClean="0"/>
              <a:t>/</a:t>
            </a:r>
            <a:r>
              <a:rPr lang="zh-CN" altLang="en-US" dirty="0" smtClean="0"/>
              <a:t>设备独立像素</a:t>
            </a:r>
            <a:endParaRPr lang="zh-CN" altLang="en-US" dirty="0" smtClean="0"/>
          </a:p>
          <a:p>
            <a:pPr lvl="1"/>
            <a:r>
              <a:rPr lang="zh-CN" altLang="en-US" dirty="0" smtClean="0"/>
              <a:t>可通过 </a:t>
            </a:r>
            <a:r>
              <a:rPr lang="en-US" altLang="zh-CN" dirty="0" err="1" smtClean="0"/>
              <a:t>window.devicePixelRatio</a:t>
            </a:r>
            <a:r>
              <a:rPr lang="en-US" altLang="zh-CN" dirty="0" smtClean="0"/>
              <a:t> </a:t>
            </a:r>
            <a:r>
              <a:rPr lang="zh-CN" altLang="en-US" dirty="0" smtClean="0"/>
              <a:t>获取</a:t>
            </a:r>
            <a:endParaRPr lang="en-US" altLang="zh-CN" dirty="0" smtClean="0"/>
          </a:p>
          <a:p>
            <a:pPr lvl="1"/>
            <a:endParaRPr lang="en-US" altLang="zh-CN" dirty="0"/>
          </a:p>
          <a:p>
            <a:r>
              <a:rPr lang="zh-CN" altLang="en-US" dirty="0" smtClean="0"/>
              <a:t>在 </a:t>
            </a:r>
            <a:r>
              <a:rPr lang="en-US" altLang="zh-CN" dirty="0" smtClean="0"/>
              <a:t>iPhone 5 </a:t>
            </a:r>
            <a:r>
              <a:rPr lang="zh-CN" altLang="en-US" dirty="0" smtClean="0"/>
              <a:t>中，</a:t>
            </a:r>
            <a:r>
              <a:rPr lang="en-US" altLang="zh-CN" dirty="0" err="1"/>
              <a:t>devicePixelRatio</a:t>
            </a:r>
            <a:r>
              <a:rPr lang="zh-CN" altLang="en-US" dirty="0" smtClean="0"/>
              <a:t>＝</a:t>
            </a:r>
            <a:r>
              <a:rPr lang="en-US" altLang="zh-CN" dirty="0" smtClean="0"/>
              <a:t>2</a:t>
            </a:r>
            <a:endParaRPr lang="en-US" altLang="zh-CN" dirty="0"/>
          </a:p>
          <a:p>
            <a:pPr lvl="1"/>
            <a:r>
              <a:rPr lang="en-US" altLang="zh-CN" dirty="0" smtClean="0"/>
              <a:t>2px </a:t>
            </a:r>
            <a:r>
              <a:rPr lang="zh-CN" altLang="en-US" dirty="0" smtClean="0"/>
              <a:t>*</a:t>
            </a:r>
            <a:r>
              <a:rPr lang="en-US" altLang="zh-CN" dirty="0" smtClean="0"/>
              <a:t> 2px </a:t>
            </a:r>
            <a:r>
              <a:rPr lang="zh-CN" altLang="en-US" dirty="0" smtClean="0"/>
              <a:t>的物理</a:t>
            </a:r>
            <a:r>
              <a:rPr lang="zh-CN" altLang="en-US" dirty="0"/>
              <a:t>像素，代表 </a:t>
            </a:r>
            <a:r>
              <a:rPr lang="en-US" altLang="zh-CN" dirty="0"/>
              <a:t>1px </a:t>
            </a:r>
            <a:r>
              <a:rPr lang="zh-CN" altLang="en-US" dirty="0" smtClean="0"/>
              <a:t>*</a:t>
            </a:r>
            <a:r>
              <a:rPr lang="en-US" altLang="zh-CN" dirty="0" smtClean="0"/>
              <a:t> </a:t>
            </a:r>
            <a:r>
              <a:rPr lang="en-US" altLang="zh-CN" dirty="0"/>
              <a:t>1px </a:t>
            </a:r>
            <a:r>
              <a:rPr lang="zh-CN" altLang="en-US" dirty="0"/>
              <a:t>的 </a:t>
            </a:r>
            <a:r>
              <a:rPr lang="en-US" altLang="zh-CN" dirty="0"/>
              <a:t>CSS</a:t>
            </a:r>
            <a:r>
              <a:rPr lang="zh-CN" altLang="en-US" dirty="0" smtClean="0"/>
              <a:t>像素</a:t>
            </a:r>
            <a:endParaRPr lang="en-US" altLang="zh-CN" dirty="0" smtClean="0"/>
          </a:p>
          <a:p>
            <a:pPr lvl="1"/>
            <a:r>
              <a:rPr lang="zh-CN" altLang="en-US" dirty="0" smtClean="0"/>
              <a:t>物理</a:t>
            </a:r>
            <a:r>
              <a:rPr lang="zh-CN" altLang="en-US" dirty="0"/>
              <a:t>像素</a:t>
            </a:r>
            <a:r>
              <a:rPr lang="zh-CN" altLang="en-US" dirty="0" smtClean="0"/>
              <a:t>为 </a:t>
            </a:r>
            <a:r>
              <a:rPr lang="en-US" altLang="zh-CN" dirty="0" smtClean="0"/>
              <a:t>640px </a:t>
            </a:r>
            <a:r>
              <a:rPr lang="zh-CN" altLang="en-US" dirty="0"/>
              <a:t>*</a:t>
            </a:r>
            <a:r>
              <a:rPr lang="en-US" altLang="zh-CN" dirty="0" smtClean="0"/>
              <a:t> 1136px</a:t>
            </a:r>
            <a:endParaRPr lang="en-US" altLang="zh-CN" dirty="0"/>
          </a:p>
          <a:p>
            <a:pPr lvl="1"/>
            <a:r>
              <a:rPr lang="en-US" altLang="zh-CN" dirty="0" smtClean="0"/>
              <a:t>CSS</a:t>
            </a:r>
            <a:r>
              <a:rPr lang="zh-CN" altLang="en-US" dirty="0"/>
              <a:t>逻辑像素数</a:t>
            </a:r>
            <a:r>
              <a:rPr lang="zh-CN" altLang="en-US" dirty="0" smtClean="0"/>
              <a:t>为 </a:t>
            </a:r>
            <a:r>
              <a:rPr lang="en-US" altLang="zh-CN" dirty="0" smtClean="0"/>
              <a:t>320px </a:t>
            </a:r>
            <a:r>
              <a:rPr lang="zh-CN" altLang="en-US" dirty="0" smtClean="0"/>
              <a:t>*</a:t>
            </a:r>
            <a:r>
              <a:rPr lang="en-US" altLang="zh-CN" dirty="0" smtClean="0"/>
              <a:t> </a:t>
            </a:r>
            <a:r>
              <a:rPr lang="en-US" altLang="zh-CN" dirty="0"/>
              <a:t>568px</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8329612" y="1009651"/>
            <a:ext cx="3228975" cy="56292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1+#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a:t>用户进行</a:t>
            </a:r>
            <a:r>
              <a:rPr lang="zh-CN" altLang="en-US" dirty="0" smtClean="0"/>
              <a:t>了缩放</a:t>
            </a:r>
            <a:endParaRPr lang="en-US" altLang="zh-CN" dirty="0" smtClean="0"/>
          </a:p>
          <a:p>
            <a:pPr lvl="1"/>
            <a:r>
              <a:rPr lang="zh-CN" altLang="en-US" dirty="0" smtClean="0"/>
              <a:t>一</a:t>
            </a:r>
            <a:r>
              <a:rPr lang="zh-CN" altLang="en-US" dirty="0"/>
              <a:t>个 </a:t>
            </a:r>
            <a:r>
              <a:rPr lang="en-US" altLang="zh-CN" dirty="0"/>
              <a:t>CSS </a:t>
            </a:r>
            <a:r>
              <a:rPr lang="zh-CN" altLang="en-US" dirty="0" smtClean="0"/>
              <a:t>像素跨越的物理像素，会发生相应变化</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grpSp>
        <p:nvGrpSpPr>
          <p:cNvPr id="11" name="组合 10"/>
          <p:cNvGrpSpPr/>
          <p:nvPr/>
        </p:nvGrpSpPr>
        <p:grpSpPr>
          <a:xfrm>
            <a:off x="1143977" y="2720888"/>
            <a:ext cx="2199627" cy="2613474"/>
            <a:chOff x="973063" y="2720888"/>
            <a:chExt cx="2199627" cy="2613474"/>
          </a:xfrm>
        </p:grpSpPr>
        <p:pic>
          <p:nvPicPr>
            <p:cNvPr id="5" name="Picture 2" descr="http://www.quirksmode.org/mobile/pix/viewport/csspixels_100.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3063" y="2720888"/>
              <a:ext cx="1943100" cy="1943101"/>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1006149" y="4965030"/>
              <a:ext cx="2166541"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页面</a:t>
              </a:r>
              <a:r>
                <a:rPr lang="zh-CN" altLang="en-US" dirty="0" smtClean="0">
                  <a:solidFill>
                    <a:schemeClr val="bg1"/>
                  </a:solidFill>
                  <a:latin typeface="微软雅黑" panose="020B0503020204020204" pitchFamily="34" charset="-122"/>
                  <a:ea typeface="微软雅黑" panose="020B0503020204020204" pitchFamily="34" charset="-122"/>
                </a:rPr>
                <a:t>缩放 </a:t>
              </a:r>
              <a:r>
                <a:rPr lang="en-US" altLang="zh-CN" dirty="0" smtClean="0">
                  <a:solidFill>
                    <a:schemeClr val="bg1"/>
                  </a:solidFill>
                  <a:latin typeface="微软雅黑" panose="020B0503020204020204" pitchFamily="34" charset="-122"/>
                  <a:ea typeface="微软雅黑" panose="020B0503020204020204" pitchFamily="34" charset="-122"/>
                </a:rPr>
                <a:t>= 100</a:t>
              </a:r>
              <a:r>
                <a:rPr lang="en-US" altLang="zh-CN" dirty="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4382366" y="2720888"/>
            <a:ext cx="2233179" cy="2613474"/>
            <a:chOff x="4638675" y="2720888"/>
            <a:chExt cx="2233179" cy="2613474"/>
          </a:xfrm>
        </p:grpSpPr>
        <p:pic>
          <p:nvPicPr>
            <p:cNvPr id="6" name="Picture 4" descr="http://www.quirksmode.org/mobile/pix/viewport/csspixels_out.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8675" y="2720888"/>
              <a:ext cx="1943100" cy="194310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4671761" y="4965030"/>
              <a:ext cx="2200093"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页面</a:t>
              </a:r>
              <a:r>
                <a:rPr lang="zh-CN" altLang="en-US" dirty="0" smtClean="0">
                  <a:solidFill>
                    <a:schemeClr val="bg1"/>
                  </a:solidFill>
                  <a:latin typeface="微软雅黑" panose="020B0503020204020204" pitchFamily="34" charset="-122"/>
                  <a:ea typeface="微软雅黑" panose="020B0503020204020204" pitchFamily="34" charset="-122"/>
                </a:rPr>
                <a:t>缩放 </a:t>
              </a:r>
              <a:r>
                <a:rPr lang="en-US" altLang="zh-CN" dirty="0" smtClean="0">
                  <a:solidFill>
                    <a:schemeClr val="bg1"/>
                  </a:solidFill>
                  <a:latin typeface="微软雅黑" panose="020B0503020204020204" pitchFamily="34" charset="-122"/>
                  <a:ea typeface="微软雅黑" panose="020B0503020204020204" pitchFamily="34" charset="-122"/>
                </a:rPr>
                <a:t>&lt; 100</a:t>
              </a:r>
              <a:r>
                <a:rPr lang="en-US" altLang="zh-CN" dirty="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7620755" y="2720888"/>
            <a:ext cx="2270373" cy="2613474"/>
            <a:chOff x="8480754" y="2720888"/>
            <a:chExt cx="2270373" cy="2613474"/>
          </a:xfrm>
        </p:grpSpPr>
        <p:pic>
          <p:nvPicPr>
            <p:cNvPr id="7" name="Picture 6" descr="http://www.quirksmode.org/mobile/pix/viewport/csspixels_in.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0754" y="2720888"/>
              <a:ext cx="1943100" cy="1943101"/>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8513841" y="4965030"/>
              <a:ext cx="2237286"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页面</a:t>
              </a:r>
              <a:r>
                <a:rPr lang="zh-CN" altLang="en-US" dirty="0" smtClean="0">
                  <a:solidFill>
                    <a:schemeClr val="bg1"/>
                  </a:solidFill>
                  <a:latin typeface="微软雅黑" panose="020B0503020204020204" pitchFamily="34" charset="-122"/>
                  <a:ea typeface="微软雅黑" panose="020B0503020204020204" pitchFamily="34" charset="-122"/>
                </a:rPr>
                <a:t>缩放 </a:t>
              </a:r>
              <a:r>
                <a:rPr lang="en-US" altLang="zh-CN" dirty="0" smtClean="0">
                  <a:solidFill>
                    <a:schemeClr val="bg1"/>
                  </a:solidFill>
                  <a:latin typeface="微软雅黑" panose="020B0503020204020204" pitchFamily="34" charset="-122"/>
                  <a:ea typeface="微软雅黑" panose="020B0503020204020204" pitchFamily="34" charset="-122"/>
                </a:rPr>
                <a:t>&gt; 100</a:t>
              </a:r>
              <a:r>
                <a:rPr lang="en-US" altLang="zh-CN" dirty="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smtClean="0"/>
              <a:t>移动端视口</a:t>
            </a:r>
            <a:endParaRPr lang="en-US" altLang="zh-CN" dirty="0" smtClean="0"/>
          </a:p>
          <a:p>
            <a:pPr lvl="1"/>
            <a:r>
              <a:rPr lang="zh-CN" altLang="en-US" dirty="0" smtClean="0"/>
              <a:t>布局</a:t>
            </a:r>
            <a:r>
              <a:rPr lang="zh-CN" altLang="en-US" dirty="0"/>
              <a:t>视口（</a:t>
            </a:r>
            <a:r>
              <a:rPr lang="en-US" altLang="zh-CN" dirty="0"/>
              <a:t>Layout Viewport</a:t>
            </a:r>
            <a:r>
              <a:rPr lang="zh-CN" altLang="en-US" dirty="0" smtClean="0"/>
              <a:t>）</a:t>
            </a:r>
            <a:endParaRPr lang="en-US" altLang="zh-CN" dirty="0" smtClean="0"/>
          </a:p>
          <a:p>
            <a:pPr lvl="1"/>
            <a:r>
              <a:rPr lang="zh-CN" altLang="en-US" dirty="0" smtClean="0"/>
              <a:t>视觉</a:t>
            </a:r>
            <a:r>
              <a:rPr lang="zh-CN" altLang="en-US" dirty="0"/>
              <a:t>视口（</a:t>
            </a:r>
            <a:r>
              <a:rPr lang="en-US" altLang="zh-CN" dirty="0"/>
              <a:t>Visual Viewport</a:t>
            </a:r>
            <a:r>
              <a:rPr lang="zh-CN" altLang="en-US" dirty="0" smtClean="0"/>
              <a:t>）</a:t>
            </a:r>
            <a:endParaRPr lang="en-US" altLang="zh-CN" dirty="0" smtClean="0"/>
          </a:p>
          <a:p>
            <a:pPr lvl="1"/>
            <a:r>
              <a:rPr lang="zh-CN" altLang="en-US" dirty="0" smtClean="0"/>
              <a:t>理想</a:t>
            </a:r>
            <a:r>
              <a:rPr lang="zh-CN" altLang="en-US" dirty="0"/>
              <a:t>视口（</a:t>
            </a:r>
            <a:r>
              <a:rPr lang="en-US" altLang="zh-CN" dirty="0"/>
              <a:t>Ideal Viewport</a:t>
            </a:r>
            <a:r>
              <a:rPr lang="zh-CN" altLang="en-US" dirty="0"/>
              <a:t>）</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a:xfrm>
            <a:off x="557439" y="1130299"/>
            <a:ext cx="6654244" cy="5165725"/>
          </a:xfrm>
        </p:spPr>
        <p:txBody>
          <a:bodyPr/>
          <a:lstStyle/>
          <a:p>
            <a:r>
              <a:rPr lang="zh-CN" altLang="en-US" dirty="0"/>
              <a:t>布局视口（</a:t>
            </a:r>
            <a:r>
              <a:rPr lang="en-US" altLang="zh-CN" dirty="0"/>
              <a:t>layout viewport</a:t>
            </a:r>
            <a:r>
              <a:rPr lang="zh-CN" altLang="en-US" dirty="0"/>
              <a:t>）</a:t>
            </a:r>
            <a:endParaRPr lang="zh-CN" altLang="en-US" dirty="0"/>
          </a:p>
          <a:p>
            <a:pPr lvl="1"/>
            <a:r>
              <a:rPr lang="zh-CN" altLang="en-US" dirty="0" smtClean="0"/>
              <a:t>移动设备浏览器默认</a:t>
            </a:r>
            <a:r>
              <a:rPr lang="zh-CN" altLang="en-US" dirty="0"/>
              <a:t>设置</a:t>
            </a:r>
            <a:r>
              <a:rPr lang="zh-CN" altLang="en-US" dirty="0" smtClean="0"/>
              <a:t>了 </a:t>
            </a:r>
            <a:r>
              <a:rPr lang="en-US" altLang="zh-CN" dirty="0"/>
              <a:t>viewport </a:t>
            </a:r>
            <a:r>
              <a:rPr lang="zh-CN" altLang="en-US" dirty="0" smtClean="0"/>
              <a:t>标签</a:t>
            </a:r>
            <a:r>
              <a:rPr lang="zh-CN" altLang="en-US" dirty="0"/>
              <a:t>，定义一个虚拟的布局视口（</a:t>
            </a:r>
            <a:r>
              <a:rPr lang="en-US" altLang="zh-CN" dirty="0"/>
              <a:t>layout viewport</a:t>
            </a:r>
            <a:r>
              <a:rPr lang="zh-CN" altLang="en-US" dirty="0" smtClean="0"/>
              <a:t>）</a:t>
            </a:r>
            <a:endParaRPr lang="en-US" altLang="zh-CN" dirty="0" smtClean="0"/>
          </a:p>
          <a:p>
            <a:pPr lvl="1"/>
            <a:r>
              <a:rPr lang="zh-CN" altLang="en-US" dirty="0" smtClean="0"/>
              <a:t>解决</a:t>
            </a:r>
            <a:r>
              <a:rPr lang="zh-CN" altLang="en-US" dirty="0"/>
              <a:t>了</a:t>
            </a:r>
            <a:r>
              <a:rPr lang="zh-CN" altLang="en-US" dirty="0" smtClean="0"/>
              <a:t>早期</a:t>
            </a:r>
            <a:r>
              <a:rPr lang="zh-CN" altLang="en-US" dirty="0"/>
              <a:t>，</a:t>
            </a:r>
            <a:r>
              <a:rPr lang="zh-CN" altLang="en-US" dirty="0" smtClean="0"/>
              <a:t>页面</a:t>
            </a:r>
            <a:r>
              <a:rPr lang="zh-CN" altLang="en-US" dirty="0"/>
              <a:t>在手机上显示的</a:t>
            </a:r>
            <a:r>
              <a:rPr lang="zh-CN" altLang="en-US" dirty="0" smtClean="0"/>
              <a:t>问题</a:t>
            </a:r>
            <a:endParaRPr lang="en-US" altLang="zh-CN" dirty="0" smtClean="0"/>
          </a:p>
          <a:p>
            <a:pPr lvl="1"/>
            <a:r>
              <a:rPr lang="en-US" altLang="zh-CN" dirty="0" smtClean="0"/>
              <a:t>iOS</a:t>
            </a:r>
            <a:r>
              <a:rPr lang="en-US" altLang="zh-CN" dirty="0"/>
              <a:t>, Android </a:t>
            </a:r>
            <a:r>
              <a:rPr lang="zh-CN" altLang="en-US" dirty="0"/>
              <a:t>基本都将这个视口宽度设置为 </a:t>
            </a:r>
            <a:r>
              <a:rPr lang="en-US" altLang="zh-CN" dirty="0" smtClean="0"/>
              <a:t>980px</a:t>
            </a:r>
            <a:r>
              <a:rPr lang="zh-CN" altLang="en-US" dirty="0" smtClean="0"/>
              <a:t>，</a:t>
            </a:r>
            <a:r>
              <a:rPr lang="en-US" altLang="zh-CN" dirty="0" smtClean="0"/>
              <a:t>PC </a:t>
            </a:r>
            <a:r>
              <a:rPr lang="zh-CN" altLang="en-US" dirty="0"/>
              <a:t>上的网页基本能在手机上</a:t>
            </a:r>
            <a:r>
              <a:rPr lang="zh-CN" altLang="en-US" dirty="0" smtClean="0"/>
              <a:t>呈现</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2050" name="Picture 2" descr="https://user-gold-cdn.xitu.io/2018/10/5/166437dad52855dc?w=336&amp;h=285&amp;f=png&amp;s=512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14239" y="1345960"/>
            <a:ext cx="3200400" cy="27146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a:t>视觉视口（</a:t>
            </a:r>
            <a:r>
              <a:rPr lang="en-US" altLang="zh-CN" dirty="0"/>
              <a:t>visual viewport</a:t>
            </a:r>
            <a:r>
              <a:rPr lang="zh-CN" altLang="en-US" dirty="0"/>
              <a:t>）</a:t>
            </a:r>
            <a:endParaRPr lang="zh-CN" altLang="en-US" dirty="0"/>
          </a:p>
          <a:p>
            <a:pPr lvl="1"/>
            <a:r>
              <a:rPr lang="zh-CN" altLang="en-US" dirty="0" smtClean="0"/>
              <a:t>用户</a:t>
            </a:r>
            <a:r>
              <a:rPr lang="zh-CN" altLang="en-US" dirty="0"/>
              <a:t>当前看到的</a:t>
            </a:r>
            <a:r>
              <a:rPr lang="zh-CN" altLang="en-US" dirty="0" smtClean="0"/>
              <a:t>区域</a:t>
            </a:r>
            <a:endParaRPr lang="en-US" altLang="zh-CN" dirty="0" smtClean="0"/>
          </a:p>
          <a:p>
            <a:pPr lvl="1"/>
            <a:r>
              <a:rPr lang="zh-CN" altLang="en-US" dirty="0" smtClean="0"/>
              <a:t>用户</a:t>
            </a:r>
            <a:r>
              <a:rPr lang="zh-CN" altLang="en-US" dirty="0"/>
              <a:t>可以通过缩放操作视觉</a:t>
            </a:r>
            <a:r>
              <a:rPr lang="zh-CN" altLang="en-US" dirty="0" smtClean="0"/>
              <a:t>视口</a:t>
            </a:r>
            <a:endParaRPr lang="en-US" altLang="zh-CN" dirty="0" smtClean="0"/>
          </a:p>
          <a:p>
            <a:pPr lvl="1"/>
            <a:r>
              <a:rPr lang="zh-CN" altLang="en-US" dirty="0" smtClean="0"/>
              <a:t>不会</a:t>
            </a:r>
            <a:r>
              <a:rPr lang="zh-CN" altLang="en-US" dirty="0"/>
              <a:t>影响布局</a:t>
            </a:r>
            <a:r>
              <a:rPr lang="zh-CN" altLang="en-US" dirty="0" smtClean="0"/>
              <a:t>视口</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3074" name="Picture 2" descr="https://user-gold-cdn.xitu.io/2018/10/5/16643994a5a962cf?w=323&amp;h=292&amp;f=png&amp;s=5015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65251" y="1780070"/>
            <a:ext cx="3076575" cy="2781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a:t>理想视口（</a:t>
            </a:r>
            <a:r>
              <a:rPr lang="en-US" altLang="zh-CN" dirty="0"/>
              <a:t>ideal viewport</a:t>
            </a:r>
            <a:r>
              <a:rPr lang="zh-CN" altLang="en-US" dirty="0"/>
              <a:t>）</a:t>
            </a:r>
            <a:endParaRPr lang="zh-CN" altLang="en-US" dirty="0"/>
          </a:p>
          <a:p>
            <a:pPr lvl="1"/>
            <a:r>
              <a:rPr lang="zh-CN" altLang="en-US" dirty="0"/>
              <a:t>布局视口的默认宽度并不是一个理想的</a:t>
            </a:r>
            <a:r>
              <a:rPr lang="zh-CN" altLang="en-US" dirty="0" smtClean="0"/>
              <a:t>宽度</a:t>
            </a:r>
            <a:endParaRPr lang="en-US" altLang="zh-CN" dirty="0" smtClean="0"/>
          </a:p>
          <a:p>
            <a:pPr lvl="1"/>
            <a:r>
              <a:rPr lang="zh-CN" altLang="en-US" dirty="0" smtClean="0"/>
              <a:t>于是，引入</a:t>
            </a:r>
            <a:r>
              <a:rPr lang="zh-CN" altLang="en-US" dirty="0"/>
              <a:t>了理想视口的</a:t>
            </a:r>
            <a:r>
              <a:rPr lang="zh-CN" altLang="en-US" dirty="0" smtClean="0"/>
              <a:t>概念</a:t>
            </a:r>
            <a:endParaRPr lang="en-US" altLang="zh-CN" dirty="0" smtClean="0"/>
          </a:p>
          <a:p>
            <a:pPr lvl="1"/>
            <a:r>
              <a:rPr lang="zh-CN" altLang="en-US" dirty="0" smtClean="0"/>
              <a:t>它具有最</a:t>
            </a:r>
            <a:r>
              <a:rPr lang="zh-CN" altLang="en-US" dirty="0"/>
              <a:t>理想的布局视口</a:t>
            </a:r>
            <a:r>
              <a:rPr lang="zh-CN" altLang="en-US" dirty="0" smtClean="0"/>
              <a:t>尺寸</a:t>
            </a:r>
            <a:endParaRPr lang="en-US" altLang="zh-CN" dirty="0" smtClean="0"/>
          </a:p>
          <a:p>
            <a:pPr lvl="1"/>
            <a:r>
              <a:rPr lang="zh-CN" altLang="en-US" dirty="0" smtClean="0"/>
              <a:t>显示</a:t>
            </a:r>
            <a:r>
              <a:rPr lang="zh-CN" altLang="en-US" dirty="0"/>
              <a:t>在理想视口中的网站具有最理想的</a:t>
            </a:r>
            <a:r>
              <a:rPr lang="zh-CN" altLang="en-US" dirty="0" smtClean="0"/>
              <a:t>宽度</a:t>
            </a:r>
            <a:endParaRPr lang="en-US" altLang="zh-CN" dirty="0" smtClean="0"/>
          </a:p>
          <a:p>
            <a:pPr lvl="1"/>
            <a:r>
              <a:rPr lang="zh-CN" altLang="en-US" dirty="0" smtClean="0"/>
              <a:t>用户</a:t>
            </a:r>
            <a:r>
              <a:rPr lang="zh-CN" altLang="en-US" dirty="0"/>
              <a:t>无需进行</a:t>
            </a:r>
            <a:r>
              <a:rPr lang="zh-CN" altLang="en-US" dirty="0" smtClean="0"/>
              <a:t>缩放</a:t>
            </a:r>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descr="未标题-1"/>
          <p:cNvPicPr>
            <a:picLocks noChangeAspect="1"/>
          </p:cNvPicPr>
          <p:nvPr/>
        </p:nvPicPr>
        <p:blipFill>
          <a:blip r:embed="rId1"/>
          <a:stretch>
            <a:fillRect/>
          </a:stretch>
        </p:blipFill>
        <p:spPr>
          <a:xfrm>
            <a:off x="8493125" y="1379220"/>
            <a:ext cx="1699260" cy="30441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smtClean="0"/>
              <a:t>视口的设置</a:t>
            </a:r>
            <a:endParaRPr lang="en-US" altLang="zh-CN" dirty="0" smtClean="0"/>
          </a:p>
          <a:p>
            <a:pPr lvl="1"/>
            <a:r>
              <a:rPr lang="zh-CN" altLang="en-US" dirty="0" smtClean="0"/>
              <a:t>布局视口与理想视口的宽度一致，是移动端布局的基础</a:t>
            </a:r>
            <a:endParaRPr lang="en-US" altLang="zh-CN" dirty="0" smtClean="0"/>
          </a:p>
          <a:p>
            <a:pPr lvl="1"/>
            <a:r>
              <a:rPr lang="zh-CN" altLang="en-US" dirty="0"/>
              <a:t>使用视口元标签（</a:t>
            </a:r>
            <a:r>
              <a:rPr lang="en-US" altLang="zh-CN" dirty="0"/>
              <a:t>viewport meta </a:t>
            </a:r>
            <a:r>
              <a:rPr lang="zh-CN" altLang="en-US" dirty="0"/>
              <a:t>标签）来进行布局视口的</a:t>
            </a:r>
            <a:r>
              <a:rPr lang="zh-CN" altLang="en-US" dirty="0" smtClean="0"/>
              <a:t>设置，如下：</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1029335" y="2846070"/>
            <a:ext cx="9411335" cy="1476375"/>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meta</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name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"viewport"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content</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"width=device-width, initial-scale=1.0, </a:t>
            </a:r>
            <a:r>
              <a:rPr lang="en-US" altLang="zh-CN" dirty="0" smtClean="0">
                <a:solidFill>
                  <a:srgbClr val="98C379"/>
                </a:solidFill>
                <a:latin typeface="Consolas" panose="020B0609020204030204" pitchFamily="49" charset="0"/>
              </a:rPr>
              <a:t>maximum-scale=1.0</a:t>
            </a:r>
            <a:r>
              <a:rPr lang="en-US" altLang="zh-CN" dirty="0">
                <a:solidFill>
                  <a:srgbClr val="98C379"/>
                </a:solidFill>
                <a:latin typeface="Consolas" panose="020B0609020204030204" pitchFamily="49" charset="0"/>
              </a:rPr>
              <a:t>, </a:t>
            </a:r>
            <a:endParaRPr lang="en-US" altLang="zh-CN" dirty="0">
              <a:solidFill>
                <a:srgbClr val="98C379"/>
              </a:solidFill>
              <a:latin typeface="Consolas" panose="020B0609020204030204" pitchFamily="49" charset="0"/>
            </a:endParaRPr>
          </a:p>
          <a:p>
            <a:r>
              <a:rPr lang="en-US" altLang="zh-CN" dirty="0">
                <a:solidFill>
                  <a:srgbClr val="98C379"/>
                </a:solidFill>
                <a:latin typeface="Consolas" panose="020B0609020204030204" pitchFamily="49" charset="0"/>
              </a:rPr>
              <a:t>	   minimum-scale=1.0, user-scalable=no"</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5" name="矩形 4"/>
          <p:cNvSpPr/>
          <p:nvPr/>
        </p:nvSpPr>
        <p:spPr>
          <a:xfrm>
            <a:off x="1029335" y="4445000"/>
            <a:ext cx="9411335" cy="1476375"/>
          </a:xfrm>
          <a:prstGeom prst="rect">
            <a:avLst/>
          </a:prstGeom>
        </p:spPr>
        <p:txBody>
          <a:bodyPr wrap="square">
            <a:spAutoFit/>
          </a:bodyPr>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meta</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name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"viewport"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content</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"width=device-width, initial-scale=0.5, </a:t>
            </a:r>
            <a:r>
              <a:rPr lang="en-US" altLang="zh-CN" dirty="0" smtClean="0">
                <a:solidFill>
                  <a:srgbClr val="98C379"/>
                </a:solidFill>
                <a:latin typeface="Consolas" panose="020B0609020204030204" pitchFamily="49" charset="0"/>
              </a:rPr>
              <a:t>maximum-scale=0.5</a:t>
            </a:r>
            <a:r>
              <a:rPr lang="en-US" altLang="zh-CN" dirty="0">
                <a:solidFill>
                  <a:srgbClr val="98C379"/>
                </a:solidFill>
                <a:latin typeface="Consolas" panose="020B0609020204030204" pitchFamily="49" charset="0"/>
              </a:rPr>
              <a:t>, </a:t>
            </a:r>
            <a:endParaRPr lang="en-US" altLang="zh-CN" dirty="0">
              <a:solidFill>
                <a:srgbClr val="98C379"/>
              </a:solidFill>
              <a:latin typeface="Consolas" panose="020B0609020204030204" pitchFamily="49" charset="0"/>
            </a:endParaRPr>
          </a:p>
          <a:p>
            <a:r>
              <a:rPr lang="en-US" altLang="zh-CN" dirty="0">
                <a:solidFill>
                  <a:srgbClr val="98C379"/>
                </a:solidFill>
                <a:latin typeface="Consolas" panose="020B0609020204030204" pitchFamily="49" charset="0"/>
              </a:rPr>
              <a:t>          minimum-scale=0.5, user-scalable=no"</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a:t>
            </a:r>
            <a:endParaRPr lang="zh-CN" altLang="en-US" dirty="0"/>
          </a:p>
        </p:txBody>
      </p:sp>
      <p:sp>
        <p:nvSpPr>
          <p:cNvPr id="3" name="内容占位符 2"/>
          <p:cNvSpPr>
            <a:spLocks noGrp="1"/>
          </p:cNvSpPr>
          <p:nvPr>
            <p:ph idx="1"/>
          </p:nvPr>
        </p:nvSpPr>
        <p:spPr/>
        <p:txBody>
          <a:bodyPr/>
          <a:lstStyle/>
          <a:p>
            <a:r>
              <a:rPr lang="zh-CN" altLang="en-US" dirty="0"/>
              <a:t>视口</a:t>
            </a:r>
            <a:r>
              <a:rPr lang="zh-CN" altLang="en-US" dirty="0" smtClean="0"/>
              <a:t>的元标签属性说明</a:t>
            </a:r>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graphicFrame>
        <p:nvGraphicFramePr>
          <p:cNvPr id="5" name="表格 4"/>
          <p:cNvGraphicFramePr>
            <a:graphicFrameLocks noGrp="1"/>
          </p:cNvGraphicFramePr>
          <p:nvPr>
            <p:custDataLst>
              <p:tags r:id="rId1"/>
            </p:custDataLst>
          </p:nvPr>
        </p:nvGraphicFramePr>
        <p:xfrm>
          <a:off x="838200" y="1959134"/>
          <a:ext cx="10515600" cy="3535680"/>
        </p:xfrm>
        <a:graphic>
          <a:graphicData uri="http://schemas.openxmlformats.org/drawingml/2006/table">
            <a:tbl>
              <a:tblPr/>
              <a:tblGrid>
                <a:gridCol w="2047875"/>
                <a:gridCol w="2743835"/>
                <a:gridCol w="5723890"/>
              </a:tblGrid>
              <a:tr h="426720">
                <a:tc>
                  <a:txBody>
                    <a:bodyPr/>
                    <a:lstStyle/>
                    <a:p>
                      <a:r>
                        <a:rPr lang="zh-CN" altLang="en-US" b="1" dirty="0">
                          <a:solidFill>
                            <a:schemeClr val="bg1"/>
                          </a:solidFill>
                          <a:effectLst/>
                          <a:latin typeface="微软雅黑" panose="020B0503020204020204" pitchFamily="34" charset="-122"/>
                          <a:ea typeface="微软雅黑" panose="020B0503020204020204" pitchFamily="34" charset="-122"/>
                        </a:rPr>
                        <a:t>属性名</a:t>
                      </a:r>
                      <a:endParaRPr lang="zh-CN" altLang="en-US" b="1" dirty="0">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b="1">
                          <a:solidFill>
                            <a:schemeClr val="bg1"/>
                          </a:solidFill>
                          <a:effectLst/>
                          <a:latin typeface="微软雅黑" panose="020B0503020204020204" pitchFamily="34" charset="-122"/>
                          <a:ea typeface="微软雅黑" panose="020B0503020204020204" pitchFamily="34" charset="-122"/>
                        </a:rPr>
                        <a:t>取值</a:t>
                      </a:r>
                      <a:endParaRPr lang="zh-CN" altLang="en-US" b="1">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b="1" dirty="0">
                          <a:solidFill>
                            <a:schemeClr val="bg1"/>
                          </a:solidFill>
                          <a:effectLst/>
                          <a:latin typeface="微软雅黑" panose="020B0503020204020204" pitchFamily="34" charset="-122"/>
                          <a:ea typeface="微软雅黑" panose="020B0503020204020204" pitchFamily="34" charset="-122"/>
                        </a:rPr>
                        <a:t>描述</a:t>
                      </a:r>
                      <a:endParaRPr lang="zh-CN" altLang="en-US" b="1" dirty="0">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426720">
                <a:tc>
                  <a:txBody>
                    <a:bodyPr/>
                    <a:lstStyle/>
                    <a:p>
                      <a:r>
                        <a:rPr lang="en-US" dirty="0">
                          <a:solidFill>
                            <a:schemeClr val="bg1"/>
                          </a:solidFill>
                          <a:effectLst/>
                          <a:latin typeface="微软雅黑" panose="020B0503020204020204" pitchFamily="34" charset="-122"/>
                          <a:ea typeface="微软雅黑" panose="020B0503020204020204" pitchFamily="34" charset="-122"/>
                        </a:rPr>
                        <a:t>width</a:t>
                      </a:r>
                      <a:endParaRPr lang="en-US" dirty="0">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a:solidFill>
                            <a:schemeClr val="bg1"/>
                          </a:solidFill>
                          <a:effectLst/>
                          <a:latin typeface="微软雅黑" panose="020B0503020204020204" pitchFamily="34" charset="-122"/>
                          <a:ea typeface="微软雅黑" panose="020B0503020204020204" pitchFamily="34" charset="-122"/>
                        </a:rPr>
                        <a:t>正整数或</a:t>
                      </a:r>
                      <a:r>
                        <a:rPr lang="en-US">
                          <a:solidFill>
                            <a:schemeClr val="bg1"/>
                          </a:solidFill>
                          <a:effectLst/>
                          <a:latin typeface="微软雅黑" panose="020B0503020204020204" pitchFamily="34" charset="-122"/>
                          <a:ea typeface="微软雅黑" panose="020B0503020204020204" pitchFamily="34" charset="-122"/>
                        </a:rPr>
                        <a:t>device-width</a:t>
                      </a:r>
                      <a:endParaRPr 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a:solidFill>
                            <a:schemeClr val="bg1"/>
                          </a:solidFill>
                          <a:effectLst/>
                          <a:latin typeface="微软雅黑" panose="020B0503020204020204" pitchFamily="34" charset="-122"/>
                          <a:ea typeface="微软雅黑" panose="020B0503020204020204" pitchFamily="34" charset="-122"/>
                        </a:rPr>
                        <a:t>定义视口的宽度，单位为像素</a:t>
                      </a:r>
                      <a:endParaRPr lang="zh-CN" alt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0">
                <a:tc>
                  <a:txBody>
                    <a:bodyPr/>
                    <a:lstStyle/>
                    <a:p>
                      <a:r>
                        <a:rPr lang="en-US">
                          <a:solidFill>
                            <a:schemeClr val="bg1"/>
                          </a:solidFill>
                          <a:effectLst/>
                          <a:latin typeface="微软雅黑" panose="020B0503020204020204" pitchFamily="34" charset="-122"/>
                          <a:ea typeface="微软雅黑" panose="020B0503020204020204" pitchFamily="34" charset="-122"/>
                        </a:rPr>
                        <a:t>height</a:t>
                      </a:r>
                      <a:endParaRPr 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a:solidFill>
                            <a:schemeClr val="bg1"/>
                          </a:solidFill>
                          <a:effectLst/>
                          <a:latin typeface="微软雅黑" panose="020B0503020204020204" pitchFamily="34" charset="-122"/>
                          <a:ea typeface="微软雅黑" panose="020B0503020204020204" pitchFamily="34" charset="-122"/>
                        </a:rPr>
                        <a:t>正整数或</a:t>
                      </a:r>
                      <a:r>
                        <a:rPr lang="en-US">
                          <a:solidFill>
                            <a:schemeClr val="bg1"/>
                          </a:solidFill>
                          <a:effectLst/>
                          <a:latin typeface="微软雅黑" panose="020B0503020204020204" pitchFamily="34" charset="-122"/>
                          <a:ea typeface="微软雅黑" panose="020B0503020204020204" pitchFamily="34" charset="-122"/>
                        </a:rPr>
                        <a:t>device-height</a:t>
                      </a:r>
                      <a:endParaRPr 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a:solidFill>
                            <a:schemeClr val="bg1"/>
                          </a:solidFill>
                          <a:effectLst/>
                          <a:latin typeface="微软雅黑" panose="020B0503020204020204" pitchFamily="34" charset="-122"/>
                          <a:ea typeface="微软雅黑" panose="020B0503020204020204" pitchFamily="34" charset="-122"/>
                        </a:rPr>
                        <a:t>定义视口的高度，单位为像素，</a:t>
                      </a:r>
                      <a:endParaRPr lang="zh-CN" alt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0">
                <a:tc>
                  <a:txBody>
                    <a:bodyPr/>
                    <a:lstStyle/>
                    <a:p>
                      <a:r>
                        <a:rPr lang="en-US" dirty="0">
                          <a:solidFill>
                            <a:schemeClr val="bg1"/>
                          </a:solidFill>
                          <a:effectLst/>
                          <a:latin typeface="微软雅黑" panose="020B0503020204020204" pitchFamily="34" charset="-122"/>
                          <a:ea typeface="微软雅黑" panose="020B0503020204020204" pitchFamily="34" charset="-122"/>
                        </a:rPr>
                        <a:t>initial-scale</a:t>
                      </a:r>
                      <a:endParaRPr lang="en-US" dirty="0">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altLang="zh-CN">
                          <a:solidFill>
                            <a:schemeClr val="bg1"/>
                          </a:solidFill>
                          <a:effectLst/>
                          <a:latin typeface="微软雅黑" panose="020B0503020204020204" pitchFamily="34" charset="-122"/>
                          <a:ea typeface="微软雅黑" panose="020B0503020204020204" pitchFamily="34" charset="-122"/>
                        </a:rPr>
                        <a:t>[0.0-10.0]</a:t>
                      </a:r>
                      <a:endParaRPr lang="en-US" altLang="zh-CN">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a:solidFill>
                            <a:schemeClr val="bg1"/>
                          </a:solidFill>
                          <a:effectLst/>
                          <a:latin typeface="微软雅黑" panose="020B0503020204020204" pitchFamily="34" charset="-122"/>
                          <a:ea typeface="微软雅黑" panose="020B0503020204020204" pitchFamily="34" charset="-122"/>
                        </a:rPr>
                        <a:t>定义初始缩放值</a:t>
                      </a:r>
                      <a:endParaRPr lang="zh-CN" alt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0">
                <a:tc>
                  <a:txBody>
                    <a:bodyPr/>
                    <a:lstStyle/>
                    <a:p>
                      <a:r>
                        <a:rPr lang="en-US">
                          <a:solidFill>
                            <a:schemeClr val="bg1"/>
                          </a:solidFill>
                          <a:effectLst/>
                          <a:latin typeface="微软雅黑" panose="020B0503020204020204" pitchFamily="34" charset="-122"/>
                          <a:ea typeface="微软雅黑" panose="020B0503020204020204" pitchFamily="34" charset="-122"/>
                        </a:rPr>
                        <a:t>minimum-scale</a:t>
                      </a:r>
                      <a:endParaRPr 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altLang="zh-CN">
                          <a:solidFill>
                            <a:schemeClr val="bg1"/>
                          </a:solidFill>
                          <a:effectLst/>
                          <a:latin typeface="微软雅黑" panose="020B0503020204020204" pitchFamily="34" charset="-122"/>
                          <a:ea typeface="微软雅黑" panose="020B0503020204020204" pitchFamily="34" charset="-122"/>
                        </a:rPr>
                        <a:t>[0.0-10.0]</a:t>
                      </a:r>
                      <a:endParaRPr lang="en-US" altLang="zh-CN">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a:solidFill>
                            <a:schemeClr val="bg1"/>
                          </a:solidFill>
                          <a:effectLst/>
                          <a:latin typeface="微软雅黑" panose="020B0503020204020204" pitchFamily="34" charset="-122"/>
                          <a:ea typeface="微软雅黑" panose="020B0503020204020204" pitchFamily="34" charset="-122"/>
                        </a:rPr>
                        <a:t>定义放大最大比例，它必须小于或等于</a:t>
                      </a:r>
                      <a:r>
                        <a:rPr lang="en-US">
                          <a:solidFill>
                            <a:schemeClr val="bg1"/>
                          </a:solidFill>
                          <a:effectLst/>
                          <a:latin typeface="微软雅黑" panose="020B0503020204020204" pitchFamily="34" charset="-122"/>
                          <a:ea typeface="微软雅黑" panose="020B0503020204020204" pitchFamily="34" charset="-122"/>
                        </a:rPr>
                        <a:t>maximum-scale</a:t>
                      </a:r>
                      <a:r>
                        <a:rPr lang="zh-CN" altLang="en-US">
                          <a:solidFill>
                            <a:schemeClr val="bg1"/>
                          </a:solidFill>
                          <a:effectLst/>
                          <a:latin typeface="微软雅黑" panose="020B0503020204020204" pitchFamily="34" charset="-122"/>
                          <a:ea typeface="微软雅黑" panose="020B0503020204020204" pitchFamily="34" charset="-122"/>
                        </a:rPr>
                        <a:t>设置</a:t>
                      </a:r>
                      <a:endParaRPr lang="zh-CN" alt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0">
                <a:tc>
                  <a:txBody>
                    <a:bodyPr/>
                    <a:lstStyle/>
                    <a:p>
                      <a:r>
                        <a:rPr lang="en-US">
                          <a:solidFill>
                            <a:schemeClr val="bg1"/>
                          </a:solidFill>
                          <a:effectLst/>
                          <a:latin typeface="微软雅黑" panose="020B0503020204020204" pitchFamily="34" charset="-122"/>
                          <a:ea typeface="微软雅黑" panose="020B0503020204020204" pitchFamily="34" charset="-122"/>
                        </a:rPr>
                        <a:t>maximum-scale</a:t>
                      </a:r>
                      <a:endParaRPr 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altLang="zh-CN">
                          <a:solidFill>
                            <a:schemeClr val="bg1"/>
                          </a:solidFill>
                          <a:effectLst/>
                          <a:latin typeface="微软雅黑" panose="020B0503020204020204" pitchFamily="34" charset="-122"/>
                          <a:ea typeface="微软雅黑" panose="020B0503020204020204" pitchFamily="34" charset="-122"/>
                        </a:rPr>
                        <a:t>[0.0-10.0]</a:t>
                      </a:r>
                      <a:endParaRPr lang="en-US" altLang="zh-CN">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a:solidFill>
                            <a:schemeClr val="bg1"/>
                          </a:solidFill>
                          <a:effectLst/>
                          <a:latin typeface="微软雅黑" panose="020B0503020204020204" pitchFamily="34" charset="-122"/>
                          <a:ea typeface="微软雅黑" panose="020B0503020204020204" pitchFamily="34" charset="-122"/>
                        </a:rPr>
                        <a:t>定义缩小最小比例，它必须大于或等于</a:t>
                      </a:r>
                      <a:r>
                        <a:rPr lang="en-US">
                          <a:solidFill>
                            <a:schemeClr val="bg1"/>
                          </a:solidFill>
                          <a:effectLst/>
                          <a:latin typeface="微软雅黑" panose="020B0503020204020204" pitchFamily="34" charset="-122"/>
                          <a:ea typeface="微软雅黑" panose="020B0503020204020204" pitchFamily="34" charset="-122"/>
                        </a:rPr>
                        <a:t>minimum-scale</a:t>
                      </a:r>
                      <a:r>
                        <a:rPr lang="zh-CN" altLang="en-US">
                          <a:solidFill>
                            <a:schemeClr val="bg1"/>
                          </a:solidFill>
                          <a:effectLst/>
                          <a:latin typeface="微软雅黑" panose="020B0503020204020204" pitchFamily="34" charset="-122"/>
                          <a:ea typeface="微软雅黑" panose="020B0503020204020204" pitchFamily="34" charset="-122"/>
                        </a:rPr>
                        <a:t>设置</a:t>
                      </a:r>
                      <a:endParaRPr lang="zh-CN" alt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0">
                <a:tc>
                  <a:txBody>
                    <a:bodyPr/>
                    <a:lstStyle/>
                    <a:p>
                      <a:r>
                        <a:rPr lang="en-US">
                          <a:solidFill>
                            <a:schemeClr val="bg1"/>
                          </a:solidFill>
                          <a:effectLst/>
                          <a:latin typeface="微软雅黑" panose="020B0503020204020204" pitchFamily="34" charset="-122"/>
                          <a:ea typeface="微软雅黑" panose="020B0503020204020204" pitchFamily="34" charset="-122"/>
                        </a:rPr>
                        <a:t>user-scalable</a:t>
                      </a:r>
                      <a:endParaRPr 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a:solidFill>
                            <a:schemeClr val="bg1"/>
                          </a:solidFill>
                          <a:effectLst/>
                          <a:latin typeface="微软雅黑" panose="020B0503020204020204" pitchFamily="34" charset="-122"/>
                          <a:ea typeface="微软雅黑" panose="020B0503020204020204" pitchFamily="34" charset="-122"/>
                        </a:rPr>
                        <a:t>yes / no</a:t>
                      </a:r>
                      <a:endParaRPr lang="en-US">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zh-CN" altLang="en-US" dirty="0">
                          <a:solidFill>
                            <a:schemeClr val="bg1"/>
                          </a:solidFill>
                          <a:effectLst/>
                          <a:latin typeface="微软雅黑" panose="020B0503020204020204" pitchFamily="34" charset="-122"/>
                          <a:ea typeface="微软雅黑" panose="020B0503020204020204" pitchFamily="34" charset="-122"/>
                        </a:rPr>
                        <a:t>定义是否允许用户手动缩放页面，默认值 </a:t>
                      </a:r>
                      <a:r>
                        <a:rPr lang="en-US" altLang="zh-CN" dirty="0">
                          <a:solidFill>
                            <a:schemeClr val="bg1"/>
                          </a:solidFill>
                          <a:effectLst/>
                          <a:latin typeface="微软雅黑" panose="020B0503020204020204" pitchFamily="34" charset="-122"/>
                          <a:ea typeface="微软雅黑" panose="020B0503020204020204" pitchFamily="34" charset="-122"/>
                        </a:rPr>
                        <a:t>yes</a:t>
                      </a:r>
                      <a:endParaRPr lang="en-US" altLang="zh-CN" dirty="0">
                        <a:solidFill>
                          <a:schemeClr val="bg1"/>
                        </a:solidFill>
                        <a:effectLst/>
                        <a:latin typeface="微软雅黑" panose="020B0503020204020204" pitchFamily="34" charset="-122"/>
                        <a:ea typeface="微软雅黑" panose="020B0503020204020204" pitchFamily="34" charset="-122"/>
                      </a:endParaRPr>
                    </a:p>
                  </a:txBody>
                  <a:tcPr marL="133350" marR="133350" marT="76200" marB="762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多设备适配协作模式</a:t>
            </a:r>
            <a:endParaRPr lang="zh-CN" altLang="en-US"/>
          </a:p>
        </p:txBody>
      </p:sp>
      <p:sp>
        <p:nvSpPr>
          <p:cNvPr id="2" name="灯片编号占位符 1"/>
          <p:cNvSpPr>
            <a:spLocks noGrp="1"/>
          </p:cNvSpPr>
          <p:nvPr>
            <p:ph type="sldNum" sz="quarter" idx="12"/>
          </p:nvPr>
        </p:nvSpPr>
        <p:spPr/>
        <p:txBody>
          <a:bodyPr/>
          <a:p>
            <a:fld id="{E323C7C4-206D-4B97-BD8E-F05986C6CFC1}" type="slidenum">
              <a:rPr lang="en-US" altLang="en-US" smtClean="0"/>
            </a:fld>
            <a:endParaRPr lang="en-US" altLang="en-US"/>
          </a:p>
        </p:txBody>
      </p:sp>
      <p:pic>
        <p:nvPicPr>
          <p:cNvPr id="6" name="图片 5"/>
          <p:cNvPicPr/>
          <p:nvPr>
            <p:custDataLst>
              <p:tags r:id="rId1"/>
            </p:custDataLst>
          </p:nvPr>
        </p:nvPicPr>
        <p:blipFill>
          <a:blip r:embed="rId2"/>
          <a:srcRect t="10492"/>
          <a:stretch>
            <a:fillRect/>
          </a:stretch>
        </p:blipFill>
        <p:spPr>
          <a:xfrm>
            <a:off x="3124200" y="1774825"/>
            <a:ext cx="5715000" cy="3700145"/>
          </a:xfrm>
          <a:prstGeom prst="rect">
            <a:avLst/>
          </a:prstGeom>
          <a:noFill/>
          <a:ln w="9525">
            <a:noFill/>
          </a:ln>
        </p:spPr>
      </p:pic>
      <p:sp>
        <p:nvSpPr>
          <p:cNvPr id="4" name="圆角矩形 3"/>
          <p:cNvSpPr/>
          <p:nvPr/>
        </p:nvSpPr>
        <p:spPr>
          <a:xfrm>
            <a:off x="3339465" y="4222750"/>
            <a:ext cx="742950" cy="1007745"/>
          </a:xfrm>
          <a:prstGeom prst="roundRect">
            <a:avLst>
              <a:gd name="adj" fmla="val 14574"/>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6169660" y="3391535"/>
            <a:ext cx="742950" cy="1007745"/>
          </a:xfrm>
          <a:prstGeom prst="roundRect">
            <a:avLst>
              <a:gd name="adj" fmla="val 14574"/>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视口</a:t>
            </a:r>
            <a:r>
              <a:rPr lang="en-US" altLang="zh-CN" dirty="0" smtClean="0"/>
              <a:t>viewpoint - </a:t>
            </a:r>
            <a:r>
              <a:rPr lang="zh-CN" altLang="en-US" dirty="0" smtClean="0"/>
              <a:t>思考</a:t>
            </a:r>
            <a:endParaRPr lang="zh-CN" altLang="en-US" dirty="0" smtClean="0"/>
          </a:p>
        </p:txBody>
      </p:sp>
      <p:sp>
        <p:nvSpPr>
          <p:cNvPr id="3" name="内容占位符 2"/>
          <p:cNvSpPr>
            <a:spLocks noGrp="1"/>
          </p:cNvSpPr>
          <p:nvPr>
            <p:ph idx="1"/>
          </p:nvPr>
        </p:nvSpPr>
        <p:spPr/>
        <p:txBody>
          <a:bodyPr/>
          <a:lstStyle/>
          <a:p>
            <a:r>
              <a:rPr lang="zh-CN" altLang="en-US" dirty="0"/>
              <a:t>移动端布局下，如何实现</a:t>
            </a:r>
            <a:r>
              <a:rPr lang="en-US" altLang="zh-CN" dirty="0"/>
              <a:t>1px</a:t>
            </a:r>
            <a:r>
              <a:rPr lang="zh-CN" altLang="en-US" dirty="0"/>
              <a:t>？</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CSS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选择</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器权重</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3</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经验与实践 </a:t>
            </a:r>
            <a:r>
              <a:rPr lang="en-US" altLang="zh-CN" dirty="0"/>
              <a:t>– CSS</a:t>
            </a:r>
            <a:r>
              <a:rPr lang="zh-CN" altLang="en-US" dirty="0"/>
              <a:t>权重</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1026" name="Picture 2" descr="https://static.gaopeng.fun/blog/images/20200331170348.gif"/>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108157" y="1931266"/>
            <a:ext cx="3341319" cy="432406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static.gaopeng.fun/blog/images/2020033117270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0843" y="2056245"/>
            <a:ext cx="5182494" cy="4010454"/>
          </a:xfrm>
          <a:prstGeom prst="rect">
            <a:avLst/>
          </a:prstGeom>
          <a:noFill/>
          <a:extLst>
            <a:ext uri="{909E8E84-426E-40DD-AFC4-6F175D3DCCD1}">
              <a14:hiddenFill xmlns:a14="http://schemas.microsoft.com/office/drawing/2010/main">
                <a:solidFill>
                  <a:srgbClr val="FFFFFF"/>
                </a:solidFill>
              </a14:hiddenFill>
            </a:ext>
          </a:extLst>
        </p:spPr>
      </p:pic>
      <p:sp>
        <p:nvSpPr>
          <p:cNvPr id="6" name="内容占位符 2"/>
          <p:cNvSpPr txBox="1"/>
          <p:nvPr/>
        </p:nvSpPr>
        <p:spPr>
          <a:xfrm>
            <a:off x="557439" y="1130299"/>
            <a:ext cx="11161486" cy="516572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bg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smtClean="0"/>
              <a:t>CSS </a:t>
            </a:r>
            <a:r>
              <a:rPr lang="zh-CN" altLang="en-US" dirty="0" smtClean="0"/>
              <a:t>权重详解图</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经验与实践 </a:t>
            </a:r>
            <a:r>
              <a:rPr lang="en-US" altLang="zh-CN" dirty="0" smtClean="0"/>
              <a:t>– CSS</a:t>
            </a:r>
            <a:r>
              <a:rPr lang="zh-CN" altLang="en-US" dirty="0" smtClean="0"/>
              <a:t>权重</a:t>
            </a:r>
            <a:endParaRPr lang="zh-CN" altLang="en-US" dirty="0"/>
          </a:p>
        </p:txBody>
      </p:sp>
      <p:sp>
        <p:nvSpPr>
          <p:cNvPr id="3" name="内容占位符 2"/>
          <p:cNvSpPr>
            <a:spLocks noGrp="1"/>
          </p:cNvSpPr>
          <p:nvPr>
            <p:ph idx="1"/>
          </p:nvPr>
        </p:nvSpPr>
        <p:spPr/>
        <p:txBody>
          <a:bodyPr/>
          <a:lstStyle/>
          <a:p>
            <a:r>
              <a:rPr lang="zh-CN" altLang="en-US" dirty="0" smtClean="0"/>
              <a:t>“智学网”是什么颜色？</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6118270" y="1901043"/>
            <a:ext cx="4700361" cy="2585323"/>
          </a:xfrm>
          <a:prstGeom prst="rect">
            <a:avLst/>
          </a:prstGeom>
        </p:spPr>
        <p:txBody>
          <a:bodyPr wrap="square">
            <a:spAutoFit/>
          </a:bodyPr>
          <a:lstStyle/>
          <a:p>
            <a:r>
              <a:rPr lang="en-US" altLang="zh-CN" dirty="0">
                <a:solidFill>
                  <a:srgbClr val="61AFEF"/>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D19A66"/>
                </a:solidFill>
                <a:latin typeface="Consolas" panose="020B0609020204030204" pitchFamily="49" charset="0"/>
              </a:rPr>
              <a:t>.box2</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red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div</a:t>
            </a:r>
            <a:r>
              <a:rPr lang="en-US" altLang="zh-CN" dirty="0">
                <a:solidFill>
                  <a:srgbClr val="C678DD"/>
                </a:solidFill>
                <a:latin typeface="Consolas" panose="020B0609020204030204" pitchFamily="49" charset="0"/>
              </a:rPr>
              <a:t> </a:t>
            </a:r>
            <a:r>
              <a:rPr lang="en-US" altLang="zh-CN" dirty="0" err="1">
                <a:solidFill>
                  <a:srgbClr val="E06C75"/>
                </a:solidFill>
                <a:latin typeface="Consolas" panose="020B0609020204030204" pitchFamily="49" charset="0"/>
              </a:rPr>
              <a:t>div</a:t>
            </a:r>
            <a:r>
              <a:rPr lang="en-US" altLang="zh-CN" dirty="0">
                <a:solidFill>
                  <a:srgbClr val="C678DD"/>
                </a:solidFill>
                <a:latin typeface="Consolas" panose="020B0609020204030204" pitchFamily="49" charset="0"/>
              </a:rPr>
              <a:t> </a:t>
            </a:r>
            <a:r>
              <a:rPr lang="en-US" altLang="zh-CN" dirty="0">
                <a:solidFill>
                  <a:srgbClr val="61AFEF"/>
                </a:solidFill>
                <a:latin typeface="Consolas" panose="020B0609020204030204" pitchFamily="49" charset="0"/>
              </a:rPr>
              <a:t>#box3</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blue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div</a:t>
            </a:r>
            <a:r>
              <a:rPr lang="en-US" altLang="zh-CN" dirty="0">
                <a:solidFill>
                  <a:srgbClr val="D19A66"/>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div</a:t>
            </a:r>
            <a:r>
              <a:rPr lang="en-US" altLang="zh-CN" dirty="0">
                <a:solidFill>
                  <a:srgbClr val="D19A66"/>
                </a:solidFill>
                <a:latin typeface="Consolas" panose="020B0609020204030204" pitchFamily="49" charset="0"/>
              </a:rPr>
              <a:t>.box2</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div</a:t>
            </a:r>
            <a:r>
              <a:rPr lang="en-US" altLang="zh-CN" dirty="0">
                <a:solidFill>
                  <a:srgbClr val="D19A66"/>
                </a:solidFill>
                <a:latin typeface="Consolas" panose="020B0609020204030204" pitchFamily="49" charset="0"/>
              </a:rPr>
              <a:t>.box3</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green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6" name="矩形 5"/>
          <p:cNvSpPr/>
          <p:nvPr/>
        </p:nvSpPr>
        <p:spPr>
          <a:xfrm>
            <a:off x="729887" y="2177903"/>
            <a:ext cx="4926157" cy="2031325"/>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id</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"box1"</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"box1"</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id</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"box2"</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"box2"</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id</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"box3"</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"box3"</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&gt;</a:t>
            </a:r>
            <a:r>
              <a:rPr lang="zh-CN" altLang="en-US" dirty="0">
                <a:solidFill>
                  <a:srgbClr val="ABB2BF"/>
                </a:solidFill>
                <a:latin typeface="Consolas" panose="020B0609020204030204" pitchFamily="49" charset="0"/>
              </a:rPr>
              <a:t>智学网</a:t>
            </a:r>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经验与实践 </a:t>
            </a:r>
            <a:r>
              <a:rPr lang="en-US" altLang="zh-CN" dirty="0" smtClean="0"/>
              <a:t>– CSS</a:t>
            </a:r>
            <a:r>
              <a:rPr lang="zh-CN" altLang="en-US" dirty="0" smtClean="0"/>
              <a:t>权重</a:t>
            </a:r>
            <a:endParaRPr lang="zh-CN" altLang="en-US" dirty="0"/>
          </a:p>
        </p:txBody>
      </p:sp>
      <p:sp>
        <p:nvSpPr>
          <p:cNvPr id="3" name="内容占位符 2"/>
          <p:cNvSpPr>
            <a:spLocks noGrp="1"/>
          </p:cNvSpPr>
          <p:nvPr>
            <p:ph idx="1"/>
          </p:nvPr>
        </p:nvSpPr>
        <p:spPr/>
        <p:txBody>
          <a:bodyPr/>
          <a:lstStyle/>
          <a:p>
            <a:r>
              <a:rPr lang="zh-CN" altLang="en-US" dirty="0" smtClean="0"/>
              <a:t>所以，“智学网”是</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997630" y="2177903"/>
            <a:ext cx="4700361" cy="3139321"/>
          </a:xfrm>
          <a:prstGeom prst="rect">
            <a:avLst/>
          </a:prstGeom>
        </p:spPr>
        <p:txBody>
          <a:bodyPr wrap="square">
            <a:spAutoFit/>
          </a:bodyPr>
          <a:lstStyle/>
          <a:p>
            <a:r>
              <a:rPr lang="en-US" altLang="zh-CN" dirty="0">
                <a:solidFill>
                  <a:srgbClr val="61AFEF"/>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D19A66"/>
                </a:solidFill>
                <a:latin typeface="Consolas" panose="020B0609020204030204" pitchFamily="49" charset="0"/>
              </a:rPr>
              <a:t>.box2</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red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div</a:t>
            </a:r>
            <a:r>
              <a:rPr lang="en-US" altLang="zh-CN" dirty="0">
                <a:solidFill>
                  <a:srgbClr val="C678DD"/>
                </a:solidFill>
                <a:latin typeface="Consolas" panose="020B0609020204030204" pitchFamily="49" charset="0"/>
              </a:rPr>
              <a:t> </a:t>
            </a:r>
            <a:r>
              <a:rPr lang="en-US" altLang="zh-CN" dirty="0" err="1">
                <a:solidFill>
                  <a:srgbClr val="E06C75"/>
                </a:solidFill>
                <a:latin typeface="Consolas" panose="020B0609020204030204" pitchFamily="49" charset="0"/>
              </a:rPr>
              <a:t>div</a:t>
            </a:r>
            <a:r>
              <a:rPr lang="en-US" altLang="zh-CN" dirty="0">
                <a:solidFill>
                  <a:srgbClr val="C678DD"/>
                </a:solidFill>
                <a:latin typeface="Consolas" panose="020B0609020204030204" pitchFamily="49" charset="0"/>
              </a:rPr>
              <a:t> </a:t>
            </a:r>
            <a:r>
              <a:rPr lang="en-US" altLang="zh-CN" dirty="0">
                <a:solidFill>
                  <a:srgbClr val="61AFEF"/>
                </a:solidFill>
                <a:latin typeface="Consolas" panose="020B0609020204030204" pitchFamily="49" charset="0"/>
              </a:rPr>
              <a:t>#box3</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blue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div</a:t>
            </a:r>
            <a:r>
              <a:rPr lang="en-US" altLang="zh-CN" dirty="0">
                <a:solidFill>
                  <a:srgbClr val="D19A66"/>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div</a:t>
            </a:r>
            <a:r>
              <a:rPr lang="en-US" altLang="zh-CN" dirty="0">
                <a:solidFill>
                  <a:srgbClr val="D19A66"/>
                </a:solidFill>
                <a:latin typeface="Consolas" panose="020B0609020204030204" pitchFamily="49" charset="0"/>
              </a:rPr>
              <a:t>.box2</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div</a:t>
            </a:r>
            <a:r>
              <a:rPr lang="en-US" altLang="zh-CN" dirty="0">
                <a:solidFill>
                  <a:srgbClr val="D19A66"/>
                </a:solidFill>
                <a:latin typeface="Consolas" panose="020B0609020204030204" pitchFamily="49" charset="0"/>
              </a:rPr>
              <a:t>.box3</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green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7" name="左箭头 6"/>
          <p:cNvSpPr/>
          <p:nvPr/>
        </p:nvSpPr>
        <p:spPr>
          <a:xfrm>
            <a:off x="5685312" y="2119744"/>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1-1-1</a:t>
            </a:r>
            <a:endParaRPr lang="zh-CN" altLang="en-US" sz="2000" b="1" dirty="0">
              <a:solidFill>
                <a:schemeClr val="bg1"/>
              </a:solidFill>
            </a:endParaRPr>
          </a:p>
        </p:txBody>
      </p:sp>
      <p:sp>
        <p:nvSpPr>
          <p:cNvPr id="8" name="左箭头 7"/>
          <p:cNvSpPr/>
          <p:nvPr/>
        </p:nvSpPr>
        <p:spPr>
          <a:xfrm>
            <a:off x="5685312" y="3236107"/>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1-0-3</a:t>
            </a:r>
            <a:endParaRPr lang="zh-CN" altLang="en-US" sz="2000" b="1" dirty="0">
              <a:solidFill>
                <a:schemeClr val="bg1"/>
              </a:solidFill>
            </a:endParaRPr>
          </a:p>
        </p:txBody>
      </p:sp>
      <p:sp>
        <p:nvSpPr>
          <p:cNvPr id="9" name="左箭头 8"/>
          <p:cNvSpPr/>
          <p:nvPr/>
        </p:nvSpPr>
        <p:spPr>
          <a:xfrm>
            <a:off x="5685312" y="4352470"/>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0-3-4</a:t>
            </a:r>
            <a:endParaRPr lang="zh-CN" altLang="en-US" sz="2000" b="1" dirty="0">
              <a:solidFill>
                <a:schemeClr val="bg1"/>
              </a:solidFill>
            </a:endParaRPr>
          </a:p>
        </p:txBody>
      </p:sp>
      <p:sp>
        <p:nvSpPr>
          <p:cNvPr id="10" name="椭圆 9"/>
          <p:cNvSpPr/>
          <p:nvPr/>
        </p:nvSpPr>
        <p:spPr>
          <a:xfrm>
            <a:off x="9155764" y="2177903"/>
            <a:ext cx="2563161" cy="25631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0" b="1" dirty="0" smtClean="0">
                <a:latin typeface="微软雅黑" panose="020B0503020204020204" pitchFamily="34" charset="-122"/>
                <a:ea typeface="微软雅黑" panose="020B0503020204020204" pitchFamily="34" charset="-122"/>
              </a:rPr>
              <a:t>红色</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1+#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250" fill="hold"/>
                                        <p:tgtEl>
                                          <p:spTgt spid="8"/>
                                        </p:tgtEl>
                                        <p:attrNameLst>
                                          <p:attrName>ppt_x</p:attrName>
                                        </p:attrNameLst>
                                      </p:cBhvr>
                                      <p:tavLst>
                                        <p:tav tm="0">
                                          <p:val>
                                            <p:strVal val="1+#ppt_w/2"/>
                                          </p:val>
                                        </p:tav>
                                        <p:tav tm="100000">
                                          <p:val>
                                            <p:strVal val="#ppt_x"/>
                                          </p:val>
                                        </p:tav>
                                      </p:tavLst>
                                    </p:anim>
                                    <p:anim calcmode="lin" valueType="num">
                                      <p:cBhvr additive="base">
                                        <p:cTn id="14" dur="2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50" fill="hold"/>
                                        <p:tgtEl>
                                          <p:spTgt spid="9"/>
                                        </p:tgtEl>
                                        <p:attrNameLst>
                                          <p:attrName>ppt_x</p:attrName>
                                        </p:attrNameLst>
                                      </p:cBhvr>
                                      <p:tavLst>
                                        <p:tav tm="0">
                                          <p:val>
                                            <p:strVal val="1+#ppt_w/2"/>
                                          </p:val>
                                        </p:tav>
                                        <p:tav tm="100000">
                                          <p:val>
                                            <p:strVal val="#ppt_x"/>
                                          </p:val>
                                        </p:tav>
                                      </p:tavLst>
                                    </p:anim>
                                    <p:anim calcmode="lin" valueType="num">
                                      <p:cBhvr additive="base">
                                        <p:cTn id="20" dur="25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fltVal val="0"/>
                                          </p:val>
                                        </p:tav>
                                        <p:tav tm="100000">
                                          <p:val>
                                            <p:strVal val="#ppt_w"/>
                                          </p:val>
                                        </p:tav>
                                      </p:tavLst>
                                    </p:anim>
                                    <p:anim calcmode="lin" valueType="num">
                                      <p:cBhvr>
                                        <p:cTn id="26" dur="500" fill="hold"/>
                                        <p:tgtEl>
                                          <p:spTgt spid="10"/>
                                        </p:tgtEl>
                                        <p:attrNameLst>
                                          <p:attrName>ppt_h</p:attrName>
                                        </p:attrNameLst>
                                      </p:cBhvr>
                                      <p:tavLst>
                                        <p:tav tm="0">
                                          <p:val>
                                            <p:fltVal val="0"/>
                                          </p:val>
                                        </p:tav>
                                        <p:tav tm="100000">
                                          <p:val>
                                            <p:strVal val="#ppt_h"/>
                                          </p:val>
                                        </p:tav>
                                      </p:tavLst>
                                    </p:anim>
                                    <p:anim calcmode="lin" valueType="num">
                                      <p:cBhvr>
                                        <p:cTn id="27" dur="500" fill="hold"/>
                                        <p:tgtEl>
                                          <p:spTgt spid="10"/>
                                        </p:tgtEl>
                                        <p:attrNameLst>
                                          <p:attrName>style.rotation</p:attrName>
                                        </p:attrNameLst>
                                      </p:cBhvr>
                                      <p:tavLst>
                                        <p:tav tm="0">
                                          <p:val>
                                            <p:fltVal val="90"/>
                                          </p:val>
                                        </p:tav>
                                        <p:tav tm="100000">
                                          <p:val>
                                            <p:fltVal val="0"/>
                                          </p:val>
                                        </p:tav>
                                      </p:tavLst>
                                    </p:anim>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经验与实践 </a:t>
            </a:r>
            <a:r>
              <a:rPr lang="en-US" altLang="zh-CN" dirty="0" smtClean="0"/>
              <a:t>– CSS</a:t>
            </a:r>
            <a:r>
              <a:rPr lang="zh-CN" altLang="en-US" dirty="0" smtClean="0"/>
              <a:t>权重</a:t>
            </a:r>
            <a:endParaRPr lang="zh-CN" altLang="en-US" dirty="0"/>
          </a:p>
        </p:txBody>
      </p:sp>
      <p:sp>
        <p:nvSpPr>
          <p:cNvPr id="3" name="内容占位符 2"/>
          <p:cNvSpPr>
            <a:spLocks noGrp="1"/>
          </p:cNvSpPr>
          <p:nvPr>
            <p:ph idx="1"/>
          </p:nvPr>
        </p:nvSpPr>
        <p:spPr/>
        <p:txBody>
          <a:bodyPr/>
          <a:lstStyle/>
          <a:p>
            <a:r>
              <a:rPr lang="zh-CN" altLang="en-US" dirty="0" smtClean="0"/>
              <a:t>再看，“智学网”是什么颜色？</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439" y="2236235"/>
            <a:ext cx="3526188" cy="2031325"/>
          </a:xfrm>
          <a:prstGeom prst="rect">
            <a:avLst/>
          </a:prstGeom>
        </p:spPr>
        <p:txBody>
          <a:bodyPr wrap="square">
            <a:spAutoFit/>
          </a:bodyPr>
          <a:lstStyle/>
          <a:p>
            <a:r>
              <a:rPr lang="en-US" altLang="zh-CN" dirty="0">
                <a:solidFill>
                  <a:srgbClr val="61AFEF"/>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61AFEF"/>
                </a:solidFill>
                <a:latin typeface="Consolas" panose="020B0609020204030204" pitchFamily="49" charset="0"/>
              </a:rPr>
              <a:t>#box2</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red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D19A66"/>
                </a:solidFill>
                <a:latin typeface="Consolas" panose="020B0609020204030204" pitchFamily="49" charset="0"/>
              </a:rPr>
              <a:t>.box2</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blue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10" name="左箭头 9"/>
          <p:cNvSpPr/>
          <p:nvPr/>
        </p:nvSpPr>
        <p:spPr>
          <a:xfrm>
            <a:off x="3409703" y="2363934"/>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2-0-0</a:t>
            </a:r>
            <a:endParaRPr lang="zh-CN" altLang="en-US" sz="2000" b="1" dirty="0">
              <a:solidFill>
                <a:schemeClr val="bg1"/>
              </a:solidFill>
            </a:endParaRPr>
          </a:p>
        </p:txBody>
      </p:sp>
      <p:sp>
        <p:nvSpPr>
          <p:cNvPr id="11" name="左箭头 10"/>
          <p:cNvSpPr/>
          <p:nvPr/>
        </p:nvSpPr>
        <p:spPr>
          <a:xfrm>
            <a:off x="3409703" y="3480297"/>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0-2-1</a:t>
            </a:r>
            <a:endParaRPr lang="zh-CN" altLang="en-US" sz="2000" b="1" dirty="0">
              <a:solidFill>
                <a:schemeClr val="bg1"/>
              </a:solidFill>
            </a:endParaRPr>
          </a:p>
        </p:txBody>
      </p:sp>
      <p:sp>
        <p:nvSpPr>
          <p:cNvPr id="12" name="矩形 11"/>
          <p:cNvSpPr/>
          <p:nvPr/>
        </p:nvSpPr>
        <p:spPr>
          <a:xfrm>
            <a:off x="557439" y="5048639"/>
            <a:ext cx="3013364" cy="1018309"/>
          </a:xfrm>
          <a:prstGeom prst="rect">
            <a:avLst/>
          </a:prstGeom>
          <a:solidFill>
            <a:srgbClr val="1479D7"/>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微软雅黑" panose="020B0503020204020204" pitchFamily="34" charset="-122"/>
                <a:ea typeface="微软雅黑" panose="020B0503020204020204" pitchFamily="34" charset="-122"/>
              </a:rPr>
              <a:t>遵循就近原则</a:t>
            </a:r>
            <a:endParaRPr lang="zh-CN" altLang="en-US" sz="2000" dirty="0">
              <a:latin typeface="微软雅黑" panose="020B0503020204020204" pitchFamily="34" charset="-122"/>
              <a:ea typeface="微软雅黑" panose="020B0503020204020204" pitchFamily="34" charset="-122"/>
            </a:endParaRPr>
          </a:p>
        </p:txBody>
      </p:sp>
      <p:sp>
        <p:nvSpPr>
          <p:cNvPr id="9" name="椭圆 8"/>
          <p:cNvSpPr/>
          <p:nvPr/>
        </p:nvSpPr>
        <p:spPr>
          <a:xfrm>
            <a:off x="9155764" y="2177903"/>
            <a:ext cx="2563161" cy="25631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0" b="1" dirty="0" smtClean="0">
                <a:latin typeface="微软雅黑" panose="020B0503020204020204" pitchFamily="34" charset="-122"/>
                <a:ea typeface="微软雅黑" panose="020B0503020204020204" pitchFamily="34" charset="-122"/>
              </a:rPr>
              <a:t>蓝色</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50" fill="hold"/>
                                        <p:tgtEl>
                                          <p:spTgt spid="10"/>
                                        </p:tgtEl>
                                        <p:attrNameLst>
                                          <p:attrName>ppt_x</p:attrName>
                                        </p:attrNameLst>
                                      </p:cBhvr>
                                      <p:tavLst>
                                        <p:tav tm="0">
                                          <p:val>
                                            <p:strVal val="1+#ppt_w/2"/>
                                          </p:val>
                                        </p:tav>
                                        <p:tav tm="100000">
                                          <p:val>
                                            <p:strVal val="#ppt_x"/>
                                          </p:val>
                                        </p:tav>
                                      </p:tavLst>
                                    </p:anim>
                                    <p:anim calcmode="lin" valueType="num">
                                      <p:cBhvr additive="base">
                                        <p:cTn id="8" dur="25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250" fill="hold"/>
                                        <p:tgtEl>
                                          <p:spTgt spid="11"/>
                                        </p:tgtEl>
                                        <p:attrNameLst>
                                          <p:attrName>ppt_x</p:attrName>
                                        </p:attrNameLst>
                                      </p:cBhvr>
                                      <p:tavLst>
                                        <p:tav tm="0">
                                          <p:val>
                                            <p:strVal val="1+#ppt_w/2"/>
                                          </p:val>
                                        </p:tav>
                                        <p:tav tm="100000">
                                          <p:val>
                                            <p:strVal val="#ppt_x"/>
                                          </p:val>
                                        </p:tav>
                                      </p:tavLst>
                                    </p:anim>
                                    <p:anim calcmode="lin" valueType="num">
                                      <p:cBhvr additive="base">
                                        <p:cTn id="12" dur="25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 calcmode="lin" valueType="num">
                                      <p:cBhvr>
                                        <p:cTn id="19" dur="500" fill="hold"/>
                                        <p:tgtEl>
                                          <p:spTgt spid="9"/>
                                        </p:tgtEl>
                                        <p:attrNameLst>
                                          <p:attrName>style.rotation</p:attrName>
                                        </p:attrNameLst>
                                      </p:cBhvr>
                                      <p:tavLst>
                                        <p:tav tm="0">
                                          <p:val>
                                            <p:fltVal val="90"/>
                                          </p:val>
                                        </p:tav>
                                        <p:tav tm="100000">
                                          <p:val>
                                            <p:fltVal val="0"/>
                                          </p:val>
                                        </p:tav>
                                      </p:tavLst>
                                    </p:anim>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250" fill="hold"/>
                                        <p:tgtEl>
                                          <p:spTgt spid="12"/>
                                        </p:tgtEl>
                                        <p:attrNameLst>
                                          <p:attrName>ppt_x</p:attrName>
                                        </p:attrNameLst>
                                      </p:cBhvr>
                                      <p:tavLst>
                                        <p:tav tm="0">
                                          <p:val>
                                            <p:strVal val="#ppt_x"/>
                                          </p:val>
                                        </p:tav>
                                        <p:tav tm="100000">
                                          <p:val>
                                            <p:strVal val="#ppt_x"/>
                                          </p:val>
                                        </p:tav>
                                      </p:tavLst>
                                    </p:anim>
                                    <p:anim calcmode="lin" valueType="num">
                                      <p:cBhvr additive="base">
                                        <p:cTn id="26" dur="2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经验与实践 </a:t>
            </a:r>
            <a:r>
              <a:rPr lang="en-US" altLang="zh-CN" dirty="0" smtClean="0"/>
              <a:t>– CSS</a:t>
            </a:r>
            <a:r>
              <a:rPr lang="zh-CN" altLang="en-US" dirty="0" smtClean="0"/>
              <a:t>权重</a:t>
            </a:r>
            <a:endParaRPr lang="zh-CN" altLang="en-US" dirty="0"/>
          </a:p>
        </p:txBody>
      </p:sp>
      <p:sp>
        <p:nvSpPr>
          <p:cNvPr id="3" name="内容占位符 2"/>
          <p:cNvSpPr>
            <a:spLocks noGrp="1"/>
          </p:cNvSpPr>
          <p:nvPr>
            <p:ph idx="1"/>
          </p:nvPr>
        </p:nvSpPr>
        <p:spPr/>
        <p:txBody>
          <a:bodyPr/>
          <a:lstStyle/>
          <a:p>
            <a:r>
              <a:rPr lang="zh-CN" altLang="en-US" dirty="0" smtClean="0"/>
              <a:t>再再看，“智学网”是什么颜色？</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0" name="左箭头 9"/>
          <p:cNvSpPr/>
          <p:nvPr/>
        </p:nvSpPr>
        <p:spPr>
          <a:xfrm>
            <a:off x="3409703" y="1960978"/>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2-0-0</a:t>
            </a:r>
            <a:endParaRPr lang="zh-CN" altLang="en-US" sz="2000" b="1" dirty="0">
              <a:solidFill>
                <a:schemeClr val="bg1"/>
              </a:solidFill>
            </a:endParaRPr>
          </a:p>
        </p:txBody>
      </p:sp>
      <p:sp>
        <p:nvSpPr>
          <p:cNvPr id="11" name="左箭头 10"/>
          <p:cNvSpPr/>
          <p:nvPr/>
        </p:nvSpPr>
        <p:spPr>
          <a:xfrm>
            <a:off x="3409703" y="3056528"/>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0-2-1</a:t>
            </a:r>
            <a:endParaRPr lang="zh-CN" altLang="en-US" sz="2000" b="1" dirty="0">
              <a:solidFill>
                <a:schemeClr val="bg1"/>
              </a:solidFill>
            </a:endParaRPr>
          </a:p>
        </p:txBody>
      </p:sp>
      <p:sp>
        <p:nvSpPr>
          <p:cNvPr id="12" name="矩形 11"/>
          <p:cNvSpPr/>
          <p:nvPr/>
        </p:nvSpPr>
        <p:spPr>
          <a:xfrm>
            <a:off x="592075" y="5382491"/>
            <a:ext cx="3013364" cy="1018309"/>
          </a:xfrm>
          <a:prstGeom prst="rect">
            <a:avLst/>
          </a:prstGeom>
          <a:solidFill>
            <a:srgbClr val="1479D7"/>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微软雅黑" panose="020B0503020204020204" pitchFamily="34" charset="-122"/>
                <a:ea typeface="微软雅黑" panose="020B0503020204020204" pitchFamily="34" charset="-122"/>
              </a:rPr>
              <a:t>直接选中原则</a:t>
            </a:r>
            <a:endParaRPr lang="zh-CN" altLang="en-US" sz="2000" dirty="0">
              <a:latin typeface="微软雅黑" panose="020B0503020204020204" pitchFamily="34" charset="-122"/>
              <a:ea typeface="微软雅黑" panose="020B0503020204020204" pitchFamily="34" charset="-122"/>
            </a:endParaRPr>
          </a:p>
        </p:txBody>
      </p:sp>
      <p:sp>
        <p:nvSpPr>
          <p:cNvPr id="5" name="矩形 4"/>
          <p:cNvSpPr/>
          <p:nvPr/>
        </p:nvSpPr>
        <p:spPr>
          <a:xfrm>
            <a:off x="557439" y="2023324"/>
            <a:ext cx="2659486" cy="3139321"/>
          </a:xfrm>
          <a:prstGeom prst="rect">
            <a:avLst/>
          </a:prstGeom>
        </p:spPr>
        <p:txBody>
          <a:bodyPr wrap="square">
            <a:spAutoFit/>
          </a:bodyPr>
          <a:lstStyle/>
          <a:p>
            <a:r>
              <a:rPr lang="en-US" altLang="zh-CN" dirty="0">
                <a:solidFill>
                  <a:srgbClr val="61AFEF"/>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61AFEF"/>
                </a:solidFill>
                <a:latin typeface="Consolas" panose="020B0609020204030204" pitchFamily="49" charset="0"/>
              </a:rPr>
              <a:t>#box2</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red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.box1</a:t>
            </a:r>
            <a:r>
              <a:rPr lang="en-US" altLang="zh-CN" dirty="0">
                <a:solidFill>
                  <a:srgbClr val="C678DD"/>
                </a:solidFill>
                <a:latin typeface="Consolas" panose="020B0609020204030204" pitchFamily="49" charset="0"/>
              </a:rPr>
              <a:t> </a:t>
            </a:r>
            <a:r>
              <a:rPr lang="en-US" altLang="zh-CN" dirty="0">
                <a:solidFill>
                  <a:srgbClr val="D19A66"/>
                </a:solidFill>
                <a:latin typeface="Consolas" panose="020B0609020204030204" pitchFamily="49" charset="0"/>
              </a:rPr>
              <a:t>.box2</a:t>
            </a:r>
            <a:r>
              <a:rPr lang="en-US" altLang="zh-CN" dirty="0">
                <a:solidFill>
                  <a:srgbClr val="C678DD"/>
                </a:solidFill>
                <a:latin typeface="Consolas" panose="020B0609020204030204" pitchFamily="49" charset="0"/>
              </a:rPr>
              <a:t> </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blue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color: </a:t>
            </a:r>
            <a:r>
              <a:rPr lang="en-US" altLang="zh-CN" dirty="0">
                <a:solidFill>
                  <a:srgbClr val="D19A66"/>
                </a:solidFill>
                <a:latin typeface="Consolas" panose="020B0609020204030204" pitchFamily="49" charset="0"/>
              </a:rPr>
              <a:t>green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13" name="左箭头 12"/>
          <p:cNvSpPr/>
          <p:nvPr/>
        </p:nvSpPr>
        <p:spPr>
          <a:xfrm>
            <a:off x="3409703" y="4183249"/>
            <a:ext cx="2348346" cy="567759"/>
          </a:xfrm>
          <a:prstGeom prst="leftArrow">
            <a:avLst>
              <a:gd name="adj1" fmla="val 50000"/>
              <a:gd name="adj2" fmla="val 8859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bg1"/>
                </a:solidFill>
              </a:rPr>
              <a:t>0-0-1</a:t>
            </a:r>
            <a:endParaRPr lang="zh-CN" altLang="en-US" sz="2000" b="1" dirty="0">
              <a:solidFill>
                <a:schemeClr val="bg1"/>
              </a:solidFill>
            </a:endParaRPr>
          </a:p>
        </p:txBody>
      </p:sp>
      <p:sp>
        <p:nvSpPr>
          <p:cNvPr id="14" name="椭圆 13"/>
          <p:cNvSpPr/>
          <p:nvPr/>
        </p:nvSpPr>
        <p:spPr>
          <a:xfrm>
            <a:off x="9155764" y="2177903"/>
            <a:ext cx="2563161" cy="25631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0" b="1" dirty="0">
                <a:latin typeface="微软雅黑" panose="020B0503020204020204" pitchFamily="34" charset="-122"/>
                <a:ea typeface="微软雅黑" panose="020B0503020204020204" pitchFamily="34" charset="-122"/>
              </a:rPr>
              <a:t>绿</a:t>
            </a:r>
            <a:r>
              <a:rPr lang="zh-CN" altLang="en-US" sz="6000" b="1" dirty="0" smtClean="0">
                <a:latin typeface="微软雅黑" panose="020B0503020204020204" pitchFamily="34" charset="-122"/>
                <a:ea typeface="微软雅黑" panose="020B0503020204020204" pitchFamily="34" charset="-122"/>
              </a:rPr>
              <a:t>色</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50" fill="hold"/>
                                        <p:tgtEl>
                                          <p:spTgt spid="13"/>
                                        </p:tgtEl>
                                        <p:attrNameLst>
                                          <p:attrName>ppt_x</p:attrName>
                                        </p:attrNameLst>
                                      </p:cBhvr>
                                      <p:tavLst>
                                        <p:tav tm="0">
                                          <p:val>
                                            <p:strVal val="1+#ppt_w/2"/>
                                          </p:val>
                                        </p:tav>
                                        <p:tav tm="100000">
                                          <p:val>
                                            <p:strVal val="#ppt_x"/>
                                          </p:val>
                                        </p:tav>
                                      </p:tavLst>
                                    </p:anim>
                                    <p:anim calcmode="lin" valueType="num">
                                      <p:cBhvr additive="base">
                                        <p:cTn id="8" dur="25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250" fill="hold"/>
                                        <p:tgtEl>
                                          <p:spTgt spid="11"/>
                                        </p:tgtEl>
                                        <p:attrNameLst>
                                          <p:attrName>ppt_x</p:attrName>
                                        </p:attrNameLst>
                                      </p:cBhvr>
                                      <p:tavLst>
                                        <p:tav tm="0">
                                          <p:val>
                                            <p:strVal val="1+#ppt_w/2"/>
                                          </p:val>
                                        </p:tav>
                                        <p:tav tm="100000">
                                          <p:val>
                                            <p:strVal val="#ppt_x"/>
                                          </p:val>
                                        </p:tav>
                                      </p:tavLst>
                                    </p:anim>
                                    <p:anim calcmode="lin" valueType="num">
                                      <p:cBhvr additive="base">
                                        <p:cTn id="12" dur="25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250" fill="hold"/>
                                        <p:tgtEl>
                                          <p:spTgt spid="10"/>
                                        </p:tgtEl>
                                        <p:attrNameLst>
                                          <p:attrName>ppt_x</p:attrName>
                                        </p:attrNameLst>
                                      </p:cBhvr>
                                      <p:tavLst>
                                        <p:tav tm="0">
                                          <p:val>
                                            <p:strVal val="1+#ppt_w/2"/>
                                          </p:val>
                                        </p:tav>
                                        <p:tav tm="100000">
                                          <p:val>
                                            <p:strVal val="#ppt_x"/>
                                          </p:val>
                                        </p:tav>
                                      </p:tavLst>
                                    </p:anim>
                                    <p:anim calcmode="lin" valueType="num">
                                      <p:cBhvr additive="base">
                                        <p:cTn id="16" dur="2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500" fill="hold"/>
                                        <p:tgtEl>
                                          <p:spTgt spid="14"/>
                                        </p:tgtEl>
                                        <p:attrNameLst>
                                          <p:attrName>ppt_w</p:attrName>
                                        </p:attrNameLst>
                                      </p:cBhvr>
                                      <p:tavLst>
                                        <p:tav tm="0">
                                          <p:val>
                                            <p:fltVal val="0"/>
                                          </p:val>
                                        </p:tav>
                                        <p:tav tm="100000">
                                          <p:val>
                                            <p:strVal val="#ppt_w"/>
                                          </p:val>
                                        </p:tav>
                                      </p:tavLst>
                                    </p:anim>
                                    <p:anim calcmode="lin" valueType="num">
                                      <p:cBhvr>
                                        <p:cTn id="22" dur="500" fill="hold"/>
                                        <p:tgtEl>
                                          <p:spTgt spid="14"/>
                                        </p:tgtEl>
                                        <p:attrNameLst>
                                          <p:attrName>ppt_h</p:attrName>
                                        </p:attrNameLst>
                                      </p:cBhvr>
                                      <p:tavLst>
                                        <p:tav tm="0">
                                          <p:val>
                                            <p:fltVal val="0"/>
                                          </p:val>
                                        </p:tav>
                                        <p:tav tm="100000">
                                          <p:val>
                                            <p:strVal val="#ppt_h"/>
                                          </p:val>
                                        </p:tav>
                                      </p:tavLst>
                                    </p:anim>
                                    <p:anim calcmode="lin" valueType="num">
                                      <p:cBhvr>
                                        <p:cTn id="23" dur="500" fill="hold"/>
                                        <p:tgtEl>
                                          <p:spTgt spid="14"/>
                                        </p:tgtEl>
                                        <p:attrNameLst>
                                          <p:attrName>style.rotation</p:attrName>
                                        </p:attrNameLst>
                                      </p:cBhvr>
                                      <p:tavLst>
                                        <p:tav tm="0">
                                          <p:val>
                                            <p:fltVal val="90"/>
                                          </p:val>
                                        </p:tav>
                                        <p:tav tm="100000">
                                          <p:val>
                                            <p:fltVal val="0"/>
                                          </p:val>
                                        </p:tav>
                                      </p:tavLst>
                                    </p:anim>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250" fill="hold"/>
                                        <p:tgtEl>
                                          <p:spTgt spid="12"/>
                                        </p:tgtEl>
                                        <p:attrNameLst>
                                          <p:attrName>ppt_x</p:attrName>
                                        </p:attrNameLst>
                                      </p:cBhvr>
                                      <p:tavLst>
                                        <p:tav tm="0">
                                          <p:val>
                                            <p:strVal val="#ppt_x"/>
                                          </p:val>
                                        </p:tav>
                                        <p:tav tm="100000">
                                          <p:val>
                                            <p:strVal val="#ppt_x"/>
                                          </p:val>
                                        </p:tav>
                                      </p:tavLst>
                                    </p:anim>
                                    <p:anim calcmode="lin" valueType="num">
                                      <p:cBhvr additive="base">
                                        <p:cTn id="30" dur="2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经验与实践 </a:t>
            </a:r>
            <a:r>
              <a:rPr lang="en-US" altLang="zh-CN" dirty="0"/>
              <a:t>– CSS</a:t>
            </a:r>
            <a:r>
              <a:rPr lang="zh-CN" altLang="en-US" dirty="0"/>
              <a:t>权重</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8" name="内容占位符 7"/>
          <p:cNvPicPr>
            <a:picLocks noGrp="1" noChangeAspect="1"/>
          </p:cNvPicPr>
          <p:nvPr>
            <p:ph idx="1"/>
          </p:nvPr>
        </p:nvPicPr>
        <p:blipFill>
          <a:blip r:embed="rId1"/>
          <a:stretch>
            <a:fillRect/>
          </a:stretch>
        </p:blipFill>
        <p:spPr>
          <a:xfrm>
            <a:off x="557439" y="1812925"/>
            <a:ext cx="6852183" cy="371503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经验与实践 </a:t>
            </a:r>
            <a:r>
              <a:rPr lang="en-US" altLang="zh-CN" dirty="0"/>
              <a:t>– CSS</a:t>
            </a:r>
            <a:r>
              <a:rPr lang="zh-CN" altLang="en-US" dirty="0"/>
              <a:t>权重</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3" name="内容占位符 2"/>
          <p:cNvSpPr>
            <a:spLocks noGrp="1"/>
          </p:cNvSpPr>
          <p:nvPr>
            <p:ph idx="1"/>
          </p:nvPr>
        </p:nvSpPr>
        <p:spPr/>
        <p:txBody>
          <a:bodyPr/>
          <a:lstStyle/>
          <a:p>
            <a:r>
              <a:rPr lang="zh-CN" altLang="en-US" dirty="0" smtClean="0"/>
              <a:t>思考</a:t>
            </a:r>
            <a:endParaRPr lang="en-US" altLang="zh-CN" dirty="0" smtClean="0"/>
          </a:p>
          <a:p>
            <a:pPr lvl="1"/>
            <a:r>
              <a:rPr lang="zh-CN" altLang="en-US" dirty="0" smtClean="0"/>
              <a:t>按照权重规则，</a:t>
            </a:r>
            <a:r>
              <a:rPr lang="en-US" altLang="zh-CN" dirty="0" smtClean="0"/>
              <a:t>11</a:t>
            </a:r>
            <a:r>
              <a:rPr lang="zh-CN" altLang="en-US" dirty="0" smtClean="0"/>
              <a:t>个</a:t>
            </a:r>
            <a:r>
              <a:rPr lang="en-US" altLang="zh-CN" dirty="0" smtClean="0"/>
              <a:t>class</a:t>
            </a:r>
            <a:r>
              <a:rPr lang="zh-CN" altLang="en-US" dirty="0" smtClean="0"/>
              <a:t>权重是否大于</a:t>
            </a:r>
            <a:r>
              <a:rPr lang="en-US" altLang="zh-CN" dirty="0" smtClean="0"/>
              <a:t>1</a:t>
            </a:r>
            <a:r>
              <a:rPr lang="zh-CN" altLang="en-US" dirty="0" smtClean="0"/>
              <a:t>个</a:t>
            </a:r>
            <a:r>
              <a:rPr lang="en-US" altLang="zh-CN" dirty="0" smtClean="0"/>
              <a:t>id</a:t>
            </a:r>
            <a:r>
              <a:rPr lang="zh-CN" altLang="en-US" dirty="0" smtClean="0"/>
              <a:t>？</a:t>
            </a:r>
            <a:endParaRPr lang="en-US" altLang="zh-CN" dirty="0" smtClean="0"/>
          </a:p>
          <a:p>
            <a:pPr lvl="1"/>
            <a:r>
              <a:rPr lang="zh-CN" altLang="en-US" dirty="0" smtClean="0"/>
              <a:t>如何超越最大（</a:t>
            </a:r>
            <a:r>
              <a:rPr lang="en-US" altLang="zh-CN" dirty="0" smtClean="0"/>
              <a:t>!important</a:t>
            </a:r>
            <a:r>
              <a:rPr lang="zh-CN" altLang="en-US" dirty="0" smtClean="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CSS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层叠规则</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3</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层叠规则</a:t>
            </a:r>
            <a:endParaRPr lang="zh-CN" altLang="en-US" dirty="0"/>
          </a:p>
        </p:txBody>
      </p:sp>
      <p:sp>
        <p:nvSpPr>
          <p:cNvPr id="3" name="内容占位符 2"/>
          <p:cNvSpPr>
            <a:spLocks noGrp="1"/>
          </p:cNvSpPr>
          <p:nvPr>
            <p:ph idx="1"/>
          </p:nvPr>
        </p:nvSpPr>
        <p:spPr/>
        <p:txBody>
          <a:bodyPr/>
          <a:lstStyle/>
          <a:p>
            <a:r>
              <a:rPr lang="zh-CN" altLang="en-US" dirty="0" smtClean="0"/>
              <a:t>概念</a:t>
            </a:r>
            <a:endParaRPr lang="en-US" altLang="zh-CN" dirty="0" smtClean="0"/>
          </a:p>
          <a:p>
            <a:pPr lvl="1"/>
            <a:r>
              <a:rPr lang="zh-CN" altLang="en-US" dirty="0" smtClean="0"/>
              <a:t>当</a:t>
            </a:r>
            <a:r>
              <a:rPr lang="zh-CN" altLang="en-US" dirty="0"/>
              <a:t>网页中的元素发生</a:t>
            </a:r>
            <a:r>
              <a:rPr lang="zh-CN" altLang="en-US" dirty="0" smtClean="0"/>
              <a:t>层叠（堆叠）时</a:t>
            </a:r>
            <a:r>
              <a:rPr lang="zh-CN" altLang="en-US" dirty="0"/>
              <a:t>的</a:t>
            </a:r>
            <a:r>
              <a:rPr lang="zh-CN" altLang="en-US"/>
              <a:t>表现</a:t>
            </a:r>
            <a:r>
              <a:rPr lang="zh-CN" altLang="en-US" smtClean="0"/>
              <a:t>规则</a:t>
            </a:r>
            <a:endParaRPr lang="en-US" altLang="zh-CN" dirty="0" smtClean="0"/>
          </a:p>
          <a:p>
            <a:pPr lvl="1"/>
            <a:r>
              <a:rPr lang="zh-CN" altLang="en-US" dirty="0" smtClean="0"/>
              <a:t>默认</a:t>
            </a:r>
            <a:r>
              <a:rPr lang="zh-CN" altLang="en-US" dirty="0"/>
              <a:t>情况下，网页内容是没有偏移角的垂直视觉</a:t>
            </a:r>
            <a:r>
              <a:rPr lang="zh-CN" altLang="en-US" dirty="0" smtClean="0"/>
              <a:t>呈现</a:t>
            </a:r>
            <a:endParaRPr lang="en-US" altLang="zh-CN" dirty="0" smtClean="0"/>
          </a:p>
          <a:p>
            <a:pPr lvl="1"/>
            <a:r>
              <a:rPr lang="zh-CN" altLang="en-US" dirty="0" smtClean="0"/>
              <a:t>当</a:t>
            </a:r>
            <a:r>
              <a:rPr lang="zh-CN" altLang="en-US" dirty="0"/>
              <a:t>内容发生层叠的时候，一定会</a:t>
            </a:r>
            <a:r>
              <a:rPr lang="zh-CN" altLang="en-US" dirty="0" smtClean="0"/>
              <a:t>有一</a:t>
            </a:r>
            <a:r>
              <a:rPr lang="zh-CN" altLang="en-US" dirty="0"/>
              <a:t>个前后的层叠顺序产生</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en-US" altLang="zh-CN" dirty="0"/>
              <a:t>z-index </a:t>
            </a:r>
            <a:r>
              <a:rPr lang="zh-CN" altLang="en-US" dirty="0" smtClean="0"/>
              <a:t>只是 </a:t>
            </a:r>
            <a:r>
              <a:rPr lang="en-US" altLang="zh-CN" dirty="0" smtClean="0"/>
              <a:t>CSS </a:t>
            </a:r>
            <a:r>
              <a:rPr lang="zh-CN" altLang="en-US" dirty="0"/>
              <a:t>层叠规则中的一叶</a:t>
            </a:r>
            <a:r>
              <a:rPr lang="zh-CN" altLang="en-US" dirty="0" smtClean="0"/>
              <a:t>小舟</a:t>
            </a:r>
            <a:endParaRPr lang="zh-CN" altLang="en-US" dirty="0" smtClean="0"/>
          </a:p>
          <a:p>
            <a:pPr lvl="1"/>
            <a:r>
              <a:rPr lang="en-US" altLang="zh-CN" dirty="0" smtClean="0"/>
              <a:t>CSS 2.1</a:t>
            </a:r>
            <a:r>
              <a:rPr lang="zh-CN" altLang="en-US" dirty="0" smtClean="0"/>
              <a:t>，</a:t>
            </a:r>
            <a:r>
              <a:rPr lang="en-US" altLang="zh-CN" dirty="0"/>
              <a:t>z-index </a:t>
            </a:r>
            <a:r>
              <a:rPr lang="zh-CN" altLang="en-US" dirty="0"/>
              <a:t>属性只有和定位元素（</a:t>
            </a:r>
            <a:r>
              <a:rPr lang="en-US" altLang="zh-CN" dirty="0"/>
              <a:t>position </a:t>
            </a:r>
            <a:r>
              <a:rPr lang="zh-CN" altLang="en-US" dirty="0"/>
              <a:t>不</a:t>
            </a:r>
            <a:r>
              <a:rPr lang="zh-CN" altLang="en-US" dirty="0" smtClean="0"/>
              <a:t>为 </a:t>
            </a:r>
            <a:r>
              <a:rPr lang="en-US" altLang="zh-CN" dirty="0" smtClean="0"/>
              <a:t>static </a:t>
            </a:r>
            <a:r>
              <a:rPr lang="zh-CN" altLang="en-US" dirty="0"/>
              <a:t>的元素）在</a:t>
            </a:r>
            <a:r>
              <a:rPr lang="zh-CN" altLang="en-US" dirty="0" smtClean="0"/>
              <a:t>一起</a:t>
            </a:r>
            <a:r>
              <a:rPr lang="zh-CN" altLang="en-US" dirty="0"/>
              <a:t>的时候才有作用，可以是正数也可以是</a:t>
            </a:r>
            <a:r>
              <a:rPr lang="zh-CN" altLang="en-US" dirty="0" smtClean="0"/>
              <a:t>负数</a:t>
            </a:r>
            <a:endParaRPr lang="zh-CN" altLang="en-US" dirty="0" smtClean="0"/>
          </a:p>
          <a:p>
            <a:pPr lvl="1"/>
            <a:r>
              <a:rPr lang="zh-CN" altLang="en-US" dirty="0" smtClean="0">
                <a:sym typeface="+mn-ea"/>
              </a:rPr>
              <a:t>一个</a:t>
            </a:r>
            <a:r>
              <a:rPr lang="en-US" altLang="zh-CN" dirty="0" smtClean="0">
                <a:sym typeface="+mn-ea"/>
              </a:rPr>
              <a:t> z-index </a:t>
            </a:r>
            <a:r>
              <a:rPr lang="zh-CN" altLang="en-US" dirty="0" smtClean="0">
                <a:sym typeface="+mn-ea"/>
              </a:rPr>
              <a:t>属性远远不能代表</a:t>
            </a:r>
            <a:r>
              <a:rPr lang="en-US" altLang="zh-CN" dirty="0" smtClean="0">
                <a:sym typeface="+mn-ea"/>
              </a:rPr>
              <a:t>CSS</a:t>
            </a:r>
            <a:r>
              <a:rPr lang="zh-CN" altLang="en-US" dirty="0" smtClean="0">
                <a:sym typeface="+mn-ea"/>
              </a:rPr>
              <a:t>世界的层叠规则</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zh-CN" altLang="en-US" dirty="0" smtClean="0"/>
              <a:t>层叠上下文（</a:t>
            </a:r>
            <a:r>
              <a:rPr lang="en-US" altLang="zh-CN" dirty="0"/>
              <a:t>stacking context</a:t>
            </a:r>
            <a:r>
              <a:rPr lang="zh-CN" altLang="en-US" dirty="0" smtClean="0"/>
              <a:t>）</a:t>
            </a:r>
            <a:endParaRPr lang="en-US" altLang="zh-CN" dirty="0"/>
          </a:p>
          <a:p>
            <a:pPr lvl="1"/>
            <a:r>
              <a:rPr lang="zh-CN" altLang="en-US" dirty="0"/>
              <a:t>是</a:t>
            </a:r>
            <a:r>
              <a:rPr lang="en-US" altLang="zh-CN" dirty="0"/>
              <a:t> HTML </a:t>
            </a:r>
            <a:r>
              <a:rPr lang="zh-CN" altLang="en-US" dirty="0"/>
              <a:t>中的一个三维的概念</a:t>
            </a:r>
            <a:endParaRPr lang="en-US" altLang="zh-CN" dirty="0" smtClean="0"/>
          </a:p>
          <a:p>
            <a:endParaRPr lang="en-US" altLang="zh-CN" dirty="0" smtClean="0"/>
          </a:p>
          <a:p>
            <a:r>
              <a:rPr lang="zh-CN" altLang="en-US" dirty="0" smtClean="0"/>
              <a:t>层叠水平（</a:t>
            </a:r>
            <a:r>
              <a:rPr lang="en-US" altLang="zh-CN" dirty="0"/>
              <a:t>stacking </a:t>
            </a:r>
            <a:r>
              <a:rPr lang="en-US" altLang="zh-CN" dirty="0" smtClean="0"/>
              <a:t>level</a:t>
            </a:r>
            <a:r>
              <a:rPr lang="zh-CN" altLang="en-US" dirty="0" smtClean="0"/>
              <a:t>）</a:t>
            </a:r>
            <a:endParaRPr lang="en-US" altLang="zh-CN" dirty="0"/>
          </a:p>
          <a:p>
            <a:pPr lvl="1"/>
            <a:r>
              <a:rPr lang="zh-CN" altLang="en-US" dirty="0"/>
              <a:t>同一个层叠上下文中</a:t>
            </a:r>
            <a:r>
              <a:rPr lang="zh-CN" altLang="en-US" dirty="0" smtClean="0"/>
              <a:t>元素在 </a:t>
            </a:r>
            <a:r>
              <a:rPr lang="en-US" altLang="zh-CN" dirty="0" smtClean="0"/>
              <a:t>Z</a:t>
            </a:r>
            <a:r>
              <a:rPr lang="en-US" altLang="zh-CN" i="1" dirty="0" smtClean="0"/>
              <a:t> </a:t>
            </a:r>
            <a:r>
              <a:rPr lang="zh-CN" altLang="en-US" dirty="0" smtClean="0"/>
              <a:t>轴</a:t>
            </a:r>
            <a:r>
              <a:rPr lang="zh-CN" altLang="en-US" dirty="0"/>
              <a:t>上的显示</a:t>
            </a:r>
            <a:r>
              <a:rPr lang="zh-CN" altLang="en-US" dirty="0" smtClean="0"/>
              <a:t>顺序</a:t>
            </a:r>
            <a:endParaRPr lang="en-US" altLang="zh-CN" dirty="0" smtClean="0"/>
          </a:p>
          <a:p>
            <a:pPr lvl="1"/>
            <a:r>
              <a:rPr lang="zh-CN" altLang="en-US" dirty="0"/>
              <a:t>层叠水平</a:t>
            </a:r>
            <a:r>
              <a:rPr lang="zh-CN" altLang="en-US" dirty="0" smtClean="0"/>
              <a:t>和 </a:t>
            </a:r>
            <a:r>
              <a:rPr lang="en-US" altLang="zh-CN" dirty="0" smtClean="0"/>
              <a:t>CSS </a:t>
            </a:r>
            <a:r>
              <a:rPr lang="zh-CN" altLang="en-US" dirty="0" smtClean="0"/>
              <a:t>的 </a:t>
            </a:r>
            <a:r>
              <a:rPr lang="en-US" altLang="zh-CN" dirty="0" smtClean="0"/>
              <a:t>z-index </a:t>
            </a:r>
            <a:r>
              <a:rPr lang="zh-CN" altLang="en-US" dirty="0" smtClean="0"/>
              <a:t>属性</a:t>
            </a:r>
            <a:r>
              <a:rPr lang="zh-CN" altLang="en-US" dirty="0"/>
              <a:t>两</a:t>
            </a:r>
            <a:r>
              <a:rPr lang="zh-CN" altLang="en-US" dirty="0" smtClean="0"/>
              <a:t>个概念</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normAutofit/>
          </a:bodyPr>
          <a:lstStyle/>
          <a:p>
            <a:r>
              <a:rPr lang="zh-CN" altLang="en-US" dirty="0"/>
              <a:t>层叠上下文的</a:t>
            </a:r>
            <a:r>
              <a:rPr lang="zh-CN" altLang="en-US" dirty="0" smtClean="0"/>
              <a:t>特性</a:t>
            </a:r>
            <a:endParaRPr lang="en-US" altLang="zh-CN" dirty="0" smtClean="0"/>
          </a:p>
          <a:p>
            <a:pPr lvl="1"/>
            <a:r>
              <a:rPr lang="zh-CN" altLang="en-US" dirty="0" smtClean="0"/>
              <a:t>层叠</a:t>
            </a:r>
            <a:r>
              <a:rPr lang="zh-CN" altLang="en-US" dirty="0"/>
              <a:t>水平要比普通元素</a:t>
            </a:r>
            <a:r>
              <a:rPr lang="zh-CN" altLang="en-US" dirty="0" smtClean="0"/>
              <a:t>高</a:t>
            </a:r>
            <a:endParaRPr lang="zh-CN" altLang="en-US" dirty="0"/>
          </a:p>
          <a:p>
            <a:pPr lvl="1"/>
            <a:r>
              <a:rPr lang="zh-CN" altLang="en-US" dirty="0" smtClean="0"/>
              <a:t>可以阻断元素的混合模式（</a:t>
            </a:r>
            <a:r>
              <a:rPr lang="en-US" altLang="zh-CN" dirty="0"/>
              <a:t>isolation</a:t>
            </a:r>
            <a:r>
              <a:rPr lang="zh-CN" altLang="en-US" dirty="0" smtClean="0"/>
              <a:t>）</a:t>
            </a:r>
            <a:endParaRPr lang="en-US" altLang="zh-CN" dirty="0" smtClean="0"/>
          </a:p>
          <a:p>
            <a:pPr lvl="1"/>
            <a:r>
              <a:rPr lang="zh-CN" altLang="en-US" dirty="0" smtClean="0"/>
              <a:t>可以</a:t>
            </a:r>
            <a:r>
              <a:rPr lang="zh-CN" altLang="en-US" dirty="0"/>
              <a:t>嵌套，</a:t>
            </a:r>
            <a:r>
              <a:rPr lang="zh-CN" altLang="en-US" dirty="0" smtClean="0"/>
              <a:t>内部受制</a:t>
            </a:r>
            <a:r>
              <a:rPr lang="zh-CN" altLang="en-US" dirty="0"/>
              <a:t>于</a:t>
            </a:r>
            <a:r>
              <a:rPr lang="zh-CN" altLang="en-US" dirty="0" smtClean="0"/>
              <a:t>外部</a:t>
            </a:r>
            <a:endParaRPr lang="en-US" altLang="zh-CN" dirty="0" smtClean="0"/>
          </a:p>
          <a:p>
            <a:pPr lvl="1"/>
            <a:r>
              <a:rPr lang="zh-CN" altLang="en-US" dirty="0" smtClean="0"/>
              <a:t>和</a:t>
            </a:r>
            <a:r>
              <a:rPr lang="zh-CN" altLang="en-US" dirty="0"/>
              <a:t>兄弟元素</a:t>
            </a:r>
            <a:r>
              <a:rPr lang="zh-CN" altLang="en-US" dirty="0" smtClean="0"/>
              <a:t>独立</a:t>
            </a:r>
            <a:endParaRPr lang="zh-CN" altLang="en-US" dirty="0"/>
          </a:p>
          <a:p>
            <a:pPr lvl="1"/>
            <a:r>
              <a:rPr lang="zh-CN" altLang="en-US" dirty="0" smtClean="0"/>
              <a:t>自</a:t>
            </a:r>
            <a:r>
              <a:rPr lang="zh-CN" altLang="en-US" dirty="0"/>
              <a:t>成</a:t>
            </a:r>
            <a:r>
              <a:rPr lang="zh-CN" altLang="en-US" dirty="0" smtClean="0"/>
              <a:t>体系</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zh-CN" altLang="en-US" dirty="0" smtClean="0">
                <a:sym typeface="+mn-ea"/>
              </a:rPr>
              <a:t>创建</a:t>
            </a:r>
            <a:r>
              <a:rPr lang="zh-CN" altLang="en-US" dirty="0"/>
              <a:t>层叠上下文</a:t>
            </a:r>
            <a:endParaRPr lang="en-US" altLang="zh-CN" dirty="0" smtClean="0"/>
          </a:p>
          <a:p>
            <a:pPr lvl="1"/>
            <a:r>
              <a:rPr lang="zh-CN" altLang="en-US" dirty="0" smtClean="0"/>
              <a:t>天生</a:t>
            </a:r>
            <a:r>
              <a:rPr lang="zh-CN" altLang="en-US" dirty="0"/>
              <a:t>派：页面根元素天生具有层叠上下文，称为根层叠</a:t>
            </a:r>
            <a:r>
              <a:rPr lang="zh-CN" altLang="en-US" dirty="0" smtClean="0"/>
              <a:t>上下文</a:t>
            </a:r>
            <a:endParaRPr lang="zh-CN" altLang="en-US" dirty="0"/>
          </a:p>
          <a:p>
            <a:pPr lvl="1"/>
            <a:r>
              <a:rPr lang="zh-CN" altLang="en-US" dirty="0" smtClean="0"/>
              <a:t>正统派：有效 </a:t>
            </a:r>
            <a:r>
              <a:rPr lang="en-US" altLang="zh-CN" dirty="0" smtClean="0"/>
              <a:t>z-index </a:t>
            </a:r>
            <a:r>
              <a:rPr lang="zh-CN" altLang="en-US" dirty="0" smtClean="0"/>
              <a:t>值的</a:t>
            </a:r>
            <a:r>
              <a:rPr lang="zh-CN" altLang="en-US" dirty="0"/>
              <a:t>定位</a:t>
            </a:r>
            <a:r>
              <a:rPr lang="zh-CN" altLang="en-US" dirty="0" smtClean="0"/>
              <a:t>元素</a:t>
            </a:r>
            <a:endParaRPr lang="en-US" altLang="zh-CN" dirty="0" smtClean="0"/>
          </a:p>
          <a:p>
            <a:pPr lvl="1"/>
            <a:r>
              <a:rPr lang="zh-CN" altLang="en-US" dirty="0" smtClean="0"/>
              <a:t>扩</a:t>
            </a:r>
            <a:r>
              <a:rPr lang="zh-CN" altLang="en-US" dirty="0"/>
              <a:t>招派：</a:t>
            </a:r>
            <a:r>
              <a:rPr lang="zh-CN" altLang="en-US" dirty="0" smtClean="0"/>
              <a:t>其他 </a:t>
            </a:r>
            <a:r>
              <a:rPr lang="en-US" altLang="zh-CN" dirty="0" smtClean="0"/>
              <a:t>CSS3 </a:t>
            </a:r>
            <a:r>
              <a:rPr lang="zh-CN" altLang="en-US" dirty="0" smtClean="0"/>
              <a:t>属性，比如 </a:t>
            </a:r>
            <a:r>
              <a:rPr lang="en-US" altLang="zh-CN" dirty="0" smtClean="0"/>
              <a:t>transform</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zh-CN" altLang="en-US" dirty="0" smtClean="0"/>
              <a:t>层叠顺序（</a:t>
            </a:r>
            <a:r>
              <a:rPr lang="en-US" altLang="zh-CN" dirty="0"/>
              <a:t>stacking order</a:t>
            </a:r>
            <a:r>
              <a:rPr lang="zh-CN" altLang="en-US" dirty="0" smtClean="0"/>
              <a:t>）</a:t>
            </a:r>
            <a:endParaRPr lang="en-US" altLang="zh-CN" dirty="0"/>
          </a:p>
          <a:p>
            <a:pPr lvl="1"/>
            <a:r>
              <a:rPr lang="zh-CN" altLang="en-US" dirty="0"/>
              <a:t>表示元素发生层叠时有着特定</a:t>
            </a:r>
            <a:r>
              <a:rPr lang="zh-CN" altLang="en-US" dirty="0" smtClean="0"/>
              <a:t>的垂直</a:t>
            </a:r>
            <a:r>
              <a:rPr lang="zh-CN" altLang="en-US" dirty="0"/>
              <a:t>显示顺序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6062889" y="2606487"/>
            <a:ext cx="6096000" cy="369332"/>
          </a:xfrm>
          <a:prstGeom prst="rect">
            <a:avLst/>
          </a:prstGeom>
        </p:spPr>
        <p:txBody>
          <a:bodyPr>
            <a:spAutoFit/>
          </a:bodyPr>
          <a:lstStyle/>
          <a:p>
            <a:endParaRPr lang="zh-CN" altLang="en-US" dirty="0">
              <a:solidFill>
                <a:schemeClr val="bg1"/>
              </a:solidFill>
            </a:endParaRPr>
          </a:p>
        </p:txBody>
      </p:sp>
      <p:sp>
        <p:nvSpPr>
          <p:cNvPr id="7" name="矩形 6"/>
          <p:cNvSpPr/>
          <p:nvPr/>
        </p:nvSpPr>
        <p:spPr>
          <a:xfrm>
            <a:off x="5622925" y="2520223"/>
            <a:ext cx="6096000" cy="2306955"/>
          </a:xfrm>
          <a:prstGeom prst="rect">
            <a:avLst/>
          </a:prstGeom>
        </p:spPr>
        <p:txBody>
          <a:bodyPr>
            <a:spAutoFit/>
          </a:bodyPr>
          <a:lstStyle/>
          <a:p>
            <a:pPr marL="342900" indent="-342900">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位于</a:t>
            </a:r>
            <a:r>
              <a:rPr lang="zh-CN" altLang="en-US" dirty="0">
                <a:solidFill>
                  <a:schemeClr val="bg1"/>
                </a:solidFill>
                <a:latin typeface="微软雅黑" panose="020B0503020204020204" pitchFamily="34" charset="-122"/>
                <a:ea typeface="微软雅黑" panose="020B0503020204020204" pitchFamily="34" charset="-122"/>
              </a:rPr>
              <a:t>最下面的</a:t>
            </a:r>
            <a:r>
              <a:rPr lang="en-US" altLang="zh-CN" dirty="0">
                <a:solidFill>
                  <a:schemeClr val="bg1"/>
                </a:solidFill>
                <a:latin typeface="微软雅黑" panose="020B0503020204020204" pitchFamily="34" charset="-122"/>
                <a:ea typeface="微软雅黑" panose="020B0503020204020204" pitchFamily="34" charset="-122"/>
              </a:rPr>
              <a:t> background/border</a:t>
            </a:r>
            <a:r>
              <a:rPr lang="zh-CN" altLang="en-US" dirty="0">
                <a:solidFill>
                  <a:schemeClr val="bg1"/>
                </a:solidFill>
                <a:latin typeface="微软雅黑" panose="020B0503020204020204" pitchFamily="34" charset="-122"/>
                <a:ea typeface="微软雅黑" panose="020B0503020204020204" pitchFamily="34" charset="-122"/>
              </a:rPr>
              <a:t>，指层叠上下文元素的</a:t>
            </a:r>
            <a:r>
              <a:rPr lang="zh-CN" altLang="en-US" dirty="0" smtClean="0">
                <a:solidFill>
                  <a:schemeClr val="bg1"/>
                </a:solidFill>
                <a:latin typeface="微软雅黑" panose="020B0503020204020204" pitchFamily="34" charset="-122"/>
                <a:ea typeface="微软雅黑" panose="020B0503020204020204" pitchFamily="34" charset="-122"/>
                <a:sym typeface="+mn-ea"/>
              </a:rPr>
              <a:t>背景色和</a:t>
            </a:r>
            <a:r>
              <a:rPr lang="zh-CN" altLang="en-US" dirty="0">
                <a:solidFill>
                  <a:schemeClr val="bg1"/>
                </a:solidFill>
                <a:latin typeface="微软雅黑" panose="020B0503020204020204" pitchFamily="34" charset="-122"/>
                <a:ea typeface="微软雅黑" panose="020B0503020204020204" pitchFamily="34" charset="-122"/>
              </a:rPr>
              <a:t>边框</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342900" indent="-342900">
              <a:buFont typeface="+mj-lt"/>
              <a:buAutoNum type="arabicPeriod"/>
            </a:pP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en-US" altLang="zh-CN" dirty="0" smtClean="0">
                <a:solidFill>
                  <a:schemeClr val="bg1"/>
                </a:solidFill>
                <a:latin typeface="微软雅黑" panose="020B0503020204020204" pitchFamily="34" charset="-122"/>
                <a:ea typeface="微软雅黑" panose="020B0503020204020204" pitchFamily="34" charset="-122"/>
              </a:rPr>
              <a:t>inline </a:t>
            </a:r>
            <a:r>
              <a:rPr lang="zh-CN" altLang="en-US" dirty="0">
                <a:solidFill>
                  <a:schemeClr val="bg1"/>
                </a:solidFill>
                <a:latin typeface="微软雅黑" panose="020B0503020204020204" pitchFamily="34" charset="-122"/>
                <a:ea typeface="微软雅黑" panose="020B0503020204020204" pitchFamily="34" charset="-122"/>
              </a:rPr>
              <a:t>水平盒子指的是包括</a:t>
            </a:r>
            <a:r>
              <a:rPr lang="en-US" altLang="zh-CN" dirty="0">
                <a:solidFill>
                  <a:schemeClr val="bg1"/>
                </a:solidFill>
                <a:latin typeface="微软雅黑" panose="020B0503020204020204" pitchFamily="34" charset="-122"/>
                <a:ea typeface="微软雅黑" panose="020B0503020204020204" pitchFamily="34" charset="-122"/>
              </a:rPr>
              <a:t> inline/inline-block/inline-table </a:t>
            </a:r>
            <a:r>
              <a:rPr lang="zh-CN" altLang="en-US" dirty="0" smtClean="0">
                <a:solidFill>
                  <a:schemeClr val="bg1"/>
                </a:solidFill>
                <a:latin typeface="微软雅黑" panose="020B0503020204020204" pitchFamily="34" charset="-122"/>
                <a:ea typeface="微软雅黑" panose="020B0503020204020204" pitchFamily="34" charset="-122"/>
              </a:rPr>
              <a:t>元素，它们</a:t>
            </a:r>
            <a:r>
              <a:rPr lang="zh-CN" altLang="en-US" dirty="0">
                <a:solidFill>
                  <a:schemeClr val="bg1"/>
                </a:solidFill>
                <a:latin typeface="微软雅黑" panose="020B0503020204020204" pitchFamily="34" charset="-122"/>
                <a:ea typeface="微软雅黑" panose="020B0503020204020204" pitchFamily="34" charset="-122"/>
              </a:rPr>
              <a:t>都是同等级别</a:t>
            </a:r>
            <a:r>
              <a:rPr lang="zh-CN" altLang="en-US" dirty="0" smtClean="0">
                <a:solidFill>
                  <a:schemeClr val="bg1"/>
                </a:solidFill>
                <a:latin typeface="微软雅黑" panose="020B0503020204020204" pitchFamily="34" charset="-122"/>
                <a:ea typeface="微软雅黑" panose="020B0503020204020204" pitchFamily="34" charset="-122"/>
              </a:rPr>
              <a:t>的</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342900" indent="-342900">
              <a:buFont typeface="+mj-lt"/>
              <a:buAutoNum type="arabicPeriod"/>
            </a:pP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从层叠</a:t>
            </a:r>
            <a:r>
              <a:rPr lang="zh-CN" altLang="en-US" dirty="0">
                <a:solidFill>
                  <a:schemeClr val="bg1"/>
                </a:solidFill>
                <a:latin typeface="微软雅黑" panose="020B0503020204020204" pitchFamily="34" charset="-122"/>
                <a:ea typeface="微软雅黑" panose="020B0503020204020204" pitchFamily="34" charset="-122"/>
              </a:rPr>
              <a:t>水平上看</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z-index:0 </a:t>
            </a:r>
            <a:r>
              <a:rPr lang="zh-CN" altLang="en-US" dirty="0" smtClean="0">
                <a:solidFill>
                  <a:schemeClr val="bg1"/>
                </a:solidFill>
                <a:latin typeface="微软雅黑" panose="020B0503020204020204" pitchFamily="34" charset="-122"/>
                <a:ea typeface="微软雅黑" panose="020B0503020204020204" pitchFamily="34" charset="-122"/>
              </a:rPr>
              <a:t>和 </a:t>
            </a:r>
            <a:r>
              <a:rPr lang="en-US" altLang="zh-CN" dirty="0" err="1" smtClean="0">
                <a:solidFill>
                  <a:schemeClr val="bg1"/>
                </a:solidFill>
                <a:latin typeface="微软雅黑" panose="020B0503020204020204" pitchFamily="34" charset="-122"/>
                <a:ea typeface="微软雅黑" panose="020B0503020204020204" pitchFamily="34" charset="-122"/>
              </a:rPr>
              <a:t>z-index:auto</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是可以看成是一样</a:t>
            </a:r>
            <a:r>
              <a:rPr lang="zh-CN" altLang="en-US" dirty="0" smtClean="0">
                <a:solidFill>
                  <a:schemeClr val="bg1"/>
                </a:solidFill>
                <a:latin typeface="微软雅黑" panose="020B0503020204020204" pitchFamily="34" charset="-122"/>
                <a:ea typeface="微软雅黑" panose="020B0503020204020204" pitchFamily="34" charset="-122"/>
              </a:rPr>
              <a:t>的</a:t>
            </a:r>
            <a:endParaRPr lang="zh-CN" altLang="en-US"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68037" y="2218936"/>
            <a:ext cx="4954023" cy="4056306"/>
            <a:chOff x="4946073" y="1855255"/>
            <a:chExt cx="5413663" cy="4161082"/>
          </a:xfrm>
        </p:grpSpPr>
        <p:sp>
          <p:nvSpPr>
            <p:cNvPr id="9" name="矩形 8"/>
            <p:cNvSpPr/>
            <p:nvPr/>
          </p:nvSpPr>
          <p:spPr>
            <a:xfrm>
              <a:off x="4946073" y="1855255"/>
              <a:ext cx="5413663" cy="4161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dirty="0" smtClean="0">
                  <a:solidFill>
                    <a:schemeClr val="tx1"/>
                  </a:solidFill>
                </a:rPr>
                <a:t>层叠上下文</a:t>
              </a:r>
              <a:endParaRPr lang="zh-CN" altLang="en-US" dirty="0">
                <a:solidFill>
                  <a:schemeClr val="tx1"/>
                </a:solidFill>
              </a:endParaRPr>
            </a:p>
          </p:txBody>
        </p:sp>
        <p:sp>
          <p:nvSpPr>
            <p:cNvPr id="10" name="矩形 9"/>
            <p:cNvSpPr/>
            <p:nvPr/>
          </p:nvSpPr>
          <p:spPr>
            <a:xfrm>
              <a:off x="5229701" y="2281852"/>
              <a:ext cx="2880000" cy="1080000"/>
            </a:xfrm>
            <a:prstGeom prst="rect">
              <a:avLst/>
            </a:prstGeom>
            <a:solidFill>
              <a:srgbClr val="B376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background</a:t>
              </a:r>
              <a:r>
                <a:rPr lang="zh-CN" altLang="en-US" dirty="0" smtClean="0"/>
                <a:t>、</a:t>
              </a:r>
              <a:r>
                <a:rPr lang="en-US" altLang="zh-CN" dirty="0" smtClean="0"/>
                <a:t>border</a:t>
              </a:r>
              <a:endParaRPr lang="zh-CN" altLang="en-US" dirty="0"/>
            </a:p>
          </p:txBody>
        </p:sp>
        <p:sp>
          <p:nvSpPr>
            <p:cNvPr id="11" name="矩形 10"/>
            <p:cNvSpPr/>
            <p:nvPr/>
          </p:nvSpPr>
          <p:spPr>
            <a:xfrm>
              <a:off x="5553732" y="2676737"/>
              <a:ext cx="2880000" cy="1080000"/>
            </a:xfrm>
            <a:prstGeom prst="rect">
              <a:avLst/>
            </a:prstGeom>
            <a:solidFill>
              <a:srgbClr val="8976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dirty="0" smtClean="0"/>
                <a:t>负</a:t>
              </a:r>
              <a:r>
                <a:rPr lang="en-US" altLang="zh-CN" dirty="0" smtClean="0"/>
                <a:t>z-index</a:t>
              </a:r>
              <a:endParaRPr lang="zh-CN" altLang="en-US" dirty="0"/>
            </a:p>
          </p:txBody>
        </p:sp>
        <p:sp>
          <p:nvSpPr>
            <p:cNvPr id="12" name="矩形 11"/>
            <p:cNvSpPr/>
            <p:nvPr/>
          </p:nvSpPr>
          <p:spPr>
            <a:xfrm>
              <a:off x="5877763" y="3071622"/>
              <a:ext cx="2880000" cy="1080000"/>
            </a:xfrm>
            <a:prstGeom prst="rect">
              <a:avLst/>
            </a:prstGeom>
            <a:solidFill>
              <a:srgbClr val="5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block</a:t>
              </a:r>
              <a:r>
                <a:rPr lang="zh-CN" altLang="en-US" dirty="0" smtClean="0"/>
                <a:t>块状水平盒子</a:t>
              </a:r>
              <a:endParaRPr lang="zh-CN" altLang="en-US" dirty="0"/>
            </a:p>
          </p:txBody>
        </p:sp>
        <p:sp>
          <p:nvSpPr>
            <p:cNvPr id="13" name="矩形 12"/>
            <p:cNvSpPr/>
            <p:nvPr/>
          </p:nvSpPr>
          <p:spPr>
            <a:xfrm>
              <a:off x="6201794" y="3466507"/>
              <a:ext cx="2880000" cy="1080000"/>
            </a:xfrm>
            <a:prstGeom prst="rect">
              <a:avLst/>
            </a:prstGeom>
            <a:solidFill>
              <a:srgbClr val="51CE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float</a:t>
              </a:r>
              <a:r>
                <a:rPr lang="zh-CN" altLang="en-US" dirty="0" smtClean="0"/>
                <a:t>浮动盒子</a:t>
              </a:r>
              <a:endParaRPr lang="zh-CN" altLang="en-US" dirty="0"/>
            </a:p>
          </p:txBody>
        </p:sp>
        <p:sp>
          <p:nvSpPr>
            <p:cNvPr id="14" name="矩形 13"/>
            <p:cNvSpPr/>
            <p:nvPr/>
          </p:nvSpPr>
          <p:spPr>
            <a:xfrm>
              <a:off x="6525825" y="3861392"/>
              <a:ext cx="2880000" cy="1080000"/>
            </a:xfrm>
            <a:prstGeom prst="rect">
              <a:avLst/>
            </a:prstGeom>
            <a:solidFill>
              <a:srgbClr val="9BD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inline</a:t>
              </a:r>
              <a:r>
                <a:rPr lang="zh-CN" altLang="en-US" dirty="0" smtClean="0"/>
                <a:t>水平盒子</a:t>
              </a:r>
              <a:endParaRPr lang="zh-CN" altLang="en-US" dirty="0"/>
            </a:p>
          </p:txBody>
        </p:sp>
        <p:sp>
          <p:nvSpPr>
            <p:cNvPr id="15" name="矩形 14"/>
            <p:cNvSpPr/>
            <p:nvPr/>
          </p:nvSpPr>
          <p:spPr>
            <a:xfrm>
              <a:off x="6849856" y="4256277"/>
              <a:ext cx="2880000" cy="1080000"/>
            </a:xfrm>
            <a:prstGeom prst="rect">
              <a:avLst/>
            </a:prstGeom>
            <a:solidFill>
              <a:srgbClr val="DAA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z-index</a:t>
              </a:r>
              <a:r>
                <a:rPr lang="zh-CN" altLang="en-US" dirty="0" smtClean="0"/>
                <a:t>为</a:t>
              </a:r>
              <a:r>
                <a:rPr lang="en-US" altLang="zh-CN" dirty="0" smtClean="0"/>
                <a:t>0</a:t>
              </a:r>
              <a:r>
                <a:rPr lang="zh-CN" altLang="en-US" dirty="0" smtClean="0"/>
                <a:t>或</a:t>
              </a:r>
              <a:r>
                <a:rPr lang="en-US" altLang="zh-CN" dirty="0"/>
                <a:t>a</a:t>
              </a:r>
              <a:r>
                <a:rPr lang="en-US" altLang="zh-CN" dirty="0" smtClean="0"/>
                <a:t>uto</a:t>
              </a:r>
              <a:endParaRPr lang="zh-CN" altLang="en-US" dirty="0"/>
            </a:p>
          </p:txBody>
        </p:sp>
        <p:sp>
          <p:nvSpPr>
            <p:cNvPr id="16" name="矩形 15"/>
            <p:cNvSpPr/>
            <p:nvPr/>
          </p:nvSpPr>
          <p:spPr>
            <a:xfrm>
              <a:off x="7173887" y="4651163"/>
              <a:ext cx="2880000" cy="1080000"/>
            </a:xfrm>
            <a:prstGeom prst="rect">
              <a:avLst/>
            </a:prstGeom>
            <a:solidFill>
              <a:srgbClr val="D8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dirty="0" smtClean="0"/>
                <a:t>正</a:t>
              </a:r>
              <a:r>
                <a:rPr lang="en-US" altLang="zh-CN" dirty="0" smtClean="0"/>
                <a:t>z-index</a:t>
              </a:r>
              <a:endParaRPr lang="zh-CN" altLang="en-US" dirty="0"/>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zh-CN" altLang="en-US" dirty="0" smtClean="0"/>
              <a:t>为什么内联元素的层叠顺序比浮动元素和块元素都要高？</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grpSp>
        <p:nvGrpSpPr>
          <p:cNvPr id="25" name="组合 24"/>
          <p:cNvGrpSpPr/>
          <p:nvPr/>
        </p:nvGrpSpPr>
        <p:grpSpPr>
          <a:xfrm>
            <a:off x="644237" y="1907210"/>
            <a:ext cx="5413663" cy="4161082"/>
            <a:chOff x="4946073" y="1855255"/>
            <a:chExt cx="5413663" cy="4161082"/>
          </a:xfrm>
        </p:grpSpPr>
        <p:sp>
          <p:nvSpPr>
            <p:cNvPr id="17" name="矩形 16"/>
            <p:cNvSpPr/>
            <p:nvPr/>
          </p:nvSpPr>
          <p:spPr>
            <a:xfrm>
              <a:off x="4946073" y="1855255"/>
              <a:ext cx="5413663" cy="4161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dirty="0" smtClean="0">
                  <a:solidFill>
                    <a:schemeClr val="tx1"/>
                  </a:solidFill>
                </a:rPr>
                <a:t>层叠上下文</a:t>
              </a:r>
              <a:endParaRPr lang="zh-CN" altLang="en-US" dirty="0">
                <a:solidFill>
                  <a:schemeClr val="tx1"/>
                </a:solidFill>
              </a:endParaRPr>
            </a:p>
          </p:txBody>
        </p:sp>
        <p:sp>
          <p:nvSpPr>
            <p:cNvPr id="18" name="矩形 17"/>
            <p:cNvSpPr/>
            <p:nvPr/>
          </p:nvSpPr>
          <p:spPr>
            <a:xfrm>
              <a:off x="5229701" y="2281852"/>
              <a:ext cx="2880000" cy="1080000"/>
            </a:xfrm>
            <a:prstGeom prst="rect">
              <a:avLst/>
            </a:prstGeom>
            <a:solidFill>
              <a:srgbClr val="B376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background</a:t>
              </a:r>
              <a:r>
                <a:rPr lang="zh-CN" altLang="en-US" dirty="0" smtClean="0"/>
                <a:t>、</a:t>
              </a:r>
              <a:r>
                <a:rPr lang="en-US" altLang="zh-CN" dirty="0" smtClean="0"/>
                <a:t>border</a:t>
              </a:r>
              <a:endParaRPr lang="zh-CN" altLang="en-US" dirty="0"/>
            </a:p>
          </p:txBody>
        </p:sp>
        <p:sp>
          <p:nvSpPr>
            <p:cNvPr id="19" name="矩形 18"/>
            <p:cNvSpPr/>
            <p:nvPr/>
          </p:nvSpPr>
          <p:spPr>
            <a:xfrm>
              <a:off x="5553732" y="2676737"/>
              <a:ext cx="2880000" cy="1080000"/>
            </a:xfrm>
            <a:prstGeom prst="rect">
              <a:avLst/>
            </a:prstGeom>
            <a:solidFill>
              <a:srgbClr val="8976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dirty="0" smtClean="0"/>
                <a:t>负</a:t>
              </a:r>
              <a:r>
                <a:rPr lang="en-US" altLang="zh-CN" dirty="0" smtClean="0"/>
                <a:t>z-index</a:t>
              </a:r>
              <a:endParaRPr lang="zh-CN" altLang="en-US" dirty="0"/>
            </a:p>
          </p:txBody>
        </p:sp>
        <p:sp>
          <p:nvSpPr>
            <p:cNvPr id="20" name="矩形 19"/>
            <p:cNvSpPr/>
            <p:nvPr/>
          </p:nvSpPr>
          <p:spPr>
            <a:xfrm>
              <a:off x="5877763" y="3071622"/>
              <a:ext cx="2880000" cy="1080000"/>
            </a:xfrm>
            <a:prstGeom prst="rect">
              <a:avLst/>
            </a:prstGeom>
            <a:solidFill>
              <a:srgbClr val="5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block</a:t>
              </a:r>
              <a:r>
                <a:rPr lang="zh-CN" altLang="en-US" dirty="0" smtClean="0"/>
                <a:t>块状水平盒子</a:t>
              </a:r>
              <a:endParaRPr lang="zh-CN" altLang="en-US" dirty="0"/>
            </a:p>
          </p:txBody>
        </p:sp>
        <p:sp>
          <p:nvSpPr>
            <p:cNvPr id="21" name="矩形 20"/>
            <p:cNvSpPr/>
            <p:nvPr/>
          </p:nvSpPr>
          <p:spPr>
            <a:xfrm>
              <a:off x="6201794" y="3466507"/>
              <a:ext cx="2880000" cy="1080000"/>
            </a:xfrm>
            <a:prstGeom prst="rect">
              <a:avLst/>
            </a:prstGeom>
            <a:solidFill>
              <a:srgbClr val="51CE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float</a:t>
              </a:r>
              <a:r>
                <a:rPr lang="zh-CN" altLang="en-US" dirty="0" smtClean="0"/>
                <a:t>浮动盒子</a:t>
              </a:r>
              <a:endParaRPr lang="zh-CN" altLang="en-US" dirty="0"/>
            </a:p>
          </p:txBody>
        </p:sp>
        <p:sp>
          <p:nvSpPr>
            <p:cNvPr id="22" name="矩形 21"/>
            <p:cNvSpPr/>
            <p:nvPr/>
          </p:nvSpPr>
          <p:spPr>
            <a:xfrm>
              <a:off x="6525825" y="3861392"/>
              <a:ext cx="2880000" cy="1080000"/>
            </a:xfrm>
            <a:prstGeom prst="rect">
              <a:avLst/>
            </a:prstGeom>
            <a:solidFill>
              <a:srgbClr val="9BD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inline</a:t>
              </a:r>
              <a:r>
                <a:rPr lang="zh-CN" altLang="en-US" dirty="0" smtClean="0"/>
                <a:t>水平盒子</a:t>
              </a:r>
              <a:endParaRPr lang="zh-CN" altLang="en-US" dirty="0"/>
            </a:p>
          </p:txBody>
        </p:sp>
        <p:sp>
          <p:nvSpPr>
            <p:cNvPr id="23" name="矩形 22"/>
            <p:cNvSpPr/>
            <p:nvPr/>
          </p:nvSpPr>
          <p:spPr>
            <a:xfrm>
              <a:off x="6849856" y="4256277"/>
              <a:ext cx="2880000" cy="1080000"/>
            </a:xfrm>
            <a:prstGeom prst="rect">
              <a:avLst/>
            </a:prstGeom>
            <a:solidFill>
              <a:srgbClr val="DAA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dirty="0" smtClean="0"/>
                <a:t>z-index</a:t>
              </a:r>
              <a:r>
                <a:rPr lang="zh-CN" altLang="en-US" dirty="0" smtClean="0"/>
                <a:t>为</a:t>
              </a:r>
              <a:r>
                <a:rPr lang="en-US" altLang="zh-CN" dirty="0" smtClean="0"/>
                <a:t>0</a:t>
              </a:r>
              <a:r>
                <a:rPr lang="zh-CN" altLang="en-US" dirty="0" smtClean="0"/>
                <a:t>或</a:t>
              </a:r>
              <a:r>
                <a:rPr lang="en-US" altLang="zh-CN" dirty="0"/>
                <a:t>a</a:t>
              </a:r>
              <a:r>
                <a:rPr lang="en-US" altLang="zh-CN" dirty="0" smtClean="0"/>
                <a:t>uto</a:t>
              </a:r>
              <a:endParaRPr lang="zh-CN" altLang="en-US" dirty="0"/>
            </a:p>
          </p:txBody>
        </p:sp>
        <p:sp>
          <p:nvSpPr>
            <p:cNvPr id="24" name="矩形 23"/>
            <p:cNvSpPr/>
            <p:nvPr/>
          </p:nvSpPr>
          <p:spPr>
            <a:xfrm>
              <a:off x="7173887" y="4651163"/>
              <a:ext cx="2880000" cy="1080000"/>
            </a:xfrm>
            <a:prstGeom prst="rect">
              <a:avLst/>
            </a:prstGeom>
            <a:solidFill>
              <a:srgbClr val="D8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dirty="0" smtClean="0"/>
                <a:t>正</a:t>
              </a:r>
              <a:r>
                <a:rPr lang="en-US" altLang="zh-CN" dirty="0" smtClean="0"/>
                <a:t>z-index</a:t>
              </a:r>
              <a:endParaRPr lang="zh-CN" altLang="en-US" dirty="0"/>
            </a:p>
          </p:txBody>
        </p:sp>
      </p:grpSp>
      <p:sp>
        <p:nvSpPr>
          <p:cNvPr id="26" name="矩形 25"/>
          <p:cNvSpPr/>
          <p:nvPr/>
        </p:nvSpPr>
        <p:spPr>
          <a:xfrm>
            <a:off x="6908059" y="2333807"/>
            <a:ext cx="2082792" cy="509048"/>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pitchFamily="34" charset="-122"/>
                <a:ea typeface="微软雅黑" panose="020B0503020204020204" pitchFamily="34" charset="-122"/>
              </a:rPr>
              <a:t>装饰</a:t>
            </a:r>
            <a:endParaRPr lang="zh-CN" altLang="en-US" dirty="0">
              <a:latin typeface="微软雅黑" panose="020B0503020204020204" pitchFamily="34" charset="-122"/>
              <a:ea typeface="微软雅黑" panose="020B0503020204020204" pitchFamily="34" charset="-122"/>
            </a:endParaRPr>
          </a:p>
        </p:txBody>
      </p:sp>
      <p:sp>
        <p:nvSpPr>
          <p:cNvPr id="27" name="矩形 26"/>
          <p:cNvSpPr/>
          <p:nvPr/>
        </p:nvSpPr>
        <p:spPr>
          <a:xfrm>
            <a:off x="6908059" y="3363000"/>
            <a:ext cx="2082792" cy="509048"/>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pitchFamily="34" charset="-122"/>
                <a:ea typeface="微软雅黑" panose="020B0503020204020204" pitchFamily="34" charset="-122"/>
              </a:rPr>
              <a:t>布局</a:t>
            </a:r>
            <a:endParaRPr lang="zh-CN" altLang="en-US" dirty="0">
              <a:latin typeface="微软雅黑" panose="020B0503020204020204" pitchFamily="34" charset="-122"/>
              <a:ea typeface="微软雅黑" panose="020B0503020204020204" pitchFamily="34" charset="-122"/>
            </a:endParaRPr>
          </a:p>
        </p:txBody>
      </p:sp>
      <p:sp>
        <p:nvSpPr>
          <p:cNvPr id="28" name="矩形 27"/>
          <p:cNvSpPr/>
          <p:nvPr/>
        </p:nvSpPr>
        <p:spPr>
          <a:xfrm>
            <a:off x="6908059" y="4392194"/>
            <a:ext cx="2082792" cy="509048"/>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pitchFamily="34" charset="-122"/>
                <a:ea typeface="微软雅黑" panose="020B0503020204020204" pitchFamily="34" charset="-122"/>
              </a:rPr>
              <a:t>内容</a:t>
            </a:r>
            <a:endParaRPr lang="zh-CN" altLang="en-US" dirty="0">
              <a:latin typeface="微软雅黑" panose="020B0503020204020204" pitchFamily="34" charset="-122"/>
              <a:ea typeface="微软雅黑" panose="020B0503020204020204" pitchFamily="34" charset="-122"/>
            </a:endParaRPr>
          </a:p>
        </p:txBody>
      </p:sp>
      <p:cxnSp>
        <p:nvCxnSpPr>
          <p:cNvPr id="32" name="直接箭头连接符 31"/>
          <p:cNvCxnSpPr>
            <a:stCxn id="26" idx="1"/>
          </p:cNvCxnSpPr>
          <p:nvPr/>
        </p:nvCxnSpPr>
        <p:spPr>
          <a:xfrm flipH="1" flipV="1">
            <a:off x="3807865" y="2504209"/>
            <a:ext cx="3100194" cy="841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27" idx="1"/>
          </p:cNvCxnSpPr>
          <p:nvPr/>
        </p:nvCxnSpPr>
        <p:spPr>
          <a:xfrm flipH="1" flipV="1">
            <a:off x="4455927" y="3317250"/>
            <a:ext cx="2452132" cy="3002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7" idx="1"/>
          </p:cNvCxnSpPr>
          <p:nvPr/>
        </p:nvCxnSpPr>
        <p:spPr>
          <a:xfrm flipH="1">
            <a:off x="4773833" y="3617524"/>
            <a:ext cx="2134226" cy="1326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28" idx="1"/>
          </p:cNvCxnSpPr>
          <p:nvPr/>
        </p:nvCxnSpPr>
        <p:spPr>
          <a:xfrm flipH="1" flipV="1">
            <a:off x="5103989" y="4112160"/>
            <a:ext cx="1804070" cy="5345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250" fill="hold">
                                          <p:stCondLst>
                                            <p:cond delay="0"/>
                                          </p:stCondLst>
                                        </p:cTn>
                                        <p:tgtEl>
                                          <p:spTgt spid="26"/>
                                        </p:tgtEl>
                                        <p:attrNameLst>
                                          <p:attrName>style.visibility</p:attrName>
                                        </p:attrNameLst>
                                      </p:cBhvr>
                                      <p:to>
                                        <p:strVal val="visible"/>
                                      </p:to>
                                    </p:set>
                                    <p:anim calcmode="lin" valueType="num">
                                      <p:cBhvr additive="base">
                                        <p:cTn id="7" dur="250" fill="hold"/>
                                        <p:tgtEl>
                                          <p:spTgt spid="26"/>
                                        </p:tgtEl>
                                        <p:attrNameLst>
                                          <p:attrName>ppt_x</p:attrName>
                                        </p:attrNameLst>
                                      </p:cBhvr>
                                      <p:tavLst>
                                        <p:tav tm="0">
                                          <p:val>
                                            <p:strVal val="1+#ppt_w/2"/>
                                          </p:val>
                                        </p:tav>
                                        <p:tav tm="100000">
                                          <p:val>
                                            <p:strVal val="#ppt_x"/>
                                          </p:val>
                                        </p:tav>
                                      </p:tavLst>
                                    </p:anim>
                                    <p:anim calcmode="lin" valueType="num">
                                      <p:cBhvr additive="base">
                                        <p:cTn id="8" dur="25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250" fill="hold">
                                          <p:stCondLst>
                                            <p:cond delay="0"/>
                                          </p:stCondLst>
                                        </p:cTn>
                                        <p:tgtEl>
                                          <p:spTgt spid="27"/>
                                        </p:tgtEl>
                                        <p:attrNameLst>
                                          <p:attrName>style.visibility</p:attrName>
                                        </p:attrNameLst>
                                      </p:cBhvr>
                                      <p:to>
                                        <p:strVal val="visible"/>
                                      </p:to>
                                    </p:set>
                                    <p:anim calcmode="lin" valueType="num">
                                      <p:cBhvr additive="base">
                                        <p:cTn id="11" dur="250" fill="hold"/>
                                        <p:tgtEl>
                                          <p:spTgt spid="27"/>
                                        </p:tgtEl>
                                        <p:attrNameLst>
                                          <p:attrName>ppt_x</p:attrName>
                                        </p:attrNameLst>
                                      </p:cBhvr>
                                      <p:tavLst>
                                        <p:tav tm="0">
                                          <p:val>
                                            <p:strVal val="1+#ppt_w/2"/>
                                          </p:val>
                                        </p:tav>
                                        <p:tav tm="100000">
                                          <p:val>
                                            <p:strVal val="#ppt_x"/>
                                          </p:val>
                                        </p:tav>
                                      </p:tavLst>
                                    </p:anim>
                                    <p:anim calcmode="lin" valueType="num">
                                      <p:cBhvr additive="base">
                                        <p:cTn id="12" dur="250" fill="hold"/>
                                        <p:tgtEl>
                                          <p:spTgt spid="2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250" fill="hold">
                                          <p:stCondLst>
                                            <p:cond delay="0"/>
                                          </p:stCondLst>
                                        </p:cTn>
                                        <p:tgtEl>
                                          <p:spTgt spid="28"/>
                                        </p:tgtEl>
                                        <p:attrNameLst>
                                          <p:attrName>style.visibility</p:attrName>
                                        </p:attrNameLst>
                                      </p:cBhvr>
                                      <p:to>
                                        <p:strVal val="visible"/>
                                      </p:to>
                                    </p:set>
                                    <p:anim calcmode="lin" valueType="num">
                                      <p:cBhvr additive="base">
                                        <p:cTn id="15" dur="250" fill="hold"/>
                                        <p:tgtEl>
                                          <p:spTgt spid="28"/>
                                        </p:tgtEl>
                                        <p:attrNameLst>
                                          <p:attrName>ppt_x</p:attrName>
                                        </p:attrNameLst>
                                      </p:cBhvr>
                                      <p:tavLst>
                                        <p:tav tm="0">
                                          <p:val>
                                            <p:strVal val="1+#ppt_w/2"/>
                                          </p:val>
                                        </p:tav>
                                        <p:tav tm="100000">
                                          <p:val>
                                            <p:strVal val="#ppt_x"/>
                                          </p:val>
                                        </p:tav>
                                      </p:tavLst>
                                    </p:anim>
                                    <p:anim calcmode="lin" valueType="num">
                                      <p:cBhvr additive="base">
                                        <p:cTn id="16" dur="250" fill="hold"/>
                                        <p:tgtEl>
                                          <p:spTgt spid="28"/>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250" fill="hold">
                                          <p:stCondLst>
                                            <p:cond delay="0"/>
                                          </p:stCondLst>
                                        </p:cTn>
                                        <p:tgtEl>
                                          <p:spTgt spid="32"/>
                                        </p:tgtEl>
                                        <p:attrNameLst>
                                          <p:attrName>style.visibility</p:attrName>
                                        </p:attrNameLst>
                                      </p:cBhvr>
                                      <p:to>
                                        <p:strVal val="visible"/>
                                      </p:to>
                                    </p:set>
                                    <p:anim calcmode="lin" valueType="num">
                                      <p:cBhvr additive="base">
                                        <p:cTn id="19" dur="250" fill="hold"/>
                                        <p:tgtEl>
                                          <p:spTgt spid="32"/>
                                        </p:tgtEl>
                                        <p:attrNameLst>
                                          <p:attrName>ppt_x</p:attrName>
                                        </p:attrNameLst>
                                      </p:cBhvr>
                                      <p:tavLst>
                                        <p:tav tm="0">
                                          <p:val>
                                            <p:strVal val="1+#ppt_w/2"/>
                                          </p:val>
                                        </p:tav>
                                        <p:tav tm="100000">
                                          <p:val>
                                            <p:strVal val="#ppt_x"/>
                                          </p:val>
                                        </p:tav>
                                      </p:tavLst>
                                    </p:anim>
                                    <p:anim calcmode="lin" valueType="num">
                                      <p:cBhvr additive="base">
                                        <p:cTn id="20" dur="250" fill="hold"/>
                                        <p:tgtEl>
                                          <p:spTgt spid="32"/>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250" fill="hold">
                                          <p:stCondLst>
                                            <p:cond delay="0"/>
                                          </p:stCondLst>
                                        </p:cTn>
                                        <p:tgtEl>
                                          <p:spTgt spid="33"/>
                                        </p:tgtEl>
                                        <p:attrNameLst>
                                          <p:attrName>style.visibility</p:attrName>
                                        </p:attrNameLst>
                                      </p:cBhvr>
                                      <p:to>
                                        <p:strVal val="visible"/>
                                      </p:to>
                                    </p:set>
                                    <p:anim calcmode="lin" valueType="num">
                                      <p:cBhvr additive="base">
                                        <p:cTn id="23" dur="250" fill="hold"/>
                                        <p:tgtEl>
                                          <p:spTgt spid="33"/>
                                        </p:tgtEl>
                                        <p:attrNameLst>
                                          <p:attrName>ppt_x</p:attrName>
                                        </p:attrNameLst>
                                      </p:cBhvr>
                                      <p:tavLst>
                                        <p:tav tm="0">
                                          <p:val>
                                            <p:strVal val="1+#ppt_w/2"/>
                                          </p:val>
                                        </p:tav>
                                        <p:tav tm="100000">
                                          <p:val>
                                            <p:strVal val="#ppt_x"/>
                                          </p:val>
                                        </p:tav>
                                      </p:tavLst>
                                    </p:anim>
                                    <p:anim calcmode="lin" valueType="num">
                                      <p:cBhvr additive="base">
                                        <p:cTn id="24" dur="250" fill="hold"/>
                                        <p:tgtEl>
                                          <p:spTgt spid="33"/>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250" fill="hold">
                                          <p:stCondLst>
                                            <p:cond delay="0"/>
                                          </p:stCondLst>
                                        </p:cTn>
                                        <p:tgtEl>
                                          <p:spTgt spid="36"/>
                                        </p:tgtEl>
                                        <p:attrNameLst>
                                          <p:attrName>style.visibility</p:attrName>
                                        </p:attrNameLst>
                                      </p:cBhvr>
                                      <p:to>
                                        <p:strVal val="visible"/>
                                      </p:to>
                                    </p:set>
                                    <p:anim calcmode="lin" valueType="num">
                                      <p:cBhvr additive="base">
                                        <p:cTn id="27" dur="250" fill="hold"/>
                                        <p:tgtEl>
                                          <p:spTgt spid="36"/>
                                        </p:tgtEl>
                                        <p:attrNameLst>
                                          <p:attrName>ppt_x</p:attrName>
                                        </p:attrNameLst>
                                      </p:cBhvr>
                                      <p:tavLst>
                                        <p:tav tm="0">
                                          <p:val>
                                            <p:strVal val="1+#ppt_w/2"/>
                                          </p:val>
                                        </p:tav>
                                        <p:tav tm="100000">
                                          <p:val>
                                            <p:strVal val="#ppt_x"/>
                                          </p:val>
                                        </p:tav>
                                      </p:tavLst>
                                    </p:anim>
                                    <p:anim calcmode="lin" valueType="num">
                                      <p:cBhvr additive="base">
                                        <p:cTn id="28" dur="250" fill="hold"/>
                                        <p:tgtEl>
                                          <p:spTgt spid="36"/>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250" fill="hold">
                                          <p:stCondLst>
                                            <p:cond delay="0"/>
                                          </p:stCondLst>
                                        </p:cTn>
                                        <p:tgtEl>
                                          <p:spTgt spid="39"/>
                                        </p:tgtEl>
                                        <p:attrNameLst>
                                          <p:attrName>style.visibility</p:attrName>
                                        </p:attrNameLst>
                                      </p:cBhvr>
                                      <p:to>
                                        <p:strVal val="visible"/>
                                      </p:to>
                                    </p:set>
                                    <p:anim calcmode="lin" valueType="num">
                                      <p:cBhvr additive="base">
                                        <p:cTn id="31" dur="250" fill="hold"/>
                                        <p:tgtEl>
                                          <p:spTgt spid="39"/>
                                        </p:tgtEl>
                                        <p:attrNameLst>
                                          <p:attrName>ppt_x</p:attrName>
                                        </p:attrNameLst>
                                      </p:cBhvr>
                                      <p:tavLst>
                                        <p:tav tm="0">
                                          <p:val>
                                            <p:strVal val="1+#ppt_w/2"/>
                                          </p:val>
                                        </p:tav>
                                        <p:tav tm="100000">
                                          <p:val>
                                            <p:strVal val="#ppt_x"/>
                                          </p:val>
                                        </p:tav>
                                      </p:tavLst>
                                    </p:anim>
                                    <p:anim calcmode="lin" valueType="num">
                                      <p:cBhvr additive="base">
                                        <p:cTn id="32" dur="25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6" grpId="1" animBg="1"/>
      <p:bldP spid="27" grpId="1" animBg="1"/>
      <p:bldP spid="28"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zh-CN" altLang="en-US" dirty="0" smtClean="0"/>
              <a:t>内联元素的层叠顺序比浮动元素和块元素都要高</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754866" y="2123773"/>
            <a:ext cx="5105400" cy="3476625"/>
          </a:xfrm>
          <a:prstGeom prst="rect">
            <a:avLst/>
          </a:prstGeom>
        </p:spPr>
      </p:pic>
      <p:sp>
        <p:nvSpPr>
          <p:cNvPr id="5" name="矩形 4"/>
          <p:cNvSpPr/>
          <p:nvPr/>
        </p:nvSpPr>
        <p:spPr>
          <a:xfrm>
            <a:off x="6581775" y="1910462"/>
            <a:ext cx="5253072" cy="3415030"/>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zh-CN" altLang="en-US"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zh-CN" altLang="en-US" dirty="0">
                <a:solidFill>
                  <a:srgbClr val="ABB2BF"/>
                </a:solidFill>
                <a:latin typeface="Consolas" panose="020B0609020204030204" pitchFamily="49" charset="0"/>
              </a:rPr>
              <a:t>智学网是科大讯飞面向学校日常作业、考试</a:t>
            </a:r>
            <a:r>
              <a:rPr lang="en-US" altLang="zh-CN" dirty="0">
                <a:solidFill>
                  <a:srgbClr val="ABB2BF"/>
                </a:solidFill>
                <a:latin typeface="Consolas" panose="020B0609020204030204" pitchFamily="49" charset="0"/>
              </a:rPr>
              <a:t>   </a:t>
            </a:r>
            <a:r>
              <a:rPr lang="zh-CN" altLang="en-US" dirty="0">
                <a:solidFill>
                  <a:srgbClr val="ABB2BF"/>
                </a:solidFill>
                <a:latin typeface="Consolas" panose="020B0609020204030204" pitchFamily="49" charset="0"/>
              </a:rPr>
              <a:t>及发展性教与学评价需求推出的大数据个性化教学系统，旨在为用户提供更加简单易用的系统操作和全面完善的资源服务，通过大数据分析充分挖掘校园考试价值，通过基于云服务的</a:t>
            </a:r>
            <a:r>
              <a:rPr lang="en-US" altLang="zh-CN" dirty="0">
                <a:solidFill>
                  <a:srgbClr val="ABB2BF"/>
                </a:solidFill>
                <a:latin typeface="Consolas" panose="020B0609020204030204" pitchFamily="49" charset="0"/>
              </a:rPr>
              <a:t>PC</a:t>
            </a:r>
            <a:r>
              <a:rPr lang="zh-CN" altLang="en-US" dirty="0">
                <a:solidFill>
                  <a:srgbClr val="ABB2BF"/>
                </a:solidFill>
                <a:latin typeface="Consolas" panose="020B0609020204030204" pitchFamily="49" charset="0"/>
              </a:rPr>
              <a:t>及移动终端综合方案为每一名老师和学生提供针对性教和个性化学的信息化环境与服务。</a:t>
            </a:r>
            <a:endParaRPr lang="zh-CN" altLang="en-US" dirty="0">
              <a:solidFill>
                <a:srgbClr val="ABB2BF"/>
              </a:solidFill>
              <a:latin typeface="Consolas" panose="020B0609020204030204" pitchFamily="49" charset="0"/>
            </a:endParaRPr>
          </a:p>
          <a:p>
            <a:r>
              <a:rPr lang="zh-CN" altLang="en-US" dirty="0">
                <a:solidFill>
                  <a:srgbClr val="ABB2BF"/>
                </a:solidFill>
                <a:latin typeface="Consolas" panose="020B0609020204030204" pitchFamily="49" charset="0"/>
              </a:rPr>
              <a:t> </a:t>
            </a:r>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span</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sym typeface="+mn-ea"/>
              </a:rPr>
              <a:t>   &lt;</a:t>
            </a:r>
            <a:r>
              <a:rPr lang="en-US" altLang="zh-CN" dirty="0">
                <a:solidFill>
                  <a:srgbClr val="E06C75"/>
                </a:solidFill>
                <a:latin typeface="Consolas" panose="020B0609020204030204" pitchFamily="49" charset="0"/>
                <a:sym typeface="+mn-ea"/>
              </a:rPr>
              <a:t>div</a:t>
            </a:r>
            <a:r>
              <a:rPr lang="zh-CN" altLang="en-US" dirty="0">
                <a:solidFill>
                  <a:srgbClr val="ABB2BF"/>
                </a:solidFill>
                <a:latin typeface="Consolas" panose="020B0609020204030204" pitchFamily="49" charset="0"/>
                <a:sym typeface="+mn-ea"/>
              </a:rPr>
              <a:t> </a:t>
            </a:r>
            <a:r>
              <a:rPr lang="en-US" altLang="zh-CN" dirty="0">
                <a:solidFill>
                  <a:srgbClr val="D19A66"/>
                </a:solidFill>
                <a:latin typeface="Consolas" panose="020B0609020204030204" pitchFamily="49" charset="0"/>
                <a:sym typeface="+mn-ea"/>
              </a:rPr>
              <a:t>class</a:t>
            </a:r>
            <a:r>
              <a:rPr lang="en-US" altLang="zh-CN" dirty="0">
                <a:solidFill>
                  <a:srgbClr val="ABB2BF"/>
                </a:solidFill>
                <a:latin typeface="Consolas" panose="020B0609020204030204" pitchFamily="49" charset="0"/>
                <a:sym typeface="+mn-ea"/>
              </a:rPr>
              <a:t>=</a:t>
            </a:r>
            <a:r>
              <a:rPr lang="en-US" altLang="zh-CN" dirty="0">
                <a:solidFill>
                  <a:srgbClr val="98C379"/>
                </a:solidFill>
                <a:latin typeface="Consolas" panose="020B0609020204030204" pitchFamily="49" charset="0"/>
                <a:sym typeface="+mn-ea"/>
              </a:rPr>
              <a:t>"block green"</a:t>
            </a:r>
            <a:r>
              <a:rPr lang="en-US" altLang="zh-CN" dirty="0">
                <a:solidFill>
                  <a:srgbClr val="ABB2BF"/>
                </a:solidFill>
                <a:latin typeface="Consolas" panose="020B0609020204030204" pitchFamily="49" charset="0"/>
                <a:sym typeface="+mn-ea"/>
              </a:rPr>
              <a:t>&gt;&lt;/</a:t>
            </a:r>
            <a:r>
              <a:rPr lang="en-US" altLang="zh-CN" dirty="0">
                <a:solidFill>
                  <a:srgbClr val="E06C75"/>
                </a:solidFill>
                <a:latin typeface="Consolas" panose="020B0609020204030204" pitchFamily="49" charset="0"/>
                <a:sym typeface="+mn-ea"/>
              </a:rPr>
              <a:t>div</a:t>
            </a:r>
            <a:r>
              <a:rPr lang="en-US" altLang="zh-CN" dirty="0">
                <a:solidFill>
                  <a:srgbClr val="ABB2BF"/>
                </a:solidFill>
                <a:latin typeface="Consolas" panose="020B0609020204030204" pitchFamily="49" charset="0"/>
                <a:sym typeface="+mn-ea"/>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zh-CN" altLang="en-US" dirty="0"/>
              <a:t>层叠顺序</a:t>
            </a:r>
            <a:r>
              <a:rPr lang="zh-CN" altLang="en-US" dirty="0" smtClean="0"/>
              <a:t>准则</a:t>
            </a:r>
            <a:endParaRPr lang="en-US" altLang="zh-CN" dirty="0" smtClean="0"/>
          </a:p>
          <a:p>
            <a:pPr lvl="1"/>
            <a:r>
              <a:rPr lang="zh-CN" altLang="en-US" dirty="0" smtClean="0"/>
              <a:t>谁</a:t>
            </a:r>
            <a:r>
              <a:rPr lang="zh-CN" altLang="en-US" dirty="0"/>
              <a:t>大谁上：当具有明显的层叠水平标识的时候，如生效</a:t>
            </a:r>
            <a:r>
              <a:rPr lang="zh-CN" altLang="en-US" dirty="0" smtClean="0"/>
              <a:t>的 </a:t>
            </a:r>
            <a:r>
              <a:rPr lang="en-US" altLang="zh-CN" dirty="0" smtClean="0"/>
              <a:t>z-index </a:t>
            </a:r>
            <a:r>
              <a:rPr lang="zh-CN" altLang="en-US" dirty="0"/>
              <a:t>属性值，在同</a:t>
            </a:r>
            <a:r>
              <a:rPr lang="zh-CN" altLang="en-US" dirty="0" smtClean="0"/>
              <a:t>一个</a:t>
            </a:r>
            <a:r>
              <a:rPr lang="zh-CN" altLang="en-US" dirty="0"/>
              <a:t>层叠上下文中，层叠水平值大的那一个覆盖小的那一</a:t>
            </a:r>
            <a:r>
              <a:rPr lang="zh-CN" altLang="en-US" dirty="0" smtClean="0"/>
              <a:t>个</a:t>
            </a:r>
            <a:endParaRPr lang="zh-CN" altLang="en-US" dirty="0"/>
          </a:p>
          <a:p>
            <a:pPr lvl="1"/>
            <a:r>
              <a:rPr lang="zh-CN" altLang="en-US" dirty="0" smtClean="0"/>
              <a:t>后来居上</a:t>
            </a:r>
            <a:r>
              <a:rPr lang="zh-CN" altLang="en-US" dirty="0"/>
              <a:t>：当元素的层叠水平一致、层叠顺序相同的时候，在</a:t>
            </a:r>
            <a:r>
              <a:rPr lang="en-US" altLang="zh-CN" dirty="0"/>
              <a:t> DOM </a:t>
            </a:r>
            <a:r>
              <a:rPr lang="zh-CN" altLang="en-US" dirty="0"/>
              <a:t>流中处于后面</a:t>
            </a:r>
            <a:r>
              <a:rPr lang="zh-CN" altLang="en-US" dirty="0" smtClean="0"/>
              <a:t>的元素</a:t>
            </a:r>
            <a:r>
              <a:rPr lang="zh-CN" altLang="en-US" dirty="0"/>
              <a:t>会覆盖前面的</a:t>
            </a:r>
            <a:r>
              <a:rPr lang="zh-CN" altLang="en-US" dirty="0" smtClean="0"/>
              <a:t>元素</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0" name="内容占位符 2"/>
          <p:cNvSpPr>
            <a:spLocks noGrp="1"/>
          </p:cNvSpPr>
          <p:nvPr>
            <p:ph idx="1"/>
          </p:nvPr>
        </p:nvSpPr>
        <p:spPr>
          <a:xfrm>
            <a:off x="557439" y="1130299"/>
            <a:ext cx="11161486" cy="5165725"/>
          </a:xfrm>
        </p:spPr>
        <p:txBody>
          <a:bodyPr/>
          <a:lstStyle/>
          <a:p>
            <a:r>
              <a:rPr lang="zh-CN" altLang="en-US" dirty="0"/>
              <a:t>实践案例</a:t>
            </a:r>
            <a:endParaRPr lang="en-US" altLang="zh-CN" dirty="0" smtClean="0"/>
          </a:p>
        </p:txBody>
      </p:sp>
      <p:pic>
        <p:nvPicPr>
          <p:cNvPr id="11" name="图片 10"/>
          <p:cNvPicPr>
            <a:picLocks noChangeAspect="1"/>
          </p:cNvPicPr>
          <p:nvPr/>
        </p:nvPicPr>
        <p:blipFill>
          <a:blip r:embed="rId1"/>
          <a:stretch>
            <a:fillRect/>
          </a:stretch>
        </p:blipFill>
        <p:spPr>
          <a:xfrm>
            <a:off x="557439" y="4007468"/>
            <a:ext cx="2971800" cy="2076450"/>
          </a:xfrm>
          <a:prstGeom prst="rect">
            <a:avLst/>
          </a:prstGeom>
        </p:spPr>
      </p:pic>
      <p:sp>
        <p:nvSpPr>
          <p:cNvPr id="12" name="矩形 11"/>
          <p:cNvSpPr/>
          <p:nvPr/>
        </p:nvSpPr>
        <p:spPr>
          <a:xfrm>
            <a:off x="557439" y="1872140"/>
            <a:ext cx="8553450" cy="1754326"/>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relative; z-index: auto"</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"red"</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absolute; z-index: 2"</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"ml100"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relative; z-index: auto"</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"blue"</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relative; z-index: 1"</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13" name="文本框 12"/>
          <p:cNvSpPr txBox="1"/>
          <p:nvPr/>
        </p:nvSpPr>
        <p:spPr>
          <a:xfrm>
            <a:off x="692423" y="4168530"/>
            <a:ext cx="1107996" cy="646331"/>
          </a:xfrm>
          <a:prstGeom prst="rect">
            <a:avLst/>
          </a:prstGeom>
          <a:noFill/>
        </p:spPr>
        <p:txBody>
          <a:bodyPr wrap="non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红框在上</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dirty="0" smtClean="0">
                <a:solidFill>
                  <a:schemeClr val="bg1"/>
                </a:solidFill>
                <a:latin typeface="微软雅黑" panose="020B0503020204020204" pitchFamily="34" charset="-122"/>
                <a:ea typeface="微软雅黑" panose="020B0503020204020204" pitchFamily="34" charset="-122"/>
              </a:rPr>
              <a:t>蓝框在下</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0" name="内容占位符 2"/>
          <p:cNvSpPr>
            <a:spLocks noGrp="1"/>
          </p:cNvSpPr>
          <p:nvPr>
            <p:ph idx="1"/>
          </p:nvPr>
        </p:nvSpPr>
        <p:spPr>
          <a:xfrm>
            <a:off x="557439" y="1130299"/>
            <a:ext cx="11161486" cy="5165725"/>
          </a:xfrm>
        </p:spPr>
        <p:txBody>
          <a:bodyPr/>
          <a:lstStyle/>
          <a:p>
            <a:r>
              <a:rPr lang="zh-CN" altLang="en-US" dirty="0"/>
              <a:t>实践案例</a:t>
            </a:r>
            <a:endParaRPr lang="en-US" altLang="zh-CN" dirty="0" smtClean="0"/>
          </a:p>
        </p:txBody>
      </p:sp>
      <p:pic>
        <p:nvPicPr>
          <p:cNvPr id="11" name="图片 10"/>
          <p:cNvPicPr>
            <a:picLocks noChangeAspect="1"/>
          </p:cNvPicPr>
          <p:nvPr/>
        </p:nvPicPr>
        <p:blipFill>
          <a:blip r:embed="rId1"/>
          <a:stretch>
            <a:fillRect/>
          </a:stretch>
        </p:blipFill>
        <p:spPr>
          <a:xfrm>
            <a:off x="635512" y="4116966"/>
            <a:ext cx="2971800" cy="2047875"/>
          </a:xfrm>
          <a:prstGeom prst="rect">
            <a:avLst/>
          </a:prstGeom>
        </p:spPr>
      </p:pic>
      <p:sp>
        <p:nvSpPr>
          <p:cNvPr id="12" name="矩形 11"/>
          <p:cNvSpPr/>
          <p:nvPr/>
        </p:nvSpPr>
        <p:spPr>
          <a:xfrm>
            <a:off x="557439" y="1956960"/>
            <a:ext cx="8553450" cy="1754326"/>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relative; z-index: 0"</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"red"</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absolute; z-index: 2"</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"ml100"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relative; z-index: 0"</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"blue"</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"position: relative; z-index: 1"</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13" name="文本框 12"/>
          <p:cNvSpPr txBox="1"/>
          <p:nvPr/>
        </p:nvSpPr>
        <p:spPr>
          <a:xfrm>
            <a:off x="2499316" y="4263741"/>
            <a:ext cx="1107996" cy="646331"/>
          </a:xfrm>
          <a:prstGeom prst="rect">
            <a:avLst/>
          </a:prstGeom>
          <a:noFill/>
        </p:spPr>
        <p:txBody>
          <a:bodyPr wrap="non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蓝框在上</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dirty="0">
                <a:solidFill>
                  <a:schemeClr val="bg1"/>
                </a:solidFill>
                <a:latin typeface="微软雅黑" panose="020B0503020204020204" pitchFamily="34" charset="-122"/>
                <a:ea typeface="微软雅黑" panose="020B0503020204020204" pitchFamily="34" charset="-122"/>
              </a:rPr>
              <a:t>红</a:t>
            </a:r>
            <a:r>
              <a:rPr lang="zh-CN" altLang="en-US" dirty="0" smtClean="0">
                <a:solidFill>
                  <a:schemeClr val="bg1"/>
                </a:solidFill>
                <a:latin typeface="微软雅黑" panose="020B0503020204020204" pitchFamily="34" charset="-122"/>
                <a:ea typeface="微软雅黑" panose="020B0503020204020204" pitchFamily="34" charset="-122"/>
              </a:rPr>
              <a:t>框在下</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5" name="左箭头 14"/>
          <p:cNvSpPr/>
          <p:nvPr/>
        </p:nvSpPr>
        <p:spPr>
          <a:xfrm rot="18321488">
            <a:off x="7465739" y="2417286"/>
            <a:ext cx="816863" cy="198238"/>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左箭头 15"/>
          <p:cNvSpPr/>
          <p:nvPr/>
        </p:nvSpPr>
        <p:spPr>
          <a:xfrm rot="18321488">
            <a:off x="5698577" y="1584419"/>
            <a:ext cx="816863" cy="198238"/>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0" name="内容占位符 2"/>
          <p:cNvSpPr>
            <a:spLocks noGrp="1"/>
          </p:cNvSpPr>
          <p:nvPr>
            <p:ph idx="1"/>
          </p:nvPr>
        </p:nvSpPr>
        <p:spPr>
          <a:xfrm>
            <a:off x="557439" y="1130299"/>
            <a:ext cx="11161486" cy="5165725"/>
          </a:xfrm>
        </p:spPr>
        <p:txBody>
          <a:bodyPr/>
          <a:lstStyle/>
          <a:p>
            <a:r>
              <a:rPr lang="en-US" altLang="zh-CN" dirty="0" smtClean="0"/>
              <a:t>z-index </a:t>
            </a:r>
            <a:r>
              <a:rPr lang="zh-CN" altLang="en-US" dirty="0"/>
              <a:t>负值</a:t>
            </a:r>
            <a:endParaRPr lang="en-US" altLang="zh-CN" dirty="0" smtClean="0"/>
          </a:p>
        </p:txBody>
      </p:sp>
      <p:sp>
        <p:nvSpPr>
          <p:cNvPr id="3" name="矩形 2"/>
          <p:cNvSpPr/>
          <p:nvPr/>
        </p:nvSpPr>
        <p:spPr>
          <a:xfrm>
            <a:off x="557439" y="1838420"/>
            <a:ext cx="3505406" cy="2306955"/>
          </a:xfrm>
          <a:prstGeom prst="rect">
            <a:avLst/>
          </a:prstGeom>
        </p:spPr>
        <p:txBody>
          <a:bodyPr wrap="square">
            <a:spAutoFit/>
          </a:bodyPr>
          <a:lstStyle/>
          <a:p>
            <a:r>
              <a:rPr lang="en-US" altLang="zh-CN" dirty="0" smtClean="0">
                <a:solidFill>
                  <a:srgbClr val="D19A66"/>
                </a:solidFill>
                <a:latin typeface="Consolas" panose="020B0609020204030204" pitchFamily="49" charset="0"/>
              </a:rPr>
              <a:t>.box</a:t>
            </a:r>
            <a:r>
              <a:rPr lang="en-US" altLang="zh-CN" dirty="0" smtClean="0">
                <a:solidFill>
                  <a:srgbClr val="ABB2BF"/>
                </a:solidFill>
                <a:latin typeface="Consolas" panose="020B0609020204030204" pitchFamily="49" charset="0"/>
              </a:rPr>
              <a:t> {</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background: </a:t>
            </a:r>
            <a:r>
              <a:rPr lang="en-US" altLang="zh-CN" dirty="0" err="1" smtClean="0">
                <a:solidFill>
                  <a:srgbClr val="ABB2BF"/>
                </a:solidFill>
                <a:latin typeface="Consolas" panose="020B0609020204030204" pitchFamily="49" charset="0"/>
              </a:rPr>
              <a:t>lightpink</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D19A66"/>
                </a:solidFill>
                <a:latin typeface="Consolas" panose="020B0609020204030204" pitchFamily="49" charset="0"/>
              </a:rPr>
              <a:t>.box</a:t>
            </a:r>
            <a:r>
              <a:rPr lang="en-US" altLang="zh-CN" dirty="0" smtClean="0">
                <a:solidFill>
                  <a:srgbClr val="C678DD"/>
                </a:solidFill>
                <a:latin typeface="Consolas" panose="020B0609020204030204" pitchFamily="49" charset="0"/>
              </a:rPr>
              <a:t> </a:t>
            </a:r>
            <a:r>
              <a:rPr lang="en-US" altLang="zh-CN" dirty="0" err="1" smtClean="0">
                <a:solidFill>
                  <a:srgbClr val="E06C75"/>
                </a:solidFill>
                <a:latin typeface="Consolas" panose="020B0609020204030204" pitchFamily="49" charset="0"/>
              </a:rPr>
              <a:t>img</a:t>
            </a:r>
            <a:r>
              <a:rPr lang="en-US" altLang="zh-CN" dirty="0" smtClean="0">
                <a:solidFill>
                  <a:srgbClr val="ABB2BF"/>
                </a:solidFill>
                <a:latin typeface="Consolas" panose="020B0609020204030204" pitchFamily="49" charset="0"/>
              </a:rPr>
              <a:t> {</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position: </a:t>
            </a:r>
            <a:r>
              <a:rPr lang="en-US" altLang="zh-CN" dirty="0" smtClean="0">
                <a:solidFill>
                  <a:srgbClr val="D19A66"/>
                </a:solidFill>
                <a:latin typeface="Consolas" panose="020B0609020204030204" pitchFamily="49" charset="0"/>
              </a:rPr>
              <a:t>relative</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z-index: </a:t>
            </a:r>
            <a:r>
              <a:rPr lang="en-US" altLang="zh-CN" dirty="0" smtClean="0">
                <a:solidFill>
                  <a:srgbClr val="D19A66"/>
                </a:solidFill>
                <a:latin typeface="Consolas" panose="020B0609020204030204" pitchFamily="49" charset="0"/>
              </a:rPr>
              <a:t>1</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margin-top: </a:t>
            </a:r>
            <a:r>
              <a:rPr lang="en-US" altLang="zh-CN" dirty="0" smtClean="0">
                <a:solidFill>
                  <a:srgbClr val="D19A66"/>
                </a:solidFill>
                <a:latin typeface="Consolas" panose="020B0609020204030204" pitchFamily="49" charset="0"/>
              </a:rPr>
              <a:t>30</a:t>
            </a:r>
            <a:r>
              <a:rPr lang="en-US" altLang="zh-CN" dirty="0" smtClean="0">
                <a:solidFill>
                  <a:srgbClr val="E06C75"/>
                </a:solidFill>
                <a:latin typeface="Consolas" panose="020B0609020204030204" pitchFamily="49" charset="0"/>
              </a:rPr>
              <a:t>px</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5" name="矩形 4"/>
          <p:cNvSpPr/>
          <p:nvPr/>
        </p:nvSpPr>
        <p:spPr>
          <a:xfrm>
            <a:off x="557438" y="4621219"/>
            <a:ext cx="6435643" cy="923330"/>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"box"</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err="1">
                <a:solidFill>
                  <a:srgbClr val="E06C75"/>
                </a:solidFill>
                <a:latin typeface="Consolas" panose="020B0609020204030204" pitchFamily="49" charset="0"/>
              </a:rPr>
              <a:t>img</a:t>
            </a:r>
            <a:r>
              <a:rPr lang="en-US" altLang="zh-CN" dirty="0">
                <a:solidFill>
                  <a:srgbClr val="ABB2BF"/>
                </a:solidFill>
                <a:latin typeface="Consolas" panose="020B0609020204030204" pitchFamily="49" charset="0"/>
              </a:rPr>
              <a:t> </a:t>
            </a:r>
            <a:r>
              <a:rPr lang="en-US" altLang="zh-CN" dirty="0" err="1">
                <a:solidFill>
                  <a:srgbClr val="D19A66"/>
                </a:solidFill>
                <a:latin typeface="Consolas" panose="020B0609020204030204" pitchFamily="49" charset="0"/>
              </a:rPr>
              <a:t>src</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"http://static.zhixue.com/zhixue.png"</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7" name="文本框 6"/>
          <p:cNvSpPr txBox="1"/>
          <p:nvPr/>
        </p:nvSpPr>
        <p:spPr>
          <a:xfrm>
            <a:off x="3689985" y="3244850"/>
            <a:ext cx="1817370" cy="368300"/>
          </a:xfrm>
          <a:prstGeom prst="rect">
            <a:avLst/>
          </a:prstGeom>
          <a:noFill/>
        </p:spPr>
        <p:txBody>
          <a:bodyPr wrap="none" rtlCol="0" anchor="t">
            <a:spAutoFit/>
          </a:bodyPr>
          <a:p>
            <a:r>
              <a:rPr lang="en-US" altLang="zh-CN" dirty="0" smtClean="0">
                <a:solidFill>
                  <a:srgbClr val="ABB2BF"/>
                </a:solidFill>
                <a:latin typeface="Consolas" panose="020B0609020204030204" pitchFamily="49" charset="0"/>
                <a:sym typeface="+mn-ea"/>
              </a:rPr>
              <a:t>z-index: </a:t>
            </a:r>
            <a:r>
              <a:rPr lang="en-US" altLang="zh-CN" dirty="0" smtClean="0">
                <a:solidFill>
                  <a:srgbClr val="D19A66"/>
                </a:solidFill>
                <a:latin typeface="Consolas" panose="020B0609020204030204" pitchFamily="49" charset="0"/>
                <a:sym typeface="+mn-ea"/>
              </a:rPr>
              <a:t>-99</a:t>
            </a:r>
            <a:r>
              <a:rPr lang="en-US" altLang="zh-CN" dirty="0" smtClean="0">
                <a:solidFill>
                  <a:srgbClr val="ABB2BF"/>
                </a:solidFill>
                <a:latin typeface="Consolas" panose="020B0609020204030204" pitchFamily="49" charset="0"/>
                <a:sym typeface="+mn-ea"/>
              </a:rPr>
              <a:t>;</a:t>
            </a:r>
            <a:endParaRPr lang="zh-CN" altLang="en-US"/>
          </a:p>
        </p:txBody>
      </p:sp>
      <p:sp>
        <p:nvSpPr>
          <p:cNvPr id="9" name="左箭头 8"/>
          <p:cNvSpPr/>
          <p:nvPr/>
        </p:nvSpPr>
        <p:spPr>
          <a:xfrm rot="10800000">
            <a:off x="2731044" y="3330034"/>
            <a:ext cx="816863" cy="198238"/>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2" name="组合 11"/>
          <p:cNvGrpSpPr/>
          <p:nvPr/>
        </p:nvGrpSpPr>
        <p:grpSpPr>
          <a:xfrm>
            <a:off x="7745095" y="1438910"/>
            <a:ext cx="3028950" cy="4370070"/>
            <a:chOff x="11970" y="1964"/>
            <a:chExt cx="4995" cy="7198"/>
          </a:xfrm>
        </p:grpSpPr>
        <p:pic>
          <p:nvPicPr>
            <p:cNvPr id="6" name="图片 5"/>
            <p:cNvPicPr>
              <a:picLocks noChangeAspect="1"/>
            </p:cNvPicPr>
            <p:nvPr/>
          </p:nvPicPr>
          <p:blipFill>
            <a:blip r:embed="rId1"/>
            <a:stretch>
              <a:fillRect/>
            </a:stretch>
          </p:blipFill>
          <p:spPr>
            <a:xfrm>
              <a:off x="11970" y="6422"/>
              <a:ext cx="4995" cy="2741"/>
            </a:xfrm>
            <a:prstGeom prst="rect">
              <a:avLst/>
            </a:prstGeom>
          </p:spPr>
        </p:pic>
        <p:pic>
          <p:nvPicPr>
            <p:cNvPr id="8" name="图片 7"/>
            <p:cNvPicPr>
              <a:picLocks noChangeAspect="1"/>
            </p:cNvPicPr>
            <p:nvPr>
              <p:custDataLst>
                <p:tags r:id="rId2"/>
              </p:custDataLst>
            </p:nvPr>
          </p:nvPicPr>
          <p:blipFill>
            <a:blip r:embed="rId3"/>
            <a:stretch>
              <a:fillRect/>
            </a:stretch>
          </p:blipFill>
          <p:spPr>
            <a:xfrm>
              <a:off x="11971" y="1964"/>
              <a:ext cx="4994" cy="2902"/>
            </a:xfrm>
            <a:prstGeom prst="rect">
              <a:avLst/>
            </a:prstGeom>
          </p:spPr>
        </p:pic>
        <p:sp>
          <p:nvSpPr>
            <p:cNvPr id="11" name="左箭头 10"/>
            <p:cNvSpPr/>
            <p:nvPr>
              <p:custDataLst>
                <p:tags r:id="rId4"/>
              </p:custDataLst>
            </p:nvPr>
          </p:nvSpPr>
          <p:spPr>
            <a:xfrm rot="16200000">
              <a:off x="13879" y="5488"/>
              <a:ext cx="1177" cy="312"/>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0" name="内容占位符 2"/>
          <p:cNvSpPr>
            <a:spLocks noGrp="1"/>
          </p:cNvSpPr>
          <p:nvPr>
            <p:ph idx="1"/>
          </p:nvPr>
        </p:nvSpPr>
        <p:spPr>
          <a:xfrm>
            <a:off x="557439" y="1130299"/>
            <a:ext cx="11161486" cy="5165725"/>
          </a:xfrm>
        </p:spPr>
        <p:txBody>
          <a:bodyPr/>
          <a:lstStyle/>
          <a:p>
            <a:r>
              <a:rPr lang="en-US" altLang="zh-CN" dirty="0" smtClean="0"/>
              <a:t>z-index </a:t>
            </a:r>
            <a:r>
              <a:rPr lang="zh-CN" altLang="en-US" dirty="0" smtClean="0"/>
              <a:t>负值</a:t>
            </a:r>
            <a:endParaRPr lang="en-US" altLang="zh-CN" dirty="0" smtClean="0"/>
          </a:p>
        </p:txBody>
      </p:sp>
      <p:sp>
        <p:nvSpPr>
          <p:cNvPr id="7" name="矩形 6"/>
          <p:cNvSpPr/>
          <p:nvPr/>
        </p:nvSpPr>
        <p:spPr>
          <a:xfrm>
            <a:off x="557439" y="2392417"/>
            <a:ext cx="6096000" cy="1200329"/>
          </a:xfrm>
          <a:prstGeom prst="rect">
            <a:avLst/>
          </a:prstGeom>
        </p:spPr>
        <p:txBody>
          <a:bodyPr>
            <a:spAutoFit/>
          </a:bodyPr>
          <a:lstStyle/>
          <a:p>
            <a:r>
              <a:rPr lang="en-US" altLang="zh-CN" dirty="0">
                <a:solidFill>
                  <a:srgbClr val="D19A66"/>
                </a:solidFill>
                <a:latin typeface="Consolas" panose="020B0609020204030204" pitchFamily="49" charset="0"/>
              </a:rPr>
              <a:t>.box</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 </a:t>
            </a:r>
            <a:r>
              <a:rPr lang="en-US" altLang="zh-CN" dirty="0" err="1">
                <a:solidFill>
                  <a:srgbClr val="ABB2BF"/>
                </a:solidFill>
                <a:latin typeface="Consolas" panose="020B0609020204030204" pitchFamily="49" charset="0"/>
              </a:rPr>
              <a:t>lightpink</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transform: </a:t>
            </a:r>
            <a:r>
              <a:rPr lang="en-US" altLang="zh-CN" dirty="0">
                <a:solidFill>
                  <a:srgbClr val="56B6C2"/>
                </a:solidFill>
                <a:latin typeface="Consolas" panose="020B0609020204030204" pitchFamily="49" charset="0"/>
              </a:rPr>
              <a:t>scale</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9" name="左箭头 8"/>
          <p:cNvSpPr/>
          <p:nvPr/>
        </p:nvSpPr>
        <p:spPr>
          <a:xfrm>
            <a:off x="3605439" y="3070319"/>
            <a:ext cx="816863" cy="198238"/>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1"/>
          <a:stretch>
            <a:fillRect/>
          </a:stretch>
        </p:blipFill>
        <p:spPr>
          <a:xfrm>
            <a:off x="6390841" y="1762125"/>
            <a:ext cx="5007633" cy="279948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层叠规则</a:t>
            </a:r>
            <a:endParaRPr lang="zh-CN" altLang="en-US" dirty="0"/>
          </a:p>
        </p:txBody>
      </p:sp>
      <p:sp>
        <p:nvSpPr>
          <p:cNvPr id="3" name="内容占位符 2"/>
          <p:cNvSpPr>
            <a:spLocks noGrp="1"/>
          </p:cNvSpPr>
          <p:nvPr>
            <p:ph idx="1"/>
          </p:nvPr>
        </p:nvSpPr>
        <p:spPr/>
        <p:txBody>
          <a:bodyPr/>
          <a:lstStyle/>
          <a:p>
            <a:r>
              <a:rPr lang="en-US" altLang="zh-CN" dirty="0" smtClean="0"/>
              <a:t>z-index ‘</a:t>
            </a:r>
            <a:r>
              <a:rPr lang="zh-CN" altLang="en-US" dirty="0"/>
              <a:t>不犯二</a:t>
            </a:r>
            <a:r>
              <a:rPr lang="en-US" altLang="zh-CN" dirty="0" smtClean="0"/>
              <a:t>’</a:t>
            </a:r>
            <a:r>
              <a:rPr lang="zh-CN" altLang="en-US" dirty="0" smtClean="0"/>
              <a:t>准则</a:t>
            </a:r>
            <a:endParaRPr lang="en-US" altLang="zh-CN" dirty="0" smtClean="0"/>
          </a:p>
          <a:p>
            <a:pPr lvl="1"/>
            <a:r>
              <a:rPr lang="zh-CN" altLang="en-US" dirty="0"/>
              <a:t>对于非浮层元素，避免</a:t>
            </a:r>
            <a:r>
              <a:rPr lang="zh-CN" altLang="en-US" dirty="0" smtClean="0"/>
              <a:t>设置 </a:t>
            </a:r>
            <a:r>
              <a:rPr lang="en-US" altLang="zh-CN" dirty="0" smtClean="0"/>
              <a:t>z-index </a:t>
            </a:r>
            <a:r>
              <a:rPr lang="zh-CN" altLang="en-US" dirty="0" smtClean="0"/>
              <a:t>值</a:t>
            </a:r>
            <a:endParaRPr lang="en-US" altLang="zh-CN" dirty="0" smtClean="0"/>
          </a:p>
          <a:p>
            <a:pPr lvl="1"/>
            <a:r>
              <a:rPr lang="zh-CN" altLang="en-US" dirty="0" smtClean="0"/>
              <a:t>确实需要设置 </a:t>
            </a:r>
            <a:r>
              <a:rPr lang="en-US" altLang="zh-CN" dirty="0" smtClean="0"/>
              <a:t>z-index </a:t>
            </a:r>
            <a:r>
              <a:rPr lang="zh-CN" altLang="en-US" dirty="0" smtClean="0"/>
              <a:t>的元素，值不要</a:t>
            </a:r>
            <a:r>
              <a:rPr lang="zh-CN" altLang="en-US" dirty="0"/>
              <a:t>超过</a:t>
            </a:r>
            <a:r>
              <a:rPr lang="en-US" altLang="zh-CN" dirty="0" smtClean="0"/>
              <a:t>2</a:t>
            </a:r>
            <a:endParaRPr lang="en-US" altLang="zh-CN" dirty="0"/>
          </a:p>
          <a:p>
            <a:r>
              <a:rPr lang="zh-CN" altLang="en-US" dirty="0" smtClean="0"/>
              <a:t>以上准则不包括</a:t>
            </a:r>
            <a:endParaRPr lang="zh-CN" altLang="en-US" dirty="0" smtClean="0"/>
          </a:p>
          <a:p>
            <a:pPr lvl="1"/>
            <a:r>
              <a:rPr lang="zh-CN" altLang="en-US" dirty="0" smtClean="0"/>
              <a:t>弹框、提示框和下拉框等在页面上飘来飘去的定位元素</a:t>
            </a:r>
            <a:endParaRPr lang="en-US" altLang="zh-CN" dirty="0" smtClean="0"/>
          </a:p>
          <a:p>
            <a:endParaRPr lang="en-US" altLang="zh-CN" dirty="0" smtClean="0"/>
          </a:p>
          <a:p>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CSS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结</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界</a:t>
              </a: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BFC</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3</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结界</a:t>
            </a:r>
            <a:r>
              <a:rPr lang="en-US" altLang="zh-CN" dirty="0" smtClean="0"/>
              <a:t>BFC</a:t>
            </a:r>
            <a:endParaRPr lang="zh-CN" altLang="en-US" dirty="0"/>
          </a:p>
        </p:txBody>
      </p:sp>
      <p:sp>
        <p:nvSpPr>
          <p:cNvPr id="3" name="内容占位符 2"/>
          <p:cNvSpPr>
            <a:spLocks noGrp="1"/>
          </p:cNvSpPr>
          <p:nvPr>
            <p:ph idx="1"/>
          </p:nvPr>
        </p:nvSpPr>
        <p:spPr/>
        <p:txBody>
          <a:bodyPr/>
          <a:lstStyle/>
          <a:p>
            <a:r>
              <a:rPr lang="zh-CN" altLang="en-US" dirty="0" smtClean="0"/>
              <a:t>概念</a:t>
            </a:r>
            <a:endParaRPr lang="en-US" altLang="zh-CN" dirty="0" smtClean="0"/>
          </a:p>
          <a:p>
            <a:pPr lvl="1"/>
            <a:r>
              <a:rPr lang="en-US" altLang="zh-CN" dirty="0" smtClean="0"/>
              <a:t>BFC</a:t>
            </a:r>
            <a:r>
              <a:rPr lang="zh-CN" altLang="en-US" dirty="0" smtClean="0"/>
              <a:t>（</a:t>
            </a:r>
            <a:r>
              <a:rPr lang="en-US" altLang="zh-CN" dirty="0" smtClean="0"/>
              <a:t>block </a:t>
            </a:r>
            <a:r>
              <a:rPr lang="en-US" altLang="zh-CN" dirty="0"/>
              <a:t>formatting </a:t>
            </a:r>
            <a:r>
              <a:rPr lang="en-US" altLang="zh-CN" dirty="0" smtClean="0"/>
              <a:t>context</a:t>
            </a:r>
            <a:r>
              <a:rPr lang="zh-CN" altLang="en-US" dirty="0" smtClean="0"/>
              <a:t>），块级格式化上下文</a:t>
            </a:r>
            <a:endParaRPr lang="en-US" altLang="zh-CN" dirty="0" smtClean="0"/>
          </a:p>
          <a:p>
            <a:pPr lvl="1"/>
            <a:r>
              <a:rPr lang="zh-CN" altLang="en-US" dirty="0" smtClean="0"/>
              <a:t>页面</a:t>
            </a:r>
            <a:r>
              <a:rPr lang="zh-CN" altLang="en-US" dirty="0"/>
              <a:t>中的一块渲染区域</a:t>
            </a:r>
            <a:r>
              <a:rPr lang="zh-CN" altLang="en-US" dirty="0" smtClean="0"/>
              <a:t>，有一套</a:t>
            </a:r>
            <a:r>
              <a:rPr lang="zh-CN" altLang="en-US" dirty="0"/>
              <a:t>渲染规则，它决定了子元素将如何定位，以及和其他元素的关系和</a:t>
            </a:r>
            <a:r>
              <a:rPr lang="zh-CN" altLang="en-US" dirty="0" smtClean="0"/>
              <a:t>相互作用</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结界</a:t>
            </a:r>
            <a:r>
              <a:rPr lang="en-US" altLang="zh-CN" dirty="0"/>
              <a:t>BFC</a:t>
            </a:r>
            <a:endParaRPr lang="zh-CN" altLang="en-US" dirty="0"/>
          </a:p>
        </p:txBody>
      </p:sp>
      <p:sp>
        <p:nvSpPr>
          <p:cNvPr id="3" name="内容占位符 2"/>
          <p:cNvSpPr>
            <a:spLocks noGrp="1"/>
          </p:cNvSpPr>
          <p:nvPr>
            <p:ph idx="1"/>
          </p:nvPr>
        </p:nvSpPr>
        <p:spPr/>
        <p:txBody>
          <a:bodyPr/>
          <a:lstStyle/>
          <a:p>
            <a:r>
              <a:rPr lang="zh-CN" altLang="en-US" dirty="0" smtClean="0"/>
              <a:t>如何触发</a:t>
            </a:r>
            <a:r>
              <a:rPr lang="en-US" altLang="zh-CN" dirty="0" smtClean="0"/>
              <a:t>BFC</a:t>
            </a:r>
            <a:endParaRPr lang="en-US" altLang="zh-CN" dirty="0" smtClean="0"/>
          </a:p>
          <a:p>
            <a:pPr lvl="1"/>
            <a:r>
              <a:rPr lang="en-US" altLang="zh-CN" dirty="0"/>
              <a:t>&lt;html&gt;</a:t>
            </a:r>
            <a:r>
              <a:rPr lang="zh-CN" altLang="en-US" dirty="0"/>
              <a:t>根</a:t>
            </a:r>
            <a:r>
              <a:rPr lang="zh-CN" altLang="en-US" dirty="0" smtClean="0"/>
              <a:t>元素</a:t>
            </a:r>
            <a:endParaRPr lang="zh-CN" altLang="en-US" dirty="0"/>
          </a:p>
          <a:p>
            <a:pPr lvl="1"/>
            <a:r>
              <a:rPr lang="en-US" altLang="zh-CN" dirty="0"/>
              <a:t>float </a:t>
            </a:r>
            <a:r>
              <a:rPr lang="zh-CN" altLang="en-US" dirty="0"/>
              <a:t>的值不</a:t>
            </a:r>
            <a:r>
              <a:rPr lang="zh-CN" altLang="en-US" dirty="0" smtClean="0"/>
              <a:t>为 </a:t>
            </a:r>
            <a:r>
              <a:rPr lang="en-US" altLang="zh-CN" dirty="0" smtClean="0"/>
              <a:t>none</a:t>
            </a:r>
            <a:endParaRPr lang="zh-CN" altLang="en-US" dirty="0"/>
          </a:p>
          <a:p>
            <a:pPr lvl="1"/>
            <a:r>
              <a:rPr lang="en-US" altLang="zh-CN" dirty="0"/>
              <a:t>overflow </a:t>
            </a:r>
            <a:r>
              <a:rPr lang="zh-CN" altLang="en-US" dirty="0"/>
              <a:t>的值</a:t>
            </a:r>
            <a:r>
              <a:rPr lang="zh-CN" altLang="en-US" dirty="0" smtClean="0"/>
              <a:t>为 </a:t>
            </a:r>
            <a:r>
              <a:rPr lang="en-US" altLang="zh-CN" dirty="0" smtClean="0"/>
              <a:t>auto</a:t>
            </a:r>
            <a:r>
              <a:rPr lang="zh-CN" altLang="en-US" dirty="0"/>
              <a:t>、</a:t>
            </a:r>
            <a:r>
              <a:rPr lang="en-US" altLang="zh-CN" dirty="0"/>
              <a:t>scroll </a:t>
            </a:r>
            <a:r>
              <a:rPr lang="zh-CN" altLang="en-US" dirty="0"/>
              <a:t>或</a:t>
            </a:r>
            <a:r>
              <a:rPr lang="en-US" altLang="zh-CN" dirty="0" smtClean="0"/>
              <a:t>hidden</a:t>
            </a:r>
            <a:endParaRPr lang="zh-CN" altLang="en-US" dirty="0"/>
          </a:p>
          <a:p>
            <a:pPr lvl="1"/>
            <a:r>
              <a:rPr lang="en-US" altLang="zh-CN" dirty="0"/>
              <a:t>display </a:t>
            </a:r>
            <a:r>
              <a:rPr lang="zh-CN" altLang="en-US" dirty="0"/>
              <a:t>的值</a:t>
            </a:r>
            <a:r>
              <a:rPr lang="zh-CN" altLang="en-US" dirty="0" smtClean="0"/>
              <a:t>为 </a:t>
            </a:r>
            <a:r>
              <a:rPr lang="en-US" altLang="zh-CN" dirty="0" smtClean="0"/>
              <a:t>table-cell</a:t>
            </a:r>
            <a:r>
              <a:rPr lang="zh-CN" altLang="en-US" dirty="0"/>
              <a:t>、</a:t>
            </a:r>
            <a:r>
              <a:rPr lang="en-US" altLang="zh-CN" dirty="0"/>
              <a:t>table-caption </a:t>
            </a:r>
            <a:r>
              <a:rPr lang="zh-CN" altLang="en-US" dirty="0" smtClean="0"/>
              <a:t>和 </a:t>
            </a:r>
            <a:r>
              <a:rPr lang="en-US" altLang="zh-CN" dirty="0" smtClean="0"/>
              <a:t>inline-block </a:t>
            </a:r>
            <a:r>
              <a:rPr lang="zh-CN" altLang="en-US" dirty="0"/>
              <a:t>中的任何一</a:t>
            </a:r>
            <a:r>
              <a:rPr lang="zh-CN" altLang="en-US" dirty="0" smtClean="0"/>
              <a:t>个</a:t>
            </a:r>
            <a:endParaRPr lang="zh-CN" altLang="en-US" dirty="0"/>
          </a:p>
          <a:p>
            <a:pPr lvl="1"/>
            <a:r>
              <a:rPr lang="en-US" altLang="zh-CN" dirty="0"/>
              <a:t>position </a:t>
            </a:r>
            <a:r>
              <a:rPr lang="zh-CN" altLang="en-US" dirty="0"/>
              <a:t>的</a:t>
            </a:r>
            <a:r>
              <a:rPr lang="zh-CN" altLang="en-US" dirty="0" smtClean="0"/>
              <a:t>值为 </a:t>
            </a:r>
            <a:r>
              <a:rPr lang="en-US" altLang="zh-CN" dirty="0" smtClean="0"/>
              <a:t>absolute </a:t>
            </a:r>
            <a:r>
              <a:rPr lang="zh-CN" altLang="en-US" dirty="0" smtClean="0"/>
              <a:t>和 </a:t>
            </a:r>
            <a:r>
              <a:rPr lang="en-US" altLang="zh-CN" dirty="0" smtClean="0"/>
              <a:t>fixed</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结界</a:t>
            </a:r>
            <a:r>
              <a:rPr lang="en-US" altLang="zh-CN" dirty="0" smtClean="0"/>
              <a:t>BFC</a:t>
            </a:r>
            <a:endParaRPr lang="zh-CN" altLang="en-US" dirty="0"/>
          </a:p>
        </p:txBody>
      </p:sp>
      <p:sp>
        <p:nvSpPr>
          <p:cNvPr id="3" name="内容占位符 2"/>
          <p:cNvSpPr>
            <a:spLocks noGrp="1"/>
          </p:cNvSpPr>
          <p:nvPr>
            <p:ph idx="1"/>
          </p:nvPr>
        </p:nvSpPr>
        <p:spPr/>
        <p:txBody>
          <a:bodyPr/>
          <a:lstStyle/>
          <a:p>
            <a:r>
              <a:rPr lang="zh-CN" altLang="en-US" dirty="0"/>
              <a:t>解决浮动高度塌陷</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8" name="矩形 7"/>
          <p:cNvSpPr/>
          <p:nvPr/>
        </p:nvSpPr>
        <p:spPr>
          <a:xfrm>
            <a:off x="557439" y="1906446"/>
            <a:ext cx="3212149" cy="646331"/>
          </a:xfrm>
          <a:prstGeom prst="rect">
            <a:avLst/>
          </a:prstGeom>
        </p:spPr>
        <p:txBody>
          <a:bodyPr wrap="square">
            <a:spAutoFit/>
          </a:bodyPr>
          <a:lstStyle/>
          <a:p>
            <a:r>
              <a:rPr lang="en-US" altLang="zh-CN" dirty="0">
                <a:solidFill>
                  <a:srgbClr val="D19A66"/>
                </a:solidFill>
                <a:latin typeface="Consolas" panose="020B0609020204030204" pitchFamily="49" charset="0"/>
              </a:rPr>
              <a:t>.out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border: </a:t>
            </a:r>
            <a:r>
              <a:rPr lang="en-US" altLang="zh-CN" dirty="0">
                <a:solidFill>
                  <a:srgbClr val="D19A66"/>
                </a:solidFill>
                <a:latin typeface="Consolas" panose="020B0609020204030204" pitchFamily="49" charset="0"/>
              </a:rPr>
              <a:t>10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solid</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6581775" y="2119053"/>
            <a:ext cx="3209925" cy="3181350"/>
          </a:xfrm>
          <a:prstGeom prst="rect">
            <a:avLst/>
          </a:prstGeom>
        </p:spPr>
      </p:pic>
      <p:pic>
        <p:nvPicPr>
          <p:cNvPr id="11" name="图片 10"/>
          <p:cNvPicPr>
            <a:picLocks noChangeAspect="1"/>
          </p:cNvPicPr>
          <p:nvPr/>
        </p:nvPicPr>
        <p:blipFill>
          <a:blip r:embed="rId2"/>
          <a:stretch>
            <a:fillRect/>
          </a:stretch>
        </p:blipFill>
        <p:spPr>
          <a:xfrm>
            <a:off x="6581775" y="2093911"/>
            <a:ext cx="3209925" cy="3238500"/>
          </a:xfrm>
          <a:prstGeom prst="rect">
            <a:avLst/>
          </a:prstGeom>
        </p:spPr>
      </p:pic>
      <p:sp>
        <p:nvSpPr>
          <p:cNvPr id="12" name="矩形 11"/>
          <p:cNvSpPr/>
          <p:nvPr/>
        </p:nvSpPr>
        <p:spPr>
          <a:xfrm>
            <a:off x="557439" y="2423382"/>
            <a:ext cx="3212149" cy="2862322"/>
          </a:xfrm>
          <a:prstGeom prst="rect">
            <a:avLst/>
          </a:prstGeom>
        </p:spPr>
        <p:txBody>
          <a:bodyPr wrap="square">
            <a:spAutoFit/>
          </a:bodyPr>
          <a:lstStyle/>
          <a:p>
            <a:r>
              <a:rPr lang="en-US" altLang="zh-CN" dirty="0" smtClean="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.in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300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height: </a:t>
            </a:r>
            <a:r>
              <a:rPr lang="en-US" altLang="zh-CN" dirty="0">
                <a:solidFill>
                  <a:srgbClr val="D19A66"/>
                </a:solidFill>
                <a:latin typeface="Consolas" panose="020B0609020204030204" pitchFamily="49" charset="0"/>
              </a:rPr>
              <a:t>300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float: </a:t>
            </a:r>
            <a:r>
              <a:rPr lang="en-US" altLang="zh-CN" dirty="0">
                <a:solidFill>
                  <a:srgbClr val="D19A66"/>
                </a:solidFill>
                <a:latin typeface="Consolas" panose="020B0609020204030204" pitchFamily="49" charset="0"/>
              </a:rPr>
              <a:t>left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 </a:t>
            </a:r>
            <a:r>
              <a:rPr lang="en-US" altLang="zh-CN" dirty="0">
                <a:solidFill>
                  <a:srgbClr val="D19A66"/>
                </a:solidFill>
                <a:latin typeface="Consolas" panose="020B0609020204030204" pitchFamily="49" charset="0"/>
              </a:rPr>
              <a:t>#0dc2b3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"out"</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"in"</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smtClean="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p:txBody>
      </p:sp>
      <p:sp>
        <p:nvSpPr>
          <p:cNvPr id="13" name="矩形 12"/>
          <p:cNvSpPr/>
          <p:nvPr/>
        </p:nvSpPr>
        <p:spPr>
          <a:xfrm>
            <a:off x="557438" y="2420499"/>
            <a:ext cx="3212149" cy="369332"/>
          </a:xfrm>
          <a:prstGeom prst="rect">
            <a:avLst/>
          </a:prstGeom>
        </p:spPr>
        <p:txBody>
          <a:bodyPr wrap="square">
            <a:spAutoFit/>
          </a:bodyPr>
          <a:lstStyle/>
          <a:p>
            <a:r>
              <a:rPr lang="en-US" altLang="zh-CN" dirty="0" smtClean="0">
                <a:solidFill>
                  <a:srgbClr val="ABB2BF"/>
                </a:solidFill>
                <a:latin typeface="Consolas" panose="020B0609020204030204" pitchFamily="49" charset="0"/>
              </a:rPr>
              <a:t>  overflow: </a:t>
            </a:r>
            <a:r>
              <a:rPr lang="en-US" altLang="zh-CN" dirty="0" smtClean="0">
                <a:solidFill>
                  <a:srgbClr val="D19A66"/>
                </a:solidFill>
                <a:latin typeface="Consolas" panose="020B0609020204030204" pitchFamily="49" charset="0"/>
              </a:rPr>
              <a:t>hidden</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95833E-6 2.96296E-6 L 0.00013 0.03287 " pathEditMode="relative" rAng="0" ptsTypes="AA">
                                      <p:cBhvr>
                                        <p:cTn id="6" dur="1500" fill="hold"/>
                                        <p:tgtEl>
                                          <p:spTgt spid="12"/>
                                        </p:tgtEl>
                                        <p:attrNameLst>
                                          <p:attrName>ppt_x</p:attrName>
                                          <p:attrName>ppt_y</p:attrName>
                                        </p:attrNameLst>
                                      </p:cBhvr>
                                      <p:rCtr x="0" y="1644"/>
                                    </p:animMotion>
                                  </p:childTnLst>
                                </p:cTn>
                              </p:par>
                            </p:childTnLst>
                          </p:cTn>
                        </p:par>
                        <p:par>
                          <p:cTn id="7" fill="hold">
                            <p:stCondLst>
                              <p:cond delay="1500"/>
                            </p:stCondLst>
                            <p:childTnLst>
                              <p:par>
                                <p:cTn id="8" presetID="2" presetClass="entr" presetSubtype="2" fill="hold" grpId="0" nodeType="afterEffect">
                                  <p:stCondLst>
                                    <p:cond delay="0"/>
                                  </p:stCondLst>
                                  <p:childTnLst>
                                    <p:set>
                                      <p:cBhvr>
                                        <p:cTn id="9" dur="1" fill="hold">
                                          <p:stCondLst>
                                            <p:cond delay="0"/>
                                          </p:stCondLst>
                                        </p:cTn>
                                        <p:tgtEl>
                                          <p:spTgt spid="13"/>
                                        </p:tgtEl>
                                        <p:attrNameLst>
                                          <p:attrName>style.visibility</p:attrName>
                                        </p:attrNameLst>
                                      </p:cBhvr>
                                      <p:to>
                                        <p:strVal val="visible"/>
                                      </p:to>
                                    </p:set>
                                    <p:anim calcmode="lin" valueType="num">
                                      <p:cBhvr additive="base">
                                        <p:cTn id="10" dur="250" fill="hold"/>
                                        <p:tgtEl>
                                          <p:spTgt spid="13"/>
                                        </p:tgtEl>
                                        <p:attrNameLst>
                                          <p:attrName>ppt_x</p:attrName>
                                        </p:attrNameLst>
                                      </p:cBhvr>
                                      <p:tavLst>
                                        <p:tav tm="0">
                                          <p:val>
                                            <p:strVal val="1+#ppt_w/2"/>
                                          </p:val>
                                        </p:tav>
                                        <p:tav tm="100000">
                                          <p:val>
                                            <p:strVal val="#ppt_x"/>
                                          </p:val>
                                        </p:tav>
                                      </p:tavLst>
                                    </p:anim>
                                    <p:anim calcmode="lin" valueType="num">
                                      <p:cBhvr additive="base">
                                        <p:cTn id="11" dur="25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结界</a:t>
            </a:r>
            <a:r>
              <a:rPr lang="en-US" altLang="zh-CN" dirty="0" smtClean="0"/>
              <a:t>BFC</a:t>
            </a:r>
            <a:endParaRPr lang="zh-CN" altLang="en-US" dirty="0"/>
          </a:p>
        </p:txBody>
      </p:sp>
      <p:sp>
        <p:nvSpPr>
          <p:cNvPr id="3" name="内容占位符 2"/>
          <p:cNvSpPr>
            <a:spLocks noGrp="1"/>
          </p:cNvSpPr>
          <p:nvPr>
            <p:ph idx="1"/>
          </p:nvPr>
        </p:nvSpPr>
        <p:spPr/>
        <p:txBody>
          <a:bodyPr/>
          <a:lstStyle/>
          <a:p>
            <a:r>
              <a:rPr lang="zh-CN" altLang="en-US" dirty="0" smtClean="0"/>
              <a:t>解决边距重叠</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5594754" y="2078137"/>
            <a:ext cx="2381250" cy="3352800"/>
          </a:xfrm>
          <a:prstGeom prst="rect">
            <a:avLst/>
          </a:prstGeom>
        </p:spPr>
      </p:pic>
      <p:pic>
        <p:nvPicPr>
          <p:cNvPr id="7" name="图片 6"/>
          <p:cNvPicPr>
            <a:picLocks noChangeAspect="1"/>
          </p:cNvPicPr>
          <p:nvPr/>
        </p:nvPicPr>
        <p:blipFill>
          <a:blip r:embed="rId2"/>
          <a:stretch>
            <a:fillRect/>
          </a:stretch>
        </p:blipFill>
        <p:spPr>
          <a:xfrm>
            <a:off x="9328150" y="1949549"/>
            <a:ext cx="2390775" cy="3609975"/>
          </a:xfrm>
          <a:prstGeom prst="rect">
            <a:avLst/>
          </a:prstGeom>
        </p:spPr>
      </p:pic>
      <p:sp>
        <p:nvSpPr>
          <p:cNvPr id="9" name="右箭头 8"/>
          <p:cNvSpPr/>
          <p:nvPr/>
        </p:nvSpPr>
        <p:spPr>
          <a:xfrm>
            <a:off x="8209825" y="3545308"/>
            <a:ext cx="884503" cy="418455"/>
          </a:xfrm>
          <a:prstGeom prst="rightArrow">
            <a:avLst>
              <a:gd name="adj1" fmla="val 35185"/>
              <a:gd name="adj2"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5775" y="1973361"/>
            <a:ext cx="3481791" cy="2862322"/>
          </a:xfrm>
          <a:prstGeom prst="rect">
            <a:avLst/>
          </a:prstGeom>
        </p:spPr>
        <p:txBody>
          <a:bodyPr wrap="square">
            <a:spAutoFit/>
          </a:bodyPr>
          <a:lstStyle/>
          <a:p>
            <a:r>
              <a:rPr lang="en-US" altLang="zh-CN" dirty="0">
                <a:solidFill>
                  <a:srgbClr val="D19A66"/>
                </a:solidFill>
                <a:latin typeface="Consolas" panose="020B0609020204030204" pitchFamily="49" charset="0"/>
              </a:rPr>
              <a:t>.div1</a:t>
            </a:r>
            <a:r>
              <a:rPr lang="en-US" altLang="zh-CN" dirty="0">
                <a:solidFill>
                  <a:srgbClr val="ABB2BF"/>
                </a:solidFill>
                <a:latin typeface="Consolas" panose="020B0609020204030204" pitchFamily="49" charset="0"/>
              </a:rPr>
              <a:t>,</a:t>
            </a:r>
            <a:r>
              <a:rPr lang="en-US" altLang="zh-CN" dirty="0">
                <a:solidFill>
                  <a:srgbClr val="C678DD"/>
                </a:solidFill>
                <a:latin typeface="Consolas" panose="020B0609020204030204" pitchFamily="49" charset="0"/>
              </a:rPr>
              <a:t> </a:t>
            </a:r>
            <a:r>
              <a:rPr lang="en-US" altLang="zh-CN" dirty="0">
                <a:solidFill>
                  <a:srgbClr val="D19A66"/>
                </a:solidFill>
                <a:latin typeface="Consolas" panose="020B0609020204030204" pitchFamily="49" charset="0"/>
              </a:rPr>
              <a:t>.div2</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height: </a:t>
            </a:r>
            <a:r>
              <a:rPr lang="en-US" altLang="zh-CN" dirty="0">
                <a:solidFill>
                  <a:srgbClr val="D19A66"/>
                </a:solidFill>
                <a:latin typeface="Consolas" panose="020B0609020204030204" pitchFamily="49" charset="0"/>
              </a:rPr>
              <a:t>150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 </a:t>
            </a:r>
            <a:r>
              <a:rPr lang="en-US" altLang="zh-CN" dirty="0">
                <a:solidFill>
                  <a:srgbClr val="D19A66"/>
                </a:solidFill>
                <a:latin typeface="Consolas" panose="020B0609020204030204" pitchFamily="49" charset="0"/>
              </a:rPr>
              <a:t>#0dc2b3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.div1</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margin-bottom: </a:t>
            </a:r>
            <a:r>
              <a:rPr lang="en-US" altLang="zh-CN" dirty="0">
                <a:solidFill>
                  <a:srgbClr val="D19A66"/>
                </a:solidFill>
                <a:latin typeface="Consolas" panose="020B0609020204030204" pitchFamily="49" charset="0"/>
              </a:rPr>
              <a:t>30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.div2</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margin-top: </a:t>
            </a:r>
            <a:r>
              <a:rPr lang="en-US" altLang="zh-CN" dirty="0">
                <a:solidFill>
                  <a:srgbClr val="D19A66"/>
                </a:solidFill>
                <a:latin typeface="Consolas" panose="020B0609020204030204" pitchFamily="49" charset="0"/>
              </a:rPr>
              <a:t>30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11" name="矩形 10"/>
          <p:cNvSpPr/>
          <p:nvPr/>
        </p:nvSpPr>
        <p:spPr>
          <a:xfrm>
            <a:off x="485775" y="4835683"/>
            <a:ext cx="3533775" cy="646331"/>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"div1"</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"div2"</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6" name="矩形 5"/>
          <p:cNvSpPr/>
          <p:nvPr/>
        </p:nvSpPr>
        <p:spPr>
          <a:xfrm>
            <a:off x="485775" y="5825780"/>
            <a:ext cx="8294668" cy="369332"/>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"overflow: hidden;"</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"div2"</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12" name="右箭头 11"/>
          <p:cNvSpPr/>
          <p:nvPr/>
        </p:nvSpPr>
        <p:spPr>
          <a:xfrm rot="5400000">
            <a:off x="1255469" y="5559584"/>
            <a:ext cx="408529" cy="253388"/>
          </a:xfrm>
          <a:prstGeom prst="rightArrow">
            <a:avLst>
              <a:gd name="adj1" fmla="val 29920"/>
              <a:gd name="adj2" fmla="val 5374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50" fill="hold"/>
                                        <p:tgtEl>
                                          <p:spTgt spid="12"/>
                                        </p:tgtEl>
                                        <p:attrNameLst>
                                          <p:attrName>ppt_x</p:attrName>
                                        </p:attrNameLst>
                                      </p:cBhvr>
                                      <p:tavLst>
                                        <p:tav tm="0">
                                          <p:val>
                                            <p:strVal val="#ppt_x"/>
                                          </p:val>
                                        </p:tav>
                                        <p:tav tm="100000">
                                          <p:val>
                                            <p:strVal val="#ppt_x"/>
                                          </p:val>
                                        </p:tav>
                                      </p:tavLst>
                                    </p:anim>
                                    <p:anim calcmode="lin" valueType="num">
                                      <p:cBhvr additive="base">
                                        <p:cTn id="8" dur="25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50" fill="hold"/>
                                        <p:tgtEl>
                                          <p:spTgt spid="6"/>
                                        </p:tgtEl>
                                        <p:attrNameLst>
                                          <p:attrName>ppt_x</p:attrName>
                                        </p:attrNameLst>
                                      </p:cBhvr>
                                      <p:tavLst>
                                        <p:tav tm="0">
                                          <p:val>
                                            <p:strVal val="#ppt_x"/>
                                          </p:val>
                                        </p:tav>
                                        <p:tav tm="100000">
                                          <p:val>
                                            <p:strVal val="#ppt_x"/>
                                          </p:val>
                                        </p:tav>
                                      </p:tavLst>
                                    </p:anim>
                                    <p:anim calcmode="lin" valueType="num">
                                      <p:cBhvr additive="base">
                                        <p:cTn id="12" dur="25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250" fill="hold"/>
                                        <p:tgtEl>
                                          <p:spTgt spid="9"/>
                                        </p:tgtEl>
                                        <p:attrNameLst>
                                          <p:attrName>ppt_x</p:attrName>
                                        </p:attrNameLst>
                                      </p:cBhvr>
                                      <p:tavLst>
                                        <p:tav tm="0">
                                          <p:val>
                                            <p:strVal val="1+#ppt_w/2"/>
                                          </p:val>
                                        </p:tav>
                                        <p:tav tm="100000">
                                          <p:val>
                                            <p:strVal val="#ppt_x"/>
                                          </p:val>
                                        </p:tav>
                                      </p:tavLst>
                                    </p:anim>
                                    <p:anim calcmode="lin" valueType="num">
                                      <p:cBhvr additive="base">
                                        <p:cTn id="18" dur="250" fill="hold"/>
                                        <p:tgtEl>
                                          <p:spTgt spid="9"/>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250" fill="hold"/>
                                        <p:tgtEl>
                                          <p:spTgt spid="7"/>
                                        </p:tgtEl>
                                        <p:attrNameLst>
                                          <p:attrName>ppt_x</p:attrName>
                                        </p:attrNameLst>
                                      </p:cBhvr>
                                      <p:tavLst>
                                        <p:tav tm="0">
                                          <p:val>
                                            <p:strVal val="1+#ppt_w/2"/>
                                          </p:val>
                                        </p:tav>
                                        <p:tav tm="100000">
                                          <p:val>
                                            <p:strVal val="#ppt_x"/>
                                          </p:val>
                                        </p:tav>
                                      </p:tavLst>
                                    </p:anim>
                                    <p:anim calcmode="lin" valueType="num">
                                      <p:cBhvr additive="base">
                                        <p:cTn id="22" dur="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结界</a:t>
            </a:r>
            <a:r>
              <a:rPr lang="en-US" altLang="zh-CN" dirty="0" smtClean="0"/>
              <a:t>BFC</a:t>
            </a:r>
            <a:endParaRPr lang="zh-CN" altLang="en-US" dirty="0"/>
          </a:p>
        </p:txBody>
      </p:sp>
      <p:sp>
        <p:nvSpPr>
          <p:cNvPr id="3" name="内容占位符 2"/>
          <p:cNvSpPr>
            <a:spLocks noGrp="1"/>
          </p:cNvSpPr>
          <p:nvPr>
            <p:ph idx="1"/>
          </p:nvPr>
        </p:nvSpPr>
        <p:spPr/>
        <p:txBody>
          <a:bodyPr/>
          <a:lstStyle/>
          <a:p>
            <a:r>
              <a:rPr lang="zh-CN" altLang="en-US" dirty="0" smtClean="0"/>
              <a:t>布局 </a:t>
            </a:r>
            <a:r>
              <a:rPr lang="en-US" altLang="zh-CN" dirty="0" smtClean="0"/>
              <a:t>- </a:t>
            </a:r>
            <a:r>
              <a:rPr lang="zh-CN" altLang="en-US" dirty="0" smtClean="0"/>
              <a:t>文字环绕</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8" name="矩形 7"/>
          <p:cNvSpPr/>
          <p:nvPr/>
        </p:nvSpPr>
        <p:spPr>
          <a:xfrm>
            <a:off x="557530" y="2282190"/>
            <a:ext cx="6468745" cy="2861310"/>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"parent"</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err="1">
                <a:solidFill>
                  <a:srgbClr val="E06C75"/>
                </a:solidFill>
                <a:latin typeface="Consolas" panose="020B0609020204030204" pitchFamily="49" charset="0"/>
              </a:rPr>
              <a:t>img</a:t>
            </a:r>
            <a:r>
              <a:rPr lang="en-US" altLang="zh-CN" dirty="0">
                <a:solidFill>
                  <a:srgbClr val="ABB2BF"/>
                </a:solidFill>
                <a:latin typeface="Consolas" panose="020B0609020204030204" pitchFamily="49" charset="0"/>
              </a:rPr>
              <a:t> </a:t>
            </a:r>
            <a:r>
              <a:rPr lang="en-US" altLang="zh-CN" dirty="0" err="1">
                <a:solidFill>
                  <a:srgbClr val="D19A66"/>
                </a:solidFill>
                <a:latin typeface="Consolas" panose="020B0609020204030204" pitchFamily="49" charset="0"/>
              </a:rPr>
              <a:t>src</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"http://static.zhixue.com/zhixue.png"</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style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"float: left; margin-right: 10px;"</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zh-CN" altLang="en-US" dirty="0">
                <a:solidFill>
                  <a:srgbClr val="ABB2BF"/>
                </a:solidFill>
                <a:latin typeface="Consolas" panose="020B0609020204030204" pitchFamily="49" charset="0"/>
              </a:rPr>
              <a:t>智学网是科大讯飞面向学校日常作业、考试及发展性教与学评价需求推出的大数据个性化教学系统，旨在为用户提供更加简单易用的系统操作和全面完善的资源服务，通过大数据分析充分挖掘校园考试价值，通过基于云服务的</a:t>
            </a:r>
            <a:r>
              <a:rPr lang="en-US" altLang="zh-CN" dirty="0">
                <a:solidFill>
                  <a:srgbClr val="ABB2BF"/>
                </a:solidFill>
                <a:latin typeface="Consolas" panose="020B0609020204030204" pitchFamily="49" charset="0"/>
              </a:rPr>
              <a:t>PC</a:t>
            </a:r>
            <a:r>
              <a:rPr lang="zh-CN" altLang="en-US" dirty="0">
                <a:solidFill>
                  <a:srgbClr val="ABB2BF"/>
                </a:solidFill>
                <a:latin typeface="Consolas" panose="020B0609020204030204" pitchFamily="49" charset="0"/>
              </a:rPr>
              <a:t>及移动终端综合方案为每一名老师和学生提供针对性教和个性化学的信息化环境与服务。</a:t>
            </a:r>
            <a:endParaRPr lang="zh-CN" altLang="en-US"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pic>
        <p:nvPicPr>
          <p:cNvPr id="9" name="图片 8"/>
          <p:cNvPicPr>
            <a:picLocks noChangeAspect="1"/>
          </p:cNvPicPr>
          <p:nvPr/>
        </p:nvPicPr>
        <p:blipFill>
          <a:blip r:embed="rId1"/>
          <a:stretch>
            <a:fillRect/>
          </a:stretch>
        </p:blipFill>
        <p:spPr>
          <a:xfrm>
            <a:off x="7781414" y="2282000"/>
            <a:ext cx="2990850" cy="21717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BFC</a:t>
            </a:r>
            <a:r>
              <a:rPr lang="zh-CN" altLang="en-US" dirty="0"/>
              <a:t>与布局</a:t>
            </a:r>
            <a:endParaRPr lang="zh-CN" altLang="en-US" dirty="0"/>
          </a:p>
        </p:txBody>
      </p:sp>
      <p:sp>
        <p:nvSpPr>
          <p:cNvPr id="3" name="内容占位符 2"/>
          <p:cNvSpPr>
            <a:spLocks noGrp="1"/>
          </p:cNvSpPr>
          <p:nvPr>
            <p:ph idx="1"/>
          </p:nvPr>
        </p:nvSpPr>
        <p:spPr/>
        <p:txBody>
          <a:bodyPr/>
          <a:lstStyle/>
          <a:p>
            <a:r>
              <a:rPr lang="zh-CN" altLang="en-US" dirty="0" smtClean="0"/>
              <a:t>布局 </a:t>
            </a:r>
            <a:r>
              <a:rPr lang="en-US" altLang="zh-CN" dirty="0" smtClean="0"/>
              <a:t>- </a:t>
            </a:r>
            <a:r>
              <a:rPr lang="zh-CN" altLang="en-US" dirty="0" smtClean="0"/>
              <a:t>左栏定宽，右栏自适应的两栏布局</a:t>
            </a:r>
            <a:endParaRPr lang="zh-CN" altLang="en-US" b="1"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439" y="2807822"/>
            <a:ext cx="6096000" cy="2585323"/>
          </a:xfrm>
          <a:prstGeom prst="rect">
            <a:avLst/>
          </a:prstGeom>
        </p:spPr>
        <p:txBody>
          <a:bodyPr>
            <a:spAutoFit/>
          </a:bodyPr>
          <a:lstStyle/>
          <a:p>
            <a:r>
              <a:rPr lang="en-US" altLang="zh-CN" dirty="0" smtClean="0">
                <a:solidFill>
                  <a:srgbClr val="D19A66"/>
                </a:solidFill>
                <a:latin typeface="Consolas" panose="020B0609020204030204" pitchFamily="49" charset="0"/>
              </a:rPr>
              <a:t>.</a:t>
            </a:r>
            <a:r>
              <a:rPr lang="en-US" altLang="zh-CN" dirty="0">
                <a:solidFill>
                  <a:srgbClr val="D19A66"/>
                </a:solidFill>
                <a:latin typeface="Consolas" panose="020B0609020204030204" pitchFamily="49" charset="0"/>
              </a:rPr>
              <a:t>left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180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float: </a:t>
            </a:r>
            <a:r>
              <a:rPr lang="en-US" altLang="zh-CN" dirty="0">
                <a:solidFill>
                  <a:srgbClr val="D19A66"/>
                </a:solidFill>
                <a:latin typeface="Consolas" panose="020B0609020204030204" pitchFamily="49" charset="0"/>
              </a:rPr>
              <a:t>left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 </a:t>
            </a:r>
            <a:r>
              <a:rPr lang="en-US" altLang="zh-CN" dirty="0">
                <a:solidFill>
                  <a:srgbClr val="D19A66"/>
                </a:solidFill>
                <a:latin typeface="Consolas" panose="020B0609020204030204" pitchFamily="49" charset="0"/>
              </a:rPr>
              <a:t>red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.right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smtClean="0">
                <a:solidFill>
                  <a:srgbClr val="ABB2BF"/>
                </a:solidFill>
                <a:latin typeface="Consolas" panose="020B0609020204030204" pitchFamily="49" charset="0"/>
              </a:rPr>
              <a:t>background</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blue</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overflow</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hidden</a:t>
            </a:r>
            <a:r>
              <a:rPr lang="en-US" altLang="zh-CN" dirty="0" smtClean="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p:txBody>
      </p:sp>
      <p:sp>
        <p:nvSpPr>
          <p:cNvPr id="7" name="矩形 6"/>
          <p:cNvSpPr/>
          <p:nvPr/>
        </p:nvSpPr>
        <p:spPr>
          <a:xfrm>
            <a:off x="557439" y="1880731"/>
            <a:ext cx="4507856" cy="646331"/>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"left"</a:t>
            </a:r>
            <a:r>
              <a:rPr lang="en-US" altLang="zh-CN" dirty="0">
                <a:solidFill>
                  <a:srgbClr val="ABB2BF"/>
                </a:solidFill>
                <a:latin typeface="Consolas" panose="020B0609020204030204" pitchFamily="49" charset="0"/>
              </a:rPr>
              <a:t>&gt;left&lt;/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"right"</a:t>
            </a:r>
            <a:r>
              <a:rPr lang="en-US" altLang="zh-CN" dirty="0">
                <a:solidFill>
                  <a:srgbClr val="ABB2BF"/>
                </a:solidFill>
                <a:latin typeface="Consolas" panose="020B0609020204030204" pitchFamily="49" charset="0"/>
              </a:rPr>
              <a:t>&gt;right&lt;/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6138182" y="1880731"/>
            <a:ext cx="5514975" cy="23145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结界</a:t>
            </a:r>
            <a:r>
              <a:rPr lang="en-US" altLang="zh-CN" dirty="0"/>
              <a:t>BFC</a:t>
            </a:r>
            <a:endParaRPr lang="zh-CN" altLang="en-US" dirty="0"/>
          </a:p>
        </p:txBody>
      </p:sp>
      <p:sp>
        <p:nvSpPr>
          <p:cNvPr id="3" name="内容占位符 2"/>
          <p:cNvSpPr>
            <a:spLocks noGrp="1"/>
          </p:cNvSpPr>
          <p:nvPr>
            <p:ph idx="1"/>
          </p:nvPr>
        </p:nvSpPr>
        <p:spPr/>
        <p:txBody>
          <a:bodyPr/>
          <a:lstStyle/>
          <a:p>
            <a:r>
              <a:rPr lang="en-US" altLang="zh-CN" dirty="0" smtClean="0"/>
              <a:t>BFC</a:t>
            </a:r>
            <a:r>
              <a:rPr lang="zh-CN" altLang="en-US" dirty="0" smtClean="0"/>
              <a:t>实现两栏布局优劣势</a:t>
            </a:r>
            <a:endParaRPr lang="en-US" altLang="zh-CN" dirty="0" smtClean="0"/>
          </a:p>
          <a:p>
            <a:pPr lvl="1"/>
            <a:r>
              <a:rPr lang="zh-CN" altLang="en-US" dirty="0" smtClean="0"/>
              <a:t>优点</a:t>
            </a:r>
            <a:endParaRPr lang="en-US" altLang="zh-CN" dirty="0" smtClean="0"/>
          </a:p>
          <a:p>
            <a:pPr lvl="2"/>
            <a:r>
              <a:rPr lang="en-US" altLang="zh-CN" dirty="0" smtClean="0"/>
              <a:t>DOM </a:t>
            </a:r>
            <a:r>
              <a:rPr lang="zh-CN" altLang="en-US" dirty="0" smtClean="0"/>
              <a:t>树结构简单，没有多余嵌套</a:t>
            </a:r>
            <a:endParaRPr lang="en-US" altLang="zh-CN" dirty="0"/>
          </a:p>
          <a:p>
            <a:pPr lvl="2"/>
            <a:r>
              <a:rPr lang="zh-CN" altLang="en-US" dirty="0" smtClean="0"/>
              <a:t>没有浏览器兼容性问题</a:t>
            </a:r>
            <a:endParaRPr lang="en-US" altLang="zh-CN" dirty="0" smtClean="0"/>
          </a:p>
          <a:p>
            <a:pPr lvl="2"/>
            <a:r>
              <a:rPr lang="zh-CN" altLang="en-US" dirty="0" smtClean="0"/>
              <a:t>没有不同元素间的属性值耦合</a:t>
            </a:r>
            <a:endParaRPr lang="en-US" altLang="zh-CN" dirty="0" smtClean="0"/>
          </a:p>
          <a:p>
            <a:pPr lvl="1"/>
            <a:endParaRPr lang="en-US" altLang="zh-CN" dirty="0"/>
          </a:p>
          <a:p>
            <a:pPr lvl="1"/>
            <a:r>
              <a:rPr lang="zh-CN" altLang="en-US" dirty="0" smtClean="0"/>
              <a:t>缺点</a:t>
            </a:r>
            <a:endParaRPr lang="en-US" altLang="zh-CN" dirty="0" smtClean="0"/>
          </a:p>
          <a:p>
            <a:pPr lvl="2"/>
            <a:r>
              <a:rPr lang="zh-CN" altLang="en-US" dirty="0" smtClean="0"/>
              <a:t>限制了自适应右栏元素的内容溢出</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经验与实践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智能对齐规则</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4</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智能对齐规则</a:t>
            </a:r>
            <a:endParaRPr lang="zh-CN" altLang="en-US" dirty="0"/>
          </a:p>
        </p:txBody>
      </p:sp>
      <p:sp>
        <p:nvSpPr>
          <p:cNvPr id="3" name="内容占位符 2"/>
          <p:cNvSpPr>
            <a:spLocks noGrp="1"/>
          </p:cNvSpPr>
          <p:nvPr>
            <p:ph idx="1"/>
          </p:nvPr>
        </p:nvSpPr>
        <p:spPr/>
        <p:txBody>
          <a:bodyPr/>
          <a:lstStyle/>
          <a:p>
            <a:r>
              <a:rPr lang="zh-CN" altLang="en-US" dirty="0"/>
              <a:t>机智</a:t>
            </a:r>
            <a:r>
              <a:rPr lang="zh-CN" altLang="en-US" dirty="0" smtClean="0"/>
              <a:t>的弹框</a:t>
            </a:r>
            <a:endParaRPr lang="en-US" altLang="zh-CN" dirty="0" smtClean="0"/>
          </a:p>
          <a:p>
            <a:pPr lvl="1"/>
            <a:r>
              <a:rPr lang="zh-CN" altLang="en-US" dirty="0" smtClean="0"/>
              <a:t>字数少的时候，居中显示</a:t>
            </a:r>
            <a:endParaRPr lang="en-US" altLang="zh-CN" dirty="0" smtClean="0"/>
          </a:p>
          <a:p>
            <a:pPr lvl="1"/>
            <a:r>
              <a:rPr lang="zh-CN" altLang="en-US" dirty="0" smtClean="0"/>
              <a:t>字数多的时候，居左对齐</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11" name="图片 10"/>
          <p:cNvPicPr>
            <a:picLocks noChangeAspect="1"/>
          </p:cNvPicPr>
          <p:nvPr/>
        </p:nvPicPr>
        <p:blipFill>
          <a:blip r:embed="rId1"/>
          <a:stretch>
            <a:fillRect/>
          </a:stretch>
        </p:blipFill>
        <p:spPr>
          <a:xfrm>
            <a:off x="1135408" y="2821986"/>
            <a:ext cx="4086225" cy="1495425"/>
          </a:xfrm>
          <a:prstGeom prst="rect">
            <a:avLst/>
          </a:prstGeom>
        </p:spPr>
      </p:pic>
      <p:pic>
        <p:nvPicPr>
          <p:cNvPr id="12" name="图片 11"/>
          <p:cNvPicPr>
            <a:picLocks noChangeAspect="1"/>
          </p:cNvPicPr>
          <p:nvPr/>
        </p:nvPicPr>
        <p:blipFill>
          <a:blip r:embed="rId2"/>
          <a:stretch>
            <a:fillRect/>
          </a:stretch>
        </p:blipFill>
        <p:spPr>
          <a:xfrm>
            <a:off x="5733443" y="2822076"/>
            <a:ext cx="4048125" cy="14573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智能对齐规则</a:t>
            </a:r>
            <a:endParaRPr lang="zh-CN" altLang="en-US" dirty="0"/>
          </a:p>
        </p:txBody>
      </p:sp>
      <p:sp>
        <p:nvSpPr>
          <p:cNvPr id="3" name="内容占位符 2"/>
          <p:cNvSpPr>
            <a:spLocks noGrp="1"/>
          </p:cNvSpPr>
          <p:nvPr>
            <p:ph idx="1"/>
          </p:nvPr>
        </p:nvSpPr>
        <p:spPr/>
        <p:txBody>
          <a:bodyPr/>
          <a:lstStyle/>
          <a:p>
            <a:r>
              <a:rPr lang="zh-CN" altLang="en-US" dirty="0"/>
              <a:t>行内块元素</a:t>
            </a:r>
            <a:r>
              <a:rPr lang="en-US" altLang="zh-CN" dirty="0"/>
              <a:t> inline-block</a:t>
            </a:r>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692785" y="4034173"/>
            <a:ext cx="3663887" cy="2031325"/>
          </a:xfrm>
          <a:prstGeom prst="rect">
            <a:avLst/>
          </a:prstGeom>
        </p:spPr>
        <p:txBody>
          <a:bodyPr wrap="square">
            <a:spAutoFit/>
          </a:bodyPr>
          <a:lstStyle/>
          <a:p>
            <a:r>
              <a:rPr lang="en-US" altLang="zh-CN" dirty="0">
                <a:solidFill>
                  <a:srgbClr val="D19A66"/>
                </a:solidFill>
                <a:latin typeface="Consolas" panose="020B0609020204030204" pitchFamily="49" charset="0"/>
              </a:rPr>
              <a:t>.out</a:t>
            </a:r>
            <a:r>
              <a:rPr lang="en-US" altLang="zh-CN" dirty="0">
                <a:solidFill>
                  <a:srgbClr val="ABB2BF"/>
                </a:solidFill>
                <a:latin typeface="Consolas" panose="020B0609020204030204" pitchFamily="49" charset="0"/>
              </a:rPr>
              <a:t> </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text-align: </a:t>
            </a:r>
            <a:r>
              <a:rPr lang="en-US" altLang="zh-CN" dirty="0">
                <a:solidFill>
                  <a:srgbClr val="D19A66"/>
                </a:solidFill>
                <a:latin typeface="Consolas" panose="020B0609020204030204" pitchFamily="49" charset="0"/>
              </a:rPr>
              <a:t>center</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.in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display: </a:t>
            </a:r>
            <a:r>
              <a:rPr lang="en-US" altLang="zh-CN" dirty="0">
                <a:solidFill>
                  <a:srgbClr val="D19A66"/>
                </a:solidFill>
                <a:latin typeface="Consolas" panose="020B0609020204030204" pitchFamily="49" charset="0"/>
              </a:rPr>
              <a:t>inline-block</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text-align: </a:t>
            </a:r>
            <a:r>
              <a:rPr lang="en-US" altLang="zh-CN" dirty="0">
                <a:solidFill>
                  <a:srgbClr val="D19A66"/>
                </a:solidFill>
                <a:latin typeface="Consolas" panose="020B0609020204030204" pitchFamily="49" charset="0"/>
              </a:rPr>
              <a:t>left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pic>
        <p:nvPicPr>
          <p:cNvPr id="6" name="图片 5"/>
          <p:cNvPicPr>
            <a:picLocks noChangeAspect="1"/>
          </p:cNvPicPr>
          <p:nvPr>
            <p:custDataLst>
              <p:tags r:id="rId1"/>
            </p:custDataLst>
          </p:nvPr>
        </p:nvPicPr>
        <p:blipFill>
          <a:blip r:embed="rId2"/>
          <a:stretch>
            <a:fillRect/>
          </a:stretch>
        </p:blipFill>
        <p:spPr>
          <a:xfrm>
            <a:off x="692785" y="2115820"/>
            <a:ext cx="4048125" cy="1447800"/>
          </a:xfrm>
          <a:prstGeom prst="rect">
            <a:avLst/>
          </a:prstGeom>
        </p:spPr>
      </p:pic>
      <p:pic>
        <p:nvPicPr>
          <p:cNvPr id="7" name="图片 6"/>
          <p:cNvPicPr>
            <a:picLocks noChangeAspect="1"/>
          </p:cNvPicPr>
          <p:nvPr/>
        </p:nvPicPr>
        <p:blipFill>
          <a:blip r:embed="rId3"/>
          <a:stretch>
            <a:fillRect/>
          </a:stretch>
        </p:blipFill>
        <p:spPr>
          <a:xfrm>
            <a:off x="5153025" y="2115820"/>
            <a:ext cx="4105275" cy="1476375"/>
          </a:xfrm>
          <a:prstGeom prst="rect">
            <a:avLst/>
          </a:prstGeom>
        </p:spPr>
      </p:pic>
      <p:cxnSp>
        <p:nvCxnSpPr>
          <p:cNvPr id="8" name="直接箭头连接符 7"/>
          <p:cNvCxnSpPr/>
          <p:nvPr/>
        </p:nvCxnSpPr>
        <p:spPr>
          <a:xfrm>
            <a:off x="7537450" y="2854325"/>
            <a:ext cx="1322070" cy="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cxnSp>
        <p:nvCxnSpPr>
          <p:cNvPr id="9" name="直接箭头连接符 8"/>
          <p:cNvCxnSpPr/>
          <p:nvPr/>
        </p:nvCxnSpPr>
        <p:spPr>
          <a:xfrm flipH="1" flipV="1">
            <a:off x="5501640" y="2844800"/>
            <a:ext cx="1355090" cy="9525"/>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10" name="文本框 9"/>
          <p:cNvSpPr txBox="1"/>
          <p:nvPr/>
        </p:nvSpPr>
        <p:spPr>
          <a:xfrm>
            <a:off x="6652895" y="2854325"/>
            <a:ext cx="1105535" cy="368300"/>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自动撑开</a:t>
            </a: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250"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经验与实践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不一样的最后元素</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4</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不一样的最后一个元素</a:t>
            </a:r>
            <a:endParaRPr lang="zh-CN" altLang="en-US" dirty="0"/>
          </a:p>
        </p:txBody>
      </p:sp>
      <p:sp>
        <p:nvSpPr>
          <p:cNvPr id="3" name="内容占位符 2"/>
          <p:cNvSpPr>
            <a:spLocks noGrp="1"/>
          </p:cNvSpPr>
          <p:nvPr>
            <p:ph idx="1"/>
          </p:nvPr>
        </p:nvSpPr>
        <p:spPr/>
        <p:txBody>
          <a:bodyPr/>
          <a:lstStyle/>
          <a:p>
            <a:r>
              <a:rPr lang="zh-CN" altLang="en-US" dirty="0" smtClean="0"/>
              <a:t>最后一个列表没有下划线</a:t>
            </a:r>
            <a:endParaRPr lang="en-US" altLang="zh-CN" dirty="0" smtClean="0"/>
          </a:p>
          <a:p>
            <a:r>
              <a:rPr lang="zh-CN" altLang="en-US" dirty="0" smtClean="0"/>
              <a:t>兼容 </a:t>
            </a:r>
            <a:r>
              <a:rPr lang="en-US" altLang="zh-CN" dirty="0" smtClean="0"/>
              <a:t>IE7 </a:t>
            </a:r>
            <a:r>
              <a:rPr lang="zh-CN" altLang="en-US" dirty="0" smtClean="0"/>
              <a:t>以上及主流浏览器</a:t>
            </a:r>
            <a:endParaRPr lang="en-US" altLang="zh-CN" dirty="0" smtClean="0"/>
          </a:p>
          <a:p>
            <a:r>
              <a:rPr lang="zh-CN" altLang="en-US" dirty="0"/>
              <a:t>如何实现</a:t>
            </a:r>
            <a:r>
              <a:rPr lang="zh-CN" altLang="en-US" dirty="0" smtClean="0"/>
              <a:t>？</a:t>
            </a:r>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7410899" y="1619250"/>
            <a:ext cx="4219575" cy="3152775"/>
          </a:xfrm>
          <a:prstGeom prst="rect">
            <a:avLst/>
          </a:prstGeom>
        </p:spPr>
      </p:pic>
      <p:sp>
        <p:nvSpPr>
          <p:cNvPr id="7" name="矩形 6"/>
          <p:cNvSpPr/>
          <p:nvPr/>
        </p:nvSpPr>
        <p:spPr>
          <a:xfrm>
            <a:off x="7323827" y="4442602"/>
            <a:ext cx="4386472" cy="6038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不一样</a:t>
            </a:r>
            <a:r>
              <a:rPr lang="zh-CN" altLang="en-US" dirty="0"/>
              <a:t>的最后一个元素</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5260456" y="2147868"/>
            <a:ext cx="4371975" cy="3162300"/>
          </a:xfrm>
          <a:prstGeom prst="rect">
            <a:avLst/>
          </a:prstGeom>
        </p:spPr>
      </p:pic>
      <p:pic>
        <p:nvPicPr>
          <p:cNvPr id="6" name="图片 5"/>
          <p:cNvPicPr>
            <a:picLocks noChangeAspect="1"/>
          </p:cNvPicPr>
          <p:nvPr/>
        </p:nvPicPr>
        <p:blipFill>
          <a:blip r:embed="rId2"/>
          <a:stretch>
            <a:fillRect/>
          </a:stretch>
        </p:blipFill>
        <p:spPr>
          <a:xfrm>
            <a:off x="557439" y="2147868"/>
            <a:ext cx="4038600" cy="3143250"/>
          </a:xfrm>
          <a:prstGeom prst="rect">
            <a:avLst/>
          </a:prstGeom>
        </p:spPr>
      </p:pic>
      <p:sp>
        <p:nvSpPr>
          <p:cNvPr id="7" name="矩形 6"/>
          <p:cNvSpPr/>
          <p:nvPr/>
        </p:nvSpPr>
        <p:spPr>
          <a:xfrm>
            <a:off x="557439" y="1275261"/>
            <a:ext cx="4038600" cy="595222"/>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latin typeface="微软雅黑" panose="020B0503020204020204" pitchFamily="34" charset="-122"/>
                <a:ea typeface="微软雅黑" panose="020B0503020204020204" pitchFamily="34" charset="-122"/>
              </a:rPr>
              <a:t>选择器：</a:t>
            </a:r>
            <a:r>
              <a:rPr lang="en-US" altLang="zh-CN" sz="2400" dirty="0" smtClean="0">
                <a:latin typeface="微软雅黑" panose="020B0503020204020204" pitchFamily="34" charset="-122"/>
                <a:ea typeface="微软雅黑" panose="020B0503020204020204" pitchFamily="34" charset="-122"/>
              </a:rPr>
              <a:t>last-child</a:t>
            </a:r>
            <a:endParaRPr lang="zh-CN" altLang="en-US" sz="2400" dirty="0">
              <a:latin typeface="微软雅黑" panose="020B0503020204020204" pitchFamily="34" charset="-122"/>
              <a:ea typeface="微软雅黑" panose="020B0503020204020204" pitchFamily="34" charset="-122"/>
            </a:endParaRPr>
          </a:p>
        </p:txBody>
      </p:sp>
      <p:sp>
        <p:nvSpPr>
          <p:cNvPr id="8" name="矩形 7"/>
          <p:cNvSpPr/>
          <p:nvPr/>
        </p:nvSpPr>
        <p:spPr>
          <a:xfrm>
            <a:off x="5260455" y="1275261"/>
            <a:ext cx="4371975" cy="595222"/>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latin typeface="微软雅黑" panose="020B0503020204020204" pitchFamily="34" charset="-122"/>
                <a:ea typeface="微软雅黑" panose="020B0503020204020204" pitchFamily="34" charset="-122"/>
              </a:rPr>
              <a:t>选择器：</a:t>
            </a:r>
            <a:r>
              <a:rPr lang="en-US" altLang="zh-CN" sz="2400" dirty="0">
                <a:latin typeface="微软雅黑" panose="020B0503020204020204" pitchFamily="34" charset="-122"/>
                <a:ea typeface="微软雅黑" panose="020B0503020204020204" pitchFamily="34" charset="-122"/>
              </a:rPr>
              <a:t>fir</a:t>
            </a:r>
            <a:r>
              <a:rPr lang="en-US" altLang="zh-CN" sz="2400" dirty="0" smtClean="0">
                <a:latin typeface="微软雅黑" panose="020B0503020204020204" pitchFamily="34" charset="-122"/>
                <a:ea typeface="微软雅黑" panose="020B0503020204020204" pitchFamily="34" charset="-122"/>
              </a:rPr>
              <a:t>st-child</a:t>
            </a:r>
            <a:endParaRPr lang="zh-CN" altLang="en-US" sz="2400" dirty="0">
              <a:latin typeface="微软雅黑" panose="020B0503020204020204" pitchFamily="34" charset="-122"/>
              <a:ea typeface="微软雅黑" panose="020B0503020204020204" pitchFamily="34" charset="-122"/>
            </a:endParaRPr>
          </a:p>
        </p:txBody>
      </p:sp>
      <p:sp>
        <p:nvSpPr>
          <p:cNvPr id="3" name="矩形 2"/>
          <p:cNvSpPr/>
          <p:nvPr/>
        </p:nvSpPr>
        <p:spPr>
          <a:xfrm>
            <a:off x="557439" y="5424597"/>
            <a:ext cx="6096000" cy="861774"/>
          </a:xfrm>
          <a:prstGeom prst="rect">
            <a:avLst/>
          </a:prstGeom>
        </p:spPr>
        <p:txBody>
          <a:bodyPr>
            <a:spAutoFit/>
          </a:bodyPr>
          <a:lstStyle/>
          <a:p>
            <a:pPr>
              <a:lnSpc>
                <a:spcPts val="3000"/>
              </a:lnSpc>
            </a:pPr>
            <a:r>
              <a:rPr lang="en-US" altLang="zh-CN" sz="2000" dirty="0">
                <a:solidFill>
                  <a:srgbClr val="E06C75"/>
                </a:solidFill>
                <a:latin typeface="Consolas" panose="020B0609020204030204" pitchFamily="49" charset="0"/>
              </a:rPr>
              <a:t>li</a:t>
            </a:r>
            <a:r>
              <a:rPr lang="en-US" altLang="zh-CN" sz="2000" dirty="0">
                <a:solidFill>
                  <a:srgbClr val="ABB2BF"/>
                </a:solidFill>
                <a:latin typeface="Consolas" panose="020B0609020204030204" pitchFamily="49" charset="0"/>
              </a:rPr>
              <a:t> { border-top: </a:t>
            </a:r>
            <a:r>
              <a:rPr lang="en-US" altLang="zh-CN" sz="2000" dirty="0">
                <a:solidFill>
                  <a:srgbClr val="D19A66"/>
                </a:solidFill>
                <a:latin typeface="Consolas" panose="020B0609020204030204" pitchFamily="49" charset="0"/>
              </a:rPr>
              <a:t>1</a:t>
            </a:r>
            <a:r>
              <a:rPr lang="en-US" altLang="zh-CN" sz="2000" dirty="0">
                <a:solidFill>
                  <a:srgbClr val="E06C75"/>
                </a:solidFill>
                <a:latin typeface="Consolas" panose="020B0609020204030204" pitchFamily="49" charset="0"/>
              </a:rPr>
              <a:t>px</a:t>
            </a:r>
            <a:r>
              <a:rPr lang="en-US" altLang="zh-CN" sz="2000" dirty="0">
                <a:solidFill>
                  <a:srgbClr val="ABB2BF"/>
                </a:solidFill>
                <a:latin typeface="Consolas" panose="020B0609020204030204" pitchFamily="49" charset="0"/>
              </a:rPr>
              <a:t> </a:t>
            </a:r>
            <a:r>
              <a:rPr lang="en-US" altLang="zh-CN" sz="2000" dirty="0">
                <a:solidFill>
                  <a:srgbClr val="D19A66"/>
                </a:solidFill>
                <a:latin typeface="Consolas" panose="020B0609020204030204" pitchFamily="49" charset="0"/>
              </a:rPr>
              <a:t>solid</a:t>
            </a:r>
            <a:r>
              <a:rPr lang="en-US" altLang="zh-CN" sz="2000" dirty="0">
                <a:solidFill>
                  <a:srgbClr val="ABB2BF"/>
                </a:solidFill>
                <a:latin typeface="Consolas" panose="020B0609020204030204" pitchFamily="49" charset="0"/>
              </a:rPr>
              <a:t>; }</a:t>
            </a:r>
            <a:endParaRPr lang="en-US" altLang="zh-CN" sz="2000" dirty="0">
              <a:solidFill>
                <a:srgbClr val="ABB2BF"/>
              </a:solidFill>
              <a:latin typeface="Consolas" panose="020B0609020204030204" pitchFamily="49" charset="0"/>
            </a:endParaRPr>
          </a:p>
          <a:p>
            <a:pPr>
              <a:lnSpc>
                <a:spcPts val="3000"/>
              </a:lnSpc>
            </a:pPr>
            <a:r>
              <a:rPr lang="en-US" altLang="zh-CN" sz="2000" dirty="0" err="1">
                <a:solidFill>
                  <a:srgbClr val="E06C75"/>
                </a:solidFill>
                <a:latin typeface="Consolas" panose="020B0609020204030204" pitchFamily="49" charset="0"/>
              </a:rPr>
              <a:t>li</a:t>
            </a:r>
            <a:r>
              <a:rPr lang="en-US" altLang="zh-CN" sz="2000" dirty="0" err="1">
                <a:solidFill>
                  <a:srgbClr val="56B6C2"/>
                </a:solidFill>
                <a:latin typeface="Consolas" panose="020B0609020204030204" pitchFamily="49" charset="0"/>
              </a:rPr>
              <a:t>:first-child</a:t>
            </a:r>
            <a:r>
              <a:rPr lang="en-US" altLang="zh-CN" sz="2000" dirty="0">
                <a:solidFill>
                  <a:srgbClr val="ABB2BF"/>
                </a:solidFill>
                <a:latin typeface="Consolas" panose="020B0609020204030204" pitchFamily="49" charset="0"/>
              </a:rPr>
              <a:t> { border-top: </a:t>
            </a:r>
            <a:r>
              <a:rPr lang="en-US" altLang="zh-CN" sz="2000" dirty="0">
                <a:solidFill>
                  <a:srgbClr val="D19A66"/>
                </a:solidFill>
                <a:latin typeface="Consolas" panose="020B0609020204030204" pitchFamily="49" charset="0"/>
              </a:rPr>
              <a:t>0</a:t>
            </a:r>
            <a:r>
              <a:rPr lang="en-US" altLang="zh-CN" sz="2000" dirty="0">
                <a:solidFill>
                  <a:srgbClr val="ABB2BF"/>
                </a:solidFill>
                <a:latin typeface="Consolas" panose="020B0609020204030204" pitchFamily="49" charset="0"/>
              </a:rPr>
              <a:t> </a:t>
            </a:r>
            <a:r>
              <a:rPr lang="en-US" altLang="zh-CN" sz="2000" dirty="0">
                <a:solidFill>
                  <a:srgbClr val="D19A66"/>
                </a:solidFill>
                <a:latin typeface="Consolas" panose="020B0609020204030204" pitchFamily="49" charset="0"/>
              </a:rPr>
              <a:t>none</a:t>
            </a:r>
            <a:r>
              <a:rPr lang="en-US" altLang="zh-CN" sz="2000" dirty="0">
                <a:solidFill>
                  <a:srgbClr val="ABB2BF"/>
                </a:solidFill>
                <a:latin typeface="Consolas" panose="020B0609020204030204" pitchFamily="49" charset="0"/>
              </a:rPr>
              <a:t>; }</a:t>
            </a:r>
            <a:endParaRPr lang="en-US" altLang="zh-CN" sz="2000"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250"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1+#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250" fill="hold">
                                          <p:stCondLst>
                                            <p:cond delay="0"/>
                                          </p:stCondLst>
                                        </p:cTn>
                                        <p:tgtEl>
                                          <p:spTgt spid="8"/>
                                        </p:tgtEl>
                                        <p:attrNameLst>
                                          <p:attrName>style.visibility</p:attrName>
                                        </p:attrNameLst>
                                      </p:cBhvr>
                                      <p:to>
                                        <p:strVal val="visible"/>
                                      </p:to>
                                    </p:set>
                                    <p:anim calcmode="lin" valueType="num">
                                      <p:cBhvr additive="base">
                                        <p:cTn id="11" dur="250" fill="hold"/>
                                        <p:tgtEl>
                                          <p:spTgt spid="8"/>
                                        </p:tgtEl>
                                        <p:attrNameLst>
                                          <p:attrName>ppt_x</p:attrName>
                                        </p:attrNameLst>
                                      </p:cBhvr>
                                      <p:tavLst>
                                        <p:tav tm="0">
                                          <p:val>
                                            <p:strVal val="1+#ppt_w/2"/>
                                          </p:val>
                                        </p:tav>
                                        <p:tav tm="100000">
                                          <p:val>
                                            <p:strVal val="#ppt_x"/>
                                          </p:val>
                                        </p:tav>
                                      </p:tavLst>
                                    </p:anim>
                                    <p:anim calcmode="lin" valueType="num">
                                      <p:cBhvr additive="base">
                                        <p:cTn id="12" dur="2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250" fill="hold">
                                          <p:stCondLst>
                                            <p:cond delay="0"/>
                                          </p:stCondLst>
                                        </p:cTn>
                                        <p:tgtEl>
                                          <p:spTgt spid="3"/>
                                        </p:tgtEl>
                                        <p:attrNameLst>
                                          <p:attrName>style.visibility</p:attrName>
                                        </p:attrNameLst>
                                      </p:cBhvr>
                                      <p:to>
                                        <p:strVal val="visible"/>
                                      </p:to>
                                    </p:set>
                                    <p:anim calcmode="lin" valueType="num">
                                      <p:cBhvr additive="base">
                                        <p:cTn id="17" dur="250" fill="hold"/>
                                        <p:tgtEl>
                                          <p:spTgt spid="3"/>
                                        </p:tgtEl>
                                        <p:attrNameLst>
                                          <p:attrName>ppt_x</p:attrName>
                                        </p:attrNameLst>
                                      </p:cBhvr>
                                      <p:tavLst>
                                        <p:tav tm="0">
                                          <p:val>
                                            <p:strVal val="#ppt_x"/>
                                          </p:val>
                                        </p:tav>
                                        <p:tav tm="100000">
                                          <p:val>
                                            <p:strVal val="#ppt_x"/>
                                          </p:val>
                                        </p:tav>
                                      </p:tavLst>
                                    </p:anim>
                                    <p:anim calcmode="lin" valueType="num">
                                      <p:cBhvr additive="base">
                                        <p:cTn id="18" dur="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3" grpId="0"/>
      <p:bldP spid="3"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经验与实践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向下兼容</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4</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向下兼容</a:t>
            </a:r>
            <a:endParaRPr lang="zh-CN" altLang="en-US" dirty="0"/>
          </a:p>
        </p:txBody>
      </p:sp>
      <p:sp>
        <p:nvSpPr>
          <p:cNvPr id="3" name="内容占位符 2"/>
          <p:cNvSpPr>
            <a:spLocks noGrp="1"/>
          </p:cNvSpPr>
          <p:nvPr>
            <p:ph idx="1"/>
          </p:nvPr>
        </p:nvSpPr>
        <p:spPr/>
        <p:txBody>
          <a:bodyPr/>
          <a:lstStyle/>
          <a:p>
            <a:r>
              <a:rPr lang="en-US" altLang="zh-CN" dirty="0" smtClean="0"/>
              <a:t>box-shadow</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6873784" y="1835325"/>
            <a:ext cx="4648200" cy="3981450"/>
          </a:xfrm>
          <a:prstGeom prst="rect">
            <a:avLst/>
          </a:prstGeom>
        </p:spPr>
      </p:pic>
      <p:pic>
        <p:nvPicPr>
          <p:cNvPr id="5" name="图片 4"/>
          <p:cNvPicPr>
            <a:picLocks noChangeAspect="1"/>
          </p:cNvPicPr>
          <p:nvPr>
            <p:custDataLst>
              <p:tags r:id="rId2"/>
            </p:custDataLst>
          </p:nvPr>
        </p:nvPicPr>
        <p:blipFill>
          <a:blip r:embed="rId3"/>
          <a:stretch>
            <a:fillRect/>
          </a:stretch>
        </p:blipFill>
        <p:spPr>
          <a:xfrm>
            <a:off x="736509" y="2446336"/>
            <a:ext cx="3933825" cy="2533650"/>
          </a:xfrm>
          <a:prstGeom prst="rect">
            <a:avLst/>
          </a:prstGeom>
        </p:spPr>
      </p:pic>
      <p:sp>
        <p:nvSpPr>
          <p:cNvPr id="6" name="下箭头 5"/>
          <p:cNvSpPr/>
          <p:nvPr/>
        </p:nvSpPr>
        <p:spPr>
          <a:xfrm rot="10800000">
            <a:off x="2366010" y="4706620"/>
            <a:ext cx="183515" cy="732155"/>
          </a:xfrm>
          <a:prstGeom prst="downArrow">
            <a:avLst>
              <a:gd name="adj1" fmla="val 31230"/>
              <a:gd name="adj2" fmla="val 6908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custDataLst>
              <p:tags r:id="rId4"/>
            </p:custDataLst>
          </p:nvPr>
        </p:nvSpPr>
        <p:spPr>
          <a:xfrm>
            <a:off x="1428341" y="5550216"/>
            <a:ext cx="2059939" cy="468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dirty="0" smtClean="0"/>
              <a:t>阴影</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250"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1+#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向下兼容</a:t>
            </a:r>
            <a:endParaRPr lang="zh-CN" altLang="en-US" dirty="0"/>
          </a:p>
        </p:txBody>
      </p:sp>
      <p:sp>
        <p:nvSpPr>
          <p:cNvPr id="3" name="内容占位符 2"/>
          <p:cNvSpPr>
            <a:spLocks noGrp="1"/>
          </p:cNvSpPr>
          <p:nvPr>
            <p:ph idx="1"/>
          </p:nvPr>
        </p:nvSpPr>
        <p:spPr/>
        <p:txBody>
          <a:bodyPr/>
          <a:lstStyle/>
          <a:p>
            <a:r>
              <a:rPr lang="zh-CN" altLang="en-US" dirty="0" smtClean="0"/>
              <a:t>如何实现以下效果</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1138464" y="2446336"/>
            <a:ext cx="3933825" cy="2533650"/>
          </a:xfrm>
          <a:prstGeom prst="rect">
            <a:avLst/>
          </a:prstGeom>
        </p:spPr>
      </p:pic>
      <p:pic>
        <p:nvPicPr>
          <p:cNvPr id="6" name="图片 5"/>
          <p:cNvPicPr>
            <a:picLocks noChangeAspect="1"/>
          </p:cNvPicPr>
          <p:nvPr/>
        </p:nvPicPr>
        <p:blipFill>
          <a:blip r:embed="rId2"/>
          <a:stretch>
            <a:fillRect/>
          </a:stretch>
        </p:blipFill>
        <p:spPr>
          <a:xfrm>
            <a:off x="6248399" y="2446336"/>
            <a:ext cx="3994967" cy="2533650"/>
          </a:xfrm>
          <a:prstGeom prst="rect">
            <a:avLst/>
          </a:prstGeom>
        </p:spPr>
      </p:pic>
      <p:sp>
        <p:nvSpPr>
          <p:cNvPr id="10" name="矩形 9"/>
          <p:cNvSpPr/>
          <p:nvPr/>
        </p:nvSpPr>
        <p:spPr>
          <a:xfrm>
            <a:off x="7467600" y="2732086"/>
            <a:ext cx="1905000" cy="468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IE8</a:t>
            </a:r>
            <a:r>
              <a:rPr lang="zh-CN" altLang="en-US" sz="2400" b="1" dirty="0" smtClean="0"/>
              <a:t>：边框</a:t>
            </a:r>
            <a:endParaRPr lang="zh-CN" altLang="en-US" sz="2400" b="1" dirty="0"/>
          </a:p>
        </p:txBody>
      </p:sp>
      <p:sp>
        <p:nvSpPr>
          <p:cNvPr id="11" name="矩形 10"/>
          <p:cNvSpPr/>
          <p:nvPr/>
        </p:nvSpPr>
        <p:spPr>
          <a:xfrm>
            <a:off x="2075406" y="2732086"/>
            <a:ext cx="2059939" cy="468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t>IE9+</a:t>
            </a:r>
            <a:r>
              <a:rPr lang="zh-CN" altLang="en-US" sz="2400" b="1" dirty="0" smtClean="0"/>
              <a:t>：阴影</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向下兼容</a:t>
            </a:r>
            <a:endParaRPr lang="zh-CN" altLang="en-US" dirty="0"/>
          </a:p>
        </p:txBody>
      </p:sp>
      <p:sp>
        <p:nvSpPr>
          <p:cNvPr id="3" name="内容占位符 2"/>
          <p:cNvSpPr>
            <a:spLocks noGrp="1"/>
          </p:cNvSpPr>
          <p:nvPr>
            <p:ph idx="1"/>
          </p:nvPr>
        </p:nvSpPr>
        <p:spPr/>
        <p:txBody>
          <a:bodyPr/>
          <a:lstStyle/>
          <a:p>
            <a:r>
              <a:rPr lang="zh-CN" altLang="en-US" dirty="0" smtClean="0"/>
              <a:t>我们第一时间想到是使用 </a:t>
            </a:r>
            <a:r>
              <a:rPr lang="en-US" altLang="zh-CN" dirty="0">
                <a:hlinkClick r:id="rId1"/>
              </a:rPr>
              <a:t>CSS </a:t>
            </a:r>
            <a:r>
              <a:rPr lang="en-US" altLang="zh-CN" dirty="0" smtClean="0">
                <a:hlinkClick r:id="rId1"/>
              </a:rPr>
              <a:t>hack</a:t>
            </a:r>
            <a:r>
              <a:rPr lang="en-US" altLang="zh-CN" dirty="0" smtClean="0"/>
              <a:t> </a:t>
            </a:r>
            <a:r>
              <a:rPr lang="zh-CN" altLang="en-US" dirty="0" smtClean="0"/>
              <a:t>技巧</a:t>
            </a:r>
            <a:endParaRPr lang="en-US" altLang="zh-CN" dirty="0" smtClean="0"/>
          </a:p>
          <a:p>
            <a:r>
              <a:rPr lang="zh-CN" altLang="en-US" dirty="0" smtClean="0"/>
              <a:t>重点是区分 </a:t>
            </a:r>
            <a:r>
              <a:rPr lang="en-US" altLang="zh-CN" dirty="0" smtClean="0"/>
              <a:t>IE8 </a:t>
            </a:r>
            <a:r>
              <a:rPr lang="zh-CN" altLang="en-US" dirty="0" smtClean="0"/>
              <a:t>和 </a:t>
            </a:r>
            <a:r>
              <a:rPr lang="en-US" altLang="zh-CN" dirty="0" smtClean="0"/>
              <a:t>IE9</a:t>
            </a:r>
            <a:endParaRPr lang="en-US" altLang="zh-CN" dirty="0" smtClean="0"/>
          </a:p>
          <a:p>
            <a:r>
              <a:rPr lang="zh-CN" altLang="en-US" dirty="0" smtClean="0"/>
              <a:t>我们都知道 </a:t>
            </a:r>
            <a:r>
              <a:rPr lang="en-US" altLang="zh-CN" dirty="0" smtClean="0"/>
              <a:t>:root </a:t>
            </a:r>
            <a:r>
              <a:rPr lang="zh-CN" altLang="en-US" dirty="0" smtClean="0"/>
              <a:t>伪类是 </a:t>
            </a:r>
            <a:r>
              <a:rPr lang="en-US" altLang="zh-CN" dirty="0" smtClean="0"/>
              <a:t>CSS3 </a:t>
            </a:r>
            <a:r>
              <a:rPr lang="zh-CN" altLang="en-US" dirty="0" smtClean="0"/>
              <a:t>新增的选择器，在 </a:t>
            </a:r>
            <a:r>
              <a:rPr lang="en-US" altLang="zh-CN" dirty="0" smtClean="0"/>
              <a:t>iE9+ </a:t>
            </a:r>
            <a:r>
              <a:rPr lang="zh-CN" altLang="en-US" dirty="0" smtClean="0"/>
              <a:t>作用</a:t>
            </a:r>
            <a:endParaRPr lang="en-US" altLang="zh-CN" dirty="0" smtClean="0"/>
          </a:p>
          <a:p>
            <a:r>
              <a:rPr lang="zh-CN" altLang="en-US" dirty="0" smtClean="0"/>
              <a:t>于是乎：</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647750" y="3436892"/>
            <a:ext cx="6096000" cy="2031325"/>
          </a:xfrm>
          <a:prstGeom prst="rect">
            <a:avLst/>
          </a:prstGeom>
        </p:spPr>
        <p:txBody>
          <a:bodyPr>
            <a:spAutoFit/>
          </a:bodyPr>
          <a:lstStyle/>
          <a:p>
            <a:r>
              <a:rPr lang="en-US" altLang="zh-CN" dirty="0">
                <a:solidFill>
                  <a:srgbClr val="D19A66"/>
                </a:solidFill>
                <a:latin typeface="Consolas" panose="020B0609020204030204" pitchFamily="49" charset="0"/>
              </a:rPr>
              <a:t>.box</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border: </a:t>
            </a:r>
            <a:r>
              <a:rPr lang="en-US" altLang="zh-CN" dirty="0">
                <a:solidFill>
                  <a:srgbClr val="D19A66"/>
                </a:solidFill>
                <a:latin typeface="Consolas" panose="020B0609020204030204" pitchFamily="49" charset="0"/>
              </a:rPr>
              <a:t>1</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solid</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a:t>
            </a:r>
            <a:r>
              <a:rPr lang="en-US" altLang="zh-CN" dirty="0" err="1">
                <a:solidFill>
                  <a:srgbClr val="D19A66"/>
                </a:solidFill>
                <a:latin typeface="Consolas" panose="020B0609020204030204" pitchFamily="49" charset="0"/>
              </a:rPr>
              <a:t>ddd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56B6C2"/>
                </a:solidFill>
                <a:latin typeface="Consolas" panose="020B0609020204030204" pitchFamily="49" charset="0"/>
              </a:rPr>
              <a:t>:root</a:t>
            </a:r>
            <a:r>
              <a:rPr lang="en-US" altLang="zh-CN" dirty="0">
                <a:solidFill>
                  <a:srgbClr val="C678DD"/>
                </a:solidFill>
                <a:latin typeface="Consolas" panose="020B0609020204030204" pitchFamily="49" charset="0"/>
              </a:rPr>
              <a:t> </a:t>
            </a:r>
            <a:r>
              <a:rPr lang="en-US" altLang="zh-CN" dirty="0">
                <a:solidFill>
                  <a:srgbClr val="D19A66"/>
                </a:solidFill>
                <a:latin typeface="Consolas" panose="020B0609020204030204" pitchFamily="49" charset="0"/>
              </a:rPr>
              <a:t>.box</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border: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none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box-shadow: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3</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 </a:t>
            </a:r>
            <a:r>
              <a:rPr lang="en-US" altLang="zh-CN" dirty="0" err="1">
                <a:solidFill>
                  <a:srgbClr val="56B6C2"/>
                </a:solidFill>
                <a:latin typeface="Consolas" panose="020B0609020204030204" pitchFamily="49" charset="0"/>
              </a:rPr>
              <a:t>rgba</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0.25</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向下兼容</a:t>
            </a:r>
            <a:endParaRPr lang="zh-CN" altLang="en-US" dirty="0"/>
          </a:p>
        </p:txBody>
      </p:sp>
      <p:sp>
        <p:nvSpPr>
          <p:cNvPr id="3" name="内容占位符 2"/>
          <p:cNvSpPr>
            <a:spLocks noGrp="1"/>
          </p:cNvSpPr>
          <p:nvPr>
            <p:ph idx="1"/>
          </p:nvPr>
        </p:nvSpPr>
        <p:spPr/>
        <p:txBody>
          <a:bodyPr/>
          <a:lstStyle/>
          <a:p>
            <a:r>
              <a:rPr lang="zh-CN" altLang="en-US" dirty="0" smtClean="0"/>
              <a:t>当前方案有什么缺点？</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向下兼容</a:t>
            </a:r>
            <a:endParaRPr lang="zh-CN" altLang="en-US" dirty="0"/>
          </a:p>
        </p:txBody>
      </p:sp>
      <p:pic>
        <p:nvPicPr>
          <p:cNvPr id="5" name="内容占位符 4"/>
          <p:cNvPicPr>
            <a:picLocks noGrp="1" noChangeAspect="1"/>
          </p:cNvPicPr>
          <p:nvPr>
            <p:ph idx="1"/>
          </p:nvPr>
        </p:nvPicPr>
        <p:blipFill>
          <a:blip r:embed="rId1"/>
          <a:stretch>
            <a:fillRect/>
          </a:stretch>
        </p:blipFill>
        <p:spPr>
          <a:xfrm>
            <a:off x="557439" y="1322387"/>
            <a:ext cx="3952875" cy="3924300"/>
          </a:xfrm>
          <a:prstGeom prst="rect">
            <a:avLst/>
          </a:prstGeom>
        </p:spPr>
      </p:pic>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381625" y="1322387"/>
            <a:ext cx="6096000" cy="1477328"/>
          </a:xfrm>
          <a:prstGeom prst="rect">
            <a:avLst/>
          </a:prstGeom>
        </p:spPr>
        <p:txBody>
          <a:bodyPr>
            <a:spAutoFit/>
          </a:bodyPr>
          <a:lstStyle/>
          <a:p>
            <a:r>
              <a:rPr lang="en-US" altLang="zh-CN" dirty="0">
                <a:solidFill>
                  <a:srgbClr val="D19A66"/>
                </a:solidFill>
                <a:latin typeface="Consolas" panose="020B0609020204030204" pitchFamily="49" charset="0"/>
              </a:rPr>
              <a:t>.box</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box-shadow: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3</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 </a:t>
            </a:r>
            <a:r>
              <a:rPr lang="en-US" altLang="zh-CN" dirty="0" err="1">
                <a:solidFill>
                  <a:srgbClr val="56B6C2"/>
                </a:solidFill>
                <a:latin typeface="Consolas" panose="020B0609020204030204" pitchFamily="49" charset="0"/>
              </a:rPr>
              <a:t>rgba</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smtClean="0">
                <a:solidFill>
                  <a:srgbClr val="D19A66"/>
                </a:solidFill>
                <a:latin typeface="Consolas" panose="020B0609020204030204" pitchFamily="49" charset="0"/>
              </a:rPr>
              <a:t>.</a:t>
            </a:r>
            <a:r>
              <a:rPr lang="en-US" altLang="zh-CN" dirty="0">
                <a:solidFill>
                  <a:srgbClr val="D19A66"/>
                </a:solidFill>
                <a:latin typeface="Consolas" panose="020B0609020204030204" pitchFamily="49" charset="0"/>
              </a:rPr>
              <a:t>25</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border: </a:t>
            </a:r>
            <a:r>
              <a:rPr lang="en-US" altLang="zh-CN" dirty="0">
                <a:solidFill>
                  <a:srgbClr val="D19A66"/>
                </a:solidFill>
                <a:latin typeface="Consolas" panose="020B0609020204030204" pitchFamily="49" charset="0"/>
              </a:rPr>
              <a:t>1</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solid</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#d0d0d5</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border: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err="1">
                <a:solidFill>
                  <a:srgbClr val="56B6C2"/>
                </a:solidFill>
                <a:latin typeface="Consolas" panose="020B0609020204030204" pitchFamily="49" charset="0"/>
              </a:rPr>
              <a:t>rgba</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smtClean="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经验与实践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flex</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最后一列左对齐</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4</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Flex</a:t>
            </a:r>
            <a:r>
              <a:rPr lang="zh-CN" altLang="en-US" dirty="0"/>
              <a:t>布局最后一行列表</a:t>
            </a:r>
            <a:r>
              <a:rPr lang="zh-CN" altLang="en-US" dirty="0" smtClean="0"/>
              <a:t>左对齐</a:t>
            </a:r>
            <a:endParaRPr lang="zh-CN" altLang="en-US" dirty="0"/>
          </a:p>
        </p:txBody>
      </p:sp>
      <p:sp>
        <p:nvSpPr>
          <p:cNvPr id="4" name="灯片编号占位符 3"/>
          <p:cNvSpPr>
            <a:spLocks noGrp="1"/>
          </p:cNvSpPr>
          <p:nvPr>
            <p:ph type="sldNum" sz="quarter" idx="12"/>
          </p:nvPr>
        </p:nvSpPr>
        <p:spPr>
          <a:xfrm>
            <a:off x="5453289" y="6227489"/>
            <a:ext cx="1200150" cy="238126"/>
          </a:xfrm>
        </p:spPr>
        <p:txBody>
          <a:bodyPr/>
          <a:lstStyle/>
          <a:p>
            <a:fld id="{AE15D405-B2DF-4EC3-AD91-92680604D88F}" type="slidenum">
              <a:rPr lang="zh-CN" altLang="en-US" smtClean="0"/>
            </a:fld>
            <a:endParaRPr lang="zh-CN" altLang="en-US" dirty="0"/>
          </a:p>
        </p:txBody>
      </p:sp>
      <p:sp>
        <p:nvSpPr>
          <p:cNvPr id="6" name="矩形 5"/>
          <p:cNvSpPr/>
          <p:nvPr/>
        </p:nvSpPr>
        <p:spPr>
          <a:xfrm>
            <a:off x="629103" y="953190"/>
            <a:ext cx="3701523" cy="2585323"/>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"container"</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"list"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"list"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"list"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"list"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"list"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"list"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"list"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8" name="矩形 7"/>
          <p:cNvSpPr/>
          <p:nvPr/>
        </p:nvSpPr>
        <p:spPr>
          <a:xfrm>
            <a:off x="629103" y="3451858"/>
            <a:ext cx="4692540" cy="3139321"/>
          </a:xfrm>
          <a:prstGeom prst="rect">
            <a:avLst/>
          </a:prstGeom>
        </p:spPr>
        <p:txBody>
          <a:bodyPr wrap="square">
            <a:spAutoFit/>
          </a:bodyPr>
          <a:lstStyle/>
          <a:p>
            <a:r>
              <a:rPr lang="en-US" altLang="zh-CN" dirty="0">
                <a:solidFill>
                  <a:srgbClr val="D19A66"/>
                </a:solidFill>
                <a:latin typeface="Consolas" panose="020B0609020204030204" pitchFamily="49" charset="0"/>
              </a:rPr>
              <a:t>.container</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display: </a:t>
            </a:r>
            <a:r>
              <a:rPr lang="en-US" altLang="zh-CN" dirty="0">
                <a:solidFill>
                  <a:srgbClr val="D19A66"/>
                </a:solidFill>
                <a:latin typeface="Consolas" panose="020B0609020204030204" pitchFamily="49" charset="0"/>
              </a:rPr>
              <a:t>flex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justify-content: </a:t>
            </a:r>
            <a:r>
              <a:rPr lang="en-US" altLang="zh-CN" dirty="0">
                <a:solidFill>
                  <a:srgbClr val="D19A66"/>
                </a:solidFill>
                <a:latin typeface="Consolas" panose="020B0609020204030204" pitchFamily="49" charset="0"/>
              </a:rPr>
              <a:t>space-between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flex-wrap: </a:t>
            </a:r>
            <a:r>
              <a:rPr lang="en-US" altLang="zh-CN" dirty="0">
                <a:solidFill>
                  <a:srgbClr val="D19A66"/>
                </a:solidFill>
                <a:latin typeface="Consolas" panose="020B0609020204030204" pitchFamily="49" charset="0"/>
              </a:rPr>
              <a:t>wrap</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.list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24</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height: </a:t>
            </a:r>
            <a:r>
              <a:rPr lang="en-US" altLang="zh-CN" dirty="0">
                <a:solidFill>
                  <a:srgbClr val="D19A66"/>
                </a:solidFill>
                <a:latin typeface="Consolas" panose="020B0609020204030204" pitchFamily="49" charset="0"/>
              </a:rPr>
              <a:t>100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background-color: </a:t>
            </a:r>
            <a:r>
              <a:rPr lang="en-US" altLang="zh-CN" dirty="0">
                <a:solidFill>
                  <a:srgbClr val="D19A66"/>
                </a:solidFill>
                <a:latin typeface="Consolas" panose="020B0609020204030204" pitchFamily="49" charset="0"/>
              </a:rPr>
              <a:t>#0dc2b3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margin-top: </a:t>
            </a:r>
            <a:r>
              <a:rPr lang="en-US" altLang="zh-CN" dirty="0">
                <a:solidFill>
                  <a:srgbClr val="D19A66"/>
                </a:solidFill>
                <a:latin typeface="Consolas" panose="020B0609020204030204" pitchFamily="49" charset="0"/>
              </a:rPr>
              <a:t>15</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pic>
        <p:nvPicPr>
          <p:cNvPr id="9" name="图片 8"/>
          <p:cNvPicPr>
            <a:picLocks noChangeAspect="1"/>
          </p:cNvPicPr>
          <p:nvPr/>
        </p:nvPicPr>
        <p:blipFill>
          <a:blip r:embed="rId1"/>
          <a:stretch>
            <a:fillRect/>
          </a:stretch>
        </p:blipFill>
        <p:spPr>
          <a:xfrm>
            <a:off x="6653439" y="2063070"/>
            <a:ext cx="3048000" cy="3124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Flex</a:t>
            </a:r>
            <a:r>
              <a:rPr lang="zh-CN" altLang="en-US" dirty="0" smtClean="0"/>
              <a:t>布局</a:t>
            </a:r>
            <a:r>
              <a:rPr lang="zh-CN" altLang="en-US" dirty="0"/>
              <a:t>最后一行列表左对齐</a:t>
            </a:r>
            <a:endParaRPr lang="zh-CN" altLang="en-US" dirty="0"/>
          </a:p>
        </p:txBody>
      </p:sp>
      <p:sp>
        <p:nvSpPr>
          <p:cNvPr id="3" name="内容占位符 2"/>
          <p:cNvSpPr>
            <a:spLocks noGrp="1"/>
          </p:cNvSpPr>
          <p:nvPr>
            <p:ph idx="1"/>
          </p:nvPr>
        </p:nvSpPr>
        <p:spPr/>
        <p:txBody>
          <a:bodyPr/>
          <a:lstStyle/>
          <a:p>
            <a:r>
              <a:rPr lang="zh-CN" altLang="en-US" dirty="0" smtClean="0"/>
              <a:t>方法一 </a:t>
            </a:r>
            <a:r>
              <a:rPr lang="zh-CN" altLang="en-US" sz="1800" dirty="0" smtClean="0"/>
              <a:t>（每行列数固定）</a:t>
            </a:r>
            <a:endParaRPr lang="zh-CN" altLang="en-US" sz="1800"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439" y="1866501"/>
            <a:ext cx="4261696" cy="3693319"/>
          </a:xfrm>
          <a:prstGeom prst="rect">
            <a:avLst/>
          </a:prstGeom>
        </p:spPr>
        <p:txBody>
          <a:bodyPr wrap="square">
            <a:spAutoFit/>
          </a:bodyPr>
          <a:lstStyle/>
          <a:p>
            <a:r>
              <a:rPr lang="en-US" altLang="zh-CN" dirty="0">
                <a:solidFill>
                  <a:srgbClr val="D19A66"/>
                </a:solidFill>
                <a:latin typeface="Consolas" panose="020B0609020204030204" pitchFamily="49" charset="0"/>
              </a:rPr>
              <a:t>.container</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display: </a:t>
            </a:r>
            <a:r>
              <a:rPr lang="en-US" altLang="zh-CN" dirty="0">
                <a:solidFill>
                  <a:srgbClr val="D19A66"/>
                </a:solidFill>
                <a:latin typeface="Consolas" panose="020B0609020204030204" pitchFamily="49" charset="0"/>
              </a:rPr>
              <a:t>flex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flex-wrap: </a:t>
            </a:r>
            <a:r>
              <a:rPr lang="en-US" altLang="zh-CN" dirty="0">
                <a:solidFill>
                  <a:srgbClr val="D19A66"/>
                </a:solidFill>
                <a:latin typeface="Consolas" panose="020B0609020204030204" pitchFamily="49" charset="0"/>
              </a:rPr>
              <a:t>wrap</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.list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24</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height: </a:t>
            </a:r>
            <a:r>
              <a:rPr lang="en-US" altLang="zh-CN" dirty="0">
                <a:solidFill>
                  <a:srgbClr val="D19A66"/>
                </a:solidFill>
                <a:latin typeface="Consolas" panose="020B0609020204030204" pitchFamily="49" charset="0"/>
              </a:rPr>
              <a:t>100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background-color: </a:t>
            </a:r>
            <a:r>
              <a:rPr lang="en-US" altLang="zh-CN" dirty="0">
                <a:solidFill>
                  <a:srgbClr val="D19A66"/>
                </a:solidFill>
                <a:latin typeface="Consolas" panose="020B0609020204030204" pitchFamily="49" charset="0"/>
              </a:rPr>
              <a:t>#0dc2b3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margin-top: </a:t>
            </a:r>
            <a:r>
              <a:rPr lang="en-US" altLang="zh-CN" dirty="0">
                <a:solidFill>
                  <a:srgbClr val="D19A66"/>
                </a:solidFill>
                <a:latin typeface="Consolas" panose="020B0609020204030204" pitchFamily="49" charset="0"/>
              </a:rPr>
              <a:t>15</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a:t>
            </a:r>
            <a:r>
              <a:rPr lang="en-US" altLang="zh-CN" dirty="0" err="1">
                <a:solidFill>
                  <a:srgbClr val="D19A66"/>
                </a:solidFill>
                <a:latin typeface="Consolas" panose="020B0609020204030204" pitchFamily="49" charset="0"/>
              </a:rPr>
              <a:t>list</a:t>
            </a:r>
            <a:r>
              <a:rPr lang="en-US" altLang="zh-CN" dirty="0" err="1">
                <a:solidFill>
                  <a:srgbClr val="56B6C2"/>
                </a:solidFill>
                <a:latin typeface="Consolas" panose="020B0609020204030204" pitchFamily="49" charset="0"/>
              </a:rPr>
              <a:t>:not</a:t>
            </a:r>
            <a:r>
              <a:rPr lang="en-US" altLang="zh-CN" dirty="0">
                <a:solidFill>
                  <a:srgbClr val="C678DD"/>
                </a:solidFill>
                <a:latin typeface="Consolas" panose="020B0609020204030204" pitchFamily="49" charset="0"/>
              </a:rPr>
              <a:t>(</a:t>
            </a:r>
            <a:r>
              <a:rPr lang="en-US" altLang="zh-CN" dirty="0">
                <a:solidFill>
                  <a:srgbClr val="56B6C2"/>
                </a:solidFill>
                <a:latin typeface="Consolas" panose="020B0609020204030204" pitchFamily="49" charset="0"/>
              </a:rPr>
              <a:t>:nth-child</a:t>
            </a:r>
            <a:r>
              <a:rPr lang="en-US" altLang="zh-CN" dirty="0">
                <a:solidFill>
                  <a:srgbClr val="C678DD"/>
                </a:solidFill>
                <a:latin typeface="Consolas" panose="020B0609020204030204" pitchFamily="49" charset="0"/>
              </a:rPr>
              <a:t>(</a:t>
            </a:r>
            <a:r>
              <a:rPr lang="en-US" altLang="zh-CN" dirty="0">
                <a:solidFill>
                  <a:srgbClr val="D19A66"/>
                </a:solidFill>
                <a:latin typeface="Consolas" panose="020B0609020204030204" pitchFamily="49" charset="0"/>
              </a:rPr>
              <a:t>4n</a:t>
            </a:r>
            <a:r>
              <a:rPr lang="en-US" altLang="zh-CN" dirty="0">
                <a:solidFill>
                  <a:srgbClr val="C678DD"/>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margin-right: </a:t>
            </a:r>
            <a:r>
              <a:rPr lang="en-US" altLang="zh-CN" dirty="0" err="1">
                <a:solidFill>
                  <a:srgbClr val="56B6C2"/>
                </a:solidFill>
                <a:latin typeface="Consolas" panose="020B0609020204030204" pitchFamily="49" charset="0"/>
              </a:rPr>
              <a:t>calc</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4</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7" name="左箭头 6"/>
          <p:cNvSpPr/>
          <p:nvPr/>
        </p:nvSpPr>
        <p:spPr>
          <a:xfrm>
            <a:off x="4500219" y="4621426"/>
            <a:ext cx="2386614" cy="329514"/>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834164" y="4252094"/>
            <a:ext cx="2097405" cy="368300"/>
          </a:xfrm>
          <a:prstGeom prst="rect">
            <a:avLst/>
          </a:prstGeom>
          <a:noFill/>
        </p:spPr>
        <p:txBody>
          <a:bodyPr wrap="non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间隙用</a:t>
            </a:r>
            <a:r>
              <a:rPr lang="en-US" altLang="zh-CN" dirty="0" smtClean="0">
                <a:solidFill>
                  <a:schemeClr val="bg1"/>
                </a:solidFill>
                <a:latin typeface="微软雅黑" panose="020B0503020204020204" pitchFamily="34" charset="-122"/>
                <a:ea typeface="微软雅黑" panose="020B0503020204020204" pitchFamily="34" charset="-122"/>
              </a:rPr>
              <a:t>margin</a:t>
            </a:r>
            <a:r>
              <a:rPr lang="zh-CN" altLang="en-US" dirty="0">
                <a:solidFill>
                  <a:schemeClr val="bg1"/>
                </a:solidFill>
                <a:latin typeface="微软雅黑" panose="020B0503020204020204" pitchFamily="34" charset="-122"/>
                <a:ea typeface="微软雅黑" panose="020B0503020204020204" pitchFamily="34" charset="-122"/>
              </a:rPr>
              <a:t>填充</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a:t>
            </a:r>
            <a:r>
              <a:rPr lang="zh-CN" altLang="en-US" dirty="0" smtClean="0"/>
              <a:t>布局</a:t>
            </a:r>
            <a:r>
              <a:rPr lang="zh-CN" altLang="en-US" dirty="0"/>
              <a:t>最后一行列表左对齐</a:t>
            </a:r>
            <a:endParaRPr lang="zh-CN" altLang="en-US" dirty="0"/>
          </a:p>
        </p:txBody>
      </p:sp>
      <p:sp>
        <p:nvSpPr>
          <p:cNvPr id="3" name="内容占位符 2"/>
          <p:cNvSpPr>
            <a:spLocks noGrp="1"/>
          </p:cNvSpPr>
          <p:nvPr>
            <p:ph idx="1"/>
          </p:nvPr>
        </p:nvSpPr>
        <p:spPr/>
        <p:txBody>
          <a:bodyPr/>
          <a:lstStyle/>
          <a:p>
            <a:r>
              <a:rPr lang="zh-CN" altLang="en-US" dirty="0" smtClean="0"/>
              <a:t>方法二 </a:t>
            </a:r>
            <a:r>
              <a:rPr lang="zh-CN" altLang="en-US" sz="1800" dirty="0"/>
              <a:t>（每行列数固定）</a:t>
            </a:r>
            <a:endParaRPr lang="zh-CN" altLang="en-US" sz="1800"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7" name="左箭头 6"/>
          <p:cNvSpPr/>
          <p:nvPr/>
        </p:nvSpPr>
        <p:spPr>
          <a:xfrm>
            <a:off x="5571138" y="5499794"/>
            <a:ext cx="2386614" cy="329514"/>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05083" y="5130462"/>
            <a:ext cx="3185487" cy="369332"/>
          </a:xfrm>
          <a:prstGeom prst="rect">
            <a:avLst/>
          </a:prstGeom>
          <a:noFill/>
        </p:spPr>
        <p:txBody>
          <a:bodyPr wrap="non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提前计算好最后一个的右边距</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790833" y="1574438"/>
            <a:ext cx="6096000" cy="5355312"/>
          </a:xfrm>
          <a:prstGeom prst="rect">
            <a:avLst/>
          </a:prstGeom>
        </p:spPr>
        <p:txBody>
          <a:bodyPr>
            <a:spAutoFit/>
          </a:bodyPr>
          <a:lstStyle/>
          <a:p>
            <a:r>
              <a:rPr lang="en-US" altLang="zh-CN" dirty="0">
                <a:solidFill>
                  <a:srgbClr val="D19A66"/>
                </a:solidFill>
                <a:latin typeface="Consolas" panose="020B0609020204030204" pitchFamily="49" charset="0"/>
              </a:rPr>
              <a:t>.container</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display: </a:t>
            </a:r>
            <a:r>
              <a:rPr lang="en-US" altLang="zh-CN" dirty="0">
                <a:solidFill>
                  <a:srgbClr val="D19A66"/>
                </a:solidFill>
                <a:latin typeface="Consolas" panose="020B0609020204030204" pitchFamily="49" charset="0"/>
              </a:rPr>
              <a:t>flex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justify-content: </a:t>
            </a:r>
            <a:r>
              <a:rPr lang="en-US" altLang="zh-CN" dirty="0">
                <a:solidFill>
                  <a:srgbClr val="D19A66"/>
                </a:solidFill>
                <a:latin typeface="Consolas" panose="020B0609020204030204" pitchFamily="49" charset="0"/>
              </a:rPr>
              <a:t>space-between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flex-wrap: </a:t>
            </a:r>
            <a:r>
              <a:rPr lang="en-US" altLang="zh-CN" dirty="0">
                <a:solidFill>
                  <a:srgbClr val="D19A66"/>
                </a:solidFill>
                <a:latin typeface="Consolas" panose="020B0609020204030204" pitchFamily="49" charset="0"/>
              </a:rPr>
              <a:t>wrap</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.list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24</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height: </a:t>
            </a:r>
            <a:r>
              <a:rPr lang="en-US" altLang="zh-CN" dirty="0">
                <a:solidFill>
                  <a:srgbClr val="D19A66"/>
                </a:solidFill>
                <a:latin typeface="Consolas" panose="020B0609020204030204" pitchFamily="49" charset="0"/>
              </a:rPr>
              <a:t>100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background-color: </a:t>
            </a:r>
            <a:r>
              <a:rPr lang="en-US" altLang="zh-CN" dirty="0">
                <a:solidFill>
                  <a:srgbClr val="D19A66"/>
                </a:solidFill>
                <a:latin typeface="Consolas" panose="020B0609020204030204" pitchFamily="49" charset="0"/>
              </a:rPr>
              <a:t>#0dc2b3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margin-top: </a:t>
            </a:r>
            <a:r>
              <a:rPr lang="en-US" altLang="zh-CN" dirty="0">
                <a:solidFill>
                  <a:srgbClr val="D19A66"/>
                </a:solidFill>
                <a:latin typeface="Consolas" panose="020B0609020204030204" pitchFamily="49" charset="0"/>
              </a:rPr>
              <a:t>15</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如果最后一行是</a:t>
            </a:r>
            <a:r>
              <a:rPr lang="en-US" altLang="zh-CN" i="1" dirty="0">
                <a:solidFill>
                  <a:srgbClr val="7F848E"/>
                </a:solidFill>
                <a:latin typeface="Consolas" panose="020B0609020204030204" pitchFamily="49" charset="0"/>
              </a:rPr>
              <a:t>3</a:t>
            </a:r>
            <a:r>
              <a:rPr lang="zh-CN" altLang="en-US" i="1" dirty="0">
                <a:solidFill>
                  <a:srgbClr val="7F848E"/>
                </a:solidFill>
                <a:latin typeface="Consolas" panose="020B0609020204030204" pitchFamily="49" charset="0"/>
              </a:rPr>
              <a:t>个元素 *</a:t>
            </a:r>
            <a:r>
              <a:rPr lang="en-US" altLang="zh-CN" i="1" dirty="0">
                <a:solidFill>
                  <a:srgbClr val="7F848E"/>
                </a:solidFill>
                <a:latin typeface="Consolas" panose="020B0609020204030204" pitchFamily="49" charset="0"/>
              </a:rPr>
              <a:t>/</a:t>
            </a:r>
            <a:endParaRPr lang="zh-CN" altLang="en-US"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a:t>
            </a:r>
            <a:r>
              <a:rPr lang="en-US" altLang="zh-CN" dirty="0" err="1">
                <a:solidFill>
                  <a:srgbClr val="D19A66"/>
                </a:solidFill>
                <a:latin typeface="Consolas" panose="020B0609020204030204" pitchFamily="49" charset="0"/>
              </a:rPr>
              <a:t>list</a:t>
            </a:r>
            <a:r>
              <a:rPr lang="en-US" altLang="zh-CN" dirty="0" err="1">
                <a:solidFill>
                  <a:srgbClr val="56B6C2"/>
                </a:solidFill>
                <a:latin typeface="Consolas" panose="020B0609020204030204" pitchFamily="49" charset="0"/>
              </a:rPr>
              <a:t>:last-child:nth-child</a:t>
            </a:r>
            <a:r>
              <a:rPr lang="en-US" altLang="zh-CN" dirty="0">
                <a:solidFill>
                  <a:srgbClr val="C678DD"/>
                </a:solidFill>
                <a:latin typeface="Consolas" panose="020B0609020204030204" pitchFamily="49" charset="0"/>
              </a:rPr>
              <a:t>(</a:t>
            </a:r>
            <a:r>
              <a:rPr lang="en-US" altLang="zh-CN" dirty="0">
                <a:solidFill>
                  <a:srgbClr val="D19A66"/>
                </a:solidFill>
                <a:latin typeface="Consolas" panose="020B0609020204030204" pitchFamily="49" charset="0"/>
              </a:rPr>
              <a:t>4n - 1</a:t>
            </a:r>
            <a:r>
              <a:rPr lang="en-US" altLang="zh-CN" dirty="0">
                <a:solidFill>
                  <a:srgbClr val="C678DD"/>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margin-right: </a:t>
            </a:r>
            <a:r>
              <a:rPr lang="en-US" altLang="zh-CN" dirty="0" err="1">
                <a:solidFill>
                  <a:srgbClr val="56B6C2"/>
                </a:solidFill>
                <a:latin typeface="Consolas" panose="020B0609020204030204" pitchFamily="49" charset="0"/>
              </a:rPr>
              <a:t>calc</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24</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4</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如果最后一行是</a:t>
            </a:r>
            <a:r>
              <a:rPr lang="en-US" altLang="zh-CN" i="1" dirty="0">
                <a:solidFill>
                  <a:srgbClr val="7F848E"/>
                </a:solidFill>
                <a:latin typeface="Consolas" panose="020B0609020204030204" pitchFamily="49" charset="0"/>
              </a:rPr>
              <a:t>2</a:t>
            </a:r>
            <a:r>
              <a:rPr lang="zh-CN" altLang="en-US" i="1" dirty="0">
                <a:solidFill>
                  <a:srgbClr val="7F848E"/>
                </a:solidFill>
                <a:latin typeface="Consolas" panose="020B0609020204030204" pitchFamily="49" charset="0"/>
              </a:rPr>
              <a:t>个元素 *</a:t>
            </a:r>
            <a:r>
              <a:rPr lang="en-US" altLang="zh-CN" i="1" dirty="0">
                <a:solidFill>
                  <a:srgbClr val="7F848E"/>
                </a:solidFill>
                <a:latin typeface="Consolas" panose="020B0609020204030204" pitchFamily="49" charset="0"/>
              </a:rPr>
              <a:t>/</a:t>
            </a:r>
            <a:endParaRPr lang="zh-CN" altLang="en-US"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a:t>
            </a:r>
            <a:r>
              <a:rPr lang="en-US" altLang="zh-CN" dirty="0" err="1">
                <a:solidFill>
                  <a:srgbClr val="D19A66"/>
                </a:solidFill>
                <a:latin typeface="Consolas" panose="020B0609020204030204" pitchFamily="49" charset="0"/>
              </a:rPr>
              <a:t>list</a:t>
            </a:r>
            <a:r>
              <a:rPr lang="en-US" altLang="zh-CN" dirty="0" err="1">
                <a:solidFill>
                  <a:srgbClr val="56B6C2"/>
                </a:solidFill>
                <a:latin typeface="Consolas" panose="020B0609020204030204" pitchFamily="49" charset="0"/>
              </a:rPr>
              <a:t>:last-child:nth-child</a:t>
            </a:r>
            <a:r>
              <a:rPr lang="en-US" altLang="zh-CN" dirty="0">
                <a:solidFill>
                  <a:srgbClr val="C678DD"/>
                </a:solidFill>
                <a:latin typeface="Consolas" panose="020B0609020204030204" pitchFamily="49" charset="0"/>
              </a:rPr>
              <a:t>(</a:t>
            </a:r>
            <a:r>
              <a:rPr lang="en-US" altLang="zh-CN" dirty="0">
                <a:solidFill>
                  <a:srgbClr val="D19A66"/>
                </a:solidFill>
                <a:latin typeface="Consolas" panose="020B0609020204030204" pitchFamily="49" charset="0"/>
              </a:rPr>
              <a:t>4n - 2</a:t>
            </a:r>
            <a:r>
              <a:rPr lang="en-US" altLang="zh-CN" dirty="0">
                <a:solidFill>
                  <a:srgbClr val="C678DD"/>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margin-right: </a:t>
            </a:r>
            <a:r>
              <a:rPr lang="en-US" altLang="zh-CN" dirty="0" err="1">
                <a:solidFill>
                  <a:srgbClr val="56B6C2"/>
                </a:solidFill>
                <a:latin typeface="Consolas" panose="020B0609020204030204" pitchFamily="49" charset="0"/>
              </a:rPr>
              <a:t>calc</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48</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8</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a:t>
            </a:r>
            <a:r>
              <a:rPr lang="zh-CN" altLang="en-US" dirty="0" smtClean="0"/>
              <a:t>布局</a:t>
            </a:r>
            <a:r>
              <a:rPr lang="zh-CN" altLang="en-US" dirty="0"/>
              <a:t>最后一行列表左对齐</a:t>
            </a:r>
            <a:endParaRPr lang="zh-CN" altLang="en-US" dirty="0"/>
          </a:p>
        </p:txBody>
      </p:sp>
      <p:sp>
        <p:nvSpPr>
          <p:cNvPr id="3" name="内容占位符 2"/>
          <p:cNvSpPr>
            <a:spLocks noGrp="1"/>
          </p:cNvSpPr>
          <p:nvPr>
            <p:ph idx="1"/>
          </p:nvPr>
        </p:nvSpPr>
        <p:spPr/>
        <p:txBody>
          <a:bodyPr/>
          <a:lstStyle/>
          <a:p>
            <a:r>
              <a:rPr lang="zh-CN" altLang="en-US" dirty="0" smtClean="0"/>
              <a:t>方法三</a:t>
            </a:r>
            <a:endParaRPr lang="zh-CN" altLang="en-US" sz="1800"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7" name="左箭头 6"/>
          <p:cNvSpPr/>
          <p:nvPr/>
        </p:nvSpPr>
        <p:spPr>
          <a:xfrm>
            <a:off x="5233387" y="2116610"/>
            <a:ext cx="2386614" cy="329514"/>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566112" y="1810149"/>
            <a:ext cx="2031325" cy="369332"/>
          </a:xfrm>
          <a:prstGeom prst="rect">
            <a:avLst/>
          </a:prstGeom>
          <a:noFill/>
        </p:spPr>
        <p:txBody>
          <a:bodyPr wrap="non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空白标签填充占位</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557439" y="2076792"/>
            <a:ext cx="4616970" cy="369332"/>
          </a:xfrm>
          <a:prstGeom prst="rect">
            <a:avLst/>
          </a:prstGeom>
        </p:spPr>
        <p:txBody>
          <a:bodyPr wrap="none">
            <a:spAutoFit/>
          </a:bodyPr>
          <a:lstStyle/>
          <a:p>
            <a:r>
              <a:rPr lang="nn-NO" altLang="zh-CN" dirty="0">
                <a:solidFill>
                  <a:srgbClr val="ABB2BF"/>
                </a:solidFill>
                <a:latin typeface="Consolas" panose="020B0609020204030204" pitchFamily="49" charset="0"/>
              </a:rPr>
              <a: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&gt;&lt;/</a:t>
            </a:r>
            <a:r>
              <a:rPr lang="nn-NO" altLang="zh-CN" dirty="0">
                <a:solidFill>
                  <a:srgbClr val="E06C75"/>
                </a:solidFill>
                <a:latin typeface="Consolas" panose="020B0609020204030204" pitchFamily="49" charset="0"/>
              </a:rPr>
              <a:t>i</a:t>
            </a:r>
            <a:r>
              <a:rPr lang="nn-NO" altLang="zh-CN" dirty="0">
                <a:solidFill>
                  <a:srgbClr val="ABB2BF"/>
                </a:solidFill>
                <a:latin typeface="Consolas" panose="020B0609020204030204" pitchFamily="49" charset="0"/>
              </a:rPr>
              <a:t>&gt;</a:t>
            </a:r>
            <a:endParaRPr lang="nn-NO" altLang="zh-CN" b="0" dirty="0">
              <a:solidFill>
                <a:srgbClr val="ABB2BF"/>
              </a:solidFill>
              <a:effectLst/>
              <a:latin typeface="Consolas" panose="020B0609020204030204" pitchFamily="49" charset="0"/>
            </a:endParaRPr>
          </a:p>
        </p:txBody>
      </p:sp>
      <p:sp>
        <p:nvSpPr>
          <p:cNvPr id="9" name="矩形 8"/>
          <p:cNvSpPr/>
          <p:nvPr/>
        </p:nvSpPr>
        <p:spPr>
          <a:xfrm>
            <a:off x="557439" y="2615856"/>
            <a:ext cx="4187556" cy="923330"/>
          </a:xfrm>
          <a:prstGeom prst="rect">
            <a:avLst/>
          </a:prstGeom>
        </p:spPr>
        <p:txBody>
          <a:bodyPr wrap="square">
            <a:spAutoFit/>
          </a:bodyPr>
          <a:lstStyle/>
          <a:p>
            <a:r>
              <a:rPr lang="en-US" altLang="zh-CN" dirty="0">
                <a:solidFill>
                  <a:srgbClr val="D19A66"/>
                </a:solidFill>
                <a:latin typeface="Consolas" panose="020B0609020204030204" pitchFamily="49" charset="0"/>
              </a:rPr>
              <a:t>.container</a:t>
            </a:r>
            <a:r>
              <a:rPr lang="en-US" altLang="zh-CN" dirty="0">
                <a:solidFill>
                  <a:srgbClr val="C678DD"/>
                </a:solidFill>
                <a:latin typeface="Consolas" panose="020B0609020204030204" pitchFamily="49" charset="0"/>
              </a:rPr>
              <a:t> </a:t>
            </a:r>
            <a:r>
              <a:rPr lang="en-US" altLang="zh-CN"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24</a:t>
            </a:r>
            <a:r>
              <a:rPr lang="en-US" altLang="zh-CN" dirty="0">
                <a:solidFill>
                  <a:srgbClr val="E06C75"/>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a:t>
            </a:r>
            <a:r>
              <a:rPr lang="zh-CN" altLang="en-US" dirty="0" smtClean="0"/>
              <a:t>布局</a:t>
            </a:r>
            <a:r>
              <a:rPr lang="zh-CN" altLang="en-US" dirty="0"/>
              <a:t>最后一行列表左对齐</a:t>
            </a:r>
            <a:endParaRPr lang="zh-CN" altLang="en-US" dirty="0"/>
          </a:p>
        </p:txBody>
      </p:sp>
      <p:sp>
        <p:nvSpPr>
          <p:cNvPr id="3" name="内容占位符 2"/>
          <p:cNvSpPr>
            <a:spLocks noGrp="1"/>
          </p:cNvSpPr>
          <p:nvPr>
            <p:ph idx="1"/>
          </p:nvPr>
        </p:nvSpPr>
        <p:spPr/>
        <p:txBody>
          <a:bodyPr/>
          <a:lstStyle/>
          <a:p>
            <a:r>
              <a:rPr lang="zh-CN" altLang="en-US" dirty="0" smtClean="0"/>
              <a:t>方法四</a:t>
            </a:r>
            <a:endParaRPr lang="zh-CN" altLang="en-US" sz="1800"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8" y="1810149"/>
            <a:ext cx="8043097" cy="3416320"/>
          </a:xfrm>
          <a:prstGeom prst="rect">
            <a:avLst/>
          </a:prstGeom>
        </p:spPr>
        <p:txBody>
          <a:bodyPr wrap="square">
            <a:spAutoFit/>
          </a:bodyPr>
          <a:lstStyle/>
          <a:p>
            <a:r>
              <a:rPr lang="en-US" altLang="zh-CN" dirty="0">
                <a:solidFill>
                  <a:srgbClr val="D19A66"/>
                </a:solidFill>
                <a:latin typeface="Consolas" panose="020B0609020204030204" pitchFamily="49" charset="0"/>
              </a:rPr>
              <a:t>.container</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display: </a:t>
            </a:r>
            <a:r>
              <a:rPr lang="en-US" altLang="zh-CN" dirty="0">
                <a:solidFill>
                  <a:srgbClr val="D19A66"/>
                </a:solidFill>
                <a:latin typeface="Consolas" panose="020B0609020204030204" pitchFamily="49" charset="0"/>
              </a:rPr>
              <a:t>grid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justify-content: </a:t>
            </a:r>
            <a:r>
              <a:rPr lang="en-US" altLang="zh-CN" dirty="0">
                <a:solidFill>
                  <a:srgbClr val="D19A66"/>
                </a:solidFill>
                <a:latin typeface="Consolas" panose="020B0609020204030204" pitchFamily="49" charset="0"/>
              </a:rPr>
              <a:t>space-between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grid-template-columns: </a:t>
            </a:r>
            <a:r>
              <a:rPr lang="en-US" altLang="zh-CN" dirty="0">
                <a:solidFill>
                  <a:srgbClr val="56B6C2"/>
                </a:solidFill>
                <a:latin typeface="Consolas" panose="020B0609020204030204" pitchFamily="49" charset="0"/>
              </a:rPr>
              <a:t>repeat</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auto-fill</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grid-gap: </a:t>
            </a:r>
            <a:r>
              <a:rPr lang="en-US" altLang="zh-CN" dirty="0">
                <a:solidFill>
                  <a:srgbClr val="D19A66"/>
                </a:solidFill>
                <a:latin typeface="Consolas" panose="020B0609020204030204" pitchFamily="49" charset="0"/>
              </a:rPr>
              <a:t>10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D19A66"/>
                </a:solidFill>
                <a:latin typeface="Consolas" panose="020B0609020204030204" pitchFamily="49" charset="0"/>
              </a:rPr>
              <a:t>.list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width: </a:t>
            </a:r>
            <a:r>
              <a:rPr lang="en-US" altLang="zh-CN" dirty="0">
                <a:solidFill>
                  <a:srgbClr val="D19A66"/>
                </a:solidFill>
                <a:latin typeface="Consolas" panose="020B0609020204030204" pitchFamily="49" charset="0"/>
              </a:rPr>
              <a:t>100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height: </a:t>
            </a:r>
            <a:r>
              <a:rPr lang="en-US" altLang="zh-CN" dirty="0">
                <a:solidFill>
                  <a:srgbClr val="D19A66"/>
                </a:solidFill>
                <a:latin typeface="Consolas" panose="020B0609020204030204" pitchFamily="49" charset="0"/>
              </a:rPr>
              <a:t>100</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background-color: </a:t>
            </a:r>
            <a:r>
              <a:rPr lang="en-US" altLang="zh-CN" dirty="0" smtClean="0">
                <a:solidFill>
                  <a:srgbClr val="ABB2BF"/>
                </a:solidFill>
                <a:latin typeface="Consolas" panose="020B0609020204030204" pitchFamily="49" charset="0"/>
              </a:rPr>
              <a:t>#0dc2b3;</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margin-top: </a:t>
            </a:r>
            <a:r>
              <a:rPr lang="en-US" altLang="zh-CN" dirty="0">
                <a:solidFill>
                  <a:srgbClr val="D19A66"/>
                </a:solidFill>
                <a:latin typeface="Consolas" panose="020B0609020204030204" pitchFamily="49" charset="0"/>
              </a:rPr>
              <a:t>5</a:t>
            </a:r>
            <a:r>
              <a:rPr lang="en-US" altLang="zh-CN" dirty="0">
                <a:solidFill>
                  <a:srgbClr val="E06C75"/>
                </a:solidFill>
                <a:latin typeface="Consolas" panose="020B0609020204030204" pitchFamily="49" charset="0"/>
              </a:rPr>
              <a:t>px</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10" name="左箭头 9"/>
          <p:cNvSpPr/>
          <p:nvPr/>
        </p:nvSpPr>
        <p:spPr>
          <a:xfrm>
            <a:off x="4931463" y="2116610"/>
            <a:ext cx="2386614" cy="329514"/>
          </a:xfrm>
          <a:prstGeom prst="leftArrow">
            <a:avLst>
              <a:gd name="adj1" fmla="val 45000"/>
              <a:gd name="adj2" fmla="val 12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584184" y="1798792"/>
            <a:ext cx="1107996" cy="369332"/>
          </a:xfrm>
          <a:prstGeom prst="rect">
            <a:avLst/>
          </a:prstGeom>
          <a:noFill/>
        </p:spPr>
        <p:txBody>
          <a:bodyPr wrap="non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网格布局</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Source Han Serif SC" panose="02020400000000000000" pitchFamily="18" charset="-122"/>
                </a:rPr>
                <a:t>经验与实践 </a:t>
              </a:r>
              <a:r>
                <a:rPr lang="en-US" altLang="zh-CN" sz="2800"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Source Han Serif SC" panose="02020400000000000000" pitchFamily="18" charset="-122"/>
                </a:rPr>
                <a:t>– flex</a:t>
              </a:r>
              <a:r>
                <a:rPr lang="zh-CN" altLang="en-US" sz="28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属性</a:t>
              </a:r>
              <a:r>
                <a:rPr lang="zh-CN" altLang="en-US" sz="28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单值写法</a:t>
              </a:r>
              <a:endParaRPr lang="zh-CN" altLang="en-US" sz="28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4</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a:t>
            </a:r>
            <a:r>
              <a:rPr lang="zh-CN" altLang="en-US" dirty="0" smtClean="0"/>
              <a:t>属性</a:t>
            </a:r>
            <a:r>
              <a:rPr lang="zh-CN" altLang="en-US" dirty="0" smtClean="0">
                <a:sym typeface="+mn-ea"/>
              </a:rPr>
              <a:t>单值</a:t>
            </a:r>
            <a:endParaRPr lang="zh-CN" altLang="en-US" dirty="0" smtClean="0"/>
          </a:p>
        </p:txBody>
      </p:sp>
      <p:sp>
        <p:nvSpPr>
          <p:cNvPr id="3" name="内容占位符 2"/>
          <p:cNvSpPr>
            <a:spLocks noGrp="1"/>
          </p:cNvSpPr>
          <p:nvPr>
            <p:ph idx="1"/>
          </p:nvPr>
        </p:nvSpPr>
        <p:spPr/>
        <p:txBody>
          <a:bodyPr/>
          <a:lstStyle/>
          <a:p>
            <a:r>
              <a:rPr lang="en-US" altLang="zh-CN" dirty="0"/>
              <a:t>flex </a:t>
            </a:r>
            <a:r>
              <a:rPr lang="zh-CN" altLang="en-US" dirty="0"/>
              <a:t>项目属性</a:t>
            </a:r>
            <a:endParaRPr lang="zh-CN" altLang="en-US" dirty="0"/>
          </a:p>
          <a:p>
            <a:pPr lvl="1"/>
            <a:r>
              <a:rPr lang="en-US" altLang="zh-CN" dirty="0"/>
              <a:t>flex-grow、flex-shrink、flex-basis </a:t>
            </a:r>
            <a:r>
              <a:rPr lang="zh-CN" altLang="en-US" dirty="0"/>
              <a:t>的缩写</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graphicFrame>
        <p:nvGraphicFramePr>
          <p:cNvPr id="6" name="表格 5"/>
          <p:cNvGraphicFramePr/>
          <p:nvPr>
            <p:custDataLst>
              <p:tags r:id="rId1"/>
            </p:custDataLst>
          </p:nvPr>
        </p:nvGraphicFramePr>
        <p:xfrm>
          <a:off x="1100455" y="2491105"/>
          <a:ext cx="5481320" cy="3411220"/>
        </p:xfrm>
        <a:graphic>
          <a:graphicData uri="http://schemas.openxmlformats.org/drawingml/2006/table">
            <a:tbl>
              <a:tblPr/>
              <a:tblGrid>
                <a:gridCol w="2294890"/>
                <a:gridCol w="3186430"/>
              </a:tblGrid>
              <a:tr h="576580">
                <a:tc>
                  <a:txBody>
                    <a:bodyPr/>
                    <a:p>
                      <a:pPr indent="0" algn="ctr">
                        <a:buNone/>
                      </a:pPr>
                      <a:r>
                        <a:rPr lang="zh-CN" sz="1800" b="1">
                          <a:solidFill>
                            <a:schemeClr val="bg1"/>
                          </a:solidFill>
                          <a:latin typeface="Arial" panose="020B0604020202020204" pitchFamily="34" charset="0"/>
                          <a:ea typeface="微软雅黑" panose="020B0503020204020204" pitchFamily="34" charset="-122"/>
                        </a:rPr>
                        <a:t>单值语法</a:t>
                      </a:r>
                      <a:endParaRPr lang="zh-CN" altLang="en-US" sz="1800" b="1">
                        <a:solidFill>
                          <a:schemeClr val="bg1"/>
                        </a:solidFill>
                        <a:latin typeface="Arial" panose="020B0604020202020204" pitchFamily="34" charset="0"/>
                        <a:ea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p>
                      <a:pPr indent="0" algn="ctr">
                        <a:buNone/>
                      </a:pPr>
                      <a:r>
                        <a:rPr lang="zh-CN" sz="1800" b="1">
                          <a:solidFill>
                            <a:schemeClr val="bg1"/>
                          </a:solidFill>
                          <a:latin typeface="Arial" panose="020B0604020202020204" pitchFamily="34" charset="0"/>
                          <a:ea typeface="微软雅黑" panose="020B0503020204020204" pitchFamily="34" charset="-122"/>
                        </a:rPr>
                        <a:t>等同于</a:t>
                      </a:r>
                      <a:endParaRPr lang="zh-CN" altLang="en-US" sz="1800" b="1">
                        <a:solidFill>
                          <a:schemeClr val="bg1"/>
                        </a:solidFill>
                        <a:latin typeface="Arial" panose="020B0604020202020204" pitchFamily="34" charset="0"/>
                        <a:ea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r>
              <a:tr h="773430">
                <a:tc>
                  <a:txBody>
                    <a:bodyPr/>
                    <a:p>
                      <a:pPr indent="0">
                        <a:buNone/>
                      </a:pPr>
                      <a:r>
                        <a:rPr lang="en-US" sz="1800" b="0">
                          <a:solidFill>
                            <a:schemeClr val="bg1"/>
                          </a:solidFill>
                          <a:latin typeface="微软雅黑" panose="020B0503020204020204" pitchFamily="34" charset="-122"/>
                        </a:rPr>
                        <a:t>  flex: initial</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p>
                      <a:pPr indent="0">
                        <a:buNone/>
                      </a:pPr>
                      <a:r>
                        <a:rPr lang="en-US" sz="1800" b="0">
                          <a:solidFill>
                            <a:schemeClr val="bg1"/>
                          </a:solidFill>
                          <a:latin typeface="微软雅黑" panose="020B0503020204020204" pitchFamily="34" charset="-122"/>
                        </a:rPr>
                        <a:t>  flex: 0 1 auto</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r>
              <a:tr h="514985">
                <a:tc>
                  <a:txBody>
                    <a:bodyPr/>
                    <a:p>
                      <a:pPr indent="0">
                        <a:buNone/>
                      </a:pPr>
                      <a:r>
                        <a:rPr lang="en-US" sz="1800" b="0">
                          <a:solidFill>
                            <a:schemeClr val="bg1"/>
                          </a:solidFill>
                          <a:latin typeface="微软雅黑" panose="020B0503020204020204" pitchFamily="34" charset="-122"/>
                        </a:rPr>
                        <a:t>  flex: 0</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p>
                      <a:pPr indent="0">
                        <a:buNone/>
                      </a:pPr>
                      <a:r>
                        <a:rPr lang="en-US" sz="1800" b="0">
                          <a:solidFill>
                            <a:schemeClr val="bg1"/>
                          </a:solidFill>
                          <a:latin typeface="微软雅黑" panose="020B0503020204020204" pitchFamily="34" charset="-122"/>
                        </a:rPr>
                        <a:t>  flex: 0 1 0%</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r>
              <a:tr h="515620">
                <a:tc>
                  <a:txBody>
                    <a:bodyPr/>
                    <a:p>
                      <a:pPr indent="0">
                        <a:buNone/>
                      </a:pPr>
                      <a:r>
                        <a:rPr lang="en-US" sz="1800" b="0">
                          <a:solidFill>
                            <a:schemeClr val="bg1"/>
                          </a:solidFill>
                          <a:latin typeface="微软雅黑" panose="020B0503020204020204" pitchFamily="34" charset="-122"/>
                        </a:rPr>
                        <a:t>  flex: none</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p>
                      <a:pPr indent="0">
                        <a:buNone/>
                      </a:pPr>
                      <a:r>
                        <a:rPr lang="en-US" sz="1800" b="0">
                          <a:solidFill>
                            <a:schemeClr val="bg1"/>
                          </a:solidFill>
                          <a:latin typeface="微软雅黑" panose="020B0503020204020204" pitchFamily="34" charset="-122"/>
                        </a:rPr>
                        <a:t>  flex: 0 0 auto</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r>
              <a:tr h="514985">
                <a:tc>
                  <a:txBody>
                    <a:bodyPr/>
                    <a:p>
                      <a:pPr indent="0">
                        <a:buNone/>
                      </a:pPr>
                      <a:r>
                        <a:rPr lang="en-US" sz="1800" b="0">
                          <a:solidFill>
                            <a:schemeClr val="bg1"/>
                          </a:solidFill>
                          <a:latin typeface="微软雅黑" panose="020B0503020204020204" pitchFamily="34" charset="-122"/>
                        </a:rPr>
                        <a:t>  flex: 1</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p>
                      <a:pPr indent="0">
                        <a:buNone/>
                      </a:pPr>
                      <a:r>
                        <a:rPr lang="en-US" sz="1800" b="0">
                          <a:solidFill>
                            <a:schemeClr val="bg1"/>
                          </a:solidFill>
                          <a:latin typeface="微软雅黑" panose="020B0503020204020204" pitchFamily="34" charset="-122"/>
                        </a:rPr>
                        <a:t>  flex: 1 1 0%</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r>
              <a:tr h="515620">
                <a:tc>
                  <a:txBody>
                    <a:bodyPr/>
                    <a:p>
                      <a:pPr indent="0">
                        <a:buNone/>
                      </a:pPr>
                      <a:r>
                        <a:rPr lang="en-US" sz="1800" b="0">
                          <a:solidFill>
                            <a:schemeClr val="bg1"/>
                          </a:solidFill>
                          <a:latin typeface="微软雅黑" panose="020B0503020204020204" pitchFamily="34" charset="-122"/>
                        </a:rPr>
                        <a:t>  flex: auto</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p>
                      <a:pPr indent="0">
                        <a:buNone/>
                      </a:pPr>
                      <a:r>
                        <a:rPr lang="en-US" sz="1800" b="0">
                          <a:solidFill>
                            <a:schemeClr val="bg1"/>
                          </a:solidFill>
                          <a:latin typeface="微软雅黑" panose="020B0503020204020204" pitchFamily="34" charset="-122"/>
                        </a:rPr>
                        <a:t>  flex: 1 1 auto</a:t>
                      </a:r>
                      <a:endParaRPr lang="en-US" altLang="en-US" sz="1800" b="0">
                        <a:solidFill>
                          <a:schemeClr val="bg1"/>
                        </a:solidFill>
                        <a:latin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a:t>
            </a:r>
            <a:r>
              <a:rPr lang="zh-CN" altLang="en-US" dirty="0" smtClean="0"/>
              <a:t>属性单值</a:t>
            </a:r>
            <a:endParaRPr lang="zh-CN" altLang="en-US" dirty="0" smtClean="0"/>
          </a:p>
        </p:txBody>
      </p:sp>
      <p:sp>
        <p:nvSpPr>
          <p:cNvPr id="3" name="内容占位符 2"/>
          <p:cNvSpPr>
            <a:spLocks noGrp="1"/>
          </p:cNvSpPr>
          <p:nvPr>
            <p:ph idx="1"/>
          </p:nvPr>
        </p:nvSpPr>
        <p:spPr/>
        <p:txBody>
          <a:bodyPr/>
          <a:lstStyle/>
          <a:p>
            <a:r>
              <a:rPr lang="en-US" altLang="zh-CN" dirty="0"/>
              <a:t>flex</a:t>
            </a:r>
            <a:r>
              <a:rPr lang="zh-CN" altLang="en-US" dirty="0"/>
              <a:t>：</a:t>
            </a:r>
            <a:r>
              <a:rPr lang="en-US" altLang="zh-CN" dirty="0"/>
              <a:t>initial (0 1 auto)</a:t>
            </a:r>
            <a:endParaRPr lang="en-US" altLang="zh-CN" dirty="0"/>
          </a:p>
          <a:p>
            <a:pPr lvl="1"/>
            <a:r>
              <a:rPr lang="en-US" altLang="zh-CN" dirty="0"/>
              <a:t>flex容器有剩余空间时尺寸不会增长（flex-grow:0），flex容器尺寸不足时尺寸会收缩变小（flex-shrink:1），尺寸自适应于内容（flex-basis:auto）（行为类似fit-content）</a:t>
            </a:r>
            <a:endParaRPr lang="en-US" altLang="zh-CN" dirty="0"/>
          </a:p>
          <a:p>
            <a:pPr lvl="0"/>
            <a:r>
              <a:rPr lang="zh-CN" altLang="en-US" dirty="0"/>
              <a:t>场景：</a:t>
            </a:r>
            <a:endParaRPr lang="zh-CN" altLang="en-US" dirty="0"/>
          </a:p>
          <a:p>
            <a:pPr marL="457200" lvl="1" indent="0">
              <a:buNone/>
            </a:pPr>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16" name="图片 15"/>
          <p:cNvPicPr>
            <a:picLocks noChangeAspect="1"/>
          </p:cNvPicPr>
          <p:nvPr/>
        </p:nvPicPr>
        <p:blipFill>
          <a:blip r:embed="rId1"/>
          <a:stretch>
            <a:fillRect/>
          </a:stretch>
        </p:blipFill>
        <p:spPr>
          <a:xfrm>
            <a:off x="838200" y="3300095"/>
            <a:ext cx="3505200" cy="1447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a:t>
            </a:r>
            <a:r>
              <a:rPr lang="zh-CN" altLang="en-US" dirty="0" smtClean="0"/>
              <a:t>属性单值</a:t>
            </a:r>
            <a:endParaRPr lang="zh-CN" altLang="en-US" dirty="0" smtClean="0"/>
          </a:p>
        </p:txBody>
      </p:sp>
      <p:sp>
        <p:nvSpPr>
          <p:cNvPr id="3" name="内容占位符 2"/>
          <p:cNvSpPr>
            <a:spLocks noGrp="1"/>
          </p:cNvSpPr>
          <p:nvPr>
            <p:ph idx="1"/>
          </p:nvPr>
        </p:nvSpPr>
        <p:spPr/>
        <p:txBody>
          <a:bodyPr/>
          <a:lstStyle/>
          <a:p>
            <a:r>
              <a:rPr lang="en-US" altLang="zh-CN" dirty="0"/>
              <a:t>flex</a:t>
            </a:r>
            <a:r>
              <a:rPr lang="zh-CN" altLang="en-US" dirty="0"/>
              <a:t>：</a:t>
            </a:r>
            <a:r>
              <a:rPr lang="en-US" altLang="zh-CN" dirty="0"/>
              <a:t>0</a:t>
            </a:r>
            <a:r>
              <a:rPr lang="en-US" altLang="zh-CN" dirty="0">
                <a:sym typeface="+mn-ea"/>
              </a:rPr>
              <a:t> (0 1 0%)</a:t>
            </a:r>
            <a:r>
              <a:rPr lang="en-US" altLang="zh-CN" dirty="0"/>
              <a:t>  /  none </a:t>
            </a:r>
            <a:r>
              <a:rPr lang="en-US" altLang="zh-CN" dirty="0">
                <a:sym typeface="+mn-ea"/>
              </a:rPr>
              <a:t> (0 0 auto)</a:t>
            </a:r>
            <a:endParaRPr lang="zh-CN" altLang="en-US" dirty="0"/>
          </a:p>
          <a:p>
            <a:pPr marL="457200" lvl="1" indent="0">
              <a:buNone/>
            </a:pPr>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838835" y="1678305"/>
            <a:ext cx="3676650" cy="2324100"/>
          </a:xfrm>
          <a:prstGeom prst="rect">
            <a:avLst/>
          </a:prstGeom>
        </p:spPr>
      </p:pic>
      <p:pic>
        <p:nvPicPr>
          <p:cNvPr id="7" name="图片 6"/>
          <p:cNvPicPr>
            <a:picLocks noChangeAspect="1"/>
          </p:cNvPicPr>
          <p:nvPr/>
        </p:nvPicPr>
        <p:blipFill>
          <a:blip r:embed="rId2"/>
          <a:stretch>
            <a:fillRect/>
          </a:stretch>
        </p:blipFill>
        <p:spPr>
          <a:xfrm>
            <a:off x="838835" y="4286250"/>
            <a:ext cx="3190875" cy="2352675"/>
          </a:xfrm>
          <a:prstGeom prst="rect">
            <a:avLst/>
          </a:prstGeom>
        </p:spPr>
      </p:pic>
      <p:pic>
        <p:nvPicPr>
          <p:cNvPr id="6" name="图片 5"/>
          <p:cNvPicPr>
            <a:picLocks noChangeAspect="1"/>
          </p:cNvPicPr>
          <p:nvPr/>
        </p:nvPicPr>
        <p:blipFill>
          <a:blip r:embed="rId3"/>
          <a:stretch>
            <a:fillRect/>
          </a:stretch>
        </p:blipFill>
        <p:spPr>
          <a:xfrm>
            <a:off x="5920105" y="5124450"/>
            <a:ext cx="5019675" cy="942975"/>
          </a:xfrm>
          <a:prstGeom prst="rect">
            <a:avLst/>
          </a:prstGeom>
        </p:spPr>
      </p:pic>
      <p:pic>
        <p:nvPicPr>
          <p:cNvPr id="8" name="图片 7"/>
          <p:cNvPicPr>
            <a:picLocks noChangeAspect="1"/>
          </p:cNvPicPr>
          <p:nvPr/>
        </p:nvPicPr>
        <p:blipFill>
          <a:blip r:embed="rId4"/>
          <a:stretch>
            <a:fillRect/>
          </a:stretch>
        </p:blipFill>
        <p:spPr>
          <a:xfrm>
            <a:off x="5920105" y="4286250"/>
            <a:ext cx="5019675" cy="838200"/>
          </a:xfrm>
          <a:prstGeom prst="rect">
            <a:avLst/>
          </a:prstGeom>
        </p:spPr>
      </p:pic>
      <p:pic>
        <p:nvPicPr>
          <p:cNvPr id="9" name="图片 8"/>
          <p:cNvPicPr>
            <a:picLocks noChangeAspect="1"/>
          </p:cNvPicPr>
          <p:nvPr/>
        </p:nvPicPr>
        <p:blipFill>
          <a:blip r:embed="rId5"/>
          <a:stretch>
            <a:fillRect/>
          </a:stretch>
        </p:blipFill>
        <p:spPr>
          <a:xfrm>
            <a:off x="5920105" y="1678305"/>
            <a:ext cx="4253865" cy="2367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a:t>
            </a:r>
            <a:r>
              <a:rPr lang="zh-CN" altLang="en-US" dirty="0" smtClean="0"/>
              <a:t>属性单值</a:t>
            </a:r>
            <a:r>
              <a:rPr lang="zh-CN" altLang="en-US" dirty="0" smtClean="0"/>
              <a:t>写法</a:t>
            </a:r>
            <a:endParaRPr lang="zh-CN" altLang="en-US" dirty="0" smtClean="0"/>
          </a:p>
        </p:txBody>
      </p:sp>
      <p:sp>
        <p:nvSpPr>
          <p:cNvPr id="3" name="内容占位符 2"/>
          <p:cNvSpPr>
            <a:spLocks noGrp="1"/>
          </p:cNvSpPr>
          <p:nvPr>
            <p:ph idx="1"/>
          </p:nvPr>
        </p:nvSpPr>
        <p:spPr/>
        <p:txBody>
          <a:bodyPr/>
          <a:lstStyle/>
          <a:p>
            <a:r>
              <a:rPr lang="en-US" altLang="zh-CN" dirty="0"/>
              <a:t>flex</a:t>
            </a:r>
            <a:r>
              <a:rPr lang="zh-CN" altLang="en-US" dirty="0"/>
              <a:t>：</a:t>
            </a:r>
            <a:r>
              <a:rPr lang="en-US" altLang="zh-CN" dirty="0"/>
              <a:t>1</a:t>
            </a:r>
            <a:r>
              <a:rPr lang="en-US" altLang="zh-CN" dirty="0">
                <a:sym typeface="+mn-ea"/>
              </a:rPr>
              <a:t> (1 1 0%)</a:t>
            </a:r>
            <a:r>
              <a:rPr lang="en-US" altLang="zh-CN" dirty="0">
                <a:sym typeface="+mn-ea"/>
              </a:rPr>
              <a:t>  /  auto </a:t>
            </a:r>
            <a:r>
              <a:rPr lang="en-US" altLang="zh-CN" dirty="0">
                <a:sym typeface="+mn-ea"/>
              </a:rPr>
              <a:t> (1 1 auto)</a:t>
            </a:r>
            <a:endParaRPr lang="en-US" altLang="zh-CN" dirty="0">
              <a:sym typeface="+mn-ea"/>
            </a:endParaRPr>
          </a:p>
          <a:p>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647700" y="1655445"/>
            <a:ext cx="4848225" cy="1666875"/>
          </a:xfrm>
          <a:prstGeom prst="rect">
            <a:avLst/>
          </a:prstGeom>
        </p:spPr>
      </p:pic>
      <p:pic>
        <p:nvPicPr>
          <p:cNvPr id="7" name="图片 6"/>
          <p:cNvPicPr>
            <a:picLocks noChangeAspect="1"/>
          </p:cNvPicPr>
          <p:nvPr/>
        </p:nvPicPr>
        <p:blipFill>
          <a:blip r:embed="rId2"/>
          <a:stretch>
            <a:fillRect/>
          </a:stretch>
        </p:blipFill>
        <p:spPr>
          <a:xfrm>
            <a:off x="647700" y="3322320"/>
            <a:ext cx="2981325" cy="2181225"/>
          </a:xfrm>
          <a:prstGeom prst="rect">
            <a:avLst/>
          </a:prstGeom>
        </p:spPr>
      </p:pic>
      <p:pic>
        <p:nvPicPr>
          <p:cNvPr id="11" name="图片 10"/>
          <p:cNvPicPr>
            <a:picLocks noChangeAspect="1"/>
          </p:cNvPicPr>
          <p:nvPr/>
        </p:nvPicPr>
        <p:blipFill>
          <a:blip r:embed="rId3"/>
          <a:stretch>
            <a:fillRect/>
          </a:stretch>
        </p:blipFill>
        <p:spPr>
          <a:xfrm>
            <a:off x="6306820" y="1655445"/>
            <a:ext cx="4572000" cy="3743325"/>
          </a:xfrm>
          <a:prstGeom prst="rect">
            <a:avLst/>
          </a:prstGeom>
        </p:spPr>
      </p:pic>
      <p:sp>
        <p:nvSpPr>
          <p:cNvPr id="12" name="文本框 11"/>
          <p:cNvSpPr txBox="1"/>
          <p:nvPr/>
        </p:nvSpPr>
        <p:spPr>
          <a:xfrm>
            <a:off x="647700" y="5755640"/>
            <a:ext cx="4782820" cy="645160"/>
          </a:xfrm>
          <a:prstGeom prst="rect">
            <a:avLst/>
          </a:prstGeom>
          <a:noFill/>
        </p:spPr>
        <p:txBody>
          <a:bodyPr wrap="square" rtlCol="0" anchor="t">
            <a:spAutoFit/>
          </a:bodyPr>
          <a:p>
            <a:r>
              <a:rPr lang="zh-CN" altLang="en-US">
                <a:solidFill>
                  <a:schemeClr val="bg1"/>
                </a:solidFill>
                <a:latin typeface="微软雅黑" panose="020B0503020204020204" pitchFamily="34" charset="-122"/>
                <a:ea typeface="微软雅黑" panose="020B0503020204020204" pitchFamily="34" charset="-122"/>
              </a:rPr>
              <a:t>等分列表、等比例列表</a:t>
            </a:r>
            <a:r>
              <a:rPr lang="zh-CN" altLang="en-US">
                <a:solidFill>
                  <a:schemeClr val="bg1"/>
                </a:solidFill>
                <a:latin typeface="微软雅黑" panose="020B0503020204020204" pitchFamily="34" charset="-122"/>
                <a:ea typeface="微软雅黑" panose="020B0503020204020204" pitchFamily="34" charset="-122"/>
                <a:sym typeface="+mn-ea"/>
              </a:rPr>
              <a:t>、</a:t>
            </a:r>
            <a:r>
              <a:rPr lang="en-US" altLang="zh-CN">
                <a:solidFill>
                  <a:schemeClr val="bg1"/>
                </a:solidFill>
                <a:latin typeface="微软雅黑" panose="020B0503020204020204" pitchFamily="34" charset="-122"/>
                <a:ea typeface="微软雅黑" panose="020B0503020204020204" pitchFamily="34" charset="-122"/>
              </a:rPr>
              <a:t>无规律布局中动态内容元素</a:t>
            </a:r>
            <a:endParaRPr lang="en-US" altLang="zh-CN">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306820" y="5755640"/>
            <a:ext cx="4782820" cy="368300"/>
          </a:xfrm>
          <a:prstGeom prst="rect">
            <a:avLst/>
          </a:prstGeom>
          <a:noFill/>
        </p:spPr>
        <p:txBody>
          <a:bodyPr wrap="square" rtlCol="0" anchor="t">
            <a:spAutoFit/>
          </a:bodyPr>
          <a:p>
            <a:r>
              <a:rPr lang="en-US" altLang="zh-CN">
                <a:solidFill>
                  <a:schemeClr val="bg1"/>
                </a:solidFill>
                <a:latin typeface="微软雅黑" panose="020B0503020204020204" pitchFamily="34" charset="-122"/>
                <a:ea typeface="微软雅黑" panose="020B0503020204020204" pitchFamily="34" charset="-122"/>
              </a:rPr>
              <a:t>内容固定</a:t>
            </a:r>
            <a:r>
              <a:rPr lang="zh-CN" altLang="en-US">
                <a:solidFill>
                  <a:schemeClr val="bg1"/>
                </a:solidFill>
                <a:latin typeface="微软雅黑" panose="020B0503020204020204" pitchFamily="34" charset="-122"/>
                <a:ea typeface="微软雅黑" panose="020B0503020204020204" pitchFamily="34" charset="-122"/>
              </a:rPr>
              <a:t>、</a:t>
            </a:r>
            <a:r>
              <a:rPr lang="en-US" altLang="zh-CN">
                <a:solidFill>
                  <a:schemeClr val="bg1"/>
                </a:solidFill>
                <a:latin typeface="微软雅黑" panose="020B0503020204020204" pitchFamily="34" charset="-122"/>
                <a:ea typeface="微软雅黑" panose="020B0503020204020204" pitchFamily="34" charset="-122"/>
              </a:rPr>
              <a:t>内容可控的布局场景</a:t>
            </a:r>
            <a:r>
              <a:rPr lang="zh-CN" altLang="en-US">
                <a:solidFill>
                  <a:schemeClr val="bg1"/>
                </a:solidFill>
                <a:latin typeface="微软雅黑" panose="020B0503020204020204" pitchFamily="34" charset="-122"/>
                <a:ea typeface="微软雅黑" panose="020B0503020204020204" pitchFamily="34" charset="-122"/>
              </a:rPr>
              <a:t>，</a:t>
            </a:r>
            <a:r>
              <a:rPr lang="zh-CN" altLang="en-US">
                <a:solidFill>
                  <a:schemeClr val="bg1"/>
                </a:solidFill>
                <a:latin typeface="微软雅黑" panose="020B0503020204020204" pitchFamily="34" charset="-122"/>
                <a:ea typeface="微软雅黑" panose="020B0503020204020204" pitchFamily="34" charset="-122"/>
                <a:sym typeface="+mn-ea"/>
              </a:rPr>
              <a:t>比如</a:t>
            </a:r>
            <a:r>
              <a:rPr lang="en-US" altLang="zh-CN">
                <a:solidFill>
                  <a:schemeClr val="bg1"/>
                </a:solidFill>
                <a:latin typeface="微软雅黑" panose="020B0503020204020204" pitchFamily="34" charset="-122"/>
                <a:ea typeface="微软雅黑" panose="020B0503020204020204" pitchFamily="34" charset="-122"/>
                <a:sym typeface="+mn-ea"/>
              </a:rPr>
              <a:t>导航</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3629025" y="3322320"/>
            <a:ext cx="1866900" cy="21805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经验与实践 </a:t>
              </a: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 </a:t>
              </a:r>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三列布局</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4</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案例解析</a:t>
            </a:r>
            <a:endParaRPr lang="zh-CN" altLang="en-US" dirty="0"/>
          </a:p>
        </p:txBody>
      </p:sp>
      <p:sp>
        <p:nvSpPr>
          <p:cNvPr id="3" name="内容占位符 2"/>
          <p:cNvSpPr>
            <a:spLocks noGrp="1"/>
          </p:cNvSpPr>
          <p:nvPr>
            <p:ph idx="1"/>
          </p:nvPr>
        </p:nvSpPr>
        <p:spPr/>
        <p:txBody>
          <a:bodyPr/>
          <a:lstStyle/>
          <a:p>
            <a:r>
              <a:rPr lang="zh-CN" altLang="en-US" dirty="0" smtClean="0"/>
              <a:t>中右左三列定宽布局</a:t>
            </a:r>
            <a:endParaRPr lang="en-US" altLang="zh-CN" dirty="0" smtClean="0"/>
          </a:p>
          <a:p>
            <a:pPr lvl="1"/>
            <a:r>
              <a:rPr lang="zh-CN" altLang="en-US" dirty="0" smtClean="0"/>
              <a:t>要求：</a:t>
            </a:r>
            <a:endParaRPr lang="en-US" altLang="zh-CN" dirty="0" smtClean="0"/>
          </a:p>
          <a:p>
            <a:pPr lvl="2"/>
            <a:r>
              <a:rPr lang="zh-CN" altLang="en-US" dirty="0" smtClean="0"/>
              <a:t>允许嵌套元素</a:t>
            </a:r>
            <a:endParaRPr lang="en-US" altLang="zh-CN" dirty="0" smtClean="0"/>
          </a:p>
          <a:p>
            <a:pPr lvl="2"/>
            <a:r>
              <a:rPr lang="en-US" altLang="zh-CN" dirty="0" smtClean="0"/>
              <a:t>center</a:t>
            </a:r>
            <a:r>
              <a:rPr lang="zh-CN" altLang="en-US" dirty="0" smtClean="0"/>
              <a:t>、</a:t>
            </a:r>
            <a:r>
              <a:rPr lang="en-US" altLang="zh-CN" dirty="0" smtClean="0"/>
              <a:t>right</a:t>
            </a:r>
            <a:r>
              <a:rPr lang="zh-CN" altLang="en-US" dirty="0" smtClean="0"/>
              <a:t>、</a:t>
            </a:r>
            <a:r>
              <a:rPr lang="en-US" altLang="zh-CN" dirty="0" smtClean="0"/>
              <a:t>left </a:t>
            </a:r>
            <a:r>
              <a:rPr lang="en-US" altLang="zh-CN" dirty="0" err="1" smtClean="0"/>
              <a:t>dom</a:t>
            </a:r>
            <a:r>
              <a:rPr lang="zh-CN" altLang="en-US" dirty="0" smtClean="0"/>
              <a:t>节点顺序不能改变</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1177726" y="3081120"/>
            <a:ext cx="4353228" cy="923330"/>
          </a:xfrm>
          <a:prstGeom prst="rect">
            <a:avLst/>
          </a:prstGeom>
        </p:spPr>
        <p:txBody>
          <a:bodyPr wrap="square">
            <a:spAutoFit/>
          </a:bodyPr>
          <a:lstStyle/>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"center"</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"right"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class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"left"</a:t>
            </a:r>
            <a:r>
              <a:rPr lang="en-US" altLang="zh-CN" dirty="0">
                <a:solidFill>
                  <a:srgbClr val="ABB2BF"/>
                </a:solidFill>
                <a:latin typeface="Consolas" panose="020B0609020204030204" pitchFamily="49" charset="0"/>
              </a:rPr>
              <a:t>&gt;&lt;/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grpSp>
        <p:nvGrpSpPr>
          <p:cNvPr id="6" name="组合 5"/>
          <p:cNvGrpSpPr/>
          <p:nvPr/>
        </p:nvGrpSpPr>
        <p:grpSpPr>
          <a:xfrm>
            <a:off x="6783258" y="2147174"/>
            <a:ext cx="4645965" cy="3434715"/>
            <a:chOff x="6363128" y="2287217"/>
            <a:chExt cx="4645965" cy="3434715"/>
          </a:xfrm>
        </p:grpSpPr>
        <p:sp>
          <p:nvSpPr>
            <p:cNvPr id="7" name="矩形 6"/>
            <p:cNvSpPr/>
            <p:nvPr/>
          </p:nvSpPr>
          <p:spPr>
            <a:xfrm>
              <a:off x="6363128" y="2287219"/>
              <a:ext cx="1040538" cy="3434467"/>
            </a:xfrm>
            <a:prstGeom prst="rect">
              <a:avLst/>
            </a:prstGeom>
            <a:solidFill>
              <a:srgbClr val="1479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左列</a:t>
              </a:r>
              <a:endParaRPr lang="zh-CN" altLang="en-US" dirty="0"/>
            </a:p>
          </p:txBody>
        </p:sp>
        <p:sp>
          <p:nvSpPr>
            <p:cNvPr id="8" name="矩形 7"/>
            <p:cNvSpPr/>
            <p:nvPr/>
          </p:nvSpPr>
          <p:spPr>
            <a:xfrm>
              <a:off x="7403893" y="2287217"/>
              <a:ext cx="2286000" cy="3434715"/>
            </a:xfrm>
            <a:prstGeom prst="rect">
              <a:avLst/>
            </a:prstGeom>
            <a:solidFill>
              <a:srgbClr val="1479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中</a:t>
              </a:r>
              <a:r>
                <a:rPr lang="zh-CN" altLang="en-US" dirty="0" smtClean="0"/>
                <a:t>列</a:t>
              </a:r>
              <a:endParaRPr lang="zh-CN" altLang="en-US" dirty="0"/>
            </a:p>
          </p:txBody>
        </p:sp>
        <p:sp>
          <p:nvSpPr>
            <p:cNvPr id="9" name="矩形 8"/>
            <p:cNvSpPr/>
            <p:nvPr/>
          </p:nvSpPr>
          <p:spPr>
            <a:xfrm>
              <a:off x="9689654" y="2287218"/>
              <a:ext cx="1319439" cy="3434467"/>
            </a:xfrm>
            <a:prstGeom prst="rect">
              <a:avLst/>
            </a:prstGeom>
            <a:solidFill>
              <a:srgbClr val="1479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右</a:t>
              </a:r>
              <a:r>
                <a:rPr lang="zh-CN" altLang="en-US" dirty="0" smtClean="0"/>
                <a:t>列</a:t>
              </a:r>
              <a:endParaRPr lang="zh-CN" altLang="en-US" dirty="0"/>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案例解析</a:t>
            </a:r>
            <a:endParaRPr lang="zh-CN" altLang="en-US" dirty="0"/>
          </a:p>
        </p:txBody>
      </p:sp>
      <p:sp>
        <p:nvSpPr>
          <p:cNvPr id="3" name="内容占位符 2"/>
          <p:cNvSpPr>
            <a:spLocks noGrp="1"/>
          </p:cNvSpPr>
          <p:nvPr>
            <p:ph idx="1"/>
          </p:nvPr>
        </p:nvSpPr>
        <p:spPr/>
        <p:txBody>
          <a:bodyPr/>
          <a:lstStyle/>
          <a:p>
            <a:r>
              <a:rPr lang="zh-CN" altLang="en-US" dirty="0" smtClean="0"/>
              <a:t>中右左三列定宽布局</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0" name="文本框 9"/>
          <p:cNvSpPr txBox="1"/>
          <p:nvPr/>
        </p:nvSpPr>
        <p:spPr>
          <a:xfrm>
            <a:off x="622300" y="1818640"/>
            <a:ext cx="5636895" cy="1751965"/>
          </a:xfrm>
          <a:prstGeom prst="rect">
            <a:avLst/>
          </a:prstGeom>
        </p:spPr>
        <p:txBody>
          <a:bodyPr wrap="square">
            <a:spAutoFit/>
          </a:bodyPr>
          <a:p>
            <a:pPr>
              <a:lnSpc>
                <a:spcPct val="120000"/>
              </a:lnSpc>
              <a:spcBef>
                <a:spcPts val="0"/>
              </a:spcBef>
              <a:spcAft>
                <a:spcPts val="0"/>
              </a:spcAft>
            </a:pPr>
            <a:r>
              <a:rPr lang="en-US" altLang="zh-CN" b="0">
                <a:solidFill>
                  <a:srgbClr val="ABB2BF"/>
                </a:solidFill>
                <a:latin typeface="Consolas" panose="020B0609020204030204"/>
                <a:ea typeface="Consolas" panose="020B0609020204030204"/>
              </a:rPr>
              <a:t>&lt;</a:t>
            </a:r>
            <a:r>
              <a:rPr lang="en-US" altLang="zh-CN" b="0">
                <a:solidFill>
                  <a:srgbClr val="E06C75"/>
                </a:solidFill>
                <a:latin typeface="Consolas" panose="020B0609020204030204"/>
                <a:ea typeface="Consolas" panose="020B0609020204030204"/>
              </a:rPr>
              <a:t>div</a:t>
            </a:r>
            <a:r>
              <a:rPr lang="en-US" altLang="zh-CN" b="0">
                <a:solidFill>
                  <a:srgbClr val="D19A66"/>
                </a:solidFill>
                <a:latin typeface="Consolas" panose="020B0609020204030204"/>
                <a:ea typeface="Consolas" panose="020B0609020204030204"/>
              </a:rPr>
              <a:t>class</a:t>
            </a:r>
            <a:r>
              <a:rPr lang="en-US" altLang="zh-CN" b="0">
                <a:solidFill>
                  <a:srgbClr val="ABB2BF"/>
                </a:solidFill>
                <a:latin typeface="Consolas" panose="020B0609020204030204"/>
                <a:ea typeface="Consolas" panose="020B0609020204030204"/>
              </a:rPr>
              <a:t>=</a:t>
            </a:r>
            <a:r>
              <a:rPr lang="en-US" altLang="zh-CN" b="0">
                <a:solidFill>
                  <a:srgbClr val="98C379"/>
                </a:solidFill>
                <a:latin typeface="Consolas" panose="020B0609020204030204"/>
                <a:ea typeface="Consolas" panose="020B0609020204030204"/>
              </a:rPr>
              <a:t>"center-right float-right"</a:t>
            </a:r>
            <a:r>
              <a:rPr lang="en-US" altLang="zh-CN" b="0">
                <a:solidFill>
                  <a:srgbClr val="ABB2BF"/>
                </a:solidFill>
                <a:latin typeface="Consolas" panose="020B0609020204030204"/>
                <a:ea typeface="Consolas" panose="020B0609020204030204"/>
              </a:rPr>
              <a:t>&gt;</a:t>
            </a:r>
            <a:endParaRPr lang="en-US" altLang="zh-CN" b="0">
              <a:solidFill>
                <a:srgbClr val="ABB2BF"/>
              </a:solidFill>
              <a:latin typeface="Consolas" panose="020B0609020204030204"/>
              <a:ea typeface="Consolas" panose="020B0609020204030204"/>
            </a:endParaRPr>
          </a:p>
          <a:p>
            <a:pPr>
              <a:lnSpc>
                <a:spcPct val="120000"/>
              </a:lnSpc>
              <a:spcBef>
                <a:spcPts val="0"/>
              </a:spcBef>
              <a:spcAft>
                <a:spcPts val="0"/>
              </a:spcAft>
            </a:pPr>
            <a:r>
              <a:rPr lang="en-US" altLang="zh-CN" b="0">
                <a:solidFill>
                  <a:srgbClr val="ABB2BF"/>
                </a:solidFill>
                <a:latin typeface="Consolas" panose="020B0609020204030204"/>
                <a:ea typeface="Consolas" panose="020B0609020204030204"/>
              </a:rPr>
              <a:t>  &lt;</a:t>
            </a:r>
            <a:r>
              <a:rPr lang="en-US" altLang="zh-CN" b="0">
                <a:solidFill>
                  <a:srgbClr val="E06C75"/>
                </a:solidFill>
                <a:latin typeface="Consolas" panose="020B0609020204030204"/>
                <a:ea typeface="Consolas" panose="020B0609020204030204"/>
              </a:rPr>
              <a:t>div</a:t>
            </a:r>
            <a:r>
              <a:rPr lang="en-US" altLang="zh-CN" b="0">
                <a:solidFill>
                  <a:srgbClr val="D19A66"/>
                </a:solidFill>
                <a:latin typeface="Consolas" panose="020B0609020204030204"/>
                <a:ea typeface="Consolas" panose="020B0609020204030204"/>
              </a:rPr>
              <a:t>class</a:t>
            </a:r>
            <a:r>
              <a:rPr lang="en-US" altLang="zh-CN" b="0">
                <a:solidFill>
                  <a:srgbClr val="ABB2BF"/>
                </a:solidFill>
                <a:latin typeface="Consolas" panose="020B0609020204030204"/>
                <a:ea typeface="Consolas" panose="020B0609020204030204"/>
              </a:rPr>
              <a:t>=</a:t>
            </a:r>
            <a:r>
              <a:rPr lang="en-US" altLang="zh-CN" b="0">
                <a:solidFill>
                  <a:srgbClr val="98C379"/>
                </a:solidFill>
                <a:latin typeface="Consolas" panose="020B0609020204030204"/>
                <a:ea typeface="Consolas" panose="020B0609020204030204"/>
              </a:rPr>
              <a:t>"center float-left"</a:t>
            </a:r>
            <a:r>
              <a:rPr lang="en-US" altLang="zh-CN" b="0">
                <a:solidFill>
                  <a:srgbClr val="ABB2BF"/>
                </a:solidFill>
                <a:latin typeface="Consolas" panose="020B0609020204030204"/>
                <a:ea typeface="Consolas" panose="020B0609020204030204"/>
              </a:rPr>
              <a:t>&gt;</a:t>
            </a:r>
            <a:r>
              <a:rPr lang="zh-CN" altLang="en-US" b="0">
                <a:solidFill>
                  <a:srgbClr val="ABB2BF"/>
                </a:solidFill>
                <a:latin typeface="华文楷体" panose="02010600040101010101" charset="-122"/>
                <a:ea typeface="华文楷体" panose="02010600040101010101" charset="-122"/>
              </a:rPr>
              <a:t>中</a:t>
            </a:r>
            <a:r>
              <a:rPr lang="zh-CN" altLang="en-US">
                <a:solidFill>
                  <a:srgbClr val="ABB2BF"/>
                </a:solidFill>
                <a:latin typeface="华文楷体" panose="02010600040101010101" charset="-122"/>
                <a:ea typeface="华文楷体" panose="02010600040101010101" charset="-122"/>
                <a:sym typeface="+mn-ea"/>
              </a:rPr>
              <a:t>列</a:t>
            </a:r>
            <a:r>
              <a:rPr lang="en-US" altLang="zh-CN" b="0">
                <a:solidFill>
                  <a:srgbClr val="ABB2BF"/>
                </a:solidFill>
                <a:latin typeface="Consolas" panose="020B0609020204030204"/>
                <a:ea typeface="Consolas" panose="020B0609020204030204"/>
              </a:rPr>
              <a:t>&lt;/</a:t>
            </a:r>
            <a:r>
              <a:rPr lang="en-US" altLang="zh-CN" b="0">
                <a:solidFill>
                  <a:srgbClr val="E06C75"/>
                </a:solidFill>
                <a:latin typeface="Consolas" panose="020B0609020204030204"/>
                <a:ea typeface="Consolas" panose="020B0609020204030204"/>
              </a:rPr>
              <a:t>div</a:t>
            </a:r>
            <a:r>
              <a:rPr lang="en-US" altLang="zh-CN" b="0">
                <a:solidFill>
                  <a:srgbClr val="ABB2BF"/>
                </a:solidFill>
                <a:latin typeface="Consolas" panose="020B0609020204030204"/>
                <a:ea typeface="Consolas" panose="020B0609020204030204"/>
              </a:rPr>
              <a:t>&gt;</a:t>
            </a:r>
            <a:endParaRPr lang="en-US" altLang="zh-CN" b="0">
              <a:solidFill>
                <a:srgbClr val="ABB2BF"/>
              </a:solidFill>
              <a:latin typeface="Consolas" panose="020B0609020204030204"/>
              <a:ea typeface="Consolas" panose="020B0609020204030204"/>
            </a:endParaRPr>
          </a:p>
          <a:p>
            <a:pPr>
              <a:lnSpc>
                <a:spcPct val="120000"/>
              </a:lnSpc>
              <a:spcBef>
                <a:spcPts val="0"/>
              </a:spcBef>
              <a:spcAft>
                <a:spcPts val="0"/>
              </a:spcAft>
            </a:pPr>
            <a:r>
              <a:rPr lang="en-US" altLang="zh-CN" b="0">
                <a:solidFill>
                  <a:srgbClr val="ABB2BF"/>
                </a:solidFill>
                <a:latin typeface="Consolas" panose="020B0609020204030204"/>
                <a:ea typeface="Consolas" panose="020B0609020204030204"/>
              </a:rPr>
              <a:t>  &lt;</a:t>
            </a:r>
            <a:r>
              <a:rPr lang="en-US" altLang="zh-CN" b="0">
                <a:solidFill>
                  <a:srgbClr val="E06C75"/>
                </a:solidFill>
                <a:latin typeface="Consolas" panose="020B0609020204030204"/>
                <a:ea typeface="Consolas" panose="020B0609020204030204"/>
              </a:rPr>
              <a:t>div</a:t>
            </a:r>
            <a:r>
              <a:rPr lang="en-US" altLang="zh-CN" b="0">
                <a:solidFill>
                  <a:srgbClr val="D19A66"/>
                </a:solidFill>
                <a:latin typeface="Consolas" panose="020B0609020204030204"/>
                <a:ea typeface="Consolas" panose="020B0609020204030204"/>
              </a:rPr>
              <a:t>class</a:t>
            </a:r>
            <a:r>
              <a:rPr lang="en-US" altLang="zh-CN" b="0">
                <a:solidFill>
                  <a:srgbClr val="ABB2BF"/>
                </a:solidFill>
                <a:latin typeface="Consolas" panose="020B0609020204030204"/>
                <a:ea typeface="Consolas" panose="020B0609020204030204"/>
              </a:rPr>
              <a:t>=</a:t>
            </a:r>
            <a:r>
              <a:rPr lang="en-US" altLang="zh-CN" b="0">
                <a:solidFill>
                  <a:srgbClr val="98C379"/>
                </a:solidFill>
                <a:latin typeface="Consolas" panose="020B0609020204030204"/>
                <a:ea typeface="Consolas" panose="020B0609020204030204"/>
              </a:rPr>
              <a:t>"right float-left"</a:t>
            </a:r>
            <a:r>
              <a:rPr lang="en-US" altLang="zh-CN" b="0">
                <a:solidFill>
                  <a:srgbClr val="ABB2BF"/>
                </a:solidFill>
                <a:latin typeface="Consolas" panose="020B0609020204030204"/>
                <a:ea typeface="Consolas" panose="020B0609020204030204"/>
              </a:rPr>
              <a:t>&gt;</a:t>
            </a:r>
            <a:r>
              <a:rPr lang="zh-CN" altLang="en-US" b="0">
                <a:solidFill>
                  <a:srgbClr val="ABB2BF"/>
                </a:solidFill>
                <a:latin typeface="华文楷体" panose="02010600040101010101" charset="-122"/>
                <a:ea typeface="华文楷体" panose="02010600040101010101" charset="-122"/>
              </a:rPr>
              <a:t>右</a:t>
            </a:r>
            <a:r>
              <a:rPr lang="zh-CN" altLang="en-US">
                <a:solidFill>
                  <a:srgbClr val="ABB2BF"/>
                </a:solidFill>
                <a:latin typeface="华文楷体" panose="02010600040101010101" charset="-122"/>
                <a:ea typeface="华文楷体" panose="02010600040101010101" charset="-122"/>
                <a:sym typeface="+mn-ea"/>
              </a:rPr>
              <a:t>列</a:t>
            </a:r>
            <a:r>
              <a:rPr lang="en-US" altLang="zh-CN" b="0">
                <a:solidFill>
                  <a:srgbClr val="ABB2BF"/>
                </a:solidFill>
                <a:latin typeface="Consolas" panose="020B0609020204030204"/>
                <a:ea typeface="Consolas" panose="020B0609020204030204"/>
              </a:rPr>
              <a:t>&lt;/</a:t>
            </a:r>
            <a:r>
              <a:rPr lang="en-US" altLang="zh-CN" b="0">
                <a:solidFill>
                  <a:srgbClr val="E06C75"/>
                </a:solidFill>
                <a:latin typeface="Consolas" panose="020B0609020204030204"/>
                <a:ea typeface="Consolas" panose="020B0609020204030204"/>
              </a:rPr>
              <a:t>div</a:t>
            </a:r>
            <a:r>
              <a:rPr lang="en-US" altLang="zh-CN" b="0">
                <a:solidFill>
                  <a:srgbClr val="ABB2BF"/>
                </a:solidFill>
                <a:latin typeface="Consolas" panose="020B0609020204030204"/>
                <a:ea typeface="Consolas" panose="020B0609020204030204"/>
              </a:rPr>
              <a:t>&gt;</a:t>
            </a:r>
            <a:endParaRPr lang="en-US" altLang="zh-CN" b="0">
              <a:solidFill>
                <a:srgbClr val="ABB2BF"/>
              </a:solidFill>
              <a:latin typeface="Consolas" panose="020B0609020204030204"/>
              <a:ea typeface="Consolas" panose="020B0609020204030204"/>
            </a:endParaRPr>
          </a:p>
          <a:p>
            <a:pPr>
              <a:lnSpc>
                <a:spcPct val="120000"/>
              </a:lnSpc>
              <a:spcBef>
                <a:spcPts val="0"/>
              </a:spcBef>
              <a:spcAft>
                <a:spcPts val="0"/>
              </a:spcAft>
            </a:pPr>
            <a:r>
              <a:rPr lang="en-US" altLang="zh-CN" b="0">
                <a:solidFill>
                  <a:srgbClr val="ABB2BF"/>
                </a:solidFill>
                <a:latin typeface="Consolas" panose="020B0609020204030204"/>
                <a:ea typeface="Consolas" panose="020B0609020204030204"/>
              </a:rPr>
              <a:t>&lt;/</a:t>
            </a:r>
            <a:r>
              <a:rPr lang="en-US" altLang="zh-CN" b="0">
                <a:solidFill>
                  <a:srgbClr val="E06C75"/>
                </a:solidFill>
                <a:latin typeface="Consolas" panose="020B0609020204030204"/>
                <a:ea typeface="Consolas" panose="020B0609020204030204"/>
              </a:rPr>
              <a:t>div</a:t>
            </a:r>
            <a:r>
              <a:rPr lang="en-US" altLang="zh-CN" b="0">
                <a:solidFill>
                  <a:srgbClr val="ABB2BF"/>
                </a:solidFill>
                <a:latin typeface="Consolas" panose="020B0609020204030204"/>
                <a:ea typeface="Consolas" panose="020B0609020204030204"/>
              </a:rPr>
              <a:t>&gt;</a:t>
            </a:r>
            <a:endParaRPr lang="en-US" altLang="zh-CN" b="0">
              <a:solidFill>
                <a:srgbClr val="ABB2BF"/>
              </a:solidFill>
              <a:latin typeface="Consolas" panose="020B0609020204030204"/>
              <a:ea typeface="Consolas" panose="020B0609020204030204"/>
            </a:endParaRPr>
          </a:p>
          <a:p>
            <a:pPr>
              <a:lnSpc>
                <a:spcPct val="120000"/>
              </a:lnSpc>
              <a:spcBef>
                <a:spcPts val="0"/>
              </a:spcBef>
              <a:spcAft>
                <a:spcPts val="0"/>
              </a:spcAft>
            </a:pPr>
            <a:r>
              <a:rPr lang="en-US" altLang="zh-CN" b="0">
                <a:solidFill>
                  <a:srgbClr val="ABB2BF"/>
                </a:solidFill>
                <a:latin typeface="Consolas" panose="020B0609020204030204"/>
                <a:ea typeface="Consolas" panose="020B0609020204030204"/>
              </a:rPr>
              <a:t>&lt;</a:t>
            </a:r>
            <a:r>
              <a:rPr lang="en-US" altLang="zh-CN" b="0">
                <a:solidFill>
                  <a:srgbClr val="E06C75"/>
                </a:solidFill>
                <a:latin typeface="Consolas" panose="020B0609020204030204"/>
                <a:ea typeface="Consolas" panose="020B0609020204030204"/>
              </a:rPr>
              <a:t>div</a:t>
            </a:r>
            <a:r>
              <a:rPr lang="en-US" altLang="zh-CN" b="0">
                <a:solidFill>
                  <a:srgbClr val="D19A66"/>
                </a:solidFill>
                <a:latin typeface="Consolas" panose="020B0609020204030204"/>
                <a:ea typeface="Consolas" panose="020B0609020204030204"/>
              </a:rPr>
              <a:t>class</a:t>
            </a:r>
            <a:r>
              <a:rPr lang="en-US" altLang="zh-CN" b="0">
                <a:solidFill>
                  <a:srgbClr val="ABB2BF"/>
                </a:solidFill>
                <a:latin typeface="Consolas" panose="020B0609020204030204"/>
                <a:ea typeface="Consolas" panose="020B0609020204030204"/>
              </a:rPr>
              <a:t>=</a:t>
            </a:r>
            <a:r>
              <a:rPr lang="en-US" altLang="zh-CN" b="0">
                <a:solidFill>
                  <a:srgbClr val="98C379"/>
                </a:solidFill>
                <a:latin typeface="Consolas" panose="020B0609020204030204"/>
                <a:ea typeface="Consolas" panose="020B0609020204030204"/>
              </a:rPr>
              <a:t>"left float-left"</a:t>
            </a:r>
            <a:r>
              <a:rPr lang="en-US" altLang="zh-CN" b="0">
                <a:solidFill>
                  <a:srgbClr val="ABB2BF"/>
                </a:solidFill>
                <a:latin typeface="Consolas" panose="020B0609020204030204"/>
                <a:ea typeface="Consolas" panose="020B0609020204030204"/>
              </a:rPr>
              <a:t>&gt;</a:t>
            </a:r>
            <a:r>
              <a:rPr lang="zh-CN" altLang="en-US" b="0">
                <a:solidFill>
                  <a:srgbClr val="ABB2BF"/>
                </a:solidFill>
                <a:latin typeface="华文楷体" panose="02010600040101010101" charset="-122"/>
                <a:ea typeface="华文楷体" panose="02010600040101010101" charset="-122"/>
              </a:rPr>
              <a:t>左列</a:t>
            </a:r>
            <a:r>
              <a:rPr lang="en-US" altLang="zh-CN" b="0">
                <a:solidFill>
                  <a:srgbClr val="ABB2BF"/>
                </a:solidFill>
                <a:latin typeface="Consolas" panose="020B0609020204030204"/>
                <a:ea typeface="Consolas" panose="020B0609020204030204"/>
              </a:rPr>
              <a:t>&lt;/</a:t>
            </a:r>
            <a:r>
              <a:rPr lang="en-US" altLang="zh-CN" b="0">
                <a:solidFill>
                  <a:srgbClr val="E06C75"/>
                </a:solidFill>
                <a:latin typeface="Consolas" panose="020B0609020204030204"/>
                <a:ea typeface="Consolas" panose="020B0609020204030204"/>
              </a:rPr>
              <a:t>div</a:t>
            </a:r>
            <a:r>
              <a:rPr lang="en-US" altLang="zh-CN" b="0">
                <a:solidFill>
                  <a:srgbClr val="ABB2BF"/>
                </a:solidFill>
                <a:latin typeface="Consolas" panose="020B0609020204030204"/>
                <a:ea typeface="Consolas" panose="020B0609020204030204"/>
              </a:rPr>
              <a:t>&gt;</a:t>
            </a:r>
            <a:endParaRPr lang="en-US" altLang="zh-CN" b="0">
              <a:solidFill>
                <a:srgbClr val="ABB2BF"/>
              </a:solidFill>
              <a:latin typeface="Consolas" panose="020B0609020204030204"/>
              <a:ea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641600" y="2641599"/>
            <a:ext cx="7710311" cy="606292"/>
            <a:chOff x="4324023" y="486283"/>
            <a:chExt cx="7710311" cy="606292"/>
          </a:xfrm>
        </p:grpSpPr>
        <p:sp>
          <p:nvSpPr>
            <p:cNvPr id="16" name="平行四边形 15"/>
            <p:cNvSpPr/>
            <p:nvPr/>
          </p:nvSpPr>
          <p:spPr>
            <a:xfrm>
              <a:off x="5388878" y="486283"/>
              <a:ext cx="6645456"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作业</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486284"/>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5</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r>
              <a:rPr lang="en-US" altLang="zh-CN" dirty="0" smtClean="0"/>
              <a:t>1</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文本框 5"/>
          <p:cNvSpPr txBox="1"/>
          <p:nvPr/>
        </p:nvSpPr>
        <p:spPr>
          <a:xfrm>
            <a:off x="1665605" y="3411220"/>
            <a:ext cx="1325880" cy="368300"/>
          </a:xfrm>
          <a:prstGeom prst="rect">
            <a:avLst/>
          </a:prstGeom>
          <a:noFill/>
        </p:spPr>
        <p:txBody>
          <a:bodyPr wrap="none" rtlCol="0">
            <a:spAutoFit/>
          </a:bodyPr>
          <a:p>
            <a:r>
              <a:rPr lang="zh-CN" altLang="en-US">
                <a:latin typeface="微软雅黑" panose="020B0503020204020204" pitchFamily="34" charset="-122"/>
                <a:ea typeface="微软雅黑" panose="020B0503020204020204" pitchFamily="34" charset="-122"/>
              </a:rPr>
              <a:t>图文中轴线</a:t>
            </a:r>
            <a:endParaRPr lang="zh-CN" altLang="en-US">
              <a:latin typeface="微软雅黑" panose="020B0503020204020204" pitchFamily="34" charset="-122"/>
              <a:ea typeface="微软雅黑" panose="020B0503020204020204" pitchFamily="34" charset="-122"/>
            </a:endParaRPr>
          </a:p>
        </p:txBody>
      </p:sp>
      <p:pic>
        <p:nvPicPr>
          <p:cNvPr id="3" name="图片 2" descr="图片1"/>
          <p:cNvPicPr>
            <a:picLocks noChangeAspect="1"/>
          </p:cNvPicPr>
          <p:nvPr/>
        </p:nvPicPr>
        <p:blipFill>
          <a:blip r:embed="rId1"/>
          <a:stretch>
            <a:fillRect/>
          </a:stretch>
        </p:blipFill>
        <p:spPr>
          <a:xfrm>
            <a:off x="433705" y="1633220"/>
            <a:ext cx="7184390" cy="3592195"/>
          </a:xfrm>
          <a:prstGeom prst="rect">
            <a:avLst/>
          </a:prstGeom>
        </p:spPr>
      </p:pic>
      <p:sp>
        <p:nvSpPr>
          <p:cNvPr id="13" name="内容占位符 2"/>
          <p:cNvSpPr>
            <a:spLocks noGrp="1"/>
          </p:cNvSpPr>
          <p:nvPr>
            <p:ph idx="1"/>
          </p:nvPr>
        </p:nvSpPr>
        <p:spPr>
          <a:xfrm>
            <a:off x="7719695" y="1336040"/>
            <a:ext cx="3994150" cy="4360545"/>
          </a:xfrm>
        </p:spPr>
        <p:txBody>
          <a:bodyPr>
            <a:noAutofit/>
          </a:bodyPr>
          <a:lstStyle/>
          <a:p>
            <a:pPr marL="0" indent="0" fontAlgn="auto">
              <a:lnSpc>
                <a:spcPct val="120000"/>
              </a:lnSpc>
              <a:spcBef>
                <a:spcPts val="1000"/>
              </a:spcBef>
              <a:spcAft>
                <a:spcPts val="600"/>
              </a:spcAft>
              <a:buNone/>
            </a:pPr>
            <a:r>
              <a:rPr lang="zh-CN" altLang="en-US" sz="1800" b="1" dirty="0" smtClean="0"/>
              <a:t>按要求还原页面</a:t>
            </a:r>
            <a:endParaRPr lang="zh-CN" altLang="en-US" sz="1800" b="1" dirty="0" smtClean="0"/>
          </a:p>
          <a:p>
            <a:pPr marL="342900" indent="-342900">
              <a:lnSpc>
                <a:spcPct val="115000"/>
              </a:lnSpc>
              <a:spcBef>
                <a:spcPts val="0"/>
              </a:spcBef>
              <a:spcAft>
                <a:spcPts val="0"/>
              </a:spcAft>
              <a:buAutoNum type="arabicPeriod"/>
            </a:pPr>
            <a:r>
              <a:rPr lang="zh-CN" altLang="en-US" sz="1600" dirty="0" smtClean="0"/>
              <a:t>头部宽度自适应，高度</a:t>
            </a:r>
            <a:r>
              <a:rPr lang="en-US" altLang="zh-CN" sz="1600" dirty="0" smtClean="0"/>
              <a:t>60px</a:t>
            </a:r>
            <a:endParaRPr lang="en-US" altLang="zh-CN" sz="1600" dirty="0" smtClean="0"/>
          </a:p>
          <a:p>
            <a:pPr marL="342900" indent="-342900">
              <a:lnSpc>
                <a:spcPct val="115000"/>
              </a:lnSpc>
              <a:spcBef>
                <a:spcPts val="0"/>
              </a:spcBef>
              <a:spcAft>
                <a:spcPts val="0"/>
              </a:spcAft>
              <a:buAutoNum type="arabicPeriod"/>
            </a:pPr>
            <a:r>
              <a:rPr lang="zh-CN" altLang="en-US" sz="1600" dirty="0" smtClean="0"/>
              <a:t>左栏宽度</a:t>
            </a:r>
            <a:r>
              <a:rPr lang="en-US" altLang="zh-CN" sz="1600" dirty="0" smtClean="0"/>
              <a:t>160px</a:t>
            </a:r>
            <a:r>
              <a:rPr lang="zh-CN" altLang="en-US" sz="1600" dirty="0" smtClean="0"/>
              <a:t>，高度由内容撑开</a:t>
            </a:r>
            <a:endParaRPr lang="zh-CN" altLang="en-US" sz="1600" dirty="0" smtClean="0"/>
          </a:p>
          <a:p>
            <a:pPr marL="342900" indent="-342900">
              <a:lnSpc>
                <a:spcPct val="115000"/>
              </a:lnSpc>
              <a:spcBef>
                <a:spcPts val="0"/>
              </a:spcBef>
              <a:spcAft>
                <a:spcPts val="0"/>
              </a:spcAft>
              <a:buAutoNum type="arabicPeriod"/>
            </a:pPr>
            <a:r>
              <a:rPr lang="zh-CN" altLang="en-US" sz="1600" dirty="0" smtClean="0"/>
              <a:t>中栏宽度自适应，高度</a:t>
            </a:r>
            <a:r>
              <a:rPr lang="zh-CN" altLang="en-US" sz="1600" dirty="0" smtClean="0">
                <a:sym typeface="+mn-ea"/>
              </a:rPr>
              <a:t>由内容撑开</a:t>
            </a:r>
            <a:endParaRPr lang="zh-CN" altLang="en-US" sz="1600" dirty="0" smtClean="0">
              <a:sym typeface="+mn-ea"/>
            </a:endParaRPr>
          </a:p>
          <a:p>
            <a:pPr marL="342900" indent="-342900">
              <a:lnSpc>
                <a:spcPct val="115000"/>
              </a:lnSpc>
              <a:spcBef>
                <a:spcPts val="0"/>
              </a:spcBef>
              <a:spcAft>
                <a:spcPts val="0"/>
              </a:spcAft>
              <a:buAutoNum type="arabicPeriod"/>
            </a:pPr>
            <a:r>
              <a:rPr lang="zh-CN" altLang="en-US" sz="1600" dirty="0" smtClean="0"/>
              <a:t>图文排版垂直居中对齐，文字容器宽度自适应，图片大小固定</a:t>
            </a:r>
            <a:r>
              <a:rPr lang="en-US" altLang="zh-CN" sz="1600" dirty="0" smtClean="0"/>
              <a:t>200px*100px</a:t>
            </a:r>
            <a:endParaRPr lang="en-US" altLang="zh-CN" sz="1600" dirty="0" smtClean="0"/>
          </a:p>
          <a:p>
            <a:pPr marL="342900" indent="-342900">
              <a:lnSpc>
                <a:spcPct val="115000"/>
              </a:lnSpc>
              <a:spcBef>
                <a:spcPts val="0"/>
              </a:spcBef>
              <a:spcAft>
                <a:spcPts val="0"/>
              </a:spcAft>
              <a:buAutoNum type="arabicPeriod"/>
            </a:pPr>
            <a:r>
              <a:rPr lang="zh-CN" altLang="en-US" sz="1600" dirty="0" smtClean="0"/>
              <a:t>右栏宽度</a:t>
            </a:r>
            <a:r>
              <a:rPr lang="en-US" altLang="zh-CN" sz="1600" dirty="0" smtClean="0"/>
              <a:t>200px</a:t>
            </a:r>
            <a:r>
              <a:rPr lang="zh-CN" altLang="en-US" sz="1600" dirty="0" smtClean="0"/>
              <a:t>，高度</a:t>
            </a:r>
            <a:r>
              <a:rPr lang="en-US" altLang="zh-CN" sz="1600" dirty="0" smtClean="0"/>
              <a:t>500px</a:t>
            </a:r>
            <a:endParaRPr lang="en-US" altLang="zh-CN" sz="1600" dirty="0" smtClean="0"/>
          </a:p>
          <a:p>
            <a:pPr marL="342900" indent="-342900">
              <a:lnSpc>
                <a:spcPct val="115000"/>
              </a:lnSpc>
              <a:spcBef>
                <a:spcPts val="0"/>
              </a:spcBef>
              <a:spcAft>
                <a:spcPts val="0"/>
              </a:spcAft>
              <a:buAutoNum type="arabicPeriod"/>
            </a:pPr>
            <a:r>
              <a:rPr lang="zh-CN" altLang="en-US" sz="1600" dirty="0" smtClean="0"/>
              <a:t>右栏中智学网元素水平垂直居中，字数不固定</a:t>
            </a:r>
            <a:endParaRPr lang="zh-CN" altLang="en-US" sz="1600" dirty="0" smtClean="0"/>
          </a:p>
          <a:p>
            <a:pPr marL="342900" indent="-342900">
              <a:lnSpc>
                <a:spcPct val="115000"/>
              </a:lnSpc>
              <a:spcBef>
                <a:spcPts val="0"/>
              </a:spcBef>
              <a:spcAft>
                <a:spcPts val="0"/>
              </a:spcAft>
              <a:buAutoNum type="arabicPeriod"/>
            </a:pPr>
            <a:r>
              <a:rPr lang="zh-CN" altLang="en-US" sz="1600" dirty="0" smtClean="0"/>
              <a:t>底部宽度自适应，高度</a:t>
            </a:r>
            <a:r>
              <a:rPr lang="en-US" altLang="zh-CN" sz="1600" dirty="0" smtClean="0"/>
              <a:t>30px</a:t>
            </a:r>
            <a:r>
              <a:rPr lang="zh-CN" altLang="en-US" sz="1600" dirty="0" smtClean="0"/>
              <a:t>，主体内容未铺满一屏，居底部展示，超过一屏，紧随后面间隔</a:t>
            </a:r>
            <a:r>
              <a:rPr lang="en-US" altLang="zh-CN" sz="1600" dirty="0" smtClean="0"/>
              <a:t>20px</a:t>
            </a:r>
            <a:r>
              <a:rPr lang="zh-CN" altLang="en-US" sz="1600" dirty="0" smtClean="0"/>
              <a:t>展示</a:t>
            </a:r>
            <a:endParaRPr lang="zh-CN" altLang="en-US" sz="1600" dirty="0" smtClean="0"/>
          </a:p>
          <a:p>
            <a:pPr marL="342900" indent="-342900">
              <a:lnSpc>
                <a:spcPct val="115000"/>
              </a:lnSpc>
              <a:spcBef>
                <a:spcPts val="0"/>
              </a:spcBef>
              <a:spcAft>
                <a:spcPts val="0"/>
              </a:spcAft>
              <a:buAutoNum type="arabicPeriod"/>
            </a:pPr>
            <a:r>
              <a:rPr lang="zh-CN" altLang="en-US" sz="1600" dirty="0" smtClean="0"/>
              <a:t>左栏和中栏间隔以及其他模块之间间隔为</a:t>
            </a:r>
            <a:r>
              <a:rPr lang="en-US" altLang="zh-CN" sz="1600" dirty="0" smtClean="0"/>
              <a:t>20px</a:t>
            </a:r>
            <a:endParaRPr lang="en-US" altLang="zh-CN" sz="1600" dirty="0" smtClean="0"/>
          </a:p>
          <a:p>
            <a:pPr marL="342900" indent="-342900">
              <a:lnSpc>
                <a:spcPct val="115000"/>
              </a:lnSpc>
              <a:spcBef>
                <a:spcPts val="0"/>
              </a:spcBef>
              <a:spcAft>
                <a:spcPts val="0"/>
              </a:spcAft>
              <a:buAutoNum type="arabicPeriod"/>
            </a:pPr>
            <a:r>
              <a:rPr lang="zh-CN" altLang="en-US" sz="1600" dirty="0" smtClean="0"/>
              <a:t>请勿使用</a:t>
            </a:r>
            <a:r>
              <a:rPr lang="en-US" altLang="zh-CN" sz="1600" dirty="0" smtClean="0"/>
              <a:t>flex</a:t>
            </a:r>
            <a:r>
              <a:rPr lang="zh-CN" altLang="en-US" sz="1600" dirty="0" smtClean="0"/>
              <a:t>、</a:t>
            </a:r>
            <a:r>
              <a:rPr lang="en-US" altLang="zh-CN" sz="1600" dirty="0" smtClean="0"/>
              <a:t>grid</a:t>
            </a:r>
            <a:r>
              <a:rPr lang="zh-CN" altLang="en-US" sz="1600" dirty="0" smtClean="0"/>
              <a:t>布局</a:t>
            </a:r>
            <a:endParaRPr lang="zh-CN" altLang="en-US" sz="1600" dirty="0" smtClean="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r>
              <a:rPr lang="en-US" altLang="zh-CN" dirty="0" smtClean="0"/>
              <a:t>2</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558165" y="1320165"/>
            <a:ext cx="7019925" cy="3333750"/>
          </a:xfrm>
          <a:prstGeom prst="rect">
            <a:avLst/>
          </a:prstGeom>
        </p:spPr>
      </p:pic>
      <p:sp>
        <p:nvSpPr>
          <p:cNvPr id="7" name="内容占位符 6"/>
          <p:cNvSpPr>
            <a:spLocks noGrp="1"/>
          </p:cNvSpPr>
          <p:nvPr/>
        </p:nvSpPr>
        <p:spPr>
          <a:xfrm>
            <a:off x="558165" y="4986655"/>
            <a:ext cx="2804795" cy="1158240"/>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bg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bg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bg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a:t>作业提交形式</a:t>
            </a:r>
            <a:endParaRPr lang="zh-CN" altLang="en-US" b="1"/>
          </a:p>
          <a:p>
            <a:pPr lvl="1"/>
            <a:r>
              <a:rPr lang="zh-CN" altLang="en-US"/>
              <a:t>两个</a:t>
            </a:r>
            <a:r>
              <a:rPr lang="en-US" altLang="zh-CN"/>
              <a:t> html </a:t>
            </a:r>
            <a:r>
              <a:rPr lang="zh-CN" altLang="en-US"/>
              <a:t>文件</a:t>
            </a:r>
            <a:endParaRPr lang="zh-CN" altLang="en-US"/>
          </a:p>
        </p:txBody>
      </p:sp>
      <p:sp>
        <p:nvSpPr>
          <p:cNvPr id="8" name="内容占位符 2"/>
          <p:cNvSpPr>
            <a:spLocks noGrp="1"/>
          </p:cNvSpPr>
          <p:nvPr>
            <p:ph idx="1"/>
          </p:nvPr>
        </p:nvSpPr>
        <p:spPr>
          <a:xfrm>
            <a:off x="7720330" y="1320165"/>
            <a:ext cx="3994150" cy="2748915"/>
          </a:xfrm>
        </p:spPr>
        <p:txBody>
          <a:bodyPr>
            <a:noAutofit/>
          </a:bodyPr>
          <a:lstStyle/>
          <a:p>
            <a:pPr marL="0" indent="0" fontAlgn="auto">
              <a:lnSpc>
                <a:spcPct val="120000"/>
              </a:lnSpc>
              <a:spcBef>
                <a:spcPts val="1000"/>
              </a:spcBef>
              <a:spcAft>
                <a:spcPts val="600"/>
              </a:spcAft>
              <a:buNone/>
            </a:pPr>
            <a:r>
              <a:rPr lang="zh-CN" altLang="en-US" sz="1800" b="1" dirty="0" smtClean="0"/>
              <a:t>按要求实现</a:t>
            </a:r>
            <a:endParaRPr lang="zh-CN" altLang="en-US" sz="1800" b="1" dirty="0" smtClean="0"/>
          </a:p>
          <a:p>
            <a:pPr marL="342900" indent="-342900">
              <a:lnSpc>
                <a:spcPct val="115000"/>
              </a:lnSpc>
              <a:spcBef>
                <a:spcPts val="0"/>
              </a:spcBef>
              <a:spcAft>
                <a:spcPts val="0"/>
              </a:spcAft>
              <a:buAutoNum type="arabicPeriod"/>
            </a:pPr>
            <a:r>
              <a:rPr lang="zh-CN" altLang="en-US" sz="1600" dirty="0" smtClean="0"/>
              <a:t>实现简易消息通知系统，支持订阅、发布和移除</a:t>
            </a:r>
            <a:endParaRPr lang="zh-CN" altLang="en-US" sz="1600" dirty="0" smtClean="0"/>
          </a:p>
          <a:p>
            <a:pPr marL="342900" indent="-342900">
              <a:lnSpc>
                <a:spcPct val="115000"/>
              </a:lnSpc>
              <a:spcBef>
                <a:spcPts val="0"/>
              </a:spcBef>
              <a:spcAft>
                <a:spcPts val="0"/>
              </a:spcAft>
              <a:buAutoNum type="arabicPeriod"/>
            </a:pPr>
            <a:r>
              <a:rPr lang="zh-CN" altLang="en-US" sz="1600" dirty="0" smtClean="0"/>
              <a:t>按照要求实现</a:t>
            </a:r>
            <a:r>
              <a:rPr lang="en-US" altLang="zh-CN" sz="1600" dirty="0" smtClean="0"/>
              <a:t>1-6</a:t>
            </a:r>
            <a:r>
              <a:rPr lang="zh-CN" altLang="en-US" sz="1600" dirty="0" smtClean="0"/>
              <a:t>按钮点击效果，并打印对应内容</a:t>
            </a:r>
            <a:endParaRPr lang="zh-CN" altLang="en-US" sz="1600" dirty="0" smtClean="0"/>
          </a:p>
          <a:p>
            <a:pPr marL="342900" indent="-342900">
              <a:lnSpc>
                <a:spcPct val="115000"/>
              </a:lnSpc>
              <a:spcBef>
                <a:spcPts val="0"/>
              </a:spcBef>
              <a:spcAft>
                <a:spcPts val="0"/>
              </a:spcAft>
              <a:buAutoNum type="arabicPeriod"/>
            </a:pPr>
            <a:endParaRPr lang="zh-CN" altLang="en-US" sz="1600" dirty="0" smtClean="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4238757" y="4178958"/>
            <a:ext cx="7454283"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5400" b="1" spc="6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前端赋能 共创卓越</a:t>
            </a:r>
            <a:endParaRPr kumimoji="0" lang="zh-CN" altLang="en-US" sz="5400" b="1" i="0" u="none" strike="noStrike" kern="1200" cap="none" spc="60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Source Han Serif SC" panose="02020400000000000000" pitchFamily="18" charset="-122"/>
            </a:endParaRPr>
          </a:p>
        </p:txBody>
      </p:sp>
      <p:grpSp>
        <p:nvGrpSpPr>
          <p:cNvPr id="11" name="组合 10"/>
          <p:cNvGrpSpPr/>
          <p:nvPr/>
        </p:nvGrpSpPr>
        <p:grpSpPr>
          <a:xfrm>
            <a:off x="221960" y="139915"/>
            <a:ext cx="2412580" cy="502574"/>
            <a:chOff x="4876631" y="5573643"/>
            <a:chExt cx="2412580" cy="502574"/>
          </a:xfrm>
        </p:grpSpPr>
        <p:grpSp>
          <p:nvGrpSpPr>
            <p:cNvPr id="13" name="组合 12"/>
            <p:cNvGrpSpPr/>
            <p:nvPr/>
          </p:nvGrpSpPr>
          <p:grpSpPr>
            <a:xfrm>
              <a:off x="5892975" y="5669965"/>
              <a:ext cx="1396236" cy="307775"/>
              <a:chOff x="10625070" y="344258"/>
              <a:chExt cx="1534964" cy="338356"/>
            </a:xfrm>
          </p:grpSpPr>
          <p:cxnSp>
            <p:nvCxnSpPr>
              <p:cNvPr id="15" name="直接连接符 14"/>
              <p:cNvCxnSpPr/>
              <p:nvPr/>
            </p:nvCxnSpPr>
            <p:spPr>
              <a:xfrm>
                <a:off x="10625070" y="370783"/>
                <a:ext cx="0" cy="259784"/>
              </a:xfrm>
              <a:prstGeom prst="line">
                <a:avLst/>
              </a:prstGeom>
              <a:noFill/>
              <a:ln w="12700" cap="flat">
                <a:solidFill>
                  <a:schemeClr val="bg1"/>
                </a:solidFill>
                <a:prstDash val="solid"/>
                <a:miter lim="800000"/>
              </a:ln>
            </p:spPr>
            <p:style>
              <a:lnRef idx="0">
                <a:scrgbClr r="0" g="0" b="0"/>
              </a:lnRef>
              <a:fillRef idx="0">
                <a:scrgbClr r="0" g="0" b="0"/>
              </a:fillRef>
              <a:effectRef idx="0">
                <a:scrgbClr r="0" g="0" b="0"/>
              </a:effectRef>
              <a:fontRef idx="none"/>
            </p:style>
          </p:cxnSp>
          <p:sp>
            <p:nvSpPr>
              <p:cNvPr id="16" name="文本框 15"/>
              <p:cNvSpPr txBox="1"/>
              <p:nvPr/>
            </p:nvSpPr>
            <p:spPr>
              <a:xfrm>
                <a:off x="10691842" y="344258"/>
                <a:ext cx="1468192" cy="33835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400" b="1" dirty="0" smtClean="0">
                    <a:solidFill>
                      <a:schemeClr val="bg1"/>
                    </a:solidFill>
                    <a:latin typeface="微软雅黑" panose="020B0503020204020204" pitchFamily="34" charset="-122"/>
                    <a:ea typeface="微软雅黑" panose="020B0503020204020204" pitchFamily="34" charset="-122"/>
                  </a:rPr>
                  <a:t>技术委员会</a:t>
                </a:r>
                <a:endParaRPr kumimoji="0" lang="zh-CN" altLang="en-US" sz="1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Calibri" panose="020F0502020204030204"/>
                </a:endParaRPr>
              </a:p>
            </p:txBody>
          </p:sp>
        </p:gr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76631" y="5573643"/>
              <a:ext cx="926403" cy="502574"/>
            </a:xfrm>
            <a:prstGeom prst="rect">
              <a:avLst/>
            </a:prstGeom>
          </p:spPr>
        </p:pic>
      </p:grpSp>
      <p:sp>
        <p:nvSpPr>
          <p:cNvPr id="2" name="矩形 1"/>
          <p:cNvSpPr/>
          <p:nvPr/>
        </p:nvSpPr>
        <p:spPr>
          <a:xfrm>
            <a:off x="6139918" y="2535418"/>
            <a:ext cx="3651962" cy="923330"/>
          </a:xfrm>
          <a:prstGeom prst="rect">
            <a:avLst/>
          </a:prstGeom>
        </p:spPr>
        <p:txBody>
          <a:bodyPr wrap="none">
            <a:spAutoFit/>
          </a:bodyPr>
          <a:lstStyle/>
          <a:p>
            <a:pPr lvl="0" algn="ctr">
              <a:defRPr/>
            </a:pPr>
            <a:r>
              <a:rPr lang="en-US" altLang="zh-CN" sz="5400" b="1" spc="6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THANKS</a:t>
            </a:r>
            <a:endParaRPr lang="zh-CN" altLang="en-US" sz="5400" b="1" spc="6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17" name="文本框 16"/>
          <p:cNvSpPr txBox="1"/>
          <p:nvPr/>
        </p:nvSpPr>
        <p:spPr>
          <a:xfrm>
            <a:off x="8962468" y="132211"/>
            <a:ext cx="3411020" cy="458908"/>
          </a:xfrm>
          <a:prstGeom prst="rect">
            <a:avLst/>
          </a:prstGeom>
          <a:noFill/>
        </p:spPr>
        <p:txBody>
          <a:bodyPr wrap="square" rtlCol="0">
            <a:spAutoFit/>
          </a:bodyPr>
          <a:lstStyle/>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lt"/>
              </a:rPr>
              <a:t>前端中级训练营系列课程</a:t>
            </a:r>
            <a:endParaRPr lang="zh-CN" altLang="en-US" b="1" dirty="0">
              <a:solidFill>
                <a:schemeClr val="bg1"/>
              </a:solidFill>
              <a:latin typeface="微软雅黑" panose="020B0503020204020204" pitchFamily="34" charset="-122"/>
              <a:ea typeface="微软雅黑" panose="020B0503020204020204" pitchFamily="34" charset="-122"/>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TABLE_BEAUTIFY" val="smartTable{b20a023e-8274-43f3-b5dc-f6e9e39e4c5b}"/>
</p:tagLst>
</file>

<file path=ppt/tags/tag2.xml><?xml version="1.0" encoding="utf-8"?>
<p:tagLst xmlns:p="http://schemas.openxmlformats.org/presentationml/2006/main">
  <p:tag name="KSO_WM_UNIT_PLACING_PICTURE_USER_VIEWPORT" val="{&quot;height&quot;:6509.99842519685,&quot;width&quot;:9000}"/>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PLACING_PICTURE_USER_VIEWPORT" val="{&quot;height&quot;:2280,&quot;width&quot;:6375}"/>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TABLE_ENDDRAG_ORIGIN_RECT" val="647*265"/>
  <p:tag name="TABLE_ENDDRAG_RECT" val="98*175*647*265"/>
</p:tagLst>
</file>

<file path=ppt/tags/tag9.xml><?xml version="1.0" encoding="utf-8"?>
<p:tagLst xmlns:p="http://schemas.openxmlformats.org/presentationml/2006/main">
  <p:tag name="ISPRING_PRESENTATION_TITLE" val="1-0326-15渐变科幻人工智能科技PPT模板"/>
  <p:tag name="COMMONDATA" val="eyJoZGlkIjoiYzU3ZTI0ZDI4NDNkOGUxZDVkOTdmZTMwYzUwOTFmYTAifQ=="/>
  <p:tag name="KSO_WPP_MARK_KEY" val="c8f547a7-dc4b-40b6-85b4-bbd98085802c"/>
</p:tagLst>
</file>

<file path=ppt/theme/theme1.xml><?xml version="1.0" encoding="utf-8"?>
<a:theme xmlns:a="http://schemas.openxmlformats.org/drawingml/2006/main" name="AAAAAAAAAAAA）">
  <a:themeElements>
    <a:clrScheme name="自定义 140">
      <a:dk1>
        <a:sysClr val="windowText" lastClr="000000"/>
      </a:dk1>
      <a:lt1>
        <a:sysClr val="window" lastClr="FFFFFF"/>
      </a:lt1>
      <a:dk2>
        <a:srgbClr val="44546A"/>
      </a:dk2>
      <a:lt2>
        <a:srgbClr val="E7E6E6"/>
      </a:lt2>
      <a:accent1>
        <a:srgbClr val="3BE0F6"/>
      </a:accent1>
      <a:accent2>
        <a:srgbClr val="3BE0F6"/>
      </a:accent2>
      <a:accent3>
        <a:srgbClr val="3BE0F6"/>
      </a:accent3>
      <a:accent4>
        <a:srgbClr val="3BE0F6"/>
      </a:accent4>
      <a:accent5>
        <a:srgbClr val="3BE0F6"/>
      </a:accent5>
      <a:accent6>
        <a:srgbClr val="3BE0F6"/>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9308</Words>
  <Application>WPS 演示</Application>
  <PresentationFormat>宽屏</PresentationFormat>
  <Paragraphs>1047</Paragraphs>
  <Slides>81</Slides>
  <Notes>34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81</vt:i4>
      </vt:variant>
    </vt:vector>
  </HeadingPairs>
  <TitlesOfParts>
    <vt:vector size="94" baseType="lpstr">
      <vt:lpstr>Arial</vt:lpstr>
      <vt:lpstr>宋体</vt:lpstr>
      <vt:lpstr>Wingdings</vt:lpstr>
      <vt:lpstr>微软雅黑</vt:lpstr>
      <vt:lpstr>Calibri</vt:lpstr>
      <vt:lpstr>Source Han Serif SC</vt:lpstr>
      <vt:lpstr>等线</vt:lpstr>
      <vt:lpstr>Consolas</vt:lpstr>
      <vt:lpstr>Arial Unicode MS</vt:lpstr>
      <vt:lpstr>等线 Light</vt:lpstr>
      <vt:lpstr>Consolas</vt:lpstr>
      <vt:lpstr>华文楷体</vt:lpstr>
      <vt:lpstr>AAAAAAAAAAAA）</vt:lpstr>
      <vt:lpstr>PowerPoint 演示文稿</vt:lpstr>
      <vt:lpstr>PowerPoint 演示文稿</vt:lpstr>
      <vt:lpstr>PowerPoint 演示文稿</vt:lpstr>
      <vt:lpstr>前端知识结构</vt:lpstr>
      <vt:lpstr>前端职业发展 – 交流</vt:lpstr>
      <vt:lpstr>PowerPoint 演示文稿</vt:lpstr>
      <vt:lpstr>视口viewpoint</vt:lpstr>
      <vt:lpstr>视口viewpoint</vt:lpstr>
      <vt:lpstr>视口viewpoint</vt:lpstr>
      <vt:lpstr>视口viewpoint</vt:lpstr>
      <vt:lpstr>视口viewpoint</vt:lpstr>
      <vt:lpstr>视口viewpoint</vt:lpstr>
      <vt:lpstr>视口viewpoint</vt:lpstr>
      <vt:lpstr>视口viewpoint</vt:lpstr>
      <vt:lpstr>视口viewpoint</vt:lpstr>
      <vt:lpstr>视口viewpoint</vt:lpstr>
      <vt:lpstr>视口viewpoint</vt:lpstr>
      <vt:lpstr>视口viewpoint</vt:lpstr>
      <vt:lpstr>多设备适配协作模式</vt:lpstr>
      <vt:lpstr>视口viewpoint - 思考</vt:lpstr>
      <vt:lpstr>PowerPoint 演示文稿</vt:lpstr>
      <vt:lpstr>经验与实践 – CSS权重</vt:lpstr>
      <vt:lpstr>经验与实践 – CSS权重</vt:lpstr>
      <vt:lpstr>经验与实践 – CSS权重</vt:lpstr>
      <vt:lpstr>经验与实践 – CSS权重</vt:lpstr>
      <vt:lpstr>经验与实践 – CSS权重</vt:lpstr>
      <vt:lpstr>经验与实践 – CSS权重</vt:lpstr>
      <vt:lpstr>经验与实践 – CSS权重</vt:lpstr>
      <vt:lpstr>PowerPoint 演示文稿</vt:lpstr>
      <vt:lpstr>层叠规则</vt:lpstr>
      <vt:lpstr>层叠规则</vt:lpstr>
      <vt:lpstr>层叠规则</vt:lpstr>
      <vt:lpstr>层叠规则</vt:lpstr>
      <vt:lpstr>层叠规则</vt:lpstr>
      <vt:lpstr>层叠规则</vt:lpstr>
      <vt:lpstr>层叠规则</vt:lpstr>
      <vt:lpstr>层叠规则</vt:lpstr>
      <vt:lpstr>层叠规则</vt:lpstr>
      <vt:lpstr>层叠规则</vt:lpstr>
      <vt:lpstr>层叠规则</vt:lpstr>
      <vt:lpstr>层叠规则</vt:lpstr>
      <vt:lpstr>层叠规则</vt:lpstr>
      <vt:lpstr>层叠规则</vt:lpstr>
      <vt:lpstr>PowerPoint 演示文稿</vt:lpstr>
      <vt:lpstr>结界BFC</vt:lpstr>
      <vt:lpstr>结界BFC</vt:lpstr>
      <vt:lpstr>结界BFC</vt:lpstr>
      <vt:lpstr>结界BFC</vt:lpstr>
      <vt:lpstr>结界BFC</vt:lpstr>
      <vt:lpstr>BFC与布局</vt:lpstr>
      <vt:lpstr>结界BFC</vt:lpstr>
      <vt:lpstr>PowerPoint 演示文稿</vt:lpstr>
      <vt:lpstr>智能对齐规则</vt:lpstr>
      <vt:lpstr>智能对齐规则</vt:lpstr>
      <vt:lpstr>PowerPoint 演示文稿</vt:lpstr>
      <vt:lpstr>不一样的最后一个元素</vt:lpstr>
      <vt:lpstr>不一样的最后一个元素</vt:lpstr>
      <vt:lpstr>PowerPoint 演示文稿</vt:lpstr>
      <vt:lpstr>向下兼容</vt:lpstr>
      <vt:lpstr>向下兼容</vt:lpstr>
      <vt:lpstr>向下兼容</vt:lpstr>
      <vt:lpstr>向下兼容</vt:lpstr>
      <vt:lpstr>向下兼容</vt:lpstr>
      <vt:lpstr>PowerPoint 演示文稿</vt:lpstr>
      <vt:lpstr>Flex布局最后一行列表左对齐</vt:lpstr>
      <vt:lpstr>Flex布局最后一行列表左对齐</vt:lpstr>
      <vt:lpstr>Flex布局最后一行列表左对齐</vt:lpstr>
      <vt:lpstr>Flex布局最后一行列表左对齐</vt:lpstr>
      <vt:lpstr>Flex布局最后一行列表左对齐</vt:lpstr>
      <vt:lpstr>PowerPoint 演示文稿</vt:lpstr>
      <vt:lpstr>flex属性单值</vt:lpstr>
      <vt:lpstr>flex属性单值</vt:lpstr>
      <vt:lpstr>flex属性单值</vt:lpstr>
      <vt:lpstr>flex属性单值写法</vt:lpstr>
      <vt:lpstr>PowerPoint 演示文稿</vt:lpstr>
      <vt:lpstr>案例解析</vt:lpstr>
      <vt:lpstr>案例解析</vt:lpstr>
      <vt:lpstr>PowerPoint 演示文稿</vt:lpstr>
      <vt:lpstr>作业1</vt:lpstr>
      <vt:lpstr>作业2</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架构师训练营PPT模板</dc:title>
  <dc:creator>Administrator</dc:creator>
  <cp:lastModifiedBy>高鹏</cp:lastModifiedBy>
  <cp:revision>655</cp:revision>
  <dcterms:created xsi:type="dcterms:W3CDTF">2018-11-07T09:49:00Z</dcterms:created>
  <dcterms:modified xsi:type="dcterms:W3CDTF">2025-03-21T06:17:18Z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37CF52652369417088079E8A07320036</vt:lpwstr>
  </property>
  <property fmtid="{D5CDD505-2E9C-101B-9397-08002B2CF9AE}" pid="3" name="KSOProductBuildVer">
    <vt:lpwstr>2052-12.1.0.20305</vt:lpwstr>
  </property>
  <property fmtid="{D5CDD505-2E9C-101B-9397-08002B2CF9AE}" pid="4" name="CWMbb9e91107bab11ef800005f6000004f6">
    <vt:lpwstr>CWMbKOk5kjm4wQkM1sZSN2JPCuXdYk+xA65TtW2MWmP6Akcwf1Vqn7QwaGTRog4bTywVVNzYRH8wR9WWjOS3XYUvQ==</vt:lpwstr>
  </property>
</Properties>
</file>